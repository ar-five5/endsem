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8"/>
  </p:notesMasterIdLst>
  <p:sldIdLst>
    <p:sldId id="256" r:id="rId5"/>
    <p:sldId id="582" r:id="rId6"/>
    <p:sldId id="583" r:id="rId7"/>
    <p:sldId id="426" r:id="rId8"/>
    <p:sldId id="508" r:id="rId9"/>
    <p:sldId id="505" r:id="rId10"/>
    <p:sldId id="536" r:id="rId11"/>
    <p:sldId id="520" r:id="rId12"/>
    <p:sldId id="537" r:id="rId13"/>
    <p:sldId id="538" r:id="rId14"/>
    <p:sldId id="539" r:id="rId15"/>
    <p:sldId id="573" r:id="rId16"/>
    <p:sldId id="574" r:id="rId17"/>
    <p:sldId id="521" r:id="rId18"/>
    <p:sldId id="523" r:id="rId19"/>
    <p:sldId id="540" r:id="rId20"/>
    <p:sldId id="541" r:id="rId21"/>
    <p:sldId id="564" r:id="rId22"/>
    <p:sldId id="565" r:id="rId23"/>
    <p:sldId id="542" r:id="rId24"/>
    <p:sldId id="543" r:id="rId25"/>
    <p:sldId id="524" r:id="rId26"/>
    <p:sldId id="544" r:id="rId27"/>
    <p:sldId id="545" r:id="rId28"/>
    <p:sldId id="546" r:id="rId29"/>
    <p:sldId id="547" r:id="rId30"/>
    <p:sldId id="548" r:id="rId31"/>
    <p:sldId id="549" r:id="rId32"/>
    <p:sldId id="550" r:id="rId33"/>
    <p:sldId id="551" r:id="rId34"/>
    <p:sldId id="555" r:id="rId35"/>
    <p:sldId id="566" r:id="rId36"/>
    <p:sldId id="553" r:id="rId37"/>
    <p:sldId id="552" r:id="rId38"/>
    <p:sldId id="567" r:id="rId39"/>
    <p:sldId id="558" r:id="rId40"/>
    <p:sldId id="559" r:id="rId41"/>
    <p:sldId id="557" r:id="rId42"/>
    <p:sldId id="556" r:id="rId43"/>
    <p:sldId id="563" r:id="rId44"/>
    <p:sldId id="561" r:id="rId45"/>
    <p:sldId id="560" r:id="rId46"/>
    <p:sldId id="569" r:id="rId47"/>
    <p:sldId id="570" r:id="rId48"/>
    <p:sldId id="571" r:id="rId49"/>
    <p:sldId id="572" r:id="rId50"/>
    <p:sldId id="575" r:id="rId51"/>
    <p:sldId id="576" r:id="rId52"/>
    <p:sldId id="577" r:id="rId53"/>
    <p:sldId id="578" r:id="rId54"/>
    <p:sldId id="579" r:id="rId55"/>
    <p:sldId id="580" r:id="rId56"/>
    <p:sldId id="58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752856-56F8-E06A-B52E-92CA75C59DF6}" v="32" dt="2026-04-07T10:25:00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Arun Chauhan" userId="S::avinash.chauhan@mahindrauniversity.edu.in::241b5f3e-36f4-4c61-9553-90e6a1c1b8a6" providerId="AD" clId="Web-{DFD4FDD4-C973-1E58-9D25-7943395DD39B}"/>
    <pc:docChg chg="addSld delSld modSld sldOrd">
      <pc:chgData name="Avinash Arun Chauhan" userId="S::avinash.chauhan@mahindrauniversity.edu.in::241b5f3e-36f4-4c61-9553-90e6a1c1b8a6" providerId="AD" clId="Web-{DFD4FDD4-C973-1E58-9D25-7943395DD39B}" dt="2026-03-14T14:07:02.208" v="2015" actId="20577"/>
      <pc:docMkLst>
        <pc:docMk/>
      </pc:docMkLst>
      <pc:sldChg chg="modSp">
        <pc:chgData name="Avinash Arun Chauhan" userId="S::avinash.chauhan@mahindrauniversity.edu.in::241b5f3e-36f4-4c61-9553-90e6a1c1b8a6" providerId="AD" clId="Web-{DFD4FDD4-C973-1E58-9D25-7943395DD39B}" dt="2026-03-14T14:07:02.208" v="2015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4:07:02.208" v="2015" actId="20577"/>
          <ac:spMkLst>
            <pc:docMk/>
            <pc:sldMk cId="3811169343" sldId="426"/>
            <ac:spMk id="2" creationId="{E3EA47B4-E3C2-3296-7380-E7CEADD60F53}"/>
          </ac:spMkLst>
        </pc:spChg>
      </pc:sldChg>
      <pc:sldChg chg="modSp">
        <pc:chgData name="Avinash Arun Chauhan" userId="S::avinash.chauhan@mahindrauniversity.edu.in::241b5f3e-36f4-4c61-9553-90e6a1c1b8a6" providerId="AD" clId="Web-{DFD4FDD4-C973-1E58-9D25-7943395DD39B}" dt="2026-03-14T13:01:43.196" v="2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01:43.196" v="2" actId="20577"/>
          <ac:spMkLst>
            <pc:docMk/>
            <pc:sldMk cId="883900188" sldId="505"/>
            <ac:spMk id="3" creationId="{29BD426B-01FE-6A79-FB41-404DC71E5937}"/>
          </ac:spMkLst>
        </pc:spChg>
      </pc:sldChg>
      <pc:sldChg chg="modSp">
        <pc:chgData name="Avinash Arun Chauhan" userId="S::avinash.chauhan@mahindrauniversity.edu.in::241b5f3e-36f4-4c61-9553-90e6a1c1b8a6" providerId="AD" clId="Web-{DFD4FDD4-C973-1E58-9D25-7943395DD39B}" dt="2026-03-14T13:12:51.478" v="12" actId="20577"/>
        <pc:sldMkLst>
          <pc:docMk/>
          <pc:sldMk cId="1001124138" sldId="523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12:51.478" v="12" actId="20577"/>
          <ac:spMkLst>
            <pc:docMk/>
            <pc:sldMk cId="1001124138" sldId="523"/>
            <ac:spMk id="3" creationId="{EC674E00-65C0-78DB-7888-BC087220702C}"/>
          </ac:spMkLst>
        </pc:spChg>
      </pc:sldChg>
      <pc:sldChg chg="modSp">
        <pc:chgData name="Avinash Arun Chauhan" userId="S::avinash.chauhan@mahindrauniversity.edu.in::241b5f3e-36f4-4c61-9553-90e6a1c1b8a6" providerId="AD" clId="Web-{DFD4FDD4-C973-1E58-9D25-7943395DD39B}" dt="2026-03-14T13:13:41.291" v="14" actId="20577"/>
        <pc:sldMkLst>
          <pc:docMk/>
          <pc:sldMk cId="2459760131" sldId="524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13:41.291" v="14" actId="20577"/>
          <ac:spMkLst>
            <pc:docMk/>
            <pc:sldMk cId="2459760131" sldId="524"/>
            <ac:spMk id="3" creationId="{D66A1C91-2CFA-F0AE-799D-FBEE34CD89C2}"/>
          </ac:spMkLst>
        </pc:spChg>
      </pc:sldChg>
      <pc:sldChg chg="modSp">
        <pc:chgData name="Avinash Arun Chauhan" userId="S::avinash.chauhan@mahindrauniversity.edu.in::241b5f3e-36f4-4c61-9553-90e6a1c1b8a6" providerId="AD" clId="Web-{DFD4FDD4-C973-1E58-9D25-7943395DD39B}" dt="2026-03-14T13:02:59.806" v="6" actId="20577"/>
        <pc:sldMkLst>
          <pc:docMk/>
          <pc:sldMk cId="459135711" sldId="537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02:59.806" v="6" actId="20577"/>
          <ac:spMkLst>
            <pc:docMk/>
            <pc:sldMk cId="459135711" sldId="537"/>
            <ac:spMk id="3" creationId="{CF408DFA-52F7-71A7-95F0-471B20EC4B31}"/>
          </ac:spMkLst>
        </pc:spChg>
      </pc:sldChg>
      <pc:sldChg chg="modSp">
        <pc:chgData name="Avinash Arun Chauhan" userId="S::avinash.chauhan@mahindrauniversity.edu.in::241b5f3e-36f4-4c61-9553-90e6a1c1b8a6" providerId="AD" clId="Web-{DFD4FDD4-C973-1E58-9D25-7943395DD39B}" dt="2026-03-14T13:05:14.672" v="8" actId="20577"/>
        <pc:sldMkLst>
          <pc:docMk/>
          <pc:sldMk cId="1206480458" sldId="539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05:14.672" v="8" actId="20577"/>
          <ac:spMkLst>
            <pc:docMk/>
            <pc:sldMk cId="1206480458" sldId="539"/>
            <ac:spMk id="3" creationId="{2D33DCC8-B508-9381-4015-3B42777AD359}"/>
          </ac:spMkLst>
        </pc:spChg>
      </pc:sldChg>
      <pc:sldChg chg="modSp">
        <pc:chgData name="Avinash Arun Chauhan" userId="S::avinash.chauhan@mahindrauniversity.edu.in::241b5f3e-36f4-4c61-9553-90e6a1c1b8a6" providerId="AD" clId="Web-{DFD4FDD4-C973-1E58-9D25-7943395DD39B}" dt="2026-03-14T13:55:31.345" v="1198" actId="20577"/>
        <pc:sldMkLst>
          <pc:docMk/>
          <pc:sldMk cId="2290421655" sldId="544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55:31.345" v="1198" actId="20577"/>
          <ac:spMkLst>
            <pc:docMk/>
            <pc:sldMk cId="2290421655" sldId="544"/>
            <ac:spMk id="3" creationId="{71A8C27C-A396-AF7B-3560-E52829F4A2FC}"/>
          </ac:spMkLst>
        </pc:spChg>
      </pc:sldChg>
      <pc:sldChg chg="modSp">
        <pc:chgData name="Avinash Arun Chauhan" userId="S::avinash.chauhan@mahindrauniversity.edu.in::241b5f3e-36f4-4c61-9553-90e6a1c1b8a6" providerId="AD" clId="Web-{DFD4FDD4-C973-1E58-9D25-7943395DD39B}" dt="2026-03-14T13:05:58.160" v="9" actId="20577"/>
        <pc:sldMkLst>
          <pc:docMk/>
          <pc:sldMk cId="209775887" sldId="573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05:58.160" v="9" actId="20577"/>
          <ac:spMkLst>
            <pc:docMk/>
            <pc:sldMk cId="209775887" sldId="573"/>
            <ac:spMk id="3" creationId="{08B582B0-09E5-3887-F3B0-8E90EFC96C90}"/>
          </ac:spMkLst>
        </pc:spChg>
      </pc:sldChg>
      <pc:sldChg chg="modSp">
        <pc:chgData name="Avinash Arun Chauhan" userId="S::avinash.chauhan@mahindrauniversity.edu.in::241b5f3e-36f4-4c61-9553-90e6a1c1b8a6" providerId="AD" clId="Web-{DFD4FDD4-C973-1E58-9D25-7943395DD39B}" dt="2026-03-14T13:07:07.541" v="10" actId="20577"/>
        <pc:sldMkLst>
          <pc:docMk/>
          <pc:sldMk cId="3384985253" sldId="574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07:07.541" v="10" actId="20577"/>
          <ac:spMkLst>
            <pc:docMk/>
            <pc:sldMk cId="3384985253" sldId="574"/>
            <ac:spMk id="9" creationId="{9FF566FE-093B-0E44-54DC-77B02465B343}"/>
          </ac:spMkLst>
        </pc:spChg>
      </pc:sldChg>
      <pc:sldChg chg="modSp add replId">
        <pc:chgData name="Avinash Arun Chauhan" userId="S::avinash.chauhan@mahindrauniversity.edu.in::241b5f3e-36f4-4c61-9553-90e6a1c1b8a6" providerId="AD" clId="Web-{DFD4FDD4-C973-1E58-9D25-7943395DD39B}" dt="2026-03-14T13:32:44.395" v="341" actId="20577"/>
        <pc:sldMkLst>
          <pc:docMk/>
          <pc:sldMk cId="3105018623" sldId="575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32:44.395" v="341" actId="20577"/>
          <ac:spMkLst>
            <pc:docMk/>
            <pc:sldMk cId="3105018623" sldId="575"/>
            <ac:spMk id="2" creationId="{E4EF32E7-FEF1-7F29-A736-9CC7FDFA4D6E}"/>
          </ac:spMkLst>
        </pc:spChg>
        <pc:spChg chg="mod">
          <ac:chgData name="Avinash Arun Chauhan" userId="S::avinash.chauhan@mahindrauniversity.edu.in::241b5f3e-36f4-4c61-9553-90e6a1c1b8a6" providerId="AD" clId="Web-{DFD4FDD4-C973-1E58-9D25-7943395DD39B}" dt="2026-03-14T13:29:36.906" v="252" actId="20577"/>
          <ac:spMkLst>
            <pc:docMk/>
            <pc:sldMk cId="3105018623" sldId="575"/>
            <ac:spMk id="3" creationId="{409DABD2-26ED-B766-7BCB-4AB383C4CB90}"/>
          </ac:spMkLst>
        </pc:spChg>
      </pc:sldChg>
      <pc:sldChg chg="addSp modSp add replId">
        <pc:chgData name="Avinash Arun Chauhan" userId="S::avinash.chauhan@mahindrauniversity.edu.in::241b5f3e-36f4-4c61-9553-90e6a1c1b8a6" providerId="AD" clId="Web-{DFD4FDD4-C973-1E58-9D25-7943395DD39B}" dt="2026-03-14T13:32:49.473" v="345" actId="20577"/>
        <pc:sldMkLst>
          <pc:docMk/>
          <pc:sldMk cId="3051726603" sldId="576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32:49.473" v="345" actId="20577"/>
          <ac:spMkLst>
            <pc:docMk/>
            <pc:sldMk cId="3051726603" sldId="576"/>
            <ac:spMk id="2" creationId="{F64ED7CB-4E4E-D1EE-70E3-F15BCABA6D9D}"/>
          </ac:spMkLst>
        </pc:spChg>
        <pc:spChg chg="mod">
          <ac:chgData name="Avinash Arun Chauhan" userId="S::avinash.chauhan@mahindrauniversity.edu.in::241b5f3e-36f4-4c61-9553-90e6a1c1b8a6" providerId="AD" clId="Web-{DFD4FDD4-C973-1E58-9D25-7943395DD39B}" dt="2026-03-14T13:32:30.113" v="335" actId="20577"/>
          <ac:spMkLst>
            <pc:docMk/>
            <pc:sldMk cId="3051726603" sldId="576"/>
            <ac:spMk id="3" creationId="{8347600E-751E-35BC-C2D6-CE2A251381CB}"/>
          </ac:spMkLst>
        </pc:spChg>
        <pc:graphicFrameChg chg="add mod modGraphic">
          <ac:chgData name="Avinash Arun Chauhan" userId="S::avinash.chauhan@mahindrauniversity.edu.in::241b5f3e-36f4-4c61-9553-90e6a1c1b8a6" providerId="AD" clId="Web-{DFD4FDD4-C973-1E58-9D25-7943395DD39B}" dt="2026-03-14T13:32:09.332" v="334"/>
          <ac:graphicFrameMkLst>
            <pc:docMk/>
            <pc:sldMk cId="3051726603" sldId="576"/>
            <ac:graphicFrameMk id="5" creationId="{72D2D013-41C9-7623-04C1-793B31AB7C8F}"/>
          </ac:graphicFrameMkLst>
        </pc:graphicFrameChg>
      </pc:sldChg>
      <pc:sldChg chg="addSp delSp modSp add replId">
        <pc:chgData name="Avinash Arun Chauhan" userId="S::avinash.chauhan@mahindrauniversity.edu.in::241b5f3e-36f4-4c61-9553-90e6a1c1b8a6" providerId="AD" clId="Web-{DFD4FDD4-C973-1E58-9D25-7943395DD39B}" dt="2026-03-14T13:40:53.210" v="714" actId="20577"/>
        <pc:sldMkLst>
          <pc:docMk/>
          <pc:sldMk cId="2331080363" sldId="577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38:13.135" v="643" actId="20577"/>
          <ac:spMkLst>
            <pc:docMk/>
            <pc:sldMk cId="2331080363" sldId="577"/>
            <ac:spMk id="2" creationId="{118AE272-BAF0-813F-D775-67D6D26E57DF}"/>
          </ac:spMkLst>
        </pc:spChg>
        <pc:spChg chg="mod">
          <ac:chgData name="Avinash Arun Chauhan" userId="S::avinash.chauhan@mahindrauniversity.edu.in::241b5f3e-36f4-4c61-9553-90e6a1c1b8a6" providerId="AD" clId="Web-{DFD4FDD4-C973-1E58-9D25-7943395DD39B}" dt="2026-03-14T13:40:53.210" v="714" actId="20577"/>
          <ac:spMkLst>
            <pc:docMk/>
            <pc:sldMk cId="2331080363" sldId="577"/>
            <ac:spMk id="3" creationId="{5D0026BB-5840-24F4-EEA4-9C6843D488DB}"/>
          </ac:spMkLst>
        </pc:spChg>
        <pc:graphicFrameChg chg="add mod modGraphic">
          <ac:chgData name="Avinash Arun Chauhan" userId="S::avinash.chauhan@mahindrauniversity.edu.in::241b5f3e-36f4-4c61-9553-90e6a1c1b8a6" providerId="AD" clId="Web-{DFD4FDD4-C973-1E58-9D25-7943395DD39B}" dt="2026-03-14T13:40:14.395" v="692" actId="1076"/>
          <ac:graphicFrameMkLst>
            <pc:docMk/>
            <pc:sldMk cId="2331080363" sldId="577"/>
            <ac:graphicFrameMk id="10" creationId="{47DD3CCF-6404-FF6E-467F-A831B109477B}"/>
          </ac:graphicFrameMkLst>
        </pc:graphicFrameChg>
      </pc:sldChg>
      <pc:sldChg chg="addSp delSp modSp add replId">
        <pc:chgData name="Avinash Arun Chauhan" userId="S::avinash.chauhan@mahindrauniversity.edu.in::241b5f3e-36f4-4c61-9553-90e6a1c1b8a6" providerId="AD" clId="Web-{DFD4FDD4-C973-1E58-9D25-7943395DD39B}" dt="2026-03-14T13:41:31.400" v="729" actId="20577"/>
        <pc:sldMkLst>
          <pc:docMk/>
          <pc:sldMk cId="3133152927" sldId="578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38:18.166" v="647" actId="20577"/>
          <ac:spMkLst>
            <pc:docMk/>
            <pc:sldMk cId="3133152927" sldId="578"/>
            <ac:spMk id="2" creationId="{20330920-15A4-53BD-E3CB-85F150FAB556}"/>
          </ac:spMkLst>
        </pc:spChg>
        <pc:spChg chg="mod">
          <ac:chgData name="Avinash Arun Chauhan" userId="S::avinash.chauhan@mahindrauniversity.edu.in::241b5f3e-36f4-4c61-9553-90e6a1c1b8a6" providerId="AD" clId="Web-{DFD4FDD4-C973-1E58-9D25-7943395DD39B}" dt="2026-03-14T13:41:31.400" v="729" actId="20577"/>
          <ac:spMkLst>
            <pc:docMk/>
            <pc:sldMk cId="3133152927" sldId="578"/>
            <ac:spMk id="3" creationId="{8C338859-9EB2-E81A-A359-AFCA0219A908}"/>
          </ac:spMkLst>
        </pc:spChg>
        <pc:graphicFrameChg chg="add mod modGraphic">
          <ac:chgData name="Avinash Arun Chauhan" userId="S::avinash.chauhan@mahindrauniversity.edu.in::241b5f3e-36f4-4c61-9553-90e6a1c1b8a6" providerId="AD" clId="Web-{DFD4FDD4-C973-1E58-9D25-7943395DD39B}" dt="2026-03-14T13:39:24.140" v="679"/>
          <ac:graphicFrameMkLst>
            <pc:docMk/>
            <pc:sldMk cId="3133152927" sldId="578"/>
            <ac:graphicFrameMk id="5" creationId="{246C577B-5758-77CE-E768-8FD7B1FAFA3F}"/>
          </ac:graphicFrameMkLst>
        </pc:graphicFrameChg>
      </pc:sldChg>
      <pc:sldChg chg="addSp delSp modSp add replId">
        <pc:chgData name="Avinash Arun Chauhan" userId="S::avinash.chauhan@mahindrauniversity.edu.in::241b5f3e-36f4-4c61-9553-90e6a1c1b8a6" providerId="AD" clId="Web-{DFD4FDD4-C973-1E58-9D25-7943395DD39B}" dt="2026-03-14T13:45:30.693" v="857" actId="20577"/>
        <pc:sldMkLst>
          <pc:docMk/>
          <pc:sldMk cId="229267955" sldId="579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45:30.693" v="857" actId="20577"/>
          <ac:spMkLst>
            <pc:docMk/>
            <pc:sldMk cId="229267955" sldId="579"/>
            <ac:spMk id="3" creationId="{48C537F0-0C8D-3707-2BD2-8692028E318F}"/>
          </ac:spMkLst>
        </pc:spChg>
        <pc:graphicFrameChg chg="add mod modGraphic">
          <ac:chgData name="Avinash Arun Chauhan" userId="S::avinash.chauhan@mahindrauniversity.edu.in::241b5f3e-36f4-4c61-9553-90e6a1c1b8a6" providerId="AD" clId="Web-{DFD4FDD4-C973-1E58-9D25-7943395DD39B}" dt="2026-03-14T13:44:55.676" v="856" actId="1076"/>
          <ac:graphicFrameMkLst>
            <pc:docMk/>
            <pc:sldMk cId="229267955" sldId="579"/>
            <ac:graphicFrameMk id="9" creationId="{05F2604C-C037-8592-62D8-4F4BB826190E}"/>
          </ac:graphicFrameMkLst>
        </pc:graphicFrameChg>
      </pc:sldChg>
      <pc:sldChg chg="addSp delSp modSp add replId">
        <pc:chgData name="Avinash Arun Chauhan" userId="S::avinash.chauhan@mahindrauniversity.edu.in::241b5f3e-36f4-4c61-9553-90e6a1c1b8a6" providerId="AD" clId="Web-{DFD4FDD4-C973-1E58-9D25-7943395DD39B}" dt="2026-03-14T13:46:59.039" v="927"/>
        <pc:sldMkLst>
          <pc:docMk/>
          <pc:sldMk cId="434983779" sldId="580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46:13.897" v="912" actId="20577"/>
          <ac:spMkLst>
            <pc:docMk/>
            <pc:sldMk cId="434983779" sldId="580"/>
            <ac:spMk id="3" creationId="{CA1EA25B-ADE9-5127-9BFF-0AAE0465BBD7}"/>
          </ac:spMkLst>
        </pc:spChg>
        <pc:graphicFrameChg chg="add mod modGraphic">
          <ac:chgData name="Avinash Arun Chauhan" userId="S::avinash.chauhan@mahindrauniversity.edu.in::241b5f3e-36f4-4c61-9553-90e6a1c1b8a6" providerId="AD" clId="Web-{DFD4FDD4-C973-1E58-9D25-7943395DD39B}" dt="2026-03-14T13:46:59.039" v="927"/>
          <ac:graphicFrameMkLst>
            <pc:docMk/>
            <pc:sldMk cId="434983779" sldId="580"/>
            <ac:graphicFrameMk id="5" creationId="{98EF1A67-3EDB-F459-39F7-B8621D4AF5DE}"/>
          </ac:graphicFrameMkLst>
        </pc:graphicFrameChg>
      </pc:sldChg>
      <pc:sldChg chg="addSp delSp modSp add replId">
        <pc:chgData name="Avinash Arun Chauhan" userId="S::avinash.chauhan@mahindrauniversity.edu.in::241b5f3e-36f4-4c61-9553-90e6a1c1b8a6" providerId="AD" clId="Web-{DFD4FDD4-C973-1E58-9D25-7943395DD39B}" dt="2026-03-14T13:50:41.685" v="1050" actId="1076"/>
        <pc:sldMkLst>
          <pc:docMk/>
          <pc:sldMk cId="4057344438" sldId="581"/>
        </pc:sldMkLst>
        <pc:spChg chg="add mod">
          <ac:chgData name="Avinash Arun Chauhan" userId="S::avinash.chauhan@mahindrauniversity.edu.in::241b5f3e-36f4-4c61-9553-90e6a1c1b8a6" providerId="AD" clId="Web-{DFD4FDD4-C973-1E58-9D25-7943395DD39B}" dt="2026-03-14T13:50:41.685" v="1050" actId="1076"/>
          <ac:spMkLst>
            <pc:docMk/>
            <pc:sldMk cId="4057344438" sldId="581"/>
            <ac:spMk id="17" creationId="{3D3AEC1B-83D6-BEC5-80E3-90219FC2819C}"/>
          </ac:spMkLst>
        </pc:spChg>
        <pc:graphicFrameChg chg="add mod modGraphic">
          <ac:chgData name="Avinash Arun Chauhan" userId="S::avinash.chauhan@mahindrauniversity.edu.in::241b5f3e-36f4-4c61-9553-90e6a1c1b8a6" providerId="AD" clId="Web-{DFD4FDD4-C973-1E58-9D25-7943395DD39B}" dt="2026-03-14T13:49:23.339" v="972"/>
          <ac:graphicFrameMkLst>
            <pc:docMk/>
            <pc:sldMk cId="4057344438" sldId="581"/>
            <ac:graphicFrameMk id="15" creationId="{8117D57C-820D-AD85-1930-13A4E0EC543D}"/>
          </ac:graphicFrameMkLst>
        </pc:graphicFrameChg>
      </pc:sldChg>
      <pc:sldChg chg="delSp modSp add del ord replId">
        <pc:chgData name="Avinash Arun Chauhan" userId="S::avinash.chauhan@mahindrauniversity.edu.in::241b5f3e-36f4-4c61-9553-90e6a1c1b8a6" providerId="AD" clId="Web-{DFD4FDD4-C973-1E58-9D25-7943395DD39B}" dt="2026-03-14T14:06:20.973" v="1997" actId="20577"/>
        <pc:sldMkLst>
          <pc:docMk/>
          <pc:sldMk cId="3541046514" sldId="582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3:58:33.017" v="1352" actId="20577"/>
          <ac:spMkLst>
            <pc:docMk/>
            <pc:sldMk cId="3541046514" sldId="582"/>
            <ac:spMk id="2" creationId="{16A2F0F1-3BA7-39C3-2BFE-A682C5196461}"/>
          </ac:spMkLst>
        </pc:spChg>
        <pc:spChg chg="mod">
          <ac:chgData name="Avinash Arun Chauhan" userId="S::avinash.chauhan@mahindrauniversity.edu.in::241b5f3e-36f4-4c61-9553-90e6a1c1b8a6" providerId="AD" clId="Web-{DFD4FDD4-C973-1E58-9D25-7943395DD39B}" dt="2026-03-14T14:06:20.973" v="1997" actId="20577"/>
          <ac:spMkLst>
            <pc:docMk/>
            <pc:sldMk cId="3541046514" sldId="582"/>
            <ac:spMk id="3" creationId="{54F89D73-48D5-F910-F05F-257C5CC70B05}"/>
          </ac:spMkLst>
        </pc:spChg>
      </pc:sldChg>
      <pc:sldChg chg="modSp add replId">
        <pc:chgData name="Avinash Arun Chauhan" userId="S::avinash.chauhan@mahindrauniversity.edu.in::241b5f3e-36f4-4c61-9553-90e6a1c1b8a6" providerId="AD" clId="Web-{DFD4FDD4-C973-1E58-9D25-7943395DD39B}" dt="2026-03-14T14:06:35.129" v="2002" actId="20577"/>
        <pc:sldMkLst>
          <pc:docMk/>
          <pc:sldMk cId="4034759157" sldId="583"/>
        </pc:sldMkLst>
        <pc:spChg chg="mod">
          <ac:chgData name="Avinash Arun Chauhan" userId="S::avinash.chauhan@mahindrauniversity.edu.in::241b5f3e-36f4-4c61-9553-90e6a1c1b8a6" providerId="AD" clId="Web-{DFD4FDD4-C973-1E58-9D25-7943395DD39B}" dt="2026-03-14T14:06:35.129" v="2002" actId="20577"/>
          <ac:spMkLst>
            <pc:docMk/>
            <pc:sldMk cId="4034759157" sldId="583"/>
            <ac:spMk id="2" creationId="{690DCA08-80A0-AF3C-4A9D-F2CC3143D954}"/>
          </ac:spMkLst>
        </pc:spChg>
        <pc:spChg chg="mod">
          <ac:chgData name="Avinash Arun Chauhan" userId="S::avinash.chauhan@mahindrauniversity.edu.in::241b5f3e-36f4-4c61-9553-90e6a1c1b8a6" providerId="AD" clId="Web-{DFD4FDD4-C973-1E58-9D25-7943395DD39B}" dt="2026-03-14T14:02:48.638" v="1703" actId="20577"/>
          <ac:spMkLst>
            <pc:docMk/>
            <pc:sldMk cId="4034759157" sldId="583"/>
            <ac:spMk id="3" creationId="{9307DC25-6FDF-3BAC-A545-04E30BFFD6F5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7331384A-DD19-302A-15B8-D7494AB3D6AB}"/>
    <pc:docChg chg="modSld">
      <pc:chgData name="Avinash Arun Chauhan" userId="S::avinash.chauhan@mahindrauniversity.edu.in::241b5f3e-36f4-4c61-9553-90e6a1c1b8a6" providerId="AD" clId="Web-{7331384A-DD19-302A-15B8-D7494AB3D6AB}" dt="2026-03-16T13:17:01.524" v="0" actId="20577"/>
      <pc:docMkLst>
        <pc:docMk/>
      </pc:docMkLst>
      <pc:sldChg chg="modSp">
        <pc:chgData name="Avinash Arun Chauhan" userId="S::avinash.chauhan@mahindrauniversity.edu.in::241b5f3e-36f4-4c61-9553-90e6a1c1b8a6" providerId="AD" clId="Web-{7331384A-DD19-302A-15B8-D7494AB3D6AB}" dt="2026-03-16T13:17:01.524" v="0" actId="20577"/>
        <pc:sldMkLst>
          <pc:docMk/>
          <pc:sldMk cId="2290421655" sldId="544"/>
        </pc:sldMkLst>
        <pc:spChg chg="mod">
          <ac:chgData name="Avinash Arun Chauhan" userId="S::avinash.chauhan@mahindrauniversity.edu.in::241b5f3e-36f4-4c61-9553-90e6a1c1b8a6" providerId="AD" clId="Web-{7331384A-DD19-302A-15B8-D7494AB3D6AB}" dt="2026-03-16T13:17:01.524" v="0" actId="20577"/>
          <ac:spMkLst>
            <pc:docMk/>
            <pc:sldMk cId="2290421655" sldId="544"/>
            <ac:spMk id="3" creationId="{71A8C27C-A396-AF7B-3560-E52829F4A2FC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E37661F6-EC07-FC7D-738A-DB0A4362E712}"/>
    <pc:docChg chg="addSld modSld sldOrd">
      <pc:chgData name="Avinash Arun Chauhan" userId="S::avinash.chauhan@mahindrauniversity.edu.in::241b5f3e-36f4-4c61-9553-90e6a1c1b8a6" providerId="AD" clId="Web-{E37661F6-EC07-FC7D-738A-DB0A4362E712}" dt="2026-03-12T11:12:52.973" v="441" actId="14100"/>
      <pc:docMkLst>
        <pc:docMk/>
      </pc:docMkLst>
      <pc:sldChg chg="modSp">
        <pc:chgData name="Avinash Arun Chauhan" userId="S::avinash.chauhan@mahindrauniversity.edu.in::241b5f3e-36f4-4c61-9553-90e6a1c1b8a6" providerId="AD" clId="Web-{E37661F6-EC07-FC7D-738A-DB0A4362E712}" dt="2026-03-12T10:08:40.317" v="2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E37661F6-EC07-FC7D-738A-DB0A4362E712}" dt="2026-03-12T10:08:40.317" v="2" actId="20577"/>
          <ac:spMkLst>
            <pc:docMk/>
            <pc:sldMk cId="883900188" sldId="505"/>
            <ac:spMk id="3" creationId="{29BD426B-01FE-6A79-FB41-404DC71E5937}"/>
          </ac:spMkLst>
        </pc:spChg>
      </pc:sldChg>
      <pc:sldChg chg="modSp">
        <pc:chgData name="Avinash Arun Chauhan" userId="S::avinash.chauhan@mahindrauniversity.edu.in::241b5f3e-36f4-4c61-9553-90e6a1c1b8a6" providerId="AD" clId="Web-{E37661F6-EC07-FC7D-738A-DB0A4362E712}" dt="2026-03-12T10:15:23.090" v="7" actId="20577"/>
        <pc:sldMkLst>
          <pc:docMk/>
          <pc:sldMk cId="2210816079" sldId="520"/>
        </pc:sldMkLst>
        <pc:spChg chg="mod">
          <ac:chgData name="Avinash Arun Chauhan" userId="S::avinash.chauhan@mahindrauniversity.edu.in::241b5f3e-36f4-4c61-9553-90e6a1c1b8a6" providerId="AD" clId="Web-{E37661F6-EC07-FC7D-738A-DB0A4362E712}" dt="2026-03-12T10:15:23.090" v="7" actId="20577"/>
          <ac:spMkLst>
            <pc:docMk/>
            <pc:sldMk cId="2210816079" sldId="520"/>
            <ac:spMk id="3" creationId="{D6046B0B-6CD7-2EDE-775F-436266772719}"/>
          </ac:spMkLst>
        </pc:spChg>
      </pc:sldChg>
      <pc:sldChg chg="modSp">
        <pc:chgData name="Avinash Arun Chauhan" userId="S::avinash.chauhan@mahindrauniversity.edu.in::241b5f3e-36f4-4c61-9553-90e6a1c1b8a6" providerId="AD" clId="Web-{E37661F6-EC07-FC7D-738A-DB0A4362E712}" dt="2026-03-12T10:17:33.994" v="68" actId="20577"/>
        <pc:sldMkLst>
          <pc:docMk/>
          <pc:sldMk cId="459135711" sldId="537"/>
        </pc:sldMkLst>
        <pc:spChg chg="mod">
          <ac:chgData name="Avinash Arun Chauhan" userId="S::avinash.chauhan@mahindrauniversity.edu.in::241b5f3e-36f4-4c61-9553-90e6a1c1b8a6" providerId="AD" clId="Web-{E37661F6-EC07-FC7D-738A-DB0A4362E712}" dt="2026-03-12T10:17:33.994" v="68" actId="20577"/>
          <ac:spMkLst>
            <pc:docMk/>
            <pc:sldMk cId="459135711" sldId="537"/>
            <ac:spMk id="3" creationId="{CF408DFA-52F7-71A7-95F0-471B20EC4B31}"/>
          </ac:spMkLst>
        </pc:spChg>
      </pc:sldChg>
      <pc:sldChg chg="modSp">
        <pc:chgData name="Avinash Arun Chauhan" userId="S::avinash.chauhan@mahindrauniversity.edu.in::241b5f3e-36f4-4c61-9553-90e6a1c1b8a6" providerId="AD" clId="Web-{E37661F6-EC07-FC7D-738A-DB0A4362E712}" dt="2026-03-12T10:20:35.101" v="71" actId="20577"/>
        <pc:sldMkLst>
          <pc:docMk/>
          <pc:sldMk cId="2464847432" sldId="538"/>
        </pc:sldMkLst>
        <pc:spChg chg="mod">
          <ac:chgData name="Avinash Arun Chauhan" userId="S::avinash.chauhan@mahindrauniversity.edu.in::241b5f3e-36f4-4c61-9553-90e6a1c1b8a6" providerId="AD" clId="Web-{E37661F6-EC07-FC7D-738A-DB0A4362E712}" dt="2026-03-12T10:20:35.101" v="71" actId="20577"/>
          <ac:spMkLst>
            <pc:docMk/>
            <pc:sldMk cId="2464847432" sldId="538"/>
            <ac:spMk id="3" creationId="{BB2723DE-C469-9051-050A-9B28CA29CE2E}"/>
          </ac:spMkLst>
        </pc:spChg>
      </pc:sldChg>
      <pc:sldChg chg="modSp">
        <pc:chgData name="Avinash Arun Chauhan" userId="S::avinash.chauhan@mahindrauniversity.edu.in::241b5f3e-36f4-4c61-9553-90e6a1c1b8a6" providerId="AD" clId="Web-{E37661F6-EC07-FC7D-738A-DB0A4362E712}" dt="2026-03-12T10:25:38.346" v="128" actId="20577"/>
        <pc:sldMkLst>
          <pc:docMk/>
          <pc:sldMk cId="3619178225" sldId="542"/>
        </pc:sldMkLst>
        <pc:spChg chg="mod">
          <ac:chgData name="Avinash Arun Chauhan" userId="S::avinash.chauhan@mahindrauniversity.edu.in::241b5f3e-36f4-4c61-9553-90e6a1c1b8a6" providerId="AD" clId="Web-{E37661F6-EC07-FC7D-738A-DB0A4362E712}" dt="2026-03-12T10:25:38.346" v="128" actId="20577"/>
          <ac:spMkLst>
            <pc:docMk/>
            <pc:sldMk cId="3619178225" sldId="542"/>
            <ac:spMk id="3" creationId="{134D2F87-2A43-124D-4092-6E7AF9A64675}"/>
          </ac:spMkLst>
        </pc:spChg>
      </pc:sldChg>
      <pc:sldChg chg="modSp">
        <pc:chgData name="Avinash Arun Chauhan" userId="S::avinash.chauhan@mahindrauniversity.edu.in::241b5f3e-36f4-4c61-9553-90e6a1c1b8a6" providerId="AD" clId="Web-{E37661F6-EC07-FC7D-738A-DB0A4362E712}" dt="2026-03-12T10:24:57.470" v="86" actId="20577"/>
        <pc:sldMkLst>
          <pc:docMk/>
          <pc:sldMk cId="3335294390" sldId="564"/>
        </pc:sldMkLst>
        <pc:spChg chg="mod">
          <ac:chgData name="Avinash Arun Chauhan" userId="S::avinash.chauhan@mahindrauniversity.edu.in::241b5f3e-36f4-4c61-9553-90e6a1c1b8a6" providerId="AD" clId="Web-{E37661F6-EC07-FC7D-738A-DB0A4362E712}" dt="2026-03-12T10:24:57.470" v="86" actId="20577"/>
          <ac:spMkLst>
            <pc:docMk/>
            <pc:sldMk cId="3335294390" sldId="564"/>
            <ac:spMk id="10" creationId="{663BFE1A-B4CD-1D0A-E6A5-C120AF5C4391}"/>
          </ac:spMkLst>
        </pc:spChg>
      </pc:sldChg>
      <pc:sldChg chg="modSp add replId">
        <pc:chgData name="Avinash Arun Chauhan" userId="S::avinash.chauhan@mahindrauniversity.edu.in::241b5f3e-36f4-4c61-9553-90e6a1c1b8a6" providerId="AD" clId="Web-{E37661F6-EC07-FC7D-738A-DB0A4362E712}" dt="2026-03-12T10:53:15.169" v="328" actId="20577"/>
        <pc:sldMkLst>
          <pc:docMk/>
          <pc:sldMk cId="209775887" sldId="573"/>
        </pc:sldMkLst>
        <pc:spChg chg="mod">
          <ac:chgData name="Avinash Arun Chauhan" userId="S::avinash.chauhan@mahindrauniversity.edu.in::241b5f3e-36f4-4c61-9553-90e6a1c1b8a6" providerId="AD" clId="Web-{E37661F6-EC07-FC7D-738A-DB0A4362E712}" dt="2026-03-12T10:52:07.633" v="251" actId="20577"/>
          <ac:spMkLst>
            <pc:docMk/>
            <pc:sldMk cId="209775887" sldId="573"/>
            <ac:spMk id="2" creationId="{AE4DEC2D-1B65-EB47-0A5A-7F73A19973BB}"/>
          </ac:spMkLst>
        </pc:spChg>
        <pc:spChg chg="mod">
          <ac:chgData name="Avinash Arun Chauhan" userId="S::avinash.chauhan@mahindrauniversity.edu.in::241b5f3e-36f4-4c61-9553-90e6a1c1b8a6" providerId="AD" clId="Web-{E37661F6-EC07-FC7D-738A-DB0A4362E712}" dt="2026-03-12T10:53:15.169" v="328" actId="20577"/>
          <ac:spMkLst>
            <pc:docMk/>
            <pc:sldMk cId="209775887" sldId="573"/>
            <ac:spMk id="3" creationId="{08B582B0-09E5-3887-F3B0-8E90EFC96C90}"/>
          </ac:spMkLst>
        </pc:spChg>
      </pc:sldChg>
      <pc:sldChg chg="addSp delSp modSp add ord replId">
        <pc:chgData name="Avinash Arun Chauhan" userId="S::avinash.chauhan@mahindrauniversity.edu.in::241b5f3e-36f4-4c61-9553-90e6a1c1b8a6" providerId="AD" clId="Web-{E37661F6-EC07-FC7D-738A-DB0A4362E712}" dt="2026-03-12T11:12:52.973" v="441" actId="14100"/>
        <pc:sldMkLst>
          <pc:docMk/>
          <pc:sldMk cId="3384985253" sldId="574"/>
        </pc:sldMkLst>
        <pc:spChg chg="mod">
          <ac:chgData name="Avinash Arun Chauhan" userId="S::avinash.chauhan@mahindrauniversity.edu.in::241b5f3e-36f4-4c61-9553-90e6a1c1b8a6" providerId="AD" clId="Web-{E37661F6-EC07-FC7D-738A-DB0A4362E712}" dt="2026-03-12T11:06:48.772" v="356" actId="20577"/>
          <ac:spMkLst>
            <pc:docMk/>
            <pc:sldMk cId="3384985253" sldId="574"/>
            <ac:spMk id="2" creationId="{DDCF2E92-F265-7C64-B798-0B9700EF621C}"/>
          </ac:spMkLst>
        </pc:spChg>
        <pc:spChg chg="mod">
          <ac:chgData name="Avinash Arun Chauhan" userId="S::avinash.chauhan@mahindrauniversity.edu.in::241b5f3e-36f4-4c61-9553-90e6a1c1b8a6" providerId="AD" clId="Web-{E37661F6-EC07-FC7D-738A-DB0A4362E712}" dt="2026-03-12T11:08:28.112" v="404" actId="20577"/>
          <ac:spMkLst>
            <pc:docMk/>
            <pc:sldMk cId="3384985253" sldId="574"/>
            <ac:spMk id="3" creationId="{A9C0B2CE-6451-4416-47BC-430586A97F12}"/>
          </ac:spMkLst>
        </pc:spChg>
        <pc:spChg chg="add mod">
          <ac:chgData name="Avinash Arun Chauhan" userId="S::avinash.chauhan@mahindrauniversity.edu.in::241b5f3e-36f4-4c61-9553-90e6a1c1b8a6" providerId="AD" clId="Web-{E37661F6-EC07-FC7D-738A-DB0A4362E712}" dt="2026-03-12T11:12:52.973" v="441" actId="14100"/>
          <ac:spMkLst>
            <pc:docMk/>
            <pc:sldMk cId="3384985253" sldId="574"/>
            <ac:spMk id="9" creationId="{9FF566FE-093B-0E44-54DC-77B02465B343}"/>
          </ac:spMkLst>
        </pc:spChg>
        <pc:picChg chg="add mod">
          <ac:chgData name="Avinash Arun Chauhan" userId="S::avinash.chauhan@mahindrauniversity.edu.in::241b5f3e-36f4-4c61-9553-90e6a1c1b8a6" providerId="AD" clId="Web-{E37661F6-EC07-FC7D-738A-DB0A4362E712}" dt="2026-03-12T11:09:59.119" v="412" actId="1076"/>
          <ac:picMkLst>
            <pc:docMk/>
            <pc:sldMk cId="3384985253" sldId="574"/>
            <ac:picMk id="5" creationId="{4D0EF784-99F5-A554-4316-3F11405190C6}"/>
          </ac:picMkLst>
        </pc:picChg>
      </pc:sldChg>
    </pc:docChg>
  </pc:docChgLst>
  <pc:docChgLst>
    <pc:chgData name="Avinash Arun Chauhan" userId="S::avinash.chauhan@mahindrauniversity.edu.in::241b5f3e-36f4-4c61-9553-90e6a1c1b8a6" providerId="AD" clId="Web-{AF441C11-0196-AF35-312D-AC8D887336FD}"/>
    <pc:docChg chg="modSld">
      <pc:chgData name="Avinash Arun Chauhan" userId="S::avinash.chauhan@mahindrauniversity.edu.in::241b5f3e-36f4-4c61-9553-90e6a1c1b8a6" providerId="AD" clId="Web-{AF441C11-0196-AF35-312D-AC8D887336FD}" dt="2026-03-15T15:37:41.673" v="8" actId="20577"/>
      <pc:docMkLst>
        <pc:docMk/>
      </pc:docMkLst>
      <pc:sldChg chg="modSp">
        <pc:chgData name="Avinash Arun Chauhan" userId="S::avinash.chauhan@mahindrauniversity.edu.in::241b5f3e-36f4-4c61-9553-90e6a1c1b8a6" providerId="AD" clId="Web-{AF441C11-0196-AF35-312D-AC8D887336FD}" dt="2026-03-15T15:18:24.536" v="5" actId="20577"/>
        <pc:sldMkLst>
          <pc:docMk/>
          <pc:sldMk cId="3541046514" sldId="582"/>
        </pc:sldMkLst>
        <pc:spChg chg="mod">
          <ac:chgData name="Avinash Arun Chauhan" userId="S::avinash.chauhan@mahindrauniversity.edu.in::241b5f3e-36f4-4c61-9553-90e6a1c1b8a6" providerId="AD" clId="Web-{AF441C11-0196-AF35-312D-AC8D887336FD}" dt="2026-03-15T15:18:24.536" v="5" actId="20577"/>
          <ac:spMkLst>
            <pc:docMk/>
            <pc:sldMk cId="3541046514" sldId="582"/>
            <ac:spMk id="3" creationId="{54F89D73-48D5-F910-F05F-257C5CC70B05}"/>
          </ac:spMkLst>
        </pc:spChg>
      </pc:sldChg>
      <pc:sldChg chg="modSp">
        <pc:chgData name="Avinash Arun Chauhan" userId="S::avinash.chauhan@mahindrauniversity.edu.in::241b5f3e-36f4-4c61-9553-90e6a1c1b8a6" providerId="AD" clId="Web-{AF441C11-0196-AF35-312D-AC8D887336FD}" dt="2026-03-15T15:37:41.673" v="8" actId="20577"/>
        <pc:sldMkLst>
          <pc:docMk/>
          <pc:sldMk cId="4034759157" sldId="583"/>
        </pc:sldMkLst>
        <pc:spChg chg="mod">
          <ac:chgData name="Avinash Arun Chauhan" userId="S::avinash.chauhan@mahindrauniversity.edu.in::241b5f3e-36f4-4c61-9553-90e6a1c1b8a6" providerId="AD" clId="Web-{AF441C11-0196-AF35-312D-AC8D887336FD}" dt="2026-03-15T15:37:41.673" v="8" actId="20577"/>
          <ac:spMkLst>
            <pc:docMk/>
            <pc:sldMk cId="4034759157" sldId="583"/>
            <ac:spMk id="3" creationId="{9307DC25-6FDF-3BAC-A545-04E30BFFD6F5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5FE9A51A-26BA-6598-AA6A-029DE3536778}"/>
    <pc:docChg chg="modSld">
      <pc:chgData name="Avinash Arun Chauhan" userId="S::avinash.chauhan@mahindrauniversity.edu.in::241b5f3e-36f4-4c61-9553-90e6a1c1b8a6" providerId="AD" clId="Web-{5FE9A51A-26BA-6598-AA6A-029DE3536778}" dt="2026-03-17T06:29:27.642" v="126" actId="20577"/>
      <pc:docMkLst>
        <pc:docMk/>
      </pc:docMkLst>
      <pc:sldChg chg="modSp">
        <pc:chgData name="Avinash Arun Chauhan" userId="S::avinash.chauhan@mahindrauniversity.edu.in::241b5f3e-36f4-4c61-9553-90e6a1c1b8a6" providerId="AD" clId="Web-{5FE9A51A-26BA-6598-AA6A-029DE3536778}" dt="2026-03-17T06:24:44.285" v="95" actId="20577"/>
        <pc:sldMkLst>
          <pc:docMk/>
          <pc:sldMk cId="3811169343" sldId="426"/>
        </pc:sldMkLst>
        <pc:spChg chg="mod">
          <ac:chgData name="Avinash Arun Chauhan" userId="S::avinash.chauhan@mahindrauniversity.edu.in::241b5f3e-36f4-4c61-9553-90e6a1c1b8a6" providerId="AD" clId="Web-{5FE9A51A-26BA-6598-AA6A-029DE3536778}" dt="2026-03-17T06:24:44.285" v="95" actId="20577"/>
          <ac:spMkLst>
            <pc:docMk/>
            <pc:sldMk cId="3811169343" sldId="426"/>
            <ac:spMk id="3" creationId="{31932857-BFC7-D9FE-C8F3-E1C975AD4542}"/>
          </ac:spMkLst>
        </pc:spChg>
      </pc:sldChg>
      <pc:sldChg chg="modSp">
        <pc:chgData name="Avinash Arun Chauhan" userId="S::avinash.chauhan@mahindrauniversity.edu.in::241b5f3e-36f4-4c61-9553-90e6a1c1b8a6" providerId="AD" clId="Web-{5FE9A51A-26BA-6598-AA6A-029DE3536778}" dt="2026-03-17T06:27:52.483" v="114" actId="20577"/>
        <pc:sldMkLst>
          <pc:docMk/>
          <pc:sldMk cId="883900188" sldId="505"/>
        </pc:sldMkLst>
        <pc:spChg chg="mod">
          <ac:chgData name="Avinash Arun Chauhan" userId="S::avinash.chauhan@mahindrauniversity.edu.in::241b5f3e-36f4-4c61-9553-90e6a1c1b8a6" providerId="AD" clId="Web-{5FE9A51A-26BA-6598-AA6A-029DE3536778}" dt="2026-03-17T06:27:52.483" v="114" actId="20577"/>
          <ac:spMkLst>
            <pc:docMk/>
            <pc:sldMk cId="883900188" sldId="505"/>
            <ac:spMk id="3" creationId="{29BD426B-01FE-6A79-FB41-404DC71E5937}"/>
          </ac:spMkLst>
        </pc:spChg>
      </pc:sldChg>
      <pc:sldChg chg="modSp">
        <pc:chgData name="Avinash Arun Chauhan" userId="S::avinash.chauhan@mahindrauniversity.edu.in::241b5f3e-36f4-4c61-9553-90e6a1c1b8a6" providerId="AD" clId="Web-{5FE9A51A-26BA-6598-AA6A-029DE3536778}" dt="2026-03-17T06:29:27.642" v="126" actId="20577"/>
        <pc:sldMkLst>
          <pc:docMk/>
          <pc:sldMk cId="3619178225" sldId="542"/>
        </pc:sldMkLst>
        <pc:spChg chg="mod">
          <ac:chgData name="Avinash Arun Chauhan" userId="S::avinash.chauhan@mahindrauniversity.edu.in::241b5f3e-36f4-4c61-9553-90e6a1c1b8a6" providerId="AD" clId="Web-{5FE9A51A-26BA-6598-AA6A-029DE3536778}" dt="2026-03-17T06:29:27.642" v="126" actId="20577"/>
          <ac:spMkLst>
            <pc:docMk/>
            <pc:sldMk cId="3619178225" sldId="542"/>
            <ac:spMk id="3" creationId="{134D2F87-2A43-124D-4092-6E7AF9A64675}"/>
          </ac:spMkLst>
        </pc:spChg>
      </pc:sldChg>
      <pc:sldChg chg="modSp">
        <pc:chgData name="Avinash Arun Chauhan" userId="S::avinash.chauhan@mahindrauniversity.edu.in::241b5f3e-36f4-4c61-9553-90e6a1c1b8a6" providerId="AD" clId="Web-{5FE9A51A-26BA-6598-AA6A-029DE3536778}" dt="2026-03-17T06:16:40.067" v="6" actId="20577"/>
        <pc:sldMkLst>
          <pc:docMk/>
          <pc:sldMk cId="3541046514" sldId="582"/>
        </pc:sldMkLst>
        <pc:spChg chg="mod">
          <ac:chgData name="Avinash Arun Chauhan" userId="S::avinash.chauhan@mahindrauniversity.edu.in::241b5f3e-36f4-4c61-9553-90e6a1c1b8a6" providerId="AD" clId="Web-{5FE9A51A-26BA-6598-AA6A-029DE3536778}" dt="2026-03-17T06:16:20.348" v="1" actId="1076"/>
          <ac:spMkLst>
            <pc:docMk/>
            <pc:sldMk cId="3541046514" sldId="582"/>
            <ac:spMk id="2" creationId="{16A2F0F1-3BA7-39C3-2BFE-A682C5196461}"/>
          </ac:spMkLst>
        </pc:spChg>
        <pc:spChg chg="mod">
          <ac:chgData name="Avinash Arun Chauhan" userId="S::avinash.chauhan@mahindrauniversity.edu.in::241b5f3e-36f4-4c61-9553-90e6a1c1b8a6" providerId="AD" clId="Web-{5FE9A51A-26BA-6598-AA6A-029DE3536778}" dt="2026-03-17T06:16:40.067" v="6" actId="20577"/>
          <ac:spMkLst>
            <pc:docMk/>
            <pc:sldMk cId="3541046514" sldId="582"/>
            <ac:spMk id="3" creationId="{54F89D73-48D5-F910-F05F-257C5CC70B05}"/>
          </ac:spMkLst>
        </pc:spChg>
      </pc:sldChg>
      <pc:sldChg chg="modSp">
        <pc:chgData name="Avinash Arun Chauhan" userId="S::avinash.chauhan@mahindrauniversity.edu.in::241b5f3e-36f4-4c61-9553-90e6a1c1b8a6" providerId="AD" clId="Web-{5FE9A51A-26BA-6598-AA6A-029DE3536778}" dt="2026-03-17T06:21:55.119" v="63" actId="20577"/>
        <pc:sldMkLst>
          <pc:docMk/>
          <pc:sldMk cId="4034759157" sldId="583"/>
        </pc:sldMkLst>
        <pc:spChg chg="mod">
          <ac:chgData name="Avinash Arun Chauhan" userId="S::avinash.chauhan@mahindrauniversity.edu.in::241b5f3e-36f4-4c61-9553-90e6a1c1b8a6" providerId="AD" clId="Web-{5FE9A51A-26BA-6598-AA6A-029DE3536778}" dt="2026-03-17T06:21:55.119" v="63" actId="20577"/>
          <ac:spMkLst>
            <pc:docMk/>
            <pc:sldMk cId="4034759157" sldId="583"/>
            <ac:spMk id="3" creationId="{9307DC25-6FDF-3BAC-A545-04E30BFFD6F5}"/>
          </ac:spMkLst>
        </pc:spChg>
      </pc:sldChg>
    </pc:docChg>
  </pc:docChgLst>
  <pc:docChgLst>
    <pc:chgData name="Avinash Arun Chauhan" userId="S::avinash.chauhan@mahindrauniversity.edu.in::241b5f3e-36f4-4c61-9553-90e6a1c1b8a6" providerId="AD" clId="Web-{96752856-56F8-E06A-B52E-92CA75C59DF6}"/>
    <pc:docChg chg="modSld">
      <pc:chgData name="Avinash Arun Chauhan" userId="S::avinash.chauhan@mahindrauniversity.edu.in::241b5f3e-36f4-4c61-9553-90e6a1c1b8a6" providerId="AD" clId="Web-{96752856-56F8-E06A-B52E-92CA75C59DF6}" dt="2026-04-07T10:25:00.991" v="28"/>
      <pc:docMkLst>
        <pc:docMk/>
      </pc:docMkLst>
      <pc:sldChg chg="modSp">
        <pc:chgData name="Avinash Arun Chauhan" userId="S::avinash.chauhan@mahindrauniversity.edu.in::241b5f3e-36f4-4c61-9553-90e6a1c1b8a6" providerId="AD" clId="Web-{96752856-56F8-E06A-B52E-92CA75C59DF6}" dt="2026-04-07T10:25:00.991" v="28"/>
        <pc:sldMkLst>
          <pc:docMk/>
          <pc:sldMk cId="4057344438" sldId="581"/>
        </pc:sldMkLst>
        <pc:graphicFrameChg chg="mod modGraphic">
          <ac:chgData name="Avinash Arun Chauhan" userId="S::avinash.chauhan@mahindrauniversity.edu.in::241b5f3e-36f4-4c61-9553-90e6a1c1b8a6" providerId="AD" clId="Web-{96752856-56F8-E06A-B52E-92CA75C59DF6}" dt="2026-04-07T10:25:00.991" v="28"/>
          <ac:graphicFrameMkLst>
            <pc:docMk/>
            <pc:sldMk cId="4057344438" sldId="581"/>
            <ac:graphicFrameMk id="15" creationId="{8117D57C-820D-AD85-1930-13A4E0EC543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8A5F4-8A54-40B7-994C-7C13036E170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A36BE-6307-4311-8670-04B167AD6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5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63FB-EA7A-2440-820C-316ED6443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0F39B-F8EE-387F-EF49-04D5781D0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4EF4C-BE8C-BB80-DAAD-65D1725AB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9AAA1-5D45-BA7E-008E-3EBBB3805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56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3743-DF89-6F73-E05B-DD76A798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1CCBF-97C0-9D74-82FA-4B87C455B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80172-49C5-AD7F-E376-164662C4A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06491-0675-2771-98F7-539280390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10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47B8-6047-F690-3391-B31B17E1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480AD-EBF4-A183-201A-351DE332D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0C49A-C78C-234E-221D-B12F4B961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D145E-3EC6-CFA1-B19D-EA470B7AA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34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59418-856A-7904-74AD-CC826E04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83295-A536-683F-3A8D-91BFC3A85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FA3A7-515B-40A7-7E56-F869D000F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47153-92B1-5A41-F2B9-761E48FCA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40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5CE37-4634-B3BF-E0F9-59144EF8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6487F-0E4A-3B99-88FD-7BE6A5D9F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48EE2-3BD7-1BF8-25A6-2B888F0E2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D5C3C-57AB-3F5A-ADA4-18E50C496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19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2D92-AE23-97BE-3806-F95D1FF61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A15CC-62E9-10F0-4A48-2EAC7025B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7236C-010D-42A7-0432-01BB41559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81546-49A8-E3AB-7E8B-F3543BF35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58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9900-A7DF-D61D-ADBA-504083F8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27327-C3E0-7BF0-0374-57F502421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2E465-CBAD-2711-3C32-4A38F880A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What are distributed systems? </a:t>
            </a:r>
            <a:r>
              <a:rPr lang="en-US"/>
              <a:t>A distributed system is a collection of independent computers that work together as a single system. These computers (or nodes) communicate over a network to achieve a common goal. Unlike a single system, a distributed system spreads computation, storage, and processing across multiple machines, often improving performance, fault tolerance, and scalability.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02F74-55FE-39E0-260C-0CCABBEF8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00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416A3-5B2F-BCC9-92D0-01C11C839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3D1D1-3475-F9B9-79A9-2448C18D3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175F3-09F8-6A8F-69AE-E874C4869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Reliability – an example of a non-functional requirement – this can impact a system's architecture, in that you would want to then have your architecture support portability – and how would you do that? - make it modular – and what is an example of a modular architecture – layered is a good choice across one system (only the bottom layer need to be adjusted as per different platform needs)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Performance – Can have a client server architecture where redundant services are provided by multiple servers, and therefore, performance is faster (if you are gauging performance in terms of speed of execution)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81D58-74AE-17B1-3452-11BC3FCF5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37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F244-0A70-96F9-2134-D5301ED0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98132-28CC-FE3B-2758-45D2F4B7A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C996C-941E-ECBB-0727-57A597DCD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1EF43-3EBA-8C83-58ED-3AEA16A5F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07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1199-A16E-63A3-DF47-259025DB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9B78A-571B-4CDE-586C-465F41CD5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DED7B-28F2-6A8C-344D-11AFEC486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BDBFB-5C70-18EE-9740-643044664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66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8EA6-B5A7-ED27-56E9-B62F3C04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ED842-7BF9-EA6C-C8C0-1D1D2D12E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716A8-FFFD-E6AC-451C-1BB799A2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18C56-2B22-8C7D-D36B-1D121C2F8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51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41C4-0BAD-D94F-F28D-5465A87A9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E7F73-3D01-0EA6-0BF5-BE4DC6CE4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86ADF-FB9D-1D71-31E9-C04B0B693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2B3CB-A8B4-412F-D244-083D2D718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93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E2A6-C024-B47B-AE0A-E4998DB8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B779D-FF46-4A6B-B9C2-0417E562D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946FB-5908-8B6F-882A-13CE739EC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E4269-5C04-C5E4-6C73-C0E61A845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49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B905-143E-7825-5E3A-0D3B23BF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FF4C4-988D-52EC-9B1D-3E477B0C7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E2DE5-35D8-3C9D-C0F3-145F64877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0E1F0-3E9B-1B74-5335-A5756A425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93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5F45-ABAE-8743-CF03-98611198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A46D7-6B39-21E6-7A89-5C30B2CBD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22916-9C9A-4415-7E5F-2A91B8DDC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B446A-92C6-EEED-7D59-26762C103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96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B2DE-BEA3-1C1B-1F4D-3A298489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20E90-7C35-946A-0206-8C702CED2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5555B-EBC6-68B1-E189-DF63115EB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How is logical view different from development view?</a:t>
            </a:r>
          </a:p>
          <a:p>
            <a:r>
              <a:rPr lang="en-US">
                <a:ea typeface="Calibri"/>
                <a:cs typeface="Calibri"/>
              </a:rPr>
              <a:t>What is conceptual view?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D5F2E-9EC2-B44B-8B80-DECA96507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75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A158-5BB2-E433-0CD8-4F54811A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DD0C5-49B7-1058-ECAD-A2E1FC769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68C6A-5E9E-9648-2584-6CE9AEA52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7EAA5-542E-798F-6D90-DDAC4068C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1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97EC-0DF9-0B01-983C-D76D76F4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39F61-533E-8A97-0A96-6D6E3F2E9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F475A-20D8-D113-95AB-F5A514B97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D87D7-9A99-488B-2DF1-CA7D65880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168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8A08-A64E-8E5D-F62D-3F0CEAA1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62620-1299-0160-D0AD-0084D1936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92731-6780-7206-9A69-1B56868A4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89DE1-C007-E313-30C0-84F222584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919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0FBC3-B12F-72D2-0BC5-AFDA739A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C553B-2D43-8BA4-83BF-1D6640974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285CE-80AF-E7D9-0559-DCC46B6D2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F028-96B9-E2AB-1815-E0D6D6E94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193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60FD2-920E-17D4-1928-D06611344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0828F-98CB-AC43-4872-3D06DFF1C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8A819-41E4-7A95-8C12-74BAFB448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B7FE6-15F6-1961-7F2D-FCD52498D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67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349D-59F7-C119-42DF-A3DEFE2F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58B4D-18D8-C722-5BA0-6DBD7CEE7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B37BB-C60F-59A6-D698-F28B7055E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BCA1C-CF33-E814-2B20-DF532E640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904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640D0-1269-A576-879E-9DCE5594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59B21-BE1A-A03D-C184-3B3D6F96F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D0C87-3310-B04E-FDCC-5EE0954D5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521DC-3E88-99BD-B024-41A6C9D66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495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C01F-64CB-A4B0-9CA9-ACD60AD5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F0C98-8E4D-CC90-5491-1B3396906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006C2-A2C1-D5EB-9AEC-B86845586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08470-003E-A52D-1C69-1CAB3283E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721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4CC8-D332-A110-5AFD-DC49E05F2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9532E-DBEF-AC65-8D58-B770196C6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56572-67B2-7447-9FCE-EF88788B9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E5695-D753-B7B7-B0E7-8C910FE4C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03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46FA-87D9-D523-2A7D-B59D5395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95F73-9627-2F9A-2B13-5612E66C8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DEF4F-9DD1-EE36-C5F3-DB441497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703B7-23FC-0873-FD06-3C85BD3BB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878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7557-D0C7-E9F4-35AD-F4D17348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04D94-B5D4-716C-2C1C-483EE8CC3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F3682-5FEC-E70D-D89A-6E6DBEE97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D017C-EE28-62AE-AACB-4F187D07E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222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1627-63F2-CECA-09EF-F3A9A941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6C1FC-0529-3670-A3D3-2755DFE7B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DD67C-71C8-5A4A-710F-F1FC5A2F2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CDA2B-E560-71D1-20A1-F65DD5BFA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456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58AD-D49B-0336-E046-39D4975E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FB0F3-63F6-C525-E6ED-0EF55A103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F7E29-8E66-9DE2-5035-90DEBC0F0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22F3-53AE-825A-4AD1-227F2ED48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428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FA03-0F7E-320C-691E-193BA513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DFD8-80B4-6175-DCBD-CF95248C6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B9059-3796-2991-7799-DAB2D58A4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16914-3CFC-9ED4-FBD7-EB95882A2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931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22750-BD79-1305-FC90-EF9D9E5C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5A220-E75B-7204-6865-65DD7BF67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CE168-D89F-1B55-5057-FB2B5D0BF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C9A53-2C3D-B4F7-4781-F3222DB83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310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F6764-CB84-F203-3C87-0A5E0D12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B60F0-1B62-8161-6AC1-50994346D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C8E37-4115-1603-3D23-DD88ED3DE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8754D-454E-153E-395C-B1E3FD928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570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5B42-1C99-3417-71C9-3D8D00CA3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F248E-5A51-725A-5DE2-8CA7CB6F5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56DE4-1E3C-5E4F-2072-E965654FB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96AB1-EFED-8D87-4E2F-27DED6308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535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5224-2348-3884-AA69-3CA8A20D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C1267-2A6F-4C04-4898-43C99C7CD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4C6CC-4E76-AAAE-677A-6792618E3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03B5B-5719-3D58-471E-67A68CDEC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668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C54D-73EA-F973-1B5C-A5A03D7DC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593B6-ACB3-360C-F84B-37B019558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54CF0-4561-54A1-28D5-EB38CC987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A4F26-9EFC-4F4D-CCEE-391763868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784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B01B-3D3B-F8AC-5FBB-DF2D20C2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5B93A-0DDE-7A6F-5B4D-EB07803FB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4D368-01F7-EA1B-00C8-CBC59E8D4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ABE3B-967C-1E68-AF2D-986913A8B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867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03599-5522-9D67-AB5C-C24FCD2B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52CC0-252A-A95E-2A57-C0DB6B550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6D391-5182-A43F-8C42-A6770268A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9D77A-E728-DAEF-C83B-DD0B69255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516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0129B-D86B-CCAA-6C1A-B674609A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396B3-222C-E383-A161-16AD629CF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41310-4350-19EE-2819-BEB44E00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2722F-F249-5AFC-8D61-5FF52E76F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739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F837-5719-19DB-4CEB-48AEBDB3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2D5C7-825E-59FE-3B1C-DAFE38084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43F84-CF3D-95B8-E96B-88DC3734B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67212-C3C8-8681-C778-6E081F836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114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EA0E-8A54-D203-2EC2-2D35916A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94B22-DCB6-F723-781A-7935F681A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24D4E-D402-DC42-450A-8D6C8DF6A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882B2-5723-7903-6A8E-6D28DAE8D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376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B2AC-D666-77EE-DF8A-3ADA95B9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EE2D9-E642-7BFA-211A-81292BF84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2CA21-5090-9ACB-BD6D-8585C9DA1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E5218-53C7-FAE3-44E7-B81321871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624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0499-5E2B-44C9-F606-5B58BE99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6B58B-35B3-D070-6B19-3D879351E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5F1E4-FF7C-FF69-0437-8A18A5E29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F096B-FEF8-D2F3-5A2C-A6D3375DF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26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B342-094D-0395-C2B0-05CCD341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12282-27DD-5D8F-8180-64FDD8240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74B2E-8A61-4283-AEB5-AFA0E678E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87C76-BFF7-31F8-1A77-5DA4DE256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347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C18B-EA79-7DA1-C32B-4823B9E3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3FEF6-BBE8-111B-F677-685A89E0C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80364-4627-027E-0416-459802789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F61F5-E6E1-B165-364E-990E10656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467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E8731-23FF-C23E-C33D-693C0148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34959-48AB-21DB-E2A1-A84FB1B7C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FF340-DE3E-A704-09D6-F11B9DA03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08BBA-832D-FB2F-9C6E-C60FD776E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060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02711-FB59-5817-76FE-C172BD85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E8C26-3464-E3BA-A617-B7C75153E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8804D-9233-1B33-BD78-9723AF305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B9479-0B49-46BD-54F6-8D2568EC8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414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2A66D-BB1E-7694-B59A-15435BB57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86550-6F3B-699B-F0D6-0448B7B4D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C9E64-9BBF-2197-8121-AF215DBE0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F7C4A-5A41-B453-7238-090514012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157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839FF-9DCB-2C9A-3010-78F47797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7635B-FD47-0F41-371A-539D4F78D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2D544-25EA-6A78-0C65-74F25B3A3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E60C8-6058-3FEA-AED9-1B6DAD380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894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26ABB-5390-A456-5358-2EAF9D244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A4F93-C13F-8637-26A5-56A926D11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95726-358D-72AB-E905-D4BDB758A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69BEE-0561-F9E0-58E6-A7948FB82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0770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8268-1928-2426-56F9-70A31514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6E22F-E2F7-EBB4-65D5-94452C2A3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80AEA-EAC3-6FD9-AC72-964203431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39457-F701-F5E8-9D2C-77204AEC2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3291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ECE1-F906-6CEF-BD10-6ED94C5E6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BD06C-2342-76F9-56C8-90B924FED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386BE-4E7A-7CEF-8665-C08D688DB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FB1B7-5B98-BDE3-94D4-529592384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240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D4F40-8227-7F17-A6BA-E4AA31B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E1BAF-BBE0-D1D3-2B41-D90E33AD0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9C673-9482-728F-9420-4B571D494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23116-50C8-4C64-D62F-27DEE9567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A36BE-6307-4311-8670-04B167AD63B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10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59E9-470B-4B8D-A9EB-CE8AF5FBB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98EB-266D-4DF3-A1C8-8FFFE7045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AD7FD-8146-4C92-B9C4-ABE3EDEB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DCD19-635A-4F0C-A4D6-DCB11EE4711D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E42B6-D644-4AA7-B4E2-53DBAD7E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AC68A-C2CE-47FA-BD3B-6AD5EDA2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9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0891-51D6-4C6E-8AB0-50690D5D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F29A5-AEEE-446F-B62D-BD46C6B0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43C36-C898-4C6E-97BC-0AE2998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470BA-D41E-437D-A225-B0D8986DE2C4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E89BF-AA6A-4CD1-AA42-45937EB0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5DC2B-9622-4D9B-A836-9C9CE22A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9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BC1F-CD2C-49A7-870C-07CC9176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C7702-4100-4CC3-A19F-474F03564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C34D-B46E-470D-AD50-B9B038AB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8E2B-208F-4B34-9A15-6955A3621029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28AE-EBFC-4649-8128-2B57674BC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87D2-79FD-40C2-B5D3-73BEFDD6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8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8DF4-CC57-4331-BAB2-274B7F4F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484E-6336-4F19-9BD1-3B91D85B7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2305B-61F6-40D5-8511-22A203F9B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3351C-4BD8-4A76-A84D-D27D42D7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B34A0-0F7C-4A42-A80B-69A32453D234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6FA23-7C56-4373-97A9-C1E42690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5C23-B74E-4564-83EB-E0801197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8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F3C4-0090-4478-811F-9CEEEDF30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55BC3-728A-4215-938B-9F1E55DDA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E5F37-172D-4DDD-8695-70423D079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32F7-387C-48A9-8ED2-88A2E7CD4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15BBF-7552-4D05-B395-22949E223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03D83-2EA3-43C4-8C34-C2EEB16D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126E-3B88-4036-9F2D-FB7969B45F4A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D1FE8-F889-4A72-BCC1-50806FA1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B86BC-226A-4A98-951A-01BC13DB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7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1E2B-54B4-4FD9-BC1F-9E86C9F0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DDD7E-C2A1-425A-9C02-69453F7A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84BB-C434-4F3E-BD0C-56FCD0B24816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E4A64-28DA-4BCB-903B-0C2AB5DD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2EF47-4BAF-438E-BFF8-6C806F18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9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2DD21-4658-405D-B2C3-9B85D3D7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BA68-3361-4BBC-8467-F2FA7738ABD3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F90DF-D196-4982-9379-A12FD1999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C7654-80F7-4116-966D-2D3D2BC2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5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9B0E-9BD9-44D9-9399-CB449D11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51D0-651F-4845-8890-5B610674D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82CB8-8E30-4092-BCE6-75EE6CE56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DC2B3-BBD0-4E62-99CD-DCB9D3F5E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3D98D-6704-4670-8FDC-09111D656BD4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A16E1-26F2-4022-9090-75A0FEB2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F83AA-1CE6-4EEA-8163-A440E285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9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2C12-A56B-46B7-9523-4E7765EB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818F4B-7FBD-449C-9D81-7D2921375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3098B-08EB-4860-ACC2-E8D7BEB69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D0008-6CA4-4B93-8BDC-7B7AA42F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7458-5FA4-458B-AACF-1E599ACFA24A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3AF11-361E-4FC8-B142-5CFE9169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3C41B-7EB8-4600-BEBB-0A45CF65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2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7D78-2A6F-4D0E-822D-7539139C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071C0-3DC6-4B14-9F13-2FB2DD426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B5082-8A34-496B-8055-45C8486F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94FA3-AC9C-4633-82C6-62F4B42E9A78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4C49-FC80-44C6-AC99-7EF245F8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B58D9-582A-4781-9C1A-4D75E507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4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B2E5F-7BB4-42F5-B4AA-7F999C225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30C69-8C0C-4E02-AB30-8518634C9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9A658-BB07-4BF1-B2A6-B1BA2897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74142-9EFA-4C85-84A3-BE41724A2D18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F58F-2272-487B-A973-40A781C3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02C37-591F-410C-B5AA-8C515F26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6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1D8EC-B3EC-45B8-80A9-EB295532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E5CB1-9A52-407D-9714-6B719FE97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7748-238B-4EDD-8118-BD7336FFF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EB07D-1FD2-40D5-B059-0935C37A919D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277D7-910E-4130-B9EE-C5EFBB05E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DCC63-9F16-4EEB-858E-FC2CFC17C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559AE-1842-40A5-A2A9-0518F39F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2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70F2-A17E-4535-8ECE-F6080070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183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/>
              <a:t>Software Engineering</a:t>
            </a:r>
            <a:br>
              <a:rPr lang="en-US"/>
            </a:br>
            <a:r>
              <a:rPr lang="en-US" sz="4000"/>
              <a:t>(CS3201)</a:t>
            </a:r>
            <a:br>
              <a:rPr lang="en-US" sz="4000">
                <a:ea typeface="Calibri Light"/>
                <a:cs typeface="Calibri Light"/>
              </a:rPr>
            </a:br>
            <a:r>
              <a:rPr lang="en-US" sz="4000">
                <a:ea typeface="Calibri Light"/>
                <a:cs typeface="Calibri Light"/>
              </a:rPr>
              <a:t>Architectural Design</a:t>
            </a:r>
            <a:br>
              <a:rPr lang="en-US"/>
            </a:br>
            <a:endParaRPr lang="en-US" sz="4000"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A8E92-73AA-4E3A-9516-63C46A8A4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626"/>
            <a:ext cx="9144000" cy="1655762"/>
          </a:xfrm>
        </p:spPr>
        <p:txBody>
          <a:bodyPr/>
          <a:lstStyle/>
          <a:p>
            <a:r>
              <a:rPr lang="en-US"/>
              <a:t>Avinash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C0CC1-7E7A-46BB-AEDF-E956EA6F0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75" y="5235388"/>
            <a:ext cx="52768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7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7F3C-140C-D4BF-82B7-0BBC13CB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F0F1-3BA7-39C3-2BFE-A682C519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34446"/>
            <a:ext cx="10515600" cy="1325563"/>
          </a:xfrm>
        </p:spPr>
        <p:txBody>
          <a:bodyPr/>
          <a:lstStyle/>
          <a:p>
            <a:r>
              <a:rPr lang="en-GB">
                <a:ea typeface="Calibri Light"/>
                <a:cs typeface="Calibri Light"/>
              </a:rPr>
              <a:t>Refinement in Design / Steps in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89D73-48D5-F910-F05F-257C5CC70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894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High-level architecture (big picture)</a:t>
            </a:r>
            <a:endParaRPr lang="en-US" b="1">
              <a:ea typeface="+mn-lt"/>
              <a:cs typeface="+mn-lt"/>
            </a:endParaRPr>
          </a:p>
          <a:p>
            <a:pPr lvl="1"/>
            <a:r>
              <a:rPr lang="en-US">
                <a:ea typeface="Calibri"/>
                <a:cs typeface="Calibri"/>
              </a:rPr>
              <a:t>This lecture (8.1) deals with high-level architecture primarily</a:t>
            </a:r>
          </a:p>
          <a:p>
            <a:r>
              <a:rPr lang="en-US">
                <a:ea typeface="Calibri"/>
                <a:cs typeface="Calibri"/>
              </a:rPr>
              <a:t>Component-level design (breaking it down)</a:t>
            </a:r>
          </a:p>
          <a:p>
            <a:pPr lvl="1"/>
            <a:r>
              <a:rPr lang="en-US">
                <a:ea typeface="Calibri"/>
                <a:cs typeface="Calibri"/>
              </a:rPr>
              <a:t>How components interact, Example: Component diagrams</a:t>
            </a:r>
          </a:p>
          <a:p>
            <a:r>
              <a:rPr lang="en-US">
                <a:ea typeface="Calibri"/>
                <a:cs typeface="Calibri"/>
              </a:rPr>
              <a:t>Database design (where data is stored)</a:t>
            </a:r>
          </a:p>
          <a:p>
            <a:pPr lvl="1"/>
            <a:r>
              <a:rPr lang="en-US">
                <a:ea typeface="Calibri"/>
                <a:cs typeface="Calibri"/>
              </a:rPr>
              <a:t>Type of DB (SQL vs. NoSQL), Example: ER diagrams</a:t>
            </a:r>
          </a:p>
          <a:p>
            <a:r>
              <a:rPr lang="en-US">
                <a:ea typeface="Calibri"/>
                <a:cs typeface="Calibri"/>
              </a:rPr>
              <a:t>User interface design</a:t>
            </a:r>
          </a:p>
          <a:p>
            <a:pPr lvl="1"/>
            <a:r>
              <a:rPr lang="en-US">
                <a:ea typeface="Calibri"/>
                <a:cs typeface="Calibri"/>
              </a:rPr>
              <a:t>How users interact with system? Examples: wireframes, use cases</a:t>
            </a:r>
          </a:p>
          <a:p>
            <a:r>
              <a:rPr lang="en-US">
                <a:ea typeface="Calibri"/>
                <a:cs typeface="Calibri"/>
              </a:rPr>
              <a:t>API design (how components talk)</a:t>
            </a:r>
          </a:p>
          <a:p>
            <a:pPr lvl="1"/>
            <a:r>
              <a:rPr lang="en-US">
                <a:ea typeface="Calibri"/>
                <a:cs typeface="Calibri"/>
              </a:rPr>
              <a:t>Front and back end communication, output: API documentation</a:t>
            </a:r>
          </a:p>
          <a:p>
            <a:r>
              <a:rPr lang="en-US">
                <a:ea typeface="Calibri"/>
                <a:cs typeface="Calibri"/>
              </a:rPr>
              <a:t>Security and performance planning</a:t>
            </a:r>
          </a:p>
          <a:p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4F33AAF-DD1C-8CFF-CCF2-DEF8EB825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3B0BEF-9788-B0B7-758D-6B8AFF2F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A7C88E-3B06-E894-BDA5-EE7997B9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541046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3FB8-4B14-7DD9-9B58-15AB64F96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CA08-80A0-AF3C-4A9D-F2CC3143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Brainstorming (more in slide 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DC25-6FDF-3BAC-A545-04E30BFFD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Is there a tried and tested formula / approach we can use to structure our project? (</a:t>
            </a:r>
            <a:r>
              <a:rPr lang="en-US">
                <a:highlight>
                  <a:srgbClr val="FFFF00"/>
                </a:highlight>
                <a:ea typeface="Calibri"/>
                <a:cs typeface="Calibri"/>
              </a:rPr>
              <a:t>Architecture</a:t>
            </a:r>
            <a:r>
              <a:rPr lang="en-US">
                <a:ea typeface="Calibri"/>
                <a:cs typeface="Calibri"/>
              </a:rPr>
              <a:t> patterns)</a:t>
            </a:r>
            <a:endParaRPr lang="en-US" b="1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Single or Distributed? (deployment impacts </a:t>
            </a:r>
            <a:r>
              <a:rPr lang="en-US">
                <a:highlight>
                  <a:srgbClr val="FFFF00"/>
                </a:highlight>
                <a:ea typeface="Calibri"/>
                <a:cs typeface="Calibri"/>
              </a:rPr>
              <a:t>architecture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r>
              <a:rPr lang="en-US">
                <a:ea typeface="Calibri"/>
                <a:cs typeface="Calibri"/>
              </a:rPr>
              <a:t>Centralized or Distributed control? (impacts </a:t>
            </a:r>
            <a:r>
              <a:rPr lang="en-US">
                <a:highlight>
                  <a:srgbClr val="FFFF00"/>
                </a:highlight>
                <a:ea typeface="Calibri"/>
                <a:cs typeface="Calibri"/>
              </a:rPr>
              <a:t>architecture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r>
              <a:rPr lang="en-US">
                <a:ea typeface="Calibri"/>
                <a:cs typeface="Calibri"/>
              </a:rPr>
              <a:t>How will we document plans? (UML, SDD,…)</a:t>
            </a:r>
          </a:p>
          <a:p>
            <a:r>
              <a:rPr lang="en-US">
                <a:ea typeface="Calibri"/>
                <a:cs typeface="Calibri"/>
              </a:rPr>
              <a:t>Fundamental approach to solve the problem, should we go with monolithic? modular? Microservices?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The word that keeps repeating - 'Architecture'</a:t>
            </a:r>
          </a:p>
          <a:p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DCB3A06A-C49B-5E11-4D09-90F1204DF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642D65-98BF-51B9-482D-F36F0A1E9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AD7E48B-E2E2-4960-7CE2-31FB7A14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03475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DDFA2-0F4C-0EA2-798F-D6A5311D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47B4-E3C2-3296-7380-E7CEADD6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Setting up the stage... for high level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32857-BFC7-D9FE-C8F3-E1C975AD4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What is Software Architecture? What is Architectural Design?</a:t>
            </a:r>
            <a:endParaRPr lang="en-US"/>
          </a:p>
          <a:p>
            <a:r>
              <a:rPr lang="en-US">
                <a:ea typeface="Calibri" panose="020F0502020204030204"/>
                <a:cs typeface="Calibri"/>
              </a:rPr>
              <a:t>Is it important? (otherwise, I would not be teaching it)</a:t>
            </a:r>
          </a:p>
          <a:p>
            <a:r>
              <a:rPr lang="en-US">
                <a:ea typeface="Calibri" panose="020F0502020204030204"/>
                <a:cs typeface="Calibri"/>
              </a:rPr>
              <a:t>What decisions need to be taken when it comes to software architecture? (slide 14)</a:t>
            </a:r>
          </a:p>
          <a:p>
            <a:r>
              <a:rPr lang="en-US">
                <a:ea typeface="Calibri" panose="020F0502020204030204"/>
                <a:cs typeface="Calibri"/>
              </a:rPr>
              <a:t>What are Architectural patterns? (the keyword is pattern)</a:t>
            </a:r>
          </a:p>
          <a:p>
            <a:r>
              <a:rPr lang="en-US">
                <a:ea typeface="Calibri" panose="020F0502020204030204"/>
                <a:cs typeface="Calibri"/>
              </a:rPr>
              <a:t>What are Application Specific Architectural patterns? (certain patterns are linked to certain applications)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ea typeface="Calibri" panose="020F0502020204030204"/>
                <a:cs typeface="Calibri"/>
              </a:rPr>
              <a:t>Why so many questions? Can we stop now please!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194D6C0C-ECEF-4AD0-EAFC-A8CB3D65F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B2F9D8-B663-DF0A-85E9-E59838CF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257817C-3D36-9987-7EA5-CA8E3617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81116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CA91A-26FF-7479-9D95-ABFD5F4D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32CB-8EEB-212A-37CE-13EEEEAD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9C779-DF31-3741-3B77-D003BD442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4633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r>
              <a:rPr lang="en-US" sz="4000">
                <a:ea typeface="Calibri" panose="020F0502020204030204"/>
                <a:cs typeface="Calibri"/>
              </a:rPr>
              <a:t>Architectural Design</a:t>
            </a: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endParaRPr lang="en-GB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E5B61B7-1E3A-26A3-8BAF-21276D72B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1A60A3-6232-A32F-85ED-8C6CFAAD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5DC561-4971-43EF-A66B-151AC6DF0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01247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44F7-BDCB-95FE-E590-28879ABE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248E-235C-2C9F-86E6-FFE7D558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D426B-01FE-6A79-FB41-404DC71E5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219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Architectural design: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Organization and structure</a:t>
            </a:r>
            <a:r>
              <a:rPr lang="en-US">
                <a:ea typeface="Calibri" panose="020F0502020204030204"/>
                <a:cs typeface="Calibri"/>
              </a:rPr>
              <a:t> of a software system</a:t>
            </a:r>
          </a:p>
          <a:p>
            <a:r>
              <a:rPr lang="en-US">
                <a:ea typeface="Calibri" panose="020F0502020204030204"/>
                <a:cs typeface="Calibri"/>
              </a:rPr>
              <a:t>Identifies the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main structural components</a:t>
            </a:r>
            <a:r>
              <a:rPr lang="en-US">
                <a:ea typeface="Calibri" panose="020F0502020204030204"/>
                <a:cs typeface="Calibri"/>
              </a:rPr>
              <a:t> of a system and the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relationships between them</a:t>
            </a:r>
          </a:p>
          <a:p>
            <a:r>
              <a:rPr lang="en-US">
                <a:ea typeface="Calibri" panose="020F0502020204030204"/>
                <a:cs typeface="Calibri"/>
              </a:rPr>
              <a:t>Output of Architectural Design process: Architectural model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ea typeface="Calibri" panose="020F0502020204030204"/>
                <a:cs typeface="Calibri"/>
              </a:rPr>
              <a:t>Even something as dynamic as Agile process aims to identify overall system architecture early into the project. Why? Because changes to Architecture is expensive (students, why is it expensive?)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BB3DAC13-0D16-2DB1-080D-657CDE2AAE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580A80-2CDB-8E1D-57C4-DC846344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F69DF3E-4B37-1F1C-A5C7-C91D3B04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88390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0709-F00B-EA4C-FD20-B6C89C42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72595-8BDF-1ECC-9F45-1DE1F5D7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System Architecture: A sample block diagram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3EF3D-3BBE-C0C1-B7BC-091AEA10A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9082"/>
            <a:ext cx="5009070" cy="50167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Shows the components of a robotic packing system and the links between them</a:t>
            </a:r>
          </a:p>
          <a:p>
            <a:r>
              <a:rPr lang="en-US">
                <a:ea typeface="Calibri" panose="020F0502020204030204"/>
                <a:cs typeface="Calibri"/>
              </a:rPr>
              <a:t>Informal model of architecture</a:t>
            </a:r>
          </a:p>
          <a:p>
            <a:r>
              <a:rPr lang="en-US">
                <a:ea typeface="Calibri" panose="020F0502020204030204"/>
                <a:cs typeface="Calibri"/>
              </a:rPr>
              <a:t>Box = Component (can be decomposed into subcomponents)</a:t>
            </a:r>
          </a:p>
          <a:p>
            <a:r>
              <a:rPr lang="en-US">
                <a:ea typeface="Calibri" panose="020F0502020204030204"/>
                <a:cs typeface="Calibri"/>
              </a:rPr>
              <a:t>Arrow = Direction of data or control signal flow</a:t>
            </a:r>
          </a:p>
          <a:p>
            <a:r>
              <a:rPr lang="en-US">
                <a:ea typeface="Calibri" panose="020F0502020204030204"/>
                <a:cs typeface="Calibri"/>
              </a:rPr>
              <a:t>High-level picture of system structure</a:t>
            </a: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9F80B6C3-F81A-BBFB-5CBA-B0133BC4C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3D505F-8973-7AF4-DA1C-34AC2CE3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1EC211-A97E-9C56-E8DF-60F82CF4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5" name="Picture 4" descr="A diagram of a product&#10;&#10;AI-generated content may be incorrect.">
            <a:extLst>
              <a:ext uri="{FF2B5EF4-FFF2-40B4-BE49-F238E27FC236}">
                <a16:creationId xmlns:a16="http://schemas.microsoft.com/office/drawing/2014/main" id="{95BEF6DF-9308-2F8E-0045-FC3155DE7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568" y="1395053"/>
            <a:ext cx="6152790" cy="533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6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827A-08B1-3219-DA69-878631B6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0F9D-F1AA-252C-BAF7-02A27D3A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System Architecture: Levels of abstraction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46B0B-6CD7-2EDE-775F-436266772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Architecture</a:t>
            </a:r>
            <a:r>
              <a:rPr lang="en-US">
                <a:ea typeface="+mn-lt"/>
                <a:cs typeface="+mn-lt"/>
              </a:rPr>
              <a:t> in the small: Architecture of individual (??) programs ("concerned with how an individual program is decomposed into components" - Do not let SOM. confuse you, he means, very likely, an individual software system "this chapter is concerned with program architectures"</a:t>
            </a:r>
            <a:r>
              <a:rPr lang="en-US">
                <a:ea typeface="Calibri" panose="020F0502020204030204"/>
                <a:cs typeface="Calibri"/>
              </a:rPr>
              <a:t>)</a:t>
            </a:r>
            <a:endParaRPr lang="en-US"/>
          </a:p>
          <a:p>
            <a:r>
              <a:rPr lang="en-US">
                <a:ea typeface="Calibri" panose="020F0502020204030204"/>
                <a:cs typeface="Calibri"/>
              </a:rPr>
              <a:t>Architecture in the large: Architecture of complex enterprise systems that include other systems, programs, and program components ("can consist of or spread over several computers across different companies" - SOM. specifically means distributed systems)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5DBD622-EA21-D5B9-47D2-56C154E02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1B1E74F-6658-9FDB-C8EB-9F554BCE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8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81FEC4-6A83-DBF6-CB08-D96D67E2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10816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09C6-468D-F9CA-6813-F9EAAA5C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4E29-6799-867C-7C00-722616E6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System Architecture: Importance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08DFA-52F7-71A7-95F0-471B20EC4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Effects the performance, robustness, distribute-ability and maintainability of a system</a:t>
            </a:r>
          </a:p>
          <a:p>
            <a:r>
              <a:rPr lang="en-US">
                <a:ea typeface="Calibri" panose="020F0502020204030204"/>
                <a:cs typeface="Calibri"/>
              </a:rPr>
              <a:t>Individual components implement functional requirements, but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the system architecture influences non-functional requirements</a:t>
            </a:r>
          </a:p>
          <a:p>
            <a:r>
              <a:rPr lang="en-US">
                <a:ea typeface="Calibri" panose="020F0502020204030204"/>
                <a:cs typeface="Calibri"/>
              </a:rPr>
              <a:t>"Non-functional requirements have the most significant effect on system's architecture" (Chen et al, 2013)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ea typeface="Calibri" panose="020F0502020204030204"/>
                <a:cs typeface="Calibri"/>
              </a:rPr>
              <a:t>You can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fulfill the same functional requirements by different architectures</a:t>
            </a:r>
            <a:r>
              <a:rPr lang="en-US">
                <a:ea typeface="Calibri" panose="020F0502020204030204"/>
                <a:cs typeface="Calibri"/>
              </a:rPr>
              <a:t>, but the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non-functional requirements</a:t>
            </a:r>
            <a:r>
              <a:rPr lang="en-US">
                <a:ea typeface="Calibri" panose="020F0502020204030204"/>
                <a:cs typeface="Calibri"/>
              </a:rPr>
              <a:t> are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impacted by different architectures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2718AB3-459E-31CF-DABF-3EBA0D48B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456882-AD58-4E3F-09AD-D90F7F24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9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72ADDB-C7F3-2C93-0473-3A5CC2F18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59135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FDEF4-2D1D-BD7B-0CB0-9FEC38A2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C1F7-B098-F5B7-D131-907C101E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System Architecture: Advantages (Bass et. Al, 2012)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723DE-C469-9051-050A-9B28CA29C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Stakeholder communication: </a:t>
            </a:r>
            <a:r>
              <a:rPr lang="en-US">
                <a:ea typeface="+mn-lt"/>
                <a:cs typeface="+mn-lt"/>
              </a:rPr>
              <a:t>Architecture is a high-level presentation of the system that may be used as a focus for discussion by a range of different stakeholders</a:t>
            </a:r>
            <a:endParaRPr lang="en-US"/>
          </a:p>
          <a:p>
            <a:r>
              <a:rPr lang="en-US">
                <a:ea typeface="Calibri" panose="020F0502020204030204"/>
                <a:cs typeface="Calibri"/>
              </a:rPr>
              <a:t>System analysis: Making system architecture explicit early in the project leads to system analysis, and decisions have a profound effect on critical (non-functional) requirements like performance, reliability and such</a:t>
            </a:r>
          </a:p>
          <a:p>
            <a:r>
              <a:rPr lang="en-US">
                <a:ea typeface="Calibri" panose="020F0502020204030204"/>
                <a:cs typeface="Calibri"/>
              </a:rPr>
              <a:t>Large-scale reuse: </a:t>
            </a:r>
            <a:r>
              <a:rPr lang="en-US">
                <a:ea typeface="+mn-lt"/>
                <a:cs typeface="+mn-lt"/>
              </a:rPr>
              <a:t>The system architecture is often the same for systems with similar requirements and so can support large-scale software reuse</a:t>
            </a:r>
            <a:endParaRPr lang="en-US"/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D5FC829-62C7-2350-7C21-27F06D101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BDDA0A-0414-23F2-F168-253163AD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10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2098227-7253-C7EF-632E-379D6409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464847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73F0C-BBE2-E880-5632-08DD2FD2A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1B69-5875-0B4C-EA1C-FA733C76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System Architecture Model: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3DCC8-B508-9381-4015-3B42777AD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The block diagram seen earlier does not show relationships between components or the externally visible properties of components (it is an example of a high-level system design)</a:t>
            </a: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ea typeface="Calibri" panose="020F0502020204030204"/>
                <a:cs typeface="Calibri"/>
              </a:rPr>
              <a:t>Two ways in which an architectural model is used:</a:t>
            </a:r>
          </a:p>
          <a:p>
            <a:pPr lvl="1"/>
            <a:r>
              <a:rPr lang="en-US">
                <a:ea typeface="Calibri" panose="020F0502020204030204"/>
                <a:cs typeface="Calibri"/>
              </a:rPr>
              <a:t>As a way of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encouraging discussions</a:t>
            </a:r>
            <a:r>
              <a:rPr lang="en-US">
                <a:ea typeface="Calibri" panose="020F0502020204030204"/>
                <a:cs typeface="Calibri"/>
              </a:rPr>
              <a:t> by using a high-level system design</a:t>
            </a:r>
          </a:p>
          <a:p>
            <a:pPr lvl="1"/>
            <a:r>
              <a:rPr lang="en-US">
                <a:ea typeface="Calibri" panose="020F0502020204030204"/>
                <a:cs typeface="Calibri"/>
              </a:rPr>
              <a:t>As a way of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documenting architecture that has been designed </a:t>
            </a:r>
            <a:r>
              <a:rPr lang="en-US">
                <a:ea typeface="Calibri" panose="020F0502020204030204"/>
                <a:cs typeface="Calibri"/>
              </a:rPr>
              <a:t>(complete model showing different components, interfaces, connections)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endParaRPr lang="en-US">
              <a:ea typeface="Calibri" panose="020F0502020204030204"/>
              <a:cs typeface="Calibri"/>
            </a:endParaRPr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EE54B39-7D85-2CA4-08EA-EE6BF74C7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1E2FF9-EC8D-3E5B-C8A5-CDE43FED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11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CA75F6-46EE-AC9E-78AC-956D412A4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648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19A3-BF0E-6C79-98F2-62C2EEAA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EC2D-1B65-EB47-0A5A-7F73A199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System / Software Architecture definitions (Hans Van Vliet, pg. 281)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582B0-09E5-3887-F3B0-8E90EFC9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An early definition: "</a:t>
            </a:r>
            <a:r>
              <a:rPr lang="en-US">
                <a:ea typeface="+mn-lt"/>
                <a:cs typeface="+mn-lt"/>
              </a:rPr>
              <a:t>The architecture of a software system defines that system in terms of </a:t>
            </a:r>
            <a:r>
              <a:rPr lang="en-US">
                <a:highlight>
                  <a:srgbClr val="FFFF00"/>
                </a:highlight>
                <a:ea typeface="+mn-lt"/>
                <a:cs typeface="+mn-lt"/>
              </a:rPr>
              <a:t>computational components and interactions</a:t>
            </a:r>
            <a:r>
              <a:rPr lang="en-US">
                <a:ea typeface="+mn-lt"/>
                <a:cs typeface="+mn-lt"/>
              </a:rPr>
              <a:t> among those components." (</a:t>
            </a:r>
            <a:r>
              <a:rPr lang="en-US" err="1">
                <a:ea typeface="+mn-lt"/>
                <a:cs typeface="+mn-lt"/>
              </a:rPr>
              <a:t>shaw</a:t>
            </a:r>
            <a:r>
              <a:rPr lang="en-US">
                <a:ea typeface="+mn-lt"/>
                <a:cs typeface="+mn-lt"/>
              </a:rPr>
              <a:t> et.al., 1995)</a:t>
            </a:r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ea typeface="Calibri" panose="020F0502020204030204"/>
                <a:cs typeface="Calibri"/>
              </a:rPr>
              <a:t>Recent definition: "</a:t>
            </a:r>
            <a:r>
              <a:rPr lang="en-US">
                <a:ea typeface="+mn-lt"/>
                <a:cs typeface="+mn-lt"/>
              </a:rPr>
              <a:t>The software architecture of a program or computing system is the structure or structures of the system, which comprise software elements, the externally visible properties of those elements, and the relationships among them.</a:t>
            </a:r>
            <a:r>
              <a:rPr lang="en-US">
                <a:ea typeface="Calibri" panose="020F0502020204030204"/>
                <a:cs typeface="Calibri"/>
              </a:rPr>
              <a:t>" (Bass et.al., 2003)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r>
              <a:rPr lang="en-US">
                <a:ea typeface="Calibri" panose="020F0502020204030204"/>
                <a:cs typeface="Calibri"/>
              </a:rPr>
              <a:t>Also, software architecture can have different views (just like your system models had different views, based on different perspectives)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endParaRPr lang="en-US">
              <a:ea typeface="Calibri" panose="020F0502020204030204"/>
              <a:cs typeface="Calibri"/>
            </a:endParaRPr>
          </a:p>
          <a:p>
            <a:endParaRPr lang="en-US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69BD88F8-4038-F100-38D1-67408670C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04BBFA-7322-B433-4E9B-6571757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478CE82-08E7-E6AC-4D6A-008653C5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775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34B8-339E-67CA-2B8A-D3CA39323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2E92-F265-7C64-B798-0B9700EF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Software Architecture and SDLC (Hans Van </a:t>
            </a:r>
            <a:r>
              <a:rPr lang="en-GB" err="1">
                <a:ea typeface="Calibri Light"/>
                <a:cs typeface="Calibri Light"/>
              </a:rPr>
              <a:t>Vliet,pg</a:t>
            </a:r>
            <a:r>
              <a:rPr lang="en-GB">
                <a:ea typeface="Calibri Light"/>
                <a:cs typeface="Calibri Light"/>
              </a:rPr>
              <a:t>. 283)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B2CE-6451-4416-47BC-430586A97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725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/>
              </a:rPr>
              <a:t>Software life cycle a) without and b) with explicit attention to software architecture</a:t>
            </a:r>
          </a:p>
          <a:p>
            <a:endParaRPr lang="en-US">
              <a:ea typeface="Calibri" panose="020F0502020204030204"/>
              <a:cs typeface="Calibri"/>
            </a:endParaRPr>
          </a:p>
          <a:p>
            <a:endParaRPr lang="en-US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9BF96976-0861-CD90-07AB-BEC59CA0F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1FADE0-0EB6-4B60-FDCD-6DA0856A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65D4F3-20B4-3F1B-6488-694AEFBCE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4D0EF784-99F5-A554-4316-3F1140519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461" y="2327604"/>
            <a:ext cx="7766288" cy="44025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F566FE-093B-0E44-54DC-77B02465B343}"/>
              </a:ext>
            </a:extLst>
          </p:cNvPr>
          <p:cNvSpPr txBox="1"/>
          <p:nvPr/>
        </p:nvSpPr>
        <p:spPr>
          <a:xfrm>
            <a:off x="61601" y="2662770"/>
            <a:ext cx="4189546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In traditional models there is no balancing of functional and quality requirements. Once the functional requirements are agreed upon, development proceeds and it is assumed that quality requirements can be met.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If it turns out that the quality requirements cannot be met, the project gets into trouble. Deadlines slip, functionality is skipped, more hardware is bought, etc.</a:t>
            </a:r>
          </a:p>
          <a:p>
            <a:r>
              <a:rPr lang="en-US">
                <a:ea typeface="+mn-lt"/>
                <a:cs typeface="+mn-lt"/>
              </a:rPr>
              <a:t>In process models that include a software architecture phase, </a:t>
            </a:r>
            <a:r>
              <a:rPr lang="en-US">
                <a:highlight>
                  <a:srgbClr val="FFFF00"/>
                </a:highlight>
                <a:ea typeface="+mn-lt"/>
                <a:cs typeface="+mn-lt"/>
              </a:rPr>
              <a:t>there is a balancing of functional and quality requirements at an early stage</a:t>
            </a:r>
            <a:endParaRPr lang="en-US">
              <a:highlight>
                <a:srgbClr val="FFFF00"/>
              </a:highlight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498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05D5-6231-58A7-CD6B-011984AB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852D-47E5-487E-992F-8403B7B0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Architectural Design decisions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F7D6FFB-886C-6FCE-83E6-BDCC75DD9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0C8C90-59BA-0DFF-35C6-AB911AC4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C606AF-BE92-5A73-9499-2D451982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B65AD0-288E-CFBE-6B87-F10FD03C2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897" y="1308160"/>
            <a:ext cx="9686206" cy="55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11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2285-EE83-F44C-07BF-F2722BD3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4C11-36B3-9490-EC7F-9988C796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Architectural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4E00-65C0-78DB-7888-BC0872207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Two uses of Architectural models:</a:t>
            </a:r>
            <a:endParaRPr lang="en-US">
              <a:ea typeface="Calibri" panose="020F0502020204030204"/>
              <a:cs typeface="Calibri"/>
            </a:endParaRPr>
          </a:p>
          <a:p>
            <a:pPr lvl="1"/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Encourage discussions</a:t>
            </a:r>
            <a:r>
              <a:rPr lang="en-US">
                <a:ea typeface="Calibri" panose="020F0502020204030204"/>
                <a:cs typeface="Calibri"/>
              </a:rPr>
              <a:t> on system</a:t>
            </a:r>
          </a:p>
          <a:p>
            <a:pPr lvl="1"/>
            <a:r>
              <a:rPr lang="en-US">
                <a:highlight>
                  <a:srgbClr val="FFFF00"/>
                </a:highlight>
                <a:ea typeface="Calibri" panose="020F0502020204030204"/>
                <a:cs typeface="Calibri"/>
              </a:rPr>
              <a:t>Help with detailed system design</a:t>
            </a:r>
          </a:p>
          <a:p>
            <a:r>
              <a:rPr lang="en-US">
                <a:ea typeface="Calibri" panose="020F0502020204030204"/>
                <a:cs typeface="Calibri"/>
              </a:rPr>
              <a:t>Two issues relevant in both uses:</a:t>
            </a:r>
          </a:p>
          <a:p>
            <a:pPr lvl="1"/>
            <a:r>
              <a:rPr lang="en-US">
                <a:ea typeface="Calibri" panose="020F0502020204030204"/>
                <a:cs typeface="Calibri"/>
              </a:rPr>
              <a:t>What views and perspectives are useful when designing and documenting a system's architecture?</a:t>
            </a:r>
          </a:p>
          <a:p>
            <a:pPr lvl="1"/>
            <a:r>
              <a:rPr lang="en-US">
                <a:ea typeface="Calibri" panose="020F0502020204030204"/>
                <a:cs typeface="Calibri"/>
              </a:rPr>
              <a:t>What notation should be used for describing models?</a:t>
            </a:r>
          </a:p>
          <a:p>
            <a:r>
              <a:rPr lang="en-US">
                <a:ea typeface="Calibri" panose="020F0502020204030204"/>
                <a:cs typeface="Calibri"/>
              </a:rPr>
              <a:t>Impossible to show all relevant architecture information (what components? how they interact? etc.) in one diagram</a:t>
            </a:r>
          </a:p>
          <a:p>
            <a:r>
              <a:rPr lang="en-US">
                <a:ea typeface="Calibri" panose="020F0502020204030204"/>
                <a:cs typeface="Calibri"/>
              </a:rPr>
              <a:t>We will need different perspectives at different times</a:t>
            </a:r>
          </a:p>
          <a:p>
            <a:r>
              <a:rPr lang="en-US">
                <a:ea typeface="Calibri" panose="020F0502020204030204"/>
                <a:cs typeface="Calibri"/>
              </a:rPr>
              <a:t>Therefore, we have multiple views of software architecture</a:t>
            </a: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DA2647CF-5204-0ACD-A188-3DFBFE926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506F26-5BE4-0C79-5BA5-1A0A26660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44AE3A-14F8-369A-495B-3904D405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1124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2B63D-28E3-CCFF-9CFD-6893E484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C8EA-ACA3-D12C-A4C1-ADC363681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667050"/>
            <a:ext cx="10515600" cy="1325563"/>
          </a:xfrm>
        </p:spPr>
        <p:txBody>
          <a:bodyPr/>
          <a:lstStyle/>
          <a:p>
            <a:r>
              <a:rPr lang="en-GB">
                <a:ea typeface="Calibri Light"/>
                <a:cs typeface="Calibri Light"/>
              </a:rPr>
              <a:t>Architectural views (more disturbing than the eye of Sauron?)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7B7ADD8-F75F-EE7C-25F0-A97C8E4C8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EE2D37-CCCA-9892-FA50-4B45952F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4D6DD0E-3289-F09E-BFB3-AF4722AB8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9" name="Picture 8" descr="Diagram of a diagram of a system&#10;&#10;AI-generated content may be incorrect.">
            <a:extLst>
              <a:ext uri="{FF2B5EF4-FFF2-40B4-BE49-F238E27FC236}">
                <a16:creationId xmlns:a16="http://schemas.microsoft.com/office/drawing/2014/main" id="{B7A7084D-D640-5352-D454-295DECBFA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98" y="1367017"/>
            <a:ext cx="7992912" cy="533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53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244A-C407-DB37-C498-FACC33D8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D4AE-CA0C-90C8-197D-E04A73A4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Architectural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7EB94-2010-8C34-206A-7ADF120CA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4 fundamental architectural views:</a:t>
            </a:r>
            <a:endParaRPr lang="en-US">
              <a:ea typeface="Calibri" panose="020F0502020204030204"/>
              <a:cs typeface="Calibri"/>
            </a:endParaRPr>
          </a:p>
          <a:p>
            <a:pPr lvl="1"/>
            <a:r>
              <a:rPr lang="en-US">
                <a:ea typeface="Calibri" panose="020F0502020204030204"/>
                <a:cs typeface="Calibri"/>
              </a:rPr>
              <a:t>Logical view: Shows key abstractions as objects or object classes (helps relate requirements to entities)</a:t>
            </a:r>
          </a:p>
          <a:p>
            <a:pPr lvl="1"/>
            <a:r>
              <a:rPr lang="en-US">
                <a:ea typeface="Calibri" panose="020F0502020204030204"/>
                <a:cs typeface="Calibri"/>
              </a:rPr>
              <a:t>Process view: Shows interacting processes at system runtime (gives idea of non-functional characteristics like performance and availability)</a:t>
            </a:r>
          </a:p>
          <a:p>
            <a:pPr lvl="1"/>
            <a:r>
              <a:rPr lang="en-US">
                <a:ea typeface="Calibri" panose="020F0502020204030204"/>
                <a:cs typeface="Calibri"/>
              </a:rPr>
              <a:t>Development view: Shows breakdown of software into components</a:t>
            </a:r>
          </a:p>
          <a:p>
            <a:pPr lvl="1"/>
            <a:r>
              <a:rPr lang="en-US">
                <a:ea typeface="Calibri" panose="020F0502020204030204"/>
                <a:cs typeface="Calibri"/>
              </a:rPr>
              <a:t>Physical view: Shows system hardware and how software components are distributed across processors</a:t>
            </a:r>
          </a:p>
          <a:p>
            <a:r>
              <a:rPr lang="en-GB">
                <a:ea typeface="+mn-lt"/>
                <a:cs typeface="+mn-lt"/>
              </a:rPr>
              <a:t>Hofmeister et al. (Hofmeister, Nord, and Soni 2000) suggest the use of similar views but add to this the notion of a conceptual view</a:t>
            </a:r>
          </a:p>
          <a:p>
            <a:r>
              <a:rPr lang="en-GB">
                <a:ea typeface="Calibri" panose="020F0502020204030204"/>
                <a:cs typeface="Calibri" panose="020F0502020204030204"/>
              </a:rPr>
              <a:t>Conceptual view: Abstract system view, basis for decomposing high-level requirements into more detailed specifications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51C5BB01-9D7F-512A-A4EF-6D71B9AFE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5A32D7-927E-FE90-1F54-BE8FDD24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B05F76-7F48-3892-123C-E350DF01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41690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4B3C7-4E1F-90B2-4AE7-065BFC62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B170-12FA-36DB-AD62-2555D833E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Architectural views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4A16A8F5-65AF-5047-69AE-27B91A784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08A5B7-2BED-F6DA-8F91-6A953788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18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ADA449-A41E-EB8C-33FD-35BB1293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DC72F-43FE-7316-20D0-553EC9CFFA3D}"/>
              </a:ext>
            </a:extLst>
          </p:cNvPr>
          <p:cNvSpPr txBox="1"/>
          <p:nvPr/>
        </p:nvSpPr>
        <p:spPr>
          <a:xfrm>
            <a:off x="154264" y="1701969"/>
            <a:ext cx="5791199" cy="4524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ea typeface="Calibri"/>
                <a:cs typeface="Calibri"/>
              </a:rPr>
              <a:t>Logical View:</a:t>
            </a:r>
          </a:p>
          <a:p>
            <a:endParaRPr lang="en-GB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Focus: </a:t>
            </a:r>
            <a:r>
              <a:rPr lang="en-GB" sz="2400" b="1">
                <a:ea typeface="+mn-lt"/>
                <a:cs typeface="+mn-lt"/>
              </a:rPr>
              <a:t>Functionality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Describes the system's </a:t>
            </a:r>
            <a:r>
              <a:rPr lang="en-GB" sz="2400" b="1">
                <a:ea typeface="+mn-lt"/>
                <a:cs typeface="+mn-lt"/>
              </a:rPr>
              <a:t>key components, their responsibilities, and interactions</a:t>
            </a:r>
            <a:r>
              <a:rPr lang="en-GB" sz="2400">
                <a:ea typeface="+mn-lt"/>
                <a:cs typeface="+mn-lt"/>
              </a:rPr>
              <a:t> from a developer’s perspective.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Often represented using </a:t>
            </a:r>
            <a:r>
              <a:rPr lang="en-GB" sz="2400" b="1">
                <a:ea typeface="+mn-lt"/>
                <a:cs typeface="+mn-lt"/>
              </a:rPr>
              <a:t>class diagrams, sequence diagrams, or ER diagrams</a:t>
            </a:r>
            <a:r>
              <a:rPr lang="en-GB" sz="2400">
                <a:ea typeface="+mn-lt"/>
                <a:cs typeface="+mn-lt"/>
              </a:rPr>
              <a:t>.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Example: In an e-commerce app, this view would show modules like "User Management," "Product </a:t>
            </a:r>
            <a:r>
              <a:rPr lang="en-GB" sz="2400" err="1">
                <a:ea typeface="+mn-lt"/>
                <a:cs typeface="+mn-lt"/>
              </a:rPr>
              <a:t>Catalog</a:t>
            </a:r>
            <a:r>
              <a:rPr lang="en-GB" sz="2400">
                <a:ea typeface="+mn-lt"/>
                <a:cs typeface="+mn-lt"/>
              </a:rPr>
              <a:t>," and "Order Processing."</a:t>
            </a:r>
            <a:endParaRPr lang="en-GB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BFE1A-B4CD-1D0A-E6A5-C120AF5C4391}"/>
              </a:ext>
            </a:extLst>
          </p:cNvPr>
          <p:cNvSpPr txBox="1"/>
          <p:nvPr/>
        </p:nvSpPr>
        <p:spPr>
          <a:xfrm>
            <a:off x="6106490" y="1701968"/>
            <a:ext cx="5791199" cy="48936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ea typeface="Calibri"/>
                <a:cs typeface="Calibri"/>
              </a:rPr>
              <a:t>Development View (Implementation view)</a:t>
            </a:r>
          </a:p>
          <a:p>
            <a:endParaRPr lang="en-GB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 Focus: </a:t>
            </a:r>
            <a:r>
              <a:rPr lang="en-GB" sz="2400" b="1">
                <a:ea typeface="+mn-lt"/>
                <a:cs typeface="+mn-lt"/>
              </a:rPr>
              <a:t>Code structure and organization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 Describes the </a:t>
            </a:r>
            <a:r>
              <a:rPr lang="en-GB" sz="2400" b="1">
                <a:ea typeface="+mn-lt"/>
                <a:cs typeface="+mn-lt"/>
              </a:rPr>
              <a:t>system's module structure, libraries, and components</a:t>
            </a:r>
            <a:r>
              <a:rPr lang="en-GB" sz="2400">
                <a:ea typeface="+mn-lt"/>
                <a:cs typeface="+mn-lt"/>
              </a:rPr>
              <a:t> to help developers manage source code.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  Uses package diagrams, component    diagrams, or folder structures.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  Example: The e-commerce app might have different repositories for frontend, backend, and database schemas. They will be shown as a folder structure where different components are specified.</a:t>
            </a:r>
            <a:endParaRPr lang="en-GB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5294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4937-2794-F326-A27E-F6A5611D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5E1A-BF94-6299-30FB-7BDF09E4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Architectural views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E524853-1EB1-3388-10BE-E5AA4717C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12D07B-D2EA-9CB9-4426-F09167CCA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19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B40416-1CAC-93BA-1BE9-0CDC79ED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FF4C0-E703-67B2-C2C3-BE2033B9B8DA}"/>
              </a:ext>
            </a:extLst>
          </p:cNvPr>
          <p:cNvSpPr txBox="1"/>
          <p:nvPr/>
        </p:nvSpPr>
        <p:spPr>
          <a:xfrm>
            <a:off x="154264" y="1701969"/>
            <a:ext cx="5791199" cy="48936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ea typeface="Calibri"/>
                <a:cs typeface="Calibri"/>
              </a:rPr>
              <a:t>Process View:</a:t>
            </a:r>
          </a:p>
          <a:p>
            <a:endParaRPr lang="en-GB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 Focus: </a:t>
            </a:r>
            <a:r>
              <a:rPr lang="en-GB" sz="2400" b="1">
                <a:ea typeface="+mn-lt"/>
                <a:cs typeface="+mn-lt"/>
              </a:rPr>
              <a:t>Runtime </a:t>
            </a:r>
            <a:r>
              <a:rPr lang="en-GB" sz="2400" b="1" err="1">
                <a:ea typeface="+mn-lt"/>
                <a:cs typeface="+mn-lt"/>
              </a:rPr>
              <a:t>behavior</a:t>
            </a:r>
            <a:r>
              <a:rPr lang="en-GB" sz="2400" b="1">
                <a:ea typeface="+mn-lt"/>
                <a:cs typeface="+mn-lt"/>
              </a:rPr>
              <a:t> and concurrency</a:t>
            </a:r>
            <a:endParaRPr lang="en-GB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Describes how </a:t>
            </a:r>
            <a:r>
              <a:rPr lang="en-GB" sz="2400" b="1">
                <a:ea typeface="+mn-lt"/>
                <a:cs typeface="+mn-lt"/>
              </a:rPr>
              <a:t>threads, processes, and communication mechanisms</a:t>
            </a:r>
            <a:r>
              <a:rPr lang="en-GB" sz="2400">
                <a:ea typeface="+mn-lt"/>
                <a:cs typeface="+mn-lt"/>
              </a:rPr>
              <a:t> work to achieve performance, scalability, and fault tolerance.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  Often represented using </a:t>
            </a:r>
            <a:r>
              <a:rPr lang="en-GB" sz="2400" b="1">
                <a:ea typeface="+mn-lt"/>
                <a:cs typeface="+mn-lt"/>
              </a:rPr>
              <a:t>sequence diagrams, activity diagrams, or deployment diagrams</a:t>
            </a:r>
            <a:r>
              <a:rPr lang="en-GB" sz="2400">
                <a:ea typeface="+mn-lt"/>
                <a:cs typeface="+mn-lt"/>
              </a:rPr>
              <a:t>.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  Example: How requests from multiple users are handled in parallel in the e-commerce app.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1A336E-B9E3-79DD-5F5E-70BBC7D58814}"/>
              </a:ext>
            </a:extLst>
          </p:cNvPr>
          <p:cNvSpPr txBox="1"/>
          <p:nvPr/>
        </p:nvSpPr>
        <p:spPr>
          <a:xfrm>
            <a:off x="6106490" y="1701968"/>
            <a:ext cx="5791199" cy="4524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ea typeface="Calibri"/>
                <a:cs typeface="Calibri"/>
              </a:rPr>
              <a:t>Physical View:</a:t>
            </a:r>
          </a:p>
          <a:p>
            <a:endParaRPr lang="en-GB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Focus: </a:t>
            </a:r>
            <a:r>
              <a:rPr lang="en-GB" sz="2400" b="1">
                <a:ea typeface="+mn-lt"/>
                <a:cs typeface="+mn-lt"/>
              </a:rPr>
              <a:t>Infrastructure and hardware </a:t>
            </a:r>
            <a:endParaRPr lang="en-GB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Describes how the software is </a:t>
            </a:r>
            <a:r>
              <a:rPr lang="en-GB" sz="2400" b="1">
                <a:ea typeface="+mn-lt"/>
                <a:cs typeface="+mn-lt"/>
              </a:rPr>
              <a:t>deployed across servers, networks, or cloud environments</a:t>
            </a:r>
            <a:r>
              <a:rPr lang="en-GB" sz="2400">
                <a:ea typeface="+mn-lt"/>
                <a:cs typeface="+mn-lt"/>
              </a:rPr>
              <a:t>.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 Uses deployment diagrams or infrastructure diagrams.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  Example: The e-commerce app might be deployed on AWS with multiple microservices.</a:t>
            </a:r>
            <a:endParaRPr lang="en-GB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GB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383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AD66A-E303-D792-CDAA-473E310B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B4898-83FA-2216-792E-EFDE8599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Architectural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2F87-2A43-124D-4092-6E7AF9A64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00"/>
            <a:ext cx="10515600" cy="50311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Differing views (I mean opinions) on whether UML should be used for describing/ documenting software architectures</a:t>
            </a:r>
          </a:p>
          <a:p>
            <a:r>
              <a:rPr lang="en-US">
                <a:ea typeface="Calibri" panose="020F0502020204030204"/>
                <a:cs typeface="Calibri"/>
              </a:rPr>
              <a:t>Lange et al., 2006, surveyed and found that UML was applied many a times, in an informal way</a:t>
            </a:r>
          </a:p>
          <a:p>
            <a:r>
              <a:rPr lang="en-US">
                <a:ea typeface="Calibri" panose="020F0502020204030204"/>
                <a:cs typeface="Calibri"/>
              </a:rPr>
              <a:t>However, UML is of most use when documenting an architecture in detail – Somerville, pg. 175</a:t>
            </a:r>
          </a:p>
          <a:p>
            <a:r>
              <a:rPr lang="en-US">
                <a:ea typeface="Calibri" panose="020F0502020204030204"/>
                <a:cs typeface="Calibri"/>
              </a:rPr>
              <a:t>Some researchers (Bass et al., 2012) propose using ADLs to describe architectures – not a very widespread opinion</a:t>
            </a:r>
          </a:p>
          <a:p>
            <a:r>
              <a:rPr lang="en-US">
                <a:ea typeface="Calibri" panose="020F0502020204030204"/>
                <a:cs typeface="Calibri"/>
              </a:rPr>
              <a:t>Informal models, and notations, like UML, remain most used ways of documenting architecture</a:t>
            </a:r>
          </a:p>
          <a:p>
            <a:r>
              <a:rPr lang="en-US">
                <a:ea typeface="Calibri" panose="020F0502020204030204"/>
                <a:cs typeface="Calibri"/>
              </a:rPr>
              <a:t>For more of what Sommerville has to say, read pg. 175; for what I have to say, attend class on 18.3.2026</a:t>
            </a:r>
          </a:p>
          <a:p>
            <a:endParaRPr lang="en-US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17FC0F4-E4A9-F951-CD8E-0192F1C35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04EEA3-EC4B-1D7B-0304-1C2C3AA7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20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B16668-B222-0230-338C-EED8D85A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619178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6853-5C6A-334A-69DA-30758FDB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EFB8-FB4C-0407-C4A6-D60734402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9D04E-D7ED-29D6-1223-D46F31BC3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4633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r>
              <a:rPr lang="en-US" sz="4000">
                <a:ea typeface="Calibri" panose="020F0502020204030204"/>
                <a:cs typeface="Calibri"/>
              </a:rPr>
              <a:t>Architectural Patterns</a:t>
            </a:r>
            <a:endParaRPr lang="en-US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/>
            </a:endParaRPr>
          </a:p>
          <a:p>
            <a:endParaRPr lang="en-GB">
              <a:ea typeface="Calibri" panose="020F0502020204030204"/>
              <a:cs typeface="Calibri"/>
            </a:endParaRPr>
          </a:p>
          <a:p>
            <a:pPr lvl="1"/>
            <a:endParaRPr lang="en-GB">
              <a:ea typeface="Calibri" panose="020F0502020204030204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A88D517-2063-C6D1-0B87-F9B69AEE1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414477-749D-D11C-DE35-5EBCFC9B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21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5C0DF12-5FC1-928E-E363-B6A61542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6217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BD771-E9D9-A0FA-EF18-20BD553F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D3D0-86AC-09B6-4D47-AAF71968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A1C91-2CFA-F0AE-799D-FBEE34CD8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 panose="020F0502020204030204"/>
                <a:cs typeface="Calibri" panose="020F0502020204030204"/>
              </a:rPr>
              <a:t>Pattern (English) - "a repeated decorative design", "standard", "model", "arrangement", "structure" (all repeatable)</a:t>
            </a:r>
          </a:p>
          <a:p>
            <a:r>
              <a:rPr lang="en-US">
                <a:ea typeface="Calibri" panose="020F0502020204030204"/>
                <a:cs typeface="Calibri" panose="020F0502020204030204"/>
              </a:rPr>
              <a:t>Pattern as a way of </a:t>
            </a:r>
            <a:r>
              <a:rPr lang="en-US" u="sng">
                <a:highlight>
                  <a:srgbClr val="FFFF00"/>
                </a:highlight>
                <a:ea typeface="Calibri" panose="020F0502020204030204"/>
                <a:cs typeface="Calibri" panose="020F0502020204030204"/>
              </a:rPr>
              <a:t>presenting, sharing, reusing knowledge</a:t>
            </a:r>
            <a:r>
              <a:rPr lang="en-US">
                <a:ea typeface="Calibri" panose="020F0502020204030204"/>
                <a:cs typeface="Calibri" panose="020F0502020204030204"/>
              </a:rPr>
              <a:t> of software systems</a:t>
            </a:r>
          </a:p>
          <a:p>
            <a:r>
              <a:rPr lang="en-US">
                <a:ea typeface="Calibri" panose="020F0502020204030204"/>
                <a:cs typeface="Calibri" panose="020F0502020204030204"/>
              </a:rPr>
              <a:t>Patterns may be described in a standard way using a </a:t>
            </a:r>
            <a:r>
              <a:rPr lang="en-US">
                <a:highlight>
                  <a:srgbClr val="FFFF00"/>
                </a:highlight>
                <a:ea typeface="Calibri" panose="020F0502020204030204"/>
                <a:cs typeface="Calibri" panose="020F0502020204030204"/>
              </a:rPr>
              <a:t>mixture of narrative description and diagrams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Calibri" panose="020F0502020204030204"/>
                <a:cs typeface="Calibri" panose="020F0502020204030204"/>
              </a:rPr>
              <a:t>But what is a pattern (in a software/ system sense?)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35CC398-4B3E-0ABD-3762-868E0A5FB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720B75-0959-A8AE-AD6C-5F32FCE8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86955-9711-3E6F-8E09-493C52F1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459760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6310-AFF7-857B-E1EB-3859AED4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E380-B1AF-BB59-6437-0CC58686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Architectural Patterns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8C27C-A396-AF7B-3560-E52829F4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highlight>
                  <a:srgbClr val="FFFF00"/>
                </a:highlight>
                <a:ea typeface="+mn-lt"/>
                <a:cs typeface="+mn-lt"/>
              </a:rPr>
              <a:t>Abstract description of good practice</a:t>
            </a:r>
          </a:p>
          <a:p>
            <a:r>
              <a:rPr lang="en-US">
                <a:ea typeface="Calibri"/>
                <a:cs typeface="Calibri"/>
              </a:rPr>
              <a:t>Tried and tested (successful) system organizations (on different systems and environments)</a:t>
            </a:r>
          </a:p>
          <a:p>
            <a:r>
              <a:rPr lang="en-US">
                <a:ea typeface="Calibri"/>
                <a:cs typeface="Calibri"/>
              </a:rPr>
              <a:t>Architectural pattern, therefore, "should </a:t>
            </a:r>
            <a:r>
              <a:rPr lang="en-US">
                <a:highlight>
                  <a:srgbClr val="FFFF00"/>
                </a:highlight>
                <a:ea typeface="Calibri"/>
                <a:cs typeface="Calibri"/>
              </a:rPr>
              <a:t>describe a system organization</a:t>
            </a:r>
            <a:r>
              <a:rPr lang="en-US">
                <a:ea typeface="Calibri"/>
                <a:cs typeface="Calibri"/>
              </a:rPr>
              <a:t> that has been </a:t>
            </a:r>
            <a:r>
              <a:rPr lang="en-US">
                <a:highlight>
                  <a:srgbClr val="FFFF00"/>
                </a:highlight>
                <a:ea typeface="Calibri"/>
                <a:cs typeface="Calibri"/>
              </a:rPr>
              <a:t>successful in previous systems</a:t>
            </a:r>
            <a:r>
              <a:rPr lang="en-US">
                <a:ea typeface="Calibri"/>
                <a:cs typeface="Calibri"/>
              </a:rPr>
              <a:t>"</a:t>
            </a:r>
          </a:p>
          <a:p>
            <a:r>
              <a:rPr lang="en-US">
                <a:ea typeface="Calibri"/>
                <a:cs typeface="Calibri"/>
              </a:rPr>
              <a:t>Should include details of when it is proper to use the pattern, details of strengths and weaknesses of the pattern</a:t>
            </a:r>
          </a:p>
          <a:p>
            <a:r>
              <a:rPr lang="en-US">
                <a:ea typeface="Calibri"/>
                <a:cs typeface="Calibri"/>
              </a:rPr>
              <a:t>Used in high level design</a:t>
            </a:r>
          </a:p>
          <a:p>
            <a:r>
              <a:rPr lang="en-US">
                <a:ea typeface="Calibri"/>
                <a:cs typeface="Calibri"/>
              </a:rPr>
              <a:t>Based on requirements and nature of project, choose an arch. pattern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CA7B95B-F6D7-457F-54DF-6CA35B923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B20F8F-687B-7A53-8B5B-91811B69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4B293C-AFAF-00BA-2D82-C1B8A209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90421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3FE5F-CD5C-5DEA-3D28-EACD7C8FB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9ADAF-B1E9-1F9A-DA7A-668AE93C5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Model-View-Controller: A sample pattern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173392B5-2EAD-478D-AE79-9077A1DE5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996E60-37F9-7B90-2480-0676B73E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B7BB6E-C3DF-F065-F36C-5C589091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9" name="Content Placeholder 8" descr="A blue text with white text&#10;&#10;AI-generated content may be incorrect.">
            <a:extLst>
              <a:ext uri="{FF2B5EF4-FFF2-40B4-BE49-F238E27FC236}">
                <a16:creationId xmlns:a16="http://schemas.microsoft.com/office/drawing/2014/main" id="{26CDA2E0-015B-9A7A-F614-617C6EFA9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289235" y="1372754"/>
            <a:ext cx="7901077" cy="5357722"/>
          </a:xfrm>
        </p:spPr>
      </p:pic>
    </p:spTree>
    <p:extLst>
      <p:ext uri="{BB962C8B-B14F-4D97-AF65-F5344CB8AC3E}">
        <p14:creationId xmlns:p14="http://schemas.microsoft.com/office/powerpoint/2010/main" val="2343679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574B-3C6F-A731-656E-BC9A4770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B65F-75CB-A7F0-2428-D552986D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Model-View-Controller: A sample pattern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10D7145F-57FE-D4D7-8D8D-E9BA47CCF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5022A8-3187-48FA-F056-87C9CBDF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1208AC-A73E-4CB3-6EAA-C63BBCA3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9E30A-4BB4-992D-E644-A3921D94F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8116"/>
            <a:ext cx="3858884" cy="44088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Calibri"/>
                <a:cs typeface="Calibri"/>
              </a:rPr>
              <a:t>Organization of a Model-View-Controller system</a:t>
            </a: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94FF752A-1547-661E-E8A4-9E474D1BA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94" y="1478352"/>
            <a:ext cx="7327959" cy="48789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60894F-0316-BA8E-D850-053D904B11BB}"/>
              </a:ext>
            </a:extLst>
          </p:cNvPr>
          <p:cNvSpPr txBox="1"/>
          <p:nvPr/>
        </p:nvSpPr>
        <p:spPr>
          <a:xfrm>
            <a:off x="59064" y="3982139"/>
            <a:ext cx="397475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>
                <a:ea typeface="Calibri"/>
                <a:cs typeface="Calibri"/>
              </a:rPr>
              <a:t>Note: Use login of a website as an example to explain this architectural pattern.</a:t>
            </a:r>
          </a:p>
        </p:txBody>
      </p:sp>
    </p:spTree>
    <p:extLst>
      <p:ext uri="{BB962C8B-B14F-4D97-AF65-F5344CB8AC3E}">
        <p14:creationId xmlns:p14="http://schemas.microsoft.com/office/powerpoint/2010/main" val="32424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5DD2-5629-0811-4358-ABD2C10A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BBF3-00F6-D8B3-2B18-5E1CBF47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Model-View-Controller: A sample pattern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4DEE442D-3C30-3273-D883-416215D1D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813EC9E-2DC4-530E-3971-A4EA28AC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C7C061-FE6B-86F7-A98F-6F1E0E73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9E86A-C50C-0B54-29AB-FEC601BA0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8116"/>
            <a:ext cx="3858884" cy="44088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Calibri"/>
                <a:cs typeface="Calibri"/>
              </a:rPr>
              <a:t>Web application architecture using the Model-View-Controller pattern</a:t>
            </a:r>
          </a:p>
        </p:txBody>
      </p:sp>
      <p:pic>
        <p:nvPicPr>
          <p:cNvPr id="3" name="Picture 2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6D5F22B8-E2E0-9C16-C59E-EE5CE32AF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631" y="1475837"/>
            <a:ext cx="5752021" cy="488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63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054F-4DCF-CF20-F3C7-1C4F8565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3C85-C6BC-15A7-2977-61925586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Layered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43F64-F530-CBC5-19E1-04C2AA263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Separation and independence - fundamental to architectural design – since they allow changes to be localized</a:t>
            </a:r>
          </a:p>
          <a:p>
            <a:r>
              <a:rPr lang="en-US">
                <a:ea typeface="Calibri"/>
                <a:cs typeface="Calibri"/>
              </a:rPr>
              <a:t>MVC, seen previously, allows separate elements in a system, which can be changed independently</a:t>
            </a:r>
          </a:p>
          <a:p>
            <a:r>
              <a:rPr lang="en-US">
                <a:ea typeface="Calibri"/>
                <a:cs typeface="Calibri"/>
              </a:rPr>
              <a:t>The Layered Architecture is another architectural pattern that allows separation and independence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CBB810A-6F60-6577-4BB0-A6ECCC22C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6428B1-E617-4861-0CBC-A653EFF3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137FFE-8C55-0EED-5956-1D59AB516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561408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C320-B44B-057B-DFD4-258FB861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FC79-7D85-9A69-5D2F-42B2CB92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Layered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FC6AB-B74C-9F27-C7CB-BA0E39894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System functionality organized into layers</a:t>
            </a:r>
          </a:p>
          <a:p>
            <a:r>
              <a:rPr lang="en-US">
                <a:ea typeface="Calibri"/>
                <a:cs typeface="Calibri"/>
              </a:rPr>
              <a:t>Each layer relies only (depends) on the layer beneath it</a:t>
            </a:r>
          </a:p>
          <a:p>
            <a:r>
              <a:rPr lang="en-US">
                <a:ea typeface="Calibri"/>
                <a:cs typeface="Calibri"/>
              </a:rPr>
              <a:t>Each layer can communicate with adjacent layers only</a:t>
            </a:r>
          </a:p>
          <a:p>
            <a:r>
              <a:rPr lang="en-US">
                <a:ea typeface="Calibri"/>
                <a:cs typeface="Calibri"/>
              </a:rPr>
              <a:t>Allows incremental development, changeable and portable</a:t>
            </a:r>
          </a:p>
          <a:p>
            <a:r>
              <a:rPr lang="en-US">
                <a:ea typeface="Calibri"/>
                <a:cs typeface="Calibri"/>
              </a:rPr>
              <a:t>If a layer interface changes, only the adjacent layer is affected</a:t>
            </a:r>
          </a:p>
          <a:p>
            <a:r>
              <a:rPr lang="en-US">
                <a:ea typeface="Calibri"/>
                <a:cs typeface="Calibri"/>
              </a:rPr>
              <a:t>Can help localize machine dependencies, therefore portable across platforms</a:t>
            </a:r>
          </a:p>
          <a:p>
            <a:r>
              <a:rPr lang="en-US">
                <a:ea typeface="Calibri"/>
                <a:cs typeface="Calibri"/>
              </a:rPr>
              <a:t>The number of layers is arbitrary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DFC91B1-D4A3-A358-9167-C559B8D809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384E66-0ECD-4ECC-B802-3E4DC2F8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28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641C11-DD5B-38DA-689D-D32FF851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340896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3C2F-F98E-5BCF-04B9-DEBBE29B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AA7C-7E92-F6C8-D5BA-C46D658B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Layered Architecture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D54C91C-C941-5355-47E1-BFD3943E6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9DF9C0-F05C-71AD-9013-D6DCA58D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29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F05797-BB7F-05CE-6BD9-854AA150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5" name="Content Placeholder 4" descr="A blue and white text on a blue background&#10;&#10;AI-generated content may be incorrect.">
            <a:extLst>
              <a:ext uri="{FF2B5EF4-FFF2-40B4-BE49-F238E27FC236}">
                <a16:creationId xmlns:a16="http://schemas.microsoft.com/office/drawing/2014/main" id="{971028D8-ADFC-B4D4-B801-CE2F2EBDB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6313" y="1701006"/>
            <a:ext cx="10519374" cy="4658084"/>
          </a:xfrm>
        </p:spPr>
      </p:pic>
    </p:spTree>
    <p:extLst>
      <p:ext uri="{BB962C8B-B14F-4D97-AF65-F5344CB8AC3E}">
        <p14:creationId xmlns:p14="http://schemas.microsoft.com/office/powerpoint/2010/main" val="3416988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F2333-31E0-6939-9F9B-97666CC5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70ED-5EE6-A1E7-7632-AF30C536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Layered Architecture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3867C6F-173C-0D30-ED28-FD1964121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AA3AC6-7CCD-DE21-C82B-1324677F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30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F83EDE-9937-D9E8-A139-045A9773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9" name="Content Placeholder 8" descr="A blue and white rectangular boxes with text&#10;&#10;AI-generated content may be incorrect.">
            <a:extLst>
              <a:ext uri="{FF2B5EF4-FFF2-40B4-BE49-F238E27FC236}">
                <a16:creationId xmlns:a16="http://schemas.microsoft.com/office/drawing/2014/main" id="{BA3C7357-9F06-3850-35F7-B4D36E803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6854" y="1397643"/>
            <a:ext cx="5747348" cy="4186506"/>
          </a:xfr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0AC9B4-ACBE-BC63-3F7C-45422546C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96" y="1398648"/>
            <a:ext cx="5731174" cy="51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32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C3C0C-05CE-3B54-CA54-0541DF86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A38D-EBCC-7670-D70C-EAA57AA9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Repository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C3964-0E45-51EA-3319-38751B197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Describes</a:t>
            </a:r>
            <a:r>
              <a:rPr lang="en-US">
                <a:ea typeface="Calibri"/>
                <a:cs typeface="Calibri"/>
              </a:rPr>
              <a:t> how a set of interacting components can share data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Systems that use a large amount of data are organized around a shared database or repository</a:t>
            </a:r>
          </a:p>
          <a:p>
            <a:r>
              <a:rPr lang="en-US">
                <a:ea typeface="Calibri"/>
                <a:cs typeface="Calibri"/>
              </a:rPr>
              <a:t>Used by systems where data is generated by one component and used by another</a:t>
            </a:r>
          </a:p>
          <a:p>
            <a:r>
              <a:rPr lang="en-US">
                <a:ea typeface="Calibri"/>
                <a:cs typeface="Calibri"/>
              </a:rPr>
              <a:t>Repository is passive and control the responsibility of components using the repository</a:t>
            </a:r>
          </a:p>
          <a:p>
            <a:r>
              <a:rPr lang="en-US">
                <a:ea typeface="Calibri"/>
                <a:cs typeface="Calibri"/>
              </a:rPr>
              <a:t>"black board" model triggers components when particular data becomes available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F463E9B-A147-404F-0B29-AC91FB9B7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7845AD-C58B-D562-4A08-9BC43245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31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DC0DC1-2FE8-AE79-9EC9-B5E531BE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908321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B29C-9D51-20C7-B88C-9B7A058C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A5D3-9ED3-C591-17C4-2EB9A191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Repository Architecture – Simpler words?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5F3F9-DE80-5258-4875-BAB960E9C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Repository Architecture is a software design pattern where: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multiple system components interact with a centralized data store (repository)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 repository acts as a shared knowledge base that different modules access to store, retrieve, and update data</a:t>
            </a:r>
            <a:endParaRPr lang="en-US">
              <a:ea typeface="Calibri"/>
              <a:cs typeface="Calibri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This pattern is useful when multiple subsystems need a common data source and helps in data consistency, integration, and scalability.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64FDDFB9-B771-D37A-E8A2-FFE926670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2037F9-E103-2806-81A0-E8DDD6EF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B2F3F9-E3C8-1899-FAC4-044A4D2AC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3497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31D3-F6D5-B44F-CD10-0E23D1EDE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E988-8E1C-1381-80F8-E425A220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Repository Architecture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580B0076-8F6B-82A5-5BC6-4A0DC2347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5AB9F8-C091-C074-1F46-E640E0C1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20141C-FC50-2DFC-019F-1608C224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9" name="Content Placeholder 8" descr="A blue and white text on a blue background&#10;&#10;AI-generated content may be incorrect.">
            <a:extLst>
              <a:ext uri="{FF2B5EF4-FFF2-40B4-BE49-F238E27FC236}">
                <a16:creationId xmlns:a16="http://schemas.microsoft.com/office/drawing/2014/main" id="{881A8DF0-90FD-7A1B-BC68-4B070F05E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55632" y="1538093"/>
            <a:ext cx="10523866" cy="4653232"/>
          </a:xfrm>
        </p:spPr>
      </p:pic>
    </p:spTree>
    <p:extLst>
      <p:ext uri="{BB962C8B-B14F-4D97-AF65-F5344CB8AC3E}">
        <p14:creationId xmlns:p14="http://schemas.microsoft.com/office/powerpoint/2010/main" val="3322212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F7CF5-B967-AC87-FF32-AF22C374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4A4A-46FA-A1E3-84F5-A0C0CB09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Repository Architecture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B3CB744D-FB52-754C-9F2C-1BB475987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F3570A-92A0-9A65-4918-A6EDEAAC1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F09746-707F-C9C0-9EFF-90B1A1A5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5" name="Content Placeholder 4" descr="A diagram of a project&#10;&#10;AI-generated content may be incorrect.">
            <a:extLst>
              <a:ext uri="{FF2B5EF4-FFF2-40B4-BE49-F238E27FC236}">
                <a16:creationId xmlns:a16="http://schemas.microsoft.com/office/drawing/2014/main" id="{D6D0A865-38E6-9067-6F31-9FAD89BEC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66632" y="1717719"/>
            <a:ext cx="9858734" cy="4308355"/>
          </a:xfrm>
        </p:spPr>
      </p:pic>
    </p:spTree>
    <p:extLst>
      <p:ext uri="{BB962C8B-B14F-4D97-AF65-F5344CB8AC3E}">
        <p14:creationId xmlns:p14="http://schemas.microsoft.com/office/powerpoint/2010/main" val="166915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BDC7-1138-A686-411E-5C2E874AC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CC93-B585-AC09-03F1-392A6D7D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Repository Architecture – A more relatable example: GitHub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B5D6-4FEA-F83B-DF9B-34C101A68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Central Repository (GitHub Server)</a:t>
            </a:r>
            <a:r>
              <a:rPr lang="en-US">
                <a:ea typeface="+mn-lt"/>
                <a:cs typeface="+mn-lt"/>
              </a:rPr>
              <a:t>: Acts as a shared storage where developers push and pull code</a:t>
            </a:r>
          </a:p>
          <a:p>
            <a:r>
              <a:rPr lang="en-US" b="1">
                <a:ea typeface="+mn-lt"/>
                <a:cs typeface="+mn-lt"/>
              </a:rPr>
              <a:t>Multiple Clients (Developers, Teams, CI/CD Pipelines)</a:t>
            </a:r>
            <a:r>
              <a:rPr lang="en-US">
                <a:ea typeface="+mn-lt"/>
                <a:cs typeface="+mn-lt"/>
              </a:rPr>
              <a:t>: Developers interact with the repository using Git commands (</a:t>
            </a:r>
            <a:r>
              <a:rPr lang="en-US">
                <a:latin typeface="Consolas"/>
                <a:ea typeface="+mn-lt"/>
                <a:cs typeface="+mn-lt"/>
              </a:rPr>
              <a:t>clone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  <a:ea typeface="+mn-lt"/>
                <a:cs typeface="+mn-lt"/>
              </a:rPr>
              <a:t>commit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  <a:ea typeface="+mn-lt"/>
                <a:cs typeface="+mn-lt"/>
              </a:rPr>
              <a:t>push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  <a:ea typeface="+mn-lt"/>
                <a:cs typeface="+mn-lt"/>
              </a:rPr>
              <a:t>pull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Decentralized Contributions</a:t>
            </a:r>
            <a:r>
              <a:rPr lang="en-US">
                <a:ea typeface="+mn-lt"/>
                <a:cs typeface="+mn-lt"/>
              </a:rPr>
              <a:t>: Developers work on </a:t>
            </a:r>
            <a:r>
              <a:rPr lang="en-US" b="1">
                <a:ea typeface="+mn-lt"/>
                <a:cs typeface="+mn-lt"/>
              </a:rPr>
              <a:t>local copies</a:t>
            </a:r>
            <a:r>
              <a:rPr lang="en-US">
                <a:ea typeface="+mn-lt"/>
                <a:cs typeface="+mn-lt"/>
              </a:rPr>
              <a:t> (branches), make changes, and synchronize with the central repository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Data Consistency</a:t>
            </a:r>
            <a:r>
              <a:rPr lang="en-US">
                <a:ea typeface="+mn-lt"/>
                <a:cs typeface="+mn-lt"/>
              </a:rPr>
              <a:t>: GitHub ensures that the latest changes are available for all contributors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7F28EEB-540C-BA90-F2E8-4A06C3DA1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472FD4-64CD-CA69-222A-79171F05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4147F4-95D2-2A56-9DD6-8FFA9CFD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63823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7453-DC14-1307-9DC8-58229EECC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9377-80C3-995A-7B59-FFB81E94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Client Server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A10A2-251F-24CB-D2C7-A97857937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Commonly</a:t>
            </a:r>
            <a:r>
              <a:rPr lang="en-US">
                <a:ea typeface="Calibri"/>
                <a:cs typeface="Calibri"/>
              </a:rPr>
              <a:t> used organization for distributed systems</a:t>
            </a:r>
          </a:p>
          <a:p>
            <a:r>
              <a:rPr lang="en-US">
                <a:ea typeface="Calibri"/>
                <a:cs typeface="Calibri"/>
              </a:rPr>
              <a:t>System organized as a set of services (and associated servers), and clients that access and use that services</a:t>
            </a:r>
          </a:p>
          <a:p>
            <a:r>
              <a:rPr lang="en-US">
                <a:ea typeface="Calibri"/>
                <a:cs typeface="Calibri"/>
              </a:rPr>
              <a:t>Major components of this architecture:</a:t>
            </a:r>
          </a:p>
          <a:p>
            <a:pPr lvl="1"/>
            <a:r>
              <a:rPr lang="en-US">
                <a:ea typeface="Calibri"/>
                <a:cs typeface="Calibri"/>
              </a:rPr>
              <a:t>Set of servers that offer services to other components</a:t>
            </a:r>
          </a:p>
          <a:p>
            <a:pPr lvl="1"/>
            <a:r>
              <a:rPr lang="en-US">
                <a:ea typeface="Calibri"/>
                <a:cs typeface="Calibri"/>
              </a:rPr>
              <a:t>A set of clients that call on the services offered by the servers</a:t>
            </a:r>
          </a:p>
          <a:p>
            <a:pPr lvl="1"/>
            <a:r>
              <a:rPr lang="en-US">
                <a:ea typeface="Calibri"/>
                <a:cs typeface="Calibri"/>
              </a:rPr>
              <a:t>A network that allows the clients to access the servers</a:t>
            </a:r>
          </a:p>
          <a:p>
            <a:r>
              <a:rPr lang="en-US">
                <a:ea typeface="Calibri"/>
                <a:cs typeface="Calibri"/>
              </a:rPr>
              <a:t>Generally considered for distributed, a logical model of independent services can be implemented on a single computer</a:t>
            </a:r>
          </a:p>
          <a:p>
            <a:r>
              <a:rPr lang="en-US">
                <a:ea typeface="Calibri"/>
                <a:cs typeface="Calibri"/>
              </a:rPr>
              <a:t>Again, the important benefit is separation and independence (modularity)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42677756-FC2D-F794-C61B-7D7960D11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63B81B-B034-39A4-9B4F-869FA795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1B1B7D5-674E-CD8C-66C6-19CA9153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2493650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45B1-ECC2-B4F9-72A1-58A85684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6012-2497-13BD-CA2E-98BF76073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Client Server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CD04-938D-BB50-6D17-4E17D47FD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Clients should know available servers (and services) and a way to access them (for </a:t>
            </a:r>
            <a:r>
              <a:rPr lang="en-US" err="1">
                <a:ea typeface="Calibri"/>
                <a:cs typeface="Calibri"/>
              </a:rPr>
              <a:t>eg.</a:t>
            </a:r>
            <a:r>
              <a:rPr lang="en-US">
                <a:ea typeface="Calibri"/>
                <a:cs typeface="Calibri"/>
              </a:rPr>
              <a:t>, RPC using HTTP request-reply protocol)</a:t>
            </a:r>
          </a:p>
          <a:p>
            <a:r>
              <a:rPr lang="en-US">
                <a:ea typeface="Calibri"/>
                <a:cs typeface="Calibri"/>
              </a:rPr>
              <a:t>Server need not keep identity of clients, or number of clients connected</a:t>
            </a:r>
          </a:p>
          <a:p>
            <a:r>
              <a:rPr lang="en-US">
                <a:ea typeface="Calibri"/>
                <a:cs typeface="Calibri"/>
              </a:rPr>
              <a:t>Example:</a:t>
            </a:r>
          </a:p>
          <a:p>
            <a:pPr lvl="1"/>
            <a:r>
              <a:rPr lang="en-US">
                <a:ea typeface="Calibri"/>
                <a:cs typeface="Calibri"/>
              </a:rPr>
              <a:t>Multi-user, web-based system for providing film and photograph library</a:t>
            </a:r>
          </a:p>
          <a:p>
            <a:r>
              <a:rPr lang="en-US">
                <a:ea typeface="Calibri"/>
                <a:cs typeface="Calibri"/>
              </a:rPr>
              <a:t>Biggest advantage: It is a distributed architecture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D0ECFDA-2F14-E571-C983-D3B09F9B6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7E836D-3A47-2DC1-8E05-F6753E64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620526-DD0B-FBF3-C25D-883649572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2814182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F2892-C993-AA8C-5DAD-692DA51E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1DC8-6031-EF2E-4C56-42755EC7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Client Server Architecture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404480F-D868-54F8-FB4A-391DC9B18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40666D-BDE4-3D62-FC41-D129092C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38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73529A-B19A-0BD9-4A8D-57500E8C8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5" name="Picture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D6A4FAD0-59F9-9E72-2E70-35D249302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34" y="1564796"/>
            <a:ext cx="10725509" cy="479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20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FDF7-B059-B35A-F430-11881177C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6938-6D29-0E36-29C1-9C18FFCA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Client Server Architecture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BF06BF9D-701D-9E2C-6E72-D80B42313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8A5386-602B-3480-4D31-71210AAE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39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1E07017-D725-7869-3D3E-4BBDBA4D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9" name="Content Placeholder 8" descr="A diagram of a computer&#10;&#10;AI-generated content may be incorrect.">
            <a:extLst>
              <a:ext uri="{FF2B5EF4-FFF2-40B4-BE49-F238E27FC236}">
                <a16:creationId xmlns:a16="http://schemas.microsoft.com/office/drawing/2014/main" id="{C9CC96D5-E35B-929C-1B85-711955435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846322" y="1699928"/>
            <a:ext cx="8484977" cy="4645864"/>
          </a:xfrm>
        </p:spPr>
      </p:pic>
    </p:spTree>
    <p:extLst>
      <p:ext uri="{BB962C8B-B14F-4D97-AF65-F5344CB8AC3E}">
        <p14:creationId xmlns:p14="http://schemas.microsoft.com/office/powerpoint/2010/main" val="3746647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CED4-9E8D-2AEE-3876-955330BF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31C5-0935-9AF5-A8F3-081DC864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Pipe and Filter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5B27-0AAE-5378-8E47-A24D1842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Model of the runtime organization of a system (where functional transformations process their inputs and produce outputs)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Data moves from one process step to another and is transformed in the process</a:t>
            </a:r>
          </a:p>
          <a:p>
            <a:r>
              <a:rPr lang="en-US">
                <a:ea typeface="Calibri"/>
                <a:cs typeface="Calibri"/>
              </a:rPr>
              <a:t>These process steps may execute sequentially or in parallel</a:t>
            </a:r>
          </a:p>
          <a:p>
            <a:r>
              <a:rPr lang="en-US">
                <a:ea typeface="Calibri"/>
                <a:cs typeface="Calibri"/>
              </a:rPr>
              <a:t>Data can be transformed item by item or in a batch</a:t>
            </a:r>
          </a:p>
          <a:p>
            <a:r>
              <a:rPr lang="en-US">
                <a:ea typeface="Calibri"/>
                <a:cs typeface="Calibri"/>
              </a:rPr>
              <a:t>Name comes from </a:t>
            </a:r>
            <a:r>
              <a:rPr lang="en-US" err="1">
                <a:ea typeface="Calibri"/>
                <a:cs typeface="Calibri"/>
              </a:rPr>
              <a:t>unix</a:t>
            </a:r>
            <a:r>
              <a:rPr lang="en-US">
                <a:ea typeface="Calibri"/>
                <a:cs typeface="Calibri"/>
              </a:rPr>
              <a:t> where processes can be linked using pipes</a:t>
            </a:r>
          </a:p>
          <a:p>
            <a:r>
              <a:rPr lang="en-US">
                <a:ea typeface="Calibri"/>
                <a:cs typeface="Calibri"/>
              </a:rPr>
              <a:t>A variant of this architecture was used since computers were first used for automatic data processing – sequential processing of batch data – the classic batch (sequential) processing</a:t>
            </a:r>
          </a:p>
          <a:p>
            <a:r>
              <a:rPr lang="en-US">
                <a:ea typeface="Calibri"/>
                <a:cs typeface="Calibri"/>
              </a:rPr>
              <a:t>Best suited for batch and embedded systems (because of limited user interaction)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C8957AC-5F1C-D3E4-5CE2-988E9FE17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AEFAFA-D8E3-B5D1-D692-D0CF2B53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40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6A89F4-4204-AC39-AB6A-3CDDC17A8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985352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70123-1CE2-1CAB-8D6C-DE073680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5DF5-F4D6-42E2-6AD2-90D94FC2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Pipe and Filter Architecture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90F67DF-55A7-1C83-CFBE-F8D7EB977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654566-B678-5BDE-A201-BA38DB69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41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C6D659-A86A-1011-1611-12EDF2B1C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3" name="Picture 2" descr="A blue and white text on a blue background&#10;&#10;AI-generated content may be incorrect.">
            <a:extLst>
              <a:ext uri="{FF2B5EF4-FFF2-40B4-BE49-F238E27FC236}">
                <a16:creationId xmlns:a16="http://schemas.microsoft.com/office/drawing/2014/main" id="{892FA80E-873A-D991-2D97-5D93940E8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40" y="1564347"/>
            <a:ext cx="10746536" cy="479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2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5E9D-A8A3-430C-4EFA-56DBB779F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66360-E32D-3125-5F3B-8CCBFCE5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Pipe and Filter Architecture</a:t>
            </a:r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719F888-1F58-47AB-6E0A-7A6B92FD8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BADA17-45EB-EF94-A369-00DE1BE7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E5FF04-6FA8-F394-FF48-3CD4DBAF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5" name="Content Placeholder 4" descr="A diagram of a flowchart&#10;&#10;AI-generated content may be incorrect.">
            <a:extLst>
              <a:ext uri="{FF2B5EF4-FFF2-40B4-BE49-F238E27FC236}">
                <a16:creationId xmlns:a16="http://schemas.microsoft.com/office/drawing/2014/main" id="{A38610DF-ABD6-A06D-DCDD-C70469F6C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95762" y="2181480"/>
            <a:ext cx="11000476" cy="3251439"/>
          </a:xfrm>
        </p:spPr>
      </p:pic>
    </p:spTree>
    <p:extLst>
      <p:ext uri="{BB962C8B-B14F-4D97-AF65-F5344CB8AC3E}">
        <p14:creationId xmlns:p14="http://schemas.microsoft.com/office/powerpoint/2010/main" val="11098147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BC0E8-C848-7F72-2185-39CA047B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916D-E5C6-351D-D727-9EE0AF466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34446"/>
            <a:ext cx="10515600" cy="1325563"/>
          </a:xfrm>
        </p:spPr>
        <p:txBody>
          <a:bodyPr/>
          <a:lstStyle/>
          <a:p>
            <a:r>
              <a:rPr lang="en-GB">
                <a:ea typeface="Calibri Light"/>
                <a:cs typeface="Calibri Light"/>
              </a:rPr>
              <a:t>Various patterns have overlapping features, how do I differentiate? T.T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1541418C-2809-BACD-4BB3-1B5CB7CBF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596C12-D536-3A2C-C0D4-ECD6BFE2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674A2C3-65DC-828F-C3BC-6937E8717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F116589-5D5C-7743-25CE-320D7F74A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3035360"/>
              </p:ext>
            </p:extLst>
          </p:nvPr>
        </p:nvGraphicFramePr>
        <p:xfrm>
          <a:off x="230037" y="1653396"/>
          <a:ext cx="11779022" cy="5221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790">
                  <a:extLst>
                    <a:ext uri="{9D8B030D-6E8A-4147-A177-3AD203B41FA5}">
                      <a16:colId xmlns:a16="http://schemas.microsoft.com/office/drawing/2014/main" val="1847816234"/>
                    </a:ext>
                  </a:extLst>
                </a:gridCol>
                <a:gridCol w="3256976">
                  <a:extLst>
                    <a:ext uri="{9D8B030D-6E8A-4147-A177-3AD203B41FA5}">
                      <a16:colId xmlns:a16="http://schemas.microsoft.com/office/drawing/2014/main" val="3582527773"/>
                    </a:ext>
                  </a:extLst>
                </a:gridCol>
                <a:gridCol w="3751139">
                  <a:extLst>
                    <a:ext uri="{9D8B030D-6E8A-4147-A177-3AD203B41FA5}">
                      <a16:colId xmlns:a16="http://schemas.microsoft.com/office/drawing/2014/main" val="2389336062"/>
                    </a:ext>
                  </a:extLst>
                </a:gridCol>
                <a:gridCol w="3468117">
                  <a:extLst>
                    <a:ext uri="{9D8B030D-6E8A-4147-A177-3AD203B41FA5}">
                      <a16:colId xmlns:a16="http://schemas.microsoft.com/office/drawing/2014/main" val="2377205531"/>
                    </a:ext>
                  </a:extLst>
                </a:gridCol>
              </a:tblGrid>
              <a:tr h="541421">
                <a:tc>
                  <a:txBody>
                    <a:bodyPr/>
                    <a:lstStyle/>
                    <a:p>
                      <a:r>
                        <a:rPr lang="en-GB" sz="220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/>
                        <a:t>MVC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Client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Layered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427850"/>
                  </a:ext>
                </a:extLst>
              </a:tr>
              <a:tr h="1144122">
                <a:tc>
                  <a:txBody>
                    <a:bodyPr/>
                    <a:lstStyle/>
                    <a:p>
                      <a:r>
                        <a:rPr lang="en-GB" sz="220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Separates UI (Views), Business logic (Controller) and Data to improve maintainability and 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Defines how clients and servers interact over a network, sharing data, accessing services to </a:t>
                      </a:r>
                      <a:r>
                        <a:rPr lang="en-GB" sz="2200" err="1"/>
                        <a:t>fulfill</a:t>
                      </a:r>
                      <a:r>
                        <a:rPr lang="en-GB" sz="2200"/>
                        <a:t> end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b="0" i="0" u="none" strike="noStrike" noProof="0">
                          <a:latin typeface="Calibri"/>
                        </a:rPr>
                        <a:t>Organizes software into layers, each handling a specific responsibility, each layer interacts with adjacent layers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600406"/>
                  </a:ext>
                </a:extLst>
              </a:tr>
              <a:tr h="1144122">
                <a:tc>
                  <a:txBody>
                    <a:bodyPr/>
                    <a:lstStyle/>
                    <a:p>
                      <a:r>
                        <a:rPr lang="en-GB" sz="220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b="1" i="0" u="none" strike="noStrike" noProof="0">
                          <a:latin typeface="Calibri"/>
                        </a:rPr>
                        <a:t>Code Structure</a:t>
                      </a:r>
                      <a:r>
                        <a:rPr lang="en-GB" sz="2200" b="0" i="0" u="none" strike="noStrike" noProof="0">
                          <a:latin typeface="Calibri"/>
                        </a:rPr>
                        <a:t> – Separating frontend (View), backend logic (Controller), and database (Model).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1"/>
                        <a:t>Network Communication</a:t>
                      </a:r>
                      <a:r>
                        <a:rPr lang="en-GB" sz="2200"/>
                        <a:t> – How clients request services from a server over a network.</a:t>
                      </a:r>
                      <a:endParaRPr lang="en-US" sz="2200"/>
                    </a:p>
                    <a:p>
                      <a:pPr lvl="0">
                        <a:buNone/>
                      </a:pPr>
                      <a:endParaRPr lang="en-GB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b="1" i="0" u="none" strike="noStrike" noProof="0">
                          <a:latin typeface="Calibri"/>
                        </a:rPr>
                        <a:t>Application Design</a:t>
                      </a:r>
                      <a:r>
                        <a:rPr lang="en-GB" sz="2200" b="0" i="0" u="none" strike="noStrike" noProof="0">
                          <a:latin typeface="Calibri"/>
                        </a:rPr>
                        <a:t> – Dividing software into layers (UI, Business Logic, Data) to manage complexity.</a:t>
                      </a:r>
                      <a:endParaRPr 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802883"/>
                  </a:ext>
                </a:extLst>
              </a:tr>
              <a:tr h="1144122">
                <a:tc>
                  <a:txBody>
                    <a:bodyPr/>
                    <a:lstStyle/>
                    <a:p>
                      <a:r>
                        <a:rPr lang="en-GB" sz="220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Web &amp; Mobile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Distributed systems, cloud applications, web services.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b="0" i="0" u="none" strike="noStrike" noProof="0">
                          <a:latin typeface="Calibri"/>
                        </a:rPr>
                        <a:t>Enterprise systems, banking, security applications.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671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5108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77D8-30A1-A890-3A36-54DE52C8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AB05-8E52-27E8-A66B-5ACAAF1F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34446"/>
            <a:ext cx="10515600" cy="1325563"/>
          </a:xfrm>
        </p:spPr>
        <p:txBody>
          <a:bodyPr/>
          <a:lstStyle/>
          <a:p>
            <a:r>
              <a:rPr lang="en-GB">
                <a:ea typeface="Calibri Light"/>
                <a:cs typeface="Calibri Light"/>
              </a:rPr>
              <a:t>Various patterns have overlapping features, how do I differentiate? T.T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206818B-9975-DA77-F7D4-9D6DFC17C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66B6CB-320D-E146-B063-463A27B7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471807-768B-4F43-41ED-FDF75FD4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3E8352D-2BAA-333F-152F-12424FC66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14957"/>
              </p:ext>
            </p:extLst>
          </p:nvPr>
        </p:nvGraphicFramePr>
        <p:xfrm>
          <a:off x="230037" y="1653396"/>
          <a:ext cx="11779022" cy="4885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790">
                  <a:extLst>
                    <a:ext uri="{9D8B030D-6E8A-4147-A177-3AD203B41FA5}">
                      <a16:colId xmlns:a16="http://schemas.microsoft.com/office/drawing/2014/main" val="1847816234"/>
                    </a:ext>
                  </a:extLst>
                </a:gridCol>
                <a:gridCol w="3256976">
                  <a:extLst>
                    <a:ext uri="{9D8B030D-6E8A-4147-A177-3AD203B41FA5}">
                      <a16:colId xmlns:a16="http://schemas.microsoft.com/office/drawing/2014/main" val="3582527773"/>
                    </a:ext>
                  </a:extLst>
                </a:gridCol>
                <a:gridCol w="3751139">
                  <a:extLst>
                    <a:ext uri="{9D8B030D-6E8A-4147-A177-3AD203B41FA5}">
                      <a16:colId xmlns:a16="http://schemas.microsoft.com/office/drawing/2014/main" val="2389336062"/>
                    </a:ext>
                  </a:extLst>
                </a:gridCol>
                <a:gridCol w="3468117">
                  <a:extLst>
                    <a:ext uri="{9D8B030D-6E8A-4147-A177-3AD203B41FA5}">
                      <a16:colId xmlns:a16="http://schemas.microsoft.com/office/drawing/2014/main" val="2377205531"/>
                    </a:ext>
                  </a:extLst>
                </a:gridCol>
              </a:tblGrid>
              <a:tr h="541421">
                <a:tc>
                  <a:txBody>
                    <a:bodyPr/>
                    <a:lstStyle/>
                    <a:p>
                      <a:r>
                        <a:rPr lang="en-GB" sz="220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/>
                        <a:t>MVC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Client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Layered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427850"/>
                  </a:ext>
                </a:extLst>
              </a:tr>
              <a:tr h="11441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/>
                        <a:t>Number of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b="0" i="0" u="none" strike="noStrike" noProof="0">
                          <a:latin typeface="Calibri"/>
                        </a:rPr>
                        <a:t>3+</a:t>
                      </a:r>
                      <a:endParaRPr 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600406"/>
                  </a:ext>
                </a:extLst>
              </a:tr>
              <a:tr h="1144122">
                <a:tc>
                  <a:txBody>
                    <a:bodyPr/>
                    <a:lstStyle/>
                    <a:p>
                      <a:r>
                        <a:rPr lang="en-GB" sz="2200"/>
                        <a:t>Data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b="0" i="0" u="none" strike="noStrike" noProof="0"/>
                        <a:t>Controller receives input, updates Model, View gets updated.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Client sends requests to Server, Server responds with data.</a:t>
                      </a:r>
                      <a:endParaRPr lang="en-US" sz="2200"/>
                    </a:p>
                    <a:p>
                      <a:pPr lvl="0">
                        <a:buNone/>
                      </a:pPr>
                      <a:endParaRPr lang="en-GB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Each layer communicates only with adjacent layers.</a:t>
                      </a:r>
                      <a:endParaRPr lang="en-US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802883"/>
                  </a:ext>
                </a:extLst>
              </a:tr>
              <a:tr h="1144122">
                <a:tc>
                  <a:txBody>
                    <a:bodyPr/>
                    <a:lstStyle/>
                    <a:p>
                      <a:r>
                        <a:rPr lang="en-GB" sz="220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200" b="0" i="0" u="none" strike="noStrike" noProof="0">
                          <a:latin typeface="Calibri"/>
                        </a:rPr>
                        <a:t>A web app where the </a:t>
                      </a:r>
                      <a:r>
                        <a:rPr lang="en-GB" sz="2200" b="1" i="0" u="none" strike="noStrike" noProof="0">
                          <a:latin typeface="Calibri"/>
                        </a:rPr>
                        <a:t>Controller</a:t>
                      </a:r>
                      <a:r>
                        <a:rPr lang="en-GB" sz="2200" b="0" i="0" u="none" strike="noStrike" noProof="0">
                          <a:latin typeface="Calibri"/>
                        </a:rPr>
                        <a:t> handles login logic, </a:t>
                      </a:r>
                      <a:r>
                        <a:rPr lang="en-GB" sz="2200" b="1" i="0" u="none" strike="noStrike" noProof="0">
                          <a:latin typeface="Calibri"/>
                        </a:rPr>
                        <a:t>Model</a:t>
                      </a:r>
                      <a:r>
                        <a:rPr lang="en-GB" sz="2200" b="0" i="0" u="none" strike="noStrike" noProof="0">
                          <a:latin typeface="Calibri"/>
                        </a:rPr>
                        <a:t> stores user data, and </a:t>
                      </a:r>
                      <a:r>
                        <a:rPr lang="en-GB" sz="2200" b="1" i="0" u="none" strike="noStrike" noProof="0">
                          <a:latin typeface="Calibri"/>
                        </a:rPr>
                        <a:t>View</a:t>
                      </a:r>
                      <a:r>
                        <a:rPr lang="en-GB" sz="2200" b="0" i="0" u="none" strike="noStrike" noProof="0">
                          <a:latin typeface="Calibri"/>
                        </a:rPr>
                        <a:t> displays the UI.</a:t>
                      </a:r>
                      <a:endParaRPr lang="en-US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A banking app where the </a:t>
                      </a:r>
                      <a:r>
                        <a:rPr lang="en-GB" sz="2200" b="1"/>
                        <a:t>Client (App/Web)</a:t>
                      </a:r>
                      <a:r>
                        <a:rPr lang="en-GB" sz="2200"/>
                        <a:t> sends a transaction request to the </a:t>
                      </a:r>
                      <a:r>
                        <a:rPr lang="en-GB" sz="2200" b="1"/>
                        <a:t>Server (Bank Database).</a:t>
                      </a:r>
                      <a:endParaRPr lang="en-US" sz="2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A banking system with separate layers; Operating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671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7817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D8C0-D9A6-DBA2-62CD-6E0294F5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358B-72AD-F458-609F-FCEB6007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34446"/>
            <a:ext cx="10515600" cy="1325563"/>
          </a:xfrm>
        </p:spPr>
        <p:txBody>
          <a:bodyPr/>
          <a:lstStyle/>
          <a:p>
            <a:r>
              <a:rPr lang="en-GB">
                <a:ea typeface="Calibri Light"/>
                <a:cs typeface="Calibri Light"/>
              </a:rPr>
              <a:t>When to use which? T.T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A3C91D2-C62F-3432-EF1F-05D4B4D33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9396FE-E5EB-B3E2-C96D-CB753958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45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3EDCE4-22DE-006C-A38B-6B72893E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61063F-F60F-F3CE-A5F1-ECF22CD62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534869"/>
              </p:ext>
            </p:extLst>
          </p:nvPr>
        </p:nvGraphicFramePr>
        <p:xfrm>
          <a:off x="838200" y="1825625"/>
          <a:ext cx="10515597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8181344"/>
                    </a:ext>
                  </a:extLst>
                </a:gridCol>
                <a:gridCol w="2184399">
                  <a:extLst>
                    <a:ext uri="{9D8B030D-6E8A-4147-A177-3AD203B41FA5}">
                      <a16:colId xmlns:a16="http://schemas.microsoft.com/office/drawing/2014/main" val="518462445"/>
                    </a:ext>
                  </a:extLst>
                </a:gridCol>
                <a:gridCol w="4825999">
                  <a:extLst>
                    <a:ext uri="{9D8B030D-6E8A-4147-A177-3AD203B41FA5}">
                      <a16:colId xmlns:a16="http://schemas.microsoft.com/office/drawing/2014/main" val="2361079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Best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Why?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28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Calibri"/>
                        </a:rPr>
                        <a:t>A </a:t>
                      </a:r>
                      <a:r>
                        <a:rPr lang="en-GB" sz="1800" b="1" i="0" u="none" strike="noStrike" noProof="0">
                          <a:latin typeface="Calibri"/>
                        </a:rPr>
                        <a:t>web application</a:t>
                      </a:r>
                      <a:r>
                        <a:rPr lang="en-GB" sz="1800" b="0" i="0" u="none" strike="noStrike" noProof="0">
                          <a:latin typeface="Calibri"/>
                        </a:rPr>
                        <a:t> that needs clear separation between frontend UI, business logic, and database.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Helps manage code efficiently and improves maintainability.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091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 system where </a:t>
                      </a:r>
                      <a:r>
                        <a:rPr lang="en-GB" b="1"/>
                        <a:t>multiple clients (mobile, web, desktop) interact with a central server</a:t>
                      </a:r>
                      <a:r>
                        <a:rPr lang="en-GB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Client-Server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Ensures data consistency across devices and handles network requests.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72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 </a:t>
                      </a:r>
                      <a:r>
                        <a:rPr lang="en-GB" b="1"/>
                        <a:t>large enterprise system</a:t>
                      </a:r>
                      <a:r>
                        <a:rPr lang="en-GB"/>
                        <a:t> (banking, ERP, security) where each part has a specific role.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Layered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Organizes the system into reusable components, where each component or layer has distinct responsibility, and you have several layers of 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827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066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BA1E-EB2F-8B21-EC76-371FD924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000DF-5A4C-0623-C174-2219FF96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Closing thoughts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FBFF-E609-CA04-D11B-C4BBF88E6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Other architectures are available: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Microservice based architecture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Peer-to-peer architecture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Event-Driven Architecture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…</a:t>
            </a:r>
          </a:p>
          <a:p>
            <a:pPr>
              <a:spcBef>
                <a:spcPts val="500"/>
              </a:spcBef>
              <a:buFont typeface="Courier New" panose="020B0604020202020204" pitchFamily="34" charset="0"/>
            </a:pPr>
            <a:r>
              <a:rPr lang="en-US">
                <a:ea typeface="Calibri"/>
                <a:cs typeface="Calibri"/>
              </a:rPr>
              <a:t>Look them up, Sommerville doesn't discuss them, but I will, time permitting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9E516053-7D5E-D22D-8934-5F8425AFF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3CBC6A-2998-62F6-5534-2DFDBACD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193F54F-5D13-BEDB-60BC-C98C4140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24267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166D-E5AC-3DF5-98AE-24D9FEA8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32E7-FEF1-7F29-A736-9CC7FDFA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An example: University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DABD2-26ED-B766-7BCB-4AB383C4C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Functional requirements: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Students can login.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ea typeface="+mn-lt"/>
                <a:cs typeface="+mn-lt"/>
              </a:rPr>
              <a:t>Students can view grades.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ea typeface="+mn-lt"/>
                <a:cs typeface="+mn-lt"/>
              </a:rPr>
              <a:t>Students can view attendance.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ea typeface="+mn-lt"/>
                <a:cs typeface="+mn-lt"/>
              </a:rPr>
              <a:t>Faculty can upload grades.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ea typeface="+mn-lt"/>
                <a:cs typeface="+mn-lt"/>
              </a:rPr>
              <a:t>Admin can manage users.</a:t>
            </a:r>
            <a:endParaRPr lang="en-US"/>
          </a:p>
          <a:p>
            <a:pPr lvl="1"/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All these functional requirements can be implemented using any architectural pattern</a:t>
            </a:r>
          </a:p>
          <a:p>
            <a:r>
              <a:rPr lang="en-US">
                <a:ea typeface="Calibri"/>
                <a:cs typeface="Calibri"/>
              </a:rPr>
              <a:t>However, different architecture patterns impact non-functional requirements in different ways</a:t>
            </a:r>
          </a:p>
          <a:p>
            <a:pPr lvl="1"/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879A8F87-4A8C-8D0E-1297-9C1F4D2BE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F57D68-4B1F-35AF-5302-611957EF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47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4B2C089-4A02-1151-0C0B-2E4FBA6A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1050186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86F4-C09A-6266-EADF-783A267B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D7CB-4E4E-D1EE-70E3-F15BCABA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An example: University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7600E-751E-35BC-C2D6-CE2A25138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Consider using the simplest architecture, </a:t>
            </a:r>
            <a:r>
              <a:rPr lang="en-US" b="1">
                <a:ea typeface="Calibri"/>
                <a:cs typeface="Calibri"/>
              </a:rPr>
              <a:t>Monolithic architecture </a:t>
            </a:r>
            <a:r>
              <a:rPr lang="en-US">
                <a:ea typeface="Calibri"/>
                <a:cs typeface="Calibri"/>
              </a:rPr>
              <a:t>(</a:t>
            </a:r>
            <a:r>
              <a:rPr lang="en-US">
                <a:ea typeface="+mn-lt"/>
                <a:cs typeface="+mn-lt"/>
              </a:rPr>
              <a:t>all modules (login, grades, attendance, admin) run inside one application and one database.)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lvl="1"/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B9F49C2-7AC7-EEAA-F44B-A9D648E80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002B20-82CA-36CB-B953-EA5406DB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48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972981-D80D-814F-19B0-8AB54FA4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D2D013-41C9-7623-04C1-793B31AB7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394810"/>
              </p:ext>
            </p:extLst>
          </p:nvPr>
        </p:nvGraphicFramePr>
        <p:xfrm>
          <a:off x="906517" y="3555894"/>
          <a:ext cx="10444653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21524">
                  <a:extLst>
                    <a:ext uri="{9D8B030D-6E8A-4147-A177-3AD203B41FA5}">
                      <a16:colId xmlns:a16="http://schemas.microsoft.com/office/drawing/2014/main" val="854585101"/>
                    </a:ext>
                  </a:extLst>
                </a:gridCol>
                <a:gridCol w="7023129">
                  <a:extLst>
                    <a:ext uri="{9D8B030D-6E8A-4147-A177-3AD203B41FA5}">
                      <a16:colId xmlns:a16="http://schemas.microsoft.com/office/drawing/2014/main" val="4094081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Non-Functional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206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for small systems because everything runs locally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809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Poor — entire application must scale together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95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 — changing one module may affect others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301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— if the application crashes, the whole portal goes 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85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— only one application to deploy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269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7266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86FDE-4FDB-6141-6D19-07FF461A1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AE272-BAF0-813F-D775-67D6D26E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An example: University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026BB-5840-24F4-EEA4-9C6843D48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Consider </a:t>
            </a:r>
            <a:r>
              <a:rPr lang="en-US" b="1">
                <a:ea typeface="Calibri"/>
                <a:cs typeface="Calibri"/>
              </a:rPr>
              <a:t>MVC </a:t>
            </a:r>
            <a:r>
              <a:rPr lang="en-US">
                <a:ea typeface="Calibri"/>
                <a:cs typeface="Calibri"/>
              </a:rPr>
              <a:t>(</a:t>
            </a:r>
            <a:r>
              <a:rPr lang="en-US">
                <a:ea typeface="+mn-lt"/>
                <a:cs typeface="+mn-lt"/>
              </a:rPr>
              <a:t>separation of application into three different logical layers, model-view-controller)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Example flow: </a:t>
            </a:r>
            <a:r>
              <a:rPr lang="en-US">
                <a:ea typeface="+mn-lt"/>
                <a:cs typeface="+mn-lt"/>
              </a:rPr>
              <a:t>Student clicks View Grades =&gt; Controller =&gt; Model =&gt; View displays results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FDEF21EA-E9CB-87AE-B68A-17135F55F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706873-A852-50C8-41B5-14BD2CA7C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49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23C3A2-EEC9-3EE1-EA64-3114CF4C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7DD3CCF-6404-FF6E-467F-A831B1094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880307"/>
              </p:ext>
            </p:extLst>
          </p:nvPr>
        </p:nvGraphicFramePr>
        <p:xfrm>
          <a:off x="867103" y="3660228"/>
          <a:ext cx="10457790" cy="2468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53103">
                  <a:extLst>
                    <a:ext uri="{9D8B030D-6E8A-4147-A177-3AD203B41FA5}">
                      <a16:colId xmlns:a16="http://schemas.microsoft.com/office/drawing/2014/main" val="3176347236"/>
                    </a:ext>
                  </a:extLst>
                </a:gridCol>
                <a:gridCol w="7304687">
                  <a:extLst>
                    <a:ext uri="{9D8B030D-6E8A-4147-A177-3AD203B41FA5}">
                      <a16:colId xmlns:a16="http://schemas.microsoft.com/office/drawing/2014/main" val="2399307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Non-Functional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91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for typical web apps; controller mediation may add small overhead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96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Scalability/ 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Moderate/ Very flexible – accommodates change in UI without change in logic or data (for example)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58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due to separation of UI and 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765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Moderate; however much better than monolithic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66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803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0803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C6EA-B65C-A9F6-8E6B-3A353D1D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0920-15A4-53BD-E3CB-85F150FA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An example: University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8859-9EB2-E81A-A359-AFCA0219A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Consider </a:t>
            </a:r>
            <a:r>
              <a:rPr lang="en-US" b="1">
                <a:ea typeface="Calibri"/>
                <a:cs typeface="Calibri"/>
              </a:rPr>
              <a:t>client-server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Example flow: </a:t>
            </a:r>
            <a:r>
              <a:rPr lang="en-US">
                <a:ea typeface="+mn-lt"/>
                <a:cs typeface="+mn-lt"/>
              </a:rPr>
              <a:t>Student app =&gt; request grades =&gt; server processes =&gt; results returned.</a:t>
            </a:r>
            <a:endParaRPr lang="en-US" b="1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BB2B866-30B7-A536-7E8D-28292C6FD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25670D-749B-77BB-1710-0C1298074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50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0045A7-C74C-502D-506E-10C4B6EAE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6C577B-5758-77CE-E768-8FD7B1FAF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411404"/>
              </p:ext>
            </p:extLst>
          </p:nvPr>
        </p:nvGraphicFramePr>
        <p:xfrm>
          <a:off x="1116724" y="3198823"/>
          <a:ext cx="9945411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68619">
                  <a:extLst>
                    <a:ext uri="{9D8B030D-6E8A-4147-A177-3AD203B41FA5}">
                      <a16:colId xmlns:a16="http://schemas.microsoft.com/office/drawing/2014/main" val="3510381467"/>
                    </a:ext>
                  </a:extLst>
                </a:gridCol>
                <a:gridCol w="6976792">
                  <a:extLst>
                    <a:ext uri="{9D8B030D-6E8A-4147-A177-3AD203B41FA5}">
                      <a16:colId xmlns:a16="http://schemas.microsoft.com/office/drawing/2014/main" val="3114446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Non-Functional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333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for moderate loads; network latency affects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131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Moderate; server can become bottleneck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67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Moderate; logic centralized on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117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Moderate; server failure affects all clients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08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Easier than distributed architectures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96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1529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7A775-74C5-4B18-F3B9-4B9D5CA2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5C49-8E3D-24F6-8523-2A956170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An example: University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537F0-0C8D-3707-2BD2-8692028E3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Consider </a:t>
            </a:r>
            <a:r>
              <a:rPr lang="en-US" b="1">
                <a:ea typeface="Calibri"/>
                <a:cs typeface="Calibri"/>
              </a:rPr>
              <a:t>layered </a:t>
            </a:r>
            <a:r>
              <a:rPr lang="en-US">
                <a:ea typeface="Calibri"/>
                <a:cs typeface="Calibri"/>
              </a:rPr>
              <a:t>(3 layers, presentation for UI, business layer for processing grades and other logic, and data layer to access database)</a:t>
            </a:r>
            <a:endParaRPr lang="en-US" b="1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Example flow: </a:t>
            </a:r>
            <a:r>
              <a:rPr lang="en-US">
                <a:ea typeface="+mn-lt"/>
                <a:cs typeface="+mn-lt"/>
              </a:rPr>
              <a:t>Student UI =&gt; Business logic =&gt; Database =&gt; response returned.</a:t>
            </a:r>
            <a:endParaRPr lang="en-US" b="1">
              <a:ea typeface="+mn-lt"/>
              <a:cs typeface="+mn-lt"/>
            </a:endParaRPr>
          </a:p>
          <a:p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C72D501-2DE9-7245-29AE-974DF5DC4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23264A-77E6-D4A1-BEDF-CE99F908F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51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1C9B63-F1C0-01B2-B845-1B2CD4E5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F2604C-C037-8592-62D8-4F4BB8261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238645"/>
              </p:ext>
            </p:extLst>
          </p:nvPr>
        </p:nvGraphicFramePr>
        <p:xfrm>
          <a:off x="740416" y="3787684"/>
          <a:ext cx="10602306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53103">
                  <a:extLst>
                    <a:ext uri="{9D8B030D-6E8A-4147-A177-3AD203B41FA5}">
                      <a16:colId xmlns:a16="http://schemas.microsoft.com/office/drawing/2014/main" val="975675478"/>
                    </a:ext>
                  </a:extLst>
                </a:gridCol>
                <a:gridCol w="7449203">
                  <a:extLst>
                    <a:ext uri="{9D8B030D-6E8A-4147-A177-3AD203B41FA5}">
                      <a16:colId xmlns:a16="http://schemas.microsoft.com/office/drawing/2014/main" val="4245559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Non-Functional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082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Slight overhead due to multiple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356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Moderate; layers can sometimes scale separately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95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due to clear separation of responsibilities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05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Moderate; failure in one layer may impact the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82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241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679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A64B-16CE-2AA2-388D-F3304C394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DFF55-98F4-C7B7-CD52-FF9CF814A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An example: University portal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A25B-ADE9-5127-9BFF-0AAE0465B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328"/>
            <a:ext cx="10515600" cy="5031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Consider </a:t>
            </a:r>
            <a:r>
              <a:rPr lang="en-US" b="1">
                <a:ea typeface="Calibri"/>
                <a:cs typeface="Calibri"/>
              </a:rPr>
              <a:t>microservices  </a:t>
            </a:r>
            <a:r>
              <a:rPr lang="en-US">
                <a:ea typeface="Calibri"/>
                <a:cs typeface="Calibri"/>
              </a:rPr>
              <a:t>(each module is a separate service, and the services communicate using APIs)</a:t>
            </a:r>
            <a:endParaRPr lang="en-US" b="1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Example flow: </a:t>
            </a:r>
            <a:r>
              <a:rPr lang="en-US">
                <a:ea typeface="+mn-lt"/>
                <a:cs typeface="+mn-lt"/>
              </a:rPr>
              <a:t>Student UI =&gt; Business logic =&gt; Database =&gt; response returned.</a:t>
            </a:r>
            <a:endParaRPr lang="en-US" b="1">
              <a:ea typeface="+mn-lt"/>
              <a:cs typeface="+mn-lt"/>
            </a:endParaRPr>
          </a:p>
          <a:p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2CE714B-096B-E6A1-0C3D-4FD74997A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D0F0D8-5E3A-A5D8-7A79-53ADC669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52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A3EEC7-DAC4-8289-B064-69359B65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EF1A67-3EDB-F459-39F7-B8621D4A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871480"/>
              </p:ext>
            </p:extLst>
          </p:nvPr>
        </p:nvGraphicFramePr>
        <p:xfrm>
          <a:off x="972207" y="3920941"/>
          <a:ext cx="10232569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20518">
                  <a:extLst>
                    <a:ext uri="{9D8B030D-6E8A-4147-A177-3AD203B41FA5}">
                      <a16:colId xmlns:a16="http://schemas.microsoft.com/office/drawing/2014/main" val="2862360964"/>
                    </a:ext>
                  </a:extLst>
                </a:gridCol>
                <a:gridCol w="7012051">
                  <a:extLst>
                    <a:ext uri="{9D8B030D-6E8A-4147-A177-3AD203B41FA5}">
                      <a16:colId xmlns:a16="http://schemas.microsoft.com/office/drawing/2014/main" val="787071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Non-Functional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04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Slight overhead due to network 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63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 — individual services scale independently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23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Better — teams can modify services independently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020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Better isolation — failure in one service may not crash others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872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More complex — many services must be 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786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9837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0363-0142-EBD2-558A-943728B6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1C4D6ABB-4303-1CED-7B10-53ED56CE6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82" y="33940"/>
            <a:ext cx="2416608" cy="6345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B2FD42-BBED-91DF-0887-D24AA899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559AE-1842-40A5-A2A9-0518F39FD1A9}" type="slidenum">
              <a:rPr lang="en-US" smtClean="0"/>
              <a:t>53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0C0E78-DFEA-19B1-E6DE-AE34505B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117D57C-820D-AD85-1930-13A4E0EC5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948262"/>
              </p:ext>
            </p:extLst>
          </p:nvPr>
        </p:nvGraphicFramePr>
        <p:xfrm>
          <a:off x="0" y="738051"/>
          <a:ext cx="12191999" cy="603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14690823"/>
                    </a:ext>
                  </a:extLst>
                </a:gridCol>
                <a:gridCol w="2017058">
                  <a:extLst>
                    <a:ext uri="{9D8B030D-6E8A-4147-A177-3AD203B41FA5}">
                      <a16:colId xmlns:a16="http://schemas.microsoft.com/office/drawing/2014/main" val="360773114"/>
                    </a:ext>
                  </a:extLst>
                </a:gridCol>
                <a:gridCol w="2046941">
                  <a:extLst>
                    <a:ext uri="{9D8B030D-6E8A-4147-A177-3AD203B41FA5}">
                      <a16:colId xmlns:a16="http://schemas.microsoft.com/office/drawing/2014/main" val="2020419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92726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875611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725566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Non-Functional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Monolithic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Client–Server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Layered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Microservices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64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highlight>
                            <a:srgbClr val="00FF00"/>
                          </a:highlight>
                        </a:rPr>
                        <a:t>High (local calls inside one application)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but affected by network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Slight overhead due to multiple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Moderate; network communication between services adds overhead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065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Poor (entire system must scale together)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(server can become bottleneck)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(layers may scale independently)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highlight>
                            <a:srgbClr val="00FF00"/>
                          </a:highlight>
                        </a:rPr>
                        <a:t>Excellent (individual services scale independently)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048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for large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00FFFF"/>
                          </a:highlight>
                        </a:rPr>
                        <a:t>High due to separation of UI, logic, and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(logic centralized in server)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00FFFF"/>
                          </a:highlight>
                        </a:rPr>
                        <a:t>High due to clear separation of responsibilities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highlight>
                            <a:srgbClr val="00FF00"/>
                          </a:highlight>
                        </a:rPr>
                        <a:t>Very high (independent services maintained separately)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534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Low (failure can crash whole system)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(server failure affects all clients)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 (layer failure affects system)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00FF00"/>
                          </a:highlight>
                        </a:rPr>
                        <a:t>High (failure of one service may not affect others)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56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Very simple (single application)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 (multiple services and deployments)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920908"/>
                  </a:ext>
                </a:extLst>
              </a:tr>
            </a:tbl>
          </a:graphicData>
        </a:graphic>
      </p:graphicFrame>
      <p:sp>
        <p:nvSpPr>
          <p:cNvPr id="17" name="Title 1">
            <a:extLst>
              <a:ext uri="{FF2B5EF4-FFF2-40B4-BE49-F238E27FC236}">
                <a16:creationId xmlns:a16="http://schemas.microsoft.com/office/drawing/2014/main" id="{3D3AEC1B-83D6-BEC5-80E3-90219FC2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27" y="-318047"/>
            <a:ext cx="10515600" cy="1325563"/>
          </a:xfrm>
        </p:spPr>
        <p:txBody>
          <a:bodyPr/>
          <a:lstStyle/>
          <a:p>
            <a:r>
              <a:rPr lang="en-GB">
                <a:ea typeface="Calibri Light"/>
                <a:cs typeface="Calibri Light"/>
              </a:rPr>
              <a:t>Comparison across architectures</a:t>
            </a:r>
          </a:p>
        </p:txBody>
      </p:sp>
    </p:spTree>
    <p:extLst>
      <p:ext uri="{BB962C8B-B14F-4D97-AF65-F5344CB8AC3E}">
        <p14:creationId xmlns:p14="http://schemas.microsoft.com/office/powerpoint/2010/main" val="405734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34713A0238B47A82B49BB61910BB7" ma:contentTypeVersion="4" ma:contentTypeDescription="Create a new document." ma:contentTypeScope="" ma:versionID="6d4706a53c2ea577fa6530616b401942">
  <xsd:schema xmlns:xsd="http://www.w3.org/2001/XMLSchema" xmlns:xs="http://www.w3.org/2001/XMLSchema" xmlns:p="http://schemas.microsoft.com/office/2006/metadata/properties" xmlns:ns3="5036cfa6-d0e1-4902-a771-3c3912700344" targetNamespace="http://schemas.microsoft.com/office/2006/metadata/properties" ma:root="true" ma:fieldsID="a1d272197f808f89f8a24a3fbeb7e316" ns3:_="">
    <xsd:import namespace="5036cfa6-d0e1-4902-a771-3c39127003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6cfa6-d0e1-4902-a771-3c3912700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2CE482-82E1-495F-A096-31F88599D290}">
  <ds:schemaRefs>
    <ds:schemaRef ds:uri="5036cfa6-d0e1-4902-a771-3c39127003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0ED4F75-3CD7-45A8-9549-E613B31DDB2A}">
  <ds:schemaRefs>
    <ds:schemaRef ds:uri="5036cfa6-d0e1-4902-a771-3c391270034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4292D93-FF2A-4DA5-8E8B-A42F52EE7A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53</Slides>
  <Notes>52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Software Engineering (CS3201) Architectural Design </vt:lpstr>
      <vt:lpstr>Refinement in Design / Steps in design</vt:lpstr>
      <vt:lpstr>Brainstorming (more in slide 14)</vt:lpstr>
      <vt:lpstr>Setting up the stage... for high level design</vt:lpstr>
      <vt:lpstr> </vt:lpstr>
      <vt:lpstr>Introduction</vt:lpstr>
      <vt:lpstr>System Architecture: A sample block diagram</vt:lpstr>
      <vt:lpstr>System Architecture: Levels of abstraction</vt:lpstr>
      <vt:lpstr>System Architecture: Importance</vt:lpstr>
      <vt:lpstr>System Architecture: Advantages (Bass et. Al, 2012)</vt:lpstr>
      <vt:lpstr>System Architecture Model: Usage</vt:lpstr>
      <vt:lpstr>System / Software Architecture definitions (Hans Van Vliet, pg. 281)</vt:lpstr>
      <vt:lpstr>Software Architecture and SDLC (Hans Van Vliet,pg. 283)</vt:lpstr>
      <vt:lpstr>Architectural Design decisions</vt:lpstr>
      <vt:lpstr>Architectural views</vt:lpstr>
      <vt:lpstr>Architectural views (more disturbing than the eye of Sauron?)</vt:lpstr>
      <vt:lpstr>Architectural views</vt:lpstr>
      <vt:lpstr>Architectural views</vt:lpstr>
      <vt:lpstr>Architectural views</vt:lpstr>
      <vt:lpstr>Architectural views</vt:lpstr>
      <vt:lpstr> </vt:lpstr>
      <vt:lpstr>Introduction</vt:lpstr>
      <vt:lpstr>Architectural Patterns</vt:lpstr>
      <vt:lpstr>Model-View-Controller: A sample pattern</vt:lpstr>
      <vt:lpstr>Model-View-Controller: A sample pattern</vt:lpstr>
      <vt:lpstr>Model-View-Controller: A sample pattern</vt:lpstr>
      <vt:lpstr>Layered Architecture</vt:lpstr>
      <vt:lpstr>Layered Architecture</vt:lpstr>
      <vt:lpstr>Layered Architecture</vt:lpstr>
      <vt:lpstr>Layered Architecture</vt:lpstr>
      <vt:lpstr>Repository Architecture</vt:lpstr>
      <vt:lpstr>Repository Architecture – Simpler words?</vt:lpstr>
      <vt:lpstr>Repository Architecture</vt:lpstr>
      <vt:lpstr>Repository Architecture</vt:lpstr>
      <vt:lpstr>Repository Architecture – A more relatable example: GitHub</vt:lpstr>
      <vt:lpstr>Client Server Architecture</vt:lpstr>
      <vt:lpstr>Client Server Architecture</vt:lpstr>
      <vt:lpstr>Client Server Architecture</vt:lpstr>
      <vt:lpstr>Client Server Architecture</vt:lpstr>
      <vt:lpstr>Pipe and Filter Architecture</vt:lpstr>
      <vt:lpstr>Pipe and Filter Architecture</vt:lpstr>
      <vt:lpstr>Pipe and Filter Architecture</vt:lpstr>
      <vt:lpstr>Various patterns have overlapping features, how do I differentiate? T.T</vt:lpstr>
      <vt:lpstr>Various patterns have overlapping features, how do I differentiate? T.T</vt:lpstr>
      <vt:lpstr>When to use which? T.T</vt:lpstr>
      <vt:lpstr>Closing thoughts</vt:lpstr>
      <vt:lpstr>An example: University portal</vt:lpstr>
      <vt:lpstr>An example: University portal</vt:lpstr>
      <vt:lpstr>An example: University portal</vt:lpstr>
      <vt:lpstr>An example: University portal</vt:lpstr>
      <vt:lpstr>An example: University portal</vt:lpstr>
      <vt:lpstr>An example: University portal</vt:lpstr>
      <vt:lpstr>Comparison across architectures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NLP  CS 475</dc:title>
  <dc:creator>Avinash Arun Chauhan</dc:creator>
  <cp:revision>16</cp:revision>
  <dcterms:created xsi:type="dcterms:W3CDTF">2022-08-02T06:42:39Z</dcterms:created>
  <dcterms:modified xsi:type="dcterms:W3CDTF">2026-04-07T10:25:28Z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0x01010051834713A0238B47A82B49BB61910BB7</vt:lpwstr>
  </property>
</Properties>
</file>