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8"/>
  </p:notesMasterIdLst>
  <p:sldIdLst>
    <p:sldId id="256" r:id="rId5"/>
    <p:sldId id="343" r:id="rId6"/>
    <p:sldId id="416" r:id="rId7"/>
    <p:sldId id="445" r:id="rId8"/>
    <p:sldId id="452" r:id="rId9"/>
    <p:sldId id="446" r:id="rId10"/>
    <p:sldId id="447" r:id="rId11"/>
    <p:sldId id="451" r:id="rId12"/>
    <p:sldId id="448" r:id="rId13"/>
    <p:sldId id="450" r:id="rId14"/>
    <p:sldId id="449" r:id="rId15"/>
    <p:sldId id="363" r:id="rId16"/>
    <p:sldId id="42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09A0CF-0B01-8A40-2F78-B36F143A789B}" v="98" dt="2026-02-16T05:26:32.1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vinash Arun Chauhan" userId="S::avinash.chauhan@mahindrauniversity.edu.in::241b5f3e-36f4-4c61-9553-90e6a1c1b8a6" providerId="AD" clId="Web-{C909A0CF-0B01-8A40-2F78-B36F143A789B}"/>
    <pc:docChg chg="delSld modSld">
      <pc:chgData name="Avinash Arun Chauhan" userId="S::avinash.chauhan@mahindrauniversity.edu.in::241b5f3e-36f4-4c61-9553-90e6a1c1b8a6" providerId="AD" clId="Web-{C909A0CF-0B01-8A40-2F78-B36F143A789B}" dt="2026-02-16T05:26:26.616" v="94" actId="20577"/>
      <pc:docMkLst>
        <pc:docMk/>
      </pc:docMkLst>
      <pc:sldChg chg="modSp">
        <pc:chgData name="Avinash Arun Chauhan" userId="S::avinash.chauhan@mahindrauniversity.edu.in::241b5f3e-36f4-4c61-9553-90e6a1c1b8a6" providerId="AD" clId="Web-{C909A0CF-0B01-8A40-2F78-B36F143A789B}" dt="2026-02-16T04:59:24.114" v="32" actId="20577"/>
        <pc:sldMkLst>
          <pc:docMk/>
          <pc:sldMk cId="2224388889" sldId="416"/>
        </pc:sldMkLst>
        <pc:spChg chg="mod">
          <ac:chgData name="Avinash Arun Chauhan" userId="S::avinash.chauhan@mahindrauniversity.edu.in::241b5f3e-36f4-4c61-9553-90e6a1c1b8a6" providerId="AD" clId="Web-{C909A0CF-0B01-8A40-2F78-B36F143A789B}" dt="2026-02-16T04:59:24.114" v="32" actId="20577"/>
          <ac:spMkLst>
            <pc:docMk/>
            <pc:sldMk cId="2224388889" sldId="416"/>
            <ac:spMk id="3" creationId="{C7BC167F-F08D-BCB5-B4C1-0A7101E0F3C9}"/>
          </ac:spMkLst>
        </pc:spChg>
      </pc:sldChg>
      <pc:sldChg chg="del">
        <pc:chgData name="Avinash Arun Chauhan" userId="S::avinash.chauhan@mahindrauniversity.edu.in::241b5f3e-36f4-4c61-9553-90e6a1c1b8a6" providerId="AD" clId="Web-{C909A0CF-0B01-8A40-2F78-B36F143A789B}" dt="2026-02-16T04:58:58.301" v="0"/>
        <pc:sldMkLst>
          <pc:docMk/>
          <pc:sldMk cId="2769609335" sldId="444"/>
        </pc:sldMkLst>
      </pc:sldChg>
      <pc:sldChg chg="modSp">
        <pc:chgData name="Avinash Arun Chauhan" userId="S::avinash.chauhan@mahindrauniversity.edu.in::241b5f3e-36f4-4c61-9553-90e6a1c1b8a6" providerId="AD" clId="Web-{C909A0CF-0B01-8A40-2F78-B36F143A789B}" dt="2026-02-16T05:26:26.616" v="94" actId="20577"/>
        <pc:sldMkLst>
          <pc:docMk/>
          <pc:sldMk cId="777442966" sldId="446"/>
        </pc:sldMkLst>
        <pc:spChg chg="mod">
          <ac:chgData name="Avinash Arun Chauhan" userId="S::avinash.chauhan@mahindrauniversity.edu.in::241b5f3e-36f4-4c61-9553-90e6a1c1b8a6" providerId="AD" clId="Web-{C909A0CF-0B01-8A40-2F78-B36F143A789B}" dt="2026-02-16T05:26:26.616" v="94" actId="20577"/>
          <ac:spMkLst>
            <pc:docMk/>
            <pc:sldMk cId="777442966" sldId="446"/>
            <ac:spMk id="3" creationId="{C9C91DD5-5A04-01F3-E674-E34D52EC8249}"/>
          </ac:spMkLst>
        </pc:spChg>
      </pc:sldChg>
    </pc:docChg>
  </pc:docChgLst>
  <pc:docChgLst>
    <pc:chgData name="Avinash Arun Chauhan" userId="S::avinash.chauhan@mahindrauniversity.edu.in::241b5f3e-36f4-4c61-9553-90e6a1c1b8a6" providerId="AD" clId="Web-{7CB7BE57-8B07-66BB-3525-682AAE923B42}"/>
    <pc:docChg chg="addSld modSld">
      <pc:chgData name="Avinash Arun Chauhan" userId="S::avinash.chauhan@mahindrauniversity.edu.in::241b5f3e-36f4-4c61-9553-90e6a1c1b8a6" providerId="AD" clId="Web-{7CB7BE57-8B07-66BB-3525-682AAE923B42}" dt="2026-02-09T11:23:16.952" v="355" actId="20577"/>
      <pc:docMkLst>
        <pc:docMk/>
      </pc:docMkLst>
      <pc:sldChg chg="modSp">
        <pc:chgData name="Avinash Arun Chauhan" userId="S::avinash.chauhan@mahindrauniversity.edu.in::241b5f3e-36f4-4c61-9553-90e6a1c1b8a6" providerId="AD" clId="Web-{7CB7BE57-8B07-66BB-3525-682AAE923B42}" dt="2026-02-09T11:03:56.059" v="13" actId="20577"/>
        <pc:sldMkLst>
          <pc:docMk/>
          <pc:sldMk cId="3662289297" sldId="343"/>
        </pc:sldMkLst>
        <pc:spChg chg="mod">
          <ac:chgData name="Avinash Arun Chauhan" userId="S::avinash.chauhan@mahindrauniversity.edu.in::241b5f3e-36f4-4c61-9553-90e6a1c1b8a6" providerId="AD" clId="Web-{7CB7BE57-8B07-66BB-3525-682AAE923B42}" dt="2026-02-09T11:03:56.059" v="13" actId="20577"/>
          <ac:spMkLst>
            <pc:docMk/>
            <pc:sldMk cId="3662289297" sldId="343"/>
            <ac:spMk id="3" creationId="{712CE3DE-516D-536F-B692-856904E12035}"/>
          </ac:spMkLst>
        </pc:spChg>
      </pc:sldChg>
      <pc:sldChg chg="modSp">
        <pc:chgData name="Avinash Arun Chauhan" userId="S::avinash.chauhan@mahindrauniversity.edu.in::241b5f3e-36f4-4c61-9553-90e6a1c1b8a6" providerId="AD" clId="Web-{7CB7BE57-8B07-66BB-3525-682AAE923B42}" dt="2026-02-09T11:04:23.374" v="15" actId="20577"/>
        <pc:sldMkLst>
          <pc:docMk/>
          <pc:sldMk cId="2224388889" sldId="416"/>
        </pc:sldMkLst>
        <pc:spChg chg="mod">
          <ac:chgData name="Avinash Arun Chauhan" userId="S::avinash.chauhan@mahindrauniversity.edu.in::241b5f3e-36f4-4c61-9553-90e6a1c1b8a6" providerId="AD" clId="Web-{7CB7BE57-8B07-66BB-3525-682AAE923B42}" dt="2026-02-09T11:04:23.374" v="15" actId="20577"/>
          <ac:spMkLst>
            <pc:docMk/>
            <pc:sldMk cId="2224388889" sldId="416"/>
            <ac:spMk id="3" creationId="{C7BC167F-F08D-BCB5-B4C1-0A7101E0F3C9}"/>
          </ac:spMkLst>
        </pc:spChg>
      </pc:sldChg>
      <pc:sldChg chg="modSp">
        <pc:chgData name="Avinash Arun Chauhan" userId="S::avinash.chauhan@mahindrauniversity.edu.in::241b5f3e-36f4-4c61-9553-90e6a1c1b8a6" providerId="AD" clId="Web-{7CB7BE57-8B07-66BB-3525-682AAE923B42}" dt="2026-02-09T11:23:16.952" v="355" actId="20577"/>
        <pc:sldMkLst>
          <pc:docMk/>
          <pc:sldMk cId="2802681030" sldId="425"/>
        </pc:sldMkLst>
        <pc:spChg chg="mod">
          <ac:chgData name="Avinash Arun Chauhan" userId="S::avinash.chauhan@mahindrauniversity.edu.in::241b5f3e-36f4-4c61-9553-90e6a1c1b8a6" providerId="AD" clId="Web-{7CB7BE57-8B07-66BB-3525-682AAE923B42}" dt="2026-02-09T11:23:16.952" v="355" actId="20577"/>
          <ac:spMkLst>
            <pc:docMk/>
            <pc:sldMk cId="2802681030" sldId="425"/>
            <ac:spMk id="3" creationId="{5F1B5996-8BAC-958F-3C6A-8DE33772D6E7}"/>
          </ac:spMkLst>
        </pc:spChg>
      </pc:sldChg>
      <pc:sldChg chg="modSp">
        <pc:chgData name="Avinash Arun Chauhan" userId="S::avinash.chauhan@mahindrauniversity.edu.in::241b5f3e-36f4-4c61-9553-90e6a1c1b8a6" providerId="AD" clId="Web-{7CB7BE57-8B07-66BB-3525-682AAE923B42}" dt="2026-02-09T11:10:56.653" v="17" actId="20577"/>
        <pc:sldMkLst>
          <pc:docMk/>
          <pc:sldMk cId="777442966" sldId="446"/>
        </pc:sldMkLst>
        <pc:spChg chg="mod">
          <ac:chgData name="Avinash Arun Chauhan" userId="S::avinash.chauhan@mahindrauniversity.edu.in::241b5f3e-36f4-4c61-9553-90e6a1c1b8a6" providerId="AD" clId="Web-{7CB7BE57-8B07-66BB-3525-682AAE923B42}" dt="2026-02-09T11:10:56.653" v="17" actId="20577"/>
          <ac:spMkLst>
            <pc:docMk/>
            <pc:sldMk cId="777442966" sldId="446"/>
            <ac:spMk id="3" creationId="{C9C91DD5-5A04-01F3-E674-E34D52EC8249}"/>
          </ac:spMkLst>
        </pc:spChg>
      </pc:sldChg>
      <pc:sldChg chg="modSp">
        <pc:chgData name="Avinash Arun Chauhan" userId="S::avinash.chauhan@mahindrauniversity.edu.in::241b5f3e-36f4-4c61-9553-90e6a1c1b8a6" providerId="AD" clId="Web-{7CB7BE57-8B07-66BB-3525-682AAE923B42}" dt="2026-02-09T11:12:16.561" v="27" actId="20577"/>
        <pc:sldMkLst>
          <pc:docMk/>
          <pc:sldMk cId="2588250358" sldId="447"/>
        </pc:sldMkLst>
        <pc:spChg chg="mod">
          <ac:chgData name="Avinash Arun Chauhan" userId="S::avinash.chauhan@mahindrauniversity.edu.in::241b5f3e-36f4-4c61-9553-90e6a1c1b8a6" providerId="AD" clId="Web-{7CB7BE57-8B07-66BB-3525-682AAE923B42}" dt="2026-02-09T11:12:16.561" v="27" actId="20577"/>
          <ac:spMkLst>
            <pc:docMk/>
            <pc:sldMk cId="2588250358" sldId="447"/>
            <ac:spMk id="2" creationId="{7D6C27B0-26D0-945F-E361-4BACAC2619DE}"/>
          </ac:spMkLst>
        </pc:spChg>
      </pc:sldChg>
      <pc:sldChg chg="modSp">
        <pc:chgData name="Avinash Arun Chauhan" userId="S::avinash.chauhan@mahindrauniversity.edu.in::241b5f3e-36f4-4c61-9553-90e6a1c1b8a6" providerId="AD" clId="Web-{7CB7BE57-8B07-66BB-3525-682AAE923B42}" dt="2026-02-09T11:21:04.127" v="348" actId="20577"/>
        <pc:sldMkLst>
          <pc:docMk/>
          <pc:sldMk cId="3276880208" sldId="448"/>
        </pc:sldMkLst>
        <pc:spChg chg="mod">
          <ac:chgData name="Avinash Arun Chauhan" userId="S::avinash.chauhan@mahindrauniversity.edu.in::241b5f3e-36f4-4c61-9553-90e6a1c1b8a6" providerId="AD" clId="Web-{7CB7BE57-8B07-66BB-3525-682AAE923B42}" dt="2026-02-09T11:21:04.127" v="348" actId="20577"/>
          <ac:spMkLst>
            <pc:docMk/>
            <pc:sldMk cId="3276880208" sldId="448"/>
            <ac:spMk id="3" creationId="{6DB5866C-28FB-3973-1671-E04311580047}"/>
          </ac:spMkLst>
        </pc:spChg>
      </pc:sldChg>
      <pc:sldChg chg="modSp">
        <pc:chgData name="Avinash Arun Chauhan" userId="S::avinash.chauhan@mahindrauniversity.edu.in::241b5f3e-36f4-4c61-9553-90e6a1c1b8a6" providerId="AD" clId="Web-{7CB7BE57-8B07-66BB-3525-682AAE923B42}" dt="2026-02-09T11:21:39.646" v="350" actId="20577"/>
        <pc:sldMkLst>
          <pc:docMk/>
          <pc:sldMk cId="2975428961" sldId="449"/>
        </pc:sldMkLst>
        <pc:spChg chg="mod">
          <ac:chgData name="Avinash Arun Chauhan" userId="S::avinash.chauhan@mahindrauniversity.edu.in::241b5f3e-36f4-4c61-9553-90e6a1c1b8a6" providerId="AD" clId="Web-{7CB7BE57-8B07-66BB-3525-682AAE923B42}" dt="2026-02-09T11:21:39.646" v="350" actId="20577"/>
          <ac:spMkLst>
            <pc:docMk/>
            <pc:sldMk cId="2975428961" sldId="449"/>
            <ac:spMk id="3" creationId="{6158D993-5542-7846-3650-29F92404313F}"/>
          </ac:spMkLst>
        </pc:spChg>
      </pc:sldChg>
      <pc:sldChg chg="modSp add replId">
        <pc:chgData name="Avinash Arun Chauhan" userId="S::avinash.chauhan@mahindrauniversity.edu.in::241b5f3e-36f4-4c61-9553-90e6a1c1b8a6" providerId="AD" clId="Web-{7CB7BE57-8B07-66BB-3525-682AAE923B42}" dt="2026-02-09T11:17:17.393" v="341" actId="1076"/>
        <pc:sldMkLst>
          <pc:docMk/>
          <pc:sldMk cId="2248754137" sldId="451"/>
        </pc:sldMkLst>
        <pc:spChg chg="mod">
          <ac:chgData name="Avinash Arun Chauhan" userId="S::avinash.chauhan@mahindrauniversity.edu.in::241b5f3e-36f4-4c61-9553-90e6a1c1b8a6" providerId="AD" clId="Web-{7CB7BE57-8B07-66BB-3525-682AAE923B42}" dt="2026-02-09T11:12:33.733" v="59" actId="20577"/>
          <ac:spMkLst>
            <pc:docMk/>
            <pc:sldMk cId="2248754137" sldId="451"/>
            <ac:spMk id="2" creationId="{548DD31C-CF33-847A-DE3B-AC7E4AA0B3C4}"/>
          </ac:spMkLst>
        </pc:spChg>
        <pc:spChg chg="mod">
          <ac:chgData name="Avinash Arun Chauhan" userId="S::avinash.chauhan@mahindrauniversity.edu.in::241b5f3e-36f4-4c61-9553-90e6a1c1b8a6" providerId="AD" clId="Web-{7CB7BE57-8B07-66BB-3525-682AAE923B42}" dt="2026-02-09T11:17:17.393" v="341" actId="1076"/>
          <ac:spMkLst>
            <pc:docMk/>
            <pc:sldMk cId="2248754137" sldId="451"/>
            <ac:spMk id="3" creationId="{41C841F4-B1F5-0337-FEE5-FF449BC2221D}"/>
          </ac:spMkLst>
        </pc:spChg>
      </pc:sldChg>
    </pc:docChg>
  </pc:docChgLst>
  <pc:docChgLst>
    <pc:chgData name="Avinash Arun Chauhan" userId="S::avinash.chauhan@mahindrauniversity.edu.in::241b5f3e-36f4-4c61-9553-90e6a1c1b8a6" providerId="AD" clId="Web-{84931622-A2D3-33CF-9C39-E00085B30FA9}"/>
    <pc:docChg chg="addSld modSld sldOrd">
      <pc:chgData name="Avinash Arun Chauhan" userId="S::avinash.chauhan@mahindrauniversity.edu.in::241b5f3e-36f4-4c61-9553-90e6a1c1b8a6" providerId="AD" clId="Web-{84931622-A2D3-33CF-9C39-E00085B30FA9}" dt="2026-02-12T07:25:09.955" v="200" actId="20577"/>
      <pc:docMkLst>
        <pc:docMk/>
      </pc:docMkLst>
      <pc:sldChg chg="modSp">
        <pc:chgData name="Avinash Arun Chauhan" userId="S::avinash.chauhan@mahindrauniversity.edu.in::241b5f3e-36f4-4c61-9553-90e6a1c1b8a6" providerId="AD" clId="Web-{84931622-A2D3-33CF-9C39-E00085B30FA9}" dt="2026-02-12T07:25:09.955" v="200" actId="20577"/>
        <pc:sldMkLst>
          <pc:docMk/>
          <pc:sldMk cId="456028130" sldId="450"/>
        </pc:sldMkLst>
        <pc:spChg chg="mod">
          <ac:chgData name="Avinash Arun Chauhan" userId="S::avinash.chauhan@mahindrauniversity.edu.in::241b5f3e-36f4-4c61-9553-90e6a1c1b8a6" providerId="AD" clId="Web-{84931622-A2D3-33CF-9C39-E00085B30FA9}" dt="2026-02-12T07:25:09.955" v="200" actId="20577"/>
          <ac:spMkLst>
            <pc:docMk/>
            <pc:sldMk cId="456028130" sldId="450"/>
            <ac:spMk id="3" creationId="{9AC7E9E3-7A30-A776-A26C-B714AC159CC1}"/>
          </ac:spMkLst>
        </pc:spChg>
      </pc:sldChg>
      <pc:sldChg chg="addSp delSp modSp add ord replId">
        <pc:chgData name="Avinash Arun Chauhan" userId="S::avinash.chauhan@mahindrauniversity.edu.in::241b5f3e-36f4-4c61-9553-90e6a1c1b8a6" providerId="AD" clId="Web-{84931622-A2D3-33CF-9C39-E00085B30FA9}" dt="2026-02-12T07:20:30.510" v="168" actId="20577"/>
        <pc:sldMkLst>
          <pc:docMk/>
          <pc:sldMk cId="652197029" sldId="452"/>
        </pc:sldMkLst>
        <pc:spChg chg="mod">
          <ac:chgData name="Avinash Arun Chauhan" userId="S::avinash.chauhan@mahindrauniversity.edu.in::241b5f3e-36f4-4c61-9553-90e6a1c1b8a6" providerId="AD" clId="Web-{84931622-A2D3-33CF-9C39-E00085B30FA9}" dt="2026-02-12T07:20:30.510" v="168" actId="20577"/>
          <ac:spMkLst>
            <pc:docMk/>
            <pc:sldMk cId="652197029" sldId="452"/>
            <ac:spMk id="2" creationId="{5F554350-6FF9-A868-6A4F-DB372025BF34}"/>
          </ac:spMkLst>
        </pc:spChg>
        <pc:spChg chg="mod">
          <ac:chgData name="Avinash Arun Chauhan" userId="S::avinash.chauhan@mahindrauniversity.edu.in::241b5f3e-36f4-4c61-9553-90e6a1c1b8a6" providerId="AD" clId="Web-{84931622-A2D3-33CF-9C39-E00085B30FA9}" dt="2026-02-12T07:15:58.637" v="23" actId="20577"/>
          <ac:spMkLst>
            <pc:docMk/>
            <pc:sldMk cId="652197029" sldId="452"/>
            <ac:spMk id="3" creationId="{CA33718F-0E9A-80C2-F3B8-AC1C4D0E7350}"/>
          </ac:spMkLst>
        </pc:spChg>
        <pc:spChg chg="add mod">
          <ac:chgData name="Avinash Arun Chauhan" userId="S::avinash.chauhan@mahindrauniversity.edu.in::241b5f3e-36f4-4c61-9553-90e6a1c1b8a6" providerId="AD" clId="Web-{84931622-A2D3-33CF-9C39-E00085B30FA9}" dt="2026-02-12T07:19:31.881" v="138" actId="20577"/>
          <ac:spMkLst>
            <pc:docMk/>
            <pc:sldMk cId="652197029" sldId="452"/>
            <ac:spMk id="5" creationId="{44A88579-A1ED-151D-B7FB-F953F450AA26}"/>
          </ac:spMkLst>
        </pc:spChg>
        <pc:spChg chg="add del mod">
          <ac:chgData name="Avinash Arun Chauhan" userId="S::avinash.chauhan@mahindrauniversity.edu.in::241b5f3e-36f4-4c61-9553-90e6a1c1b8a6" providerId="AD" clId="Web-{84931622-A2D3-33CF-9C39-E00085B30FA9}" dt="2026-02-12T07:20:17.947" v="166" actId="20577"/>
          <ac:spMkLst>
            <pc:docMk/>
            <pc:sldMk cId="652197029" sldId="452"/>
            <ac:spMk id="9" creationId="{7311AD91-073C-F484-C5E7-5D2373DDC4E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28A5F4-8A54-40B7-994C-7C13036E170D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5A36BE-6307-4311-8670-04B167AD6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858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1. Novelty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/>
              <a:t>Many software projects involve new, untested ideas or emerging technologies.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Developers may lack prior experience or best practices to follow.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Unforeseen technical challenges and risks arise when working with novel concepts.</a:t>
            </a:r>
          </a:p>
          <a:p>
            <a:r>
              <a:rPr lang="en-US" b="1"/>
              <a:t>2. Changing Requirements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 dirty="0"/>
              <a:t>Stakeholders often refine or alter their needs as the project progresses.</a:t>
            </a:r>
            <a:endParaRPr lang="en-US" dirty="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dirty="0"/>
              <a:t>Changes can introduce inconsistencies, requiring rework and delaying progress.</a:t>
            </a:r>
            <a:endParaRPr lang="en-US" dirty="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dirty="0"/>
              <a:t>Agile methodologies help adapt to changes, but they still add complexity.</a:t>
            </a:r>
            <a:endParaRPr lang="en-US" dirty="0">
              <a:ea typeface="Calibri"/>
              <a:cs typeface="Calibri"/>
            </a:endParaRPr>
          </a:p>
          <a:p>
            <a:r>
              <a:rPr lang="en-US" b="1" dirty="0"/>
              <a:t>3. 5x Cost During Development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dirty="0"/>
              <a:t>Fixing defects, refactoring code, and modifying features are costly in later development stages.</a:t>
            </a:r>
          </a:p>
          <a:p>
            <a:pPr marL="171450" indent="-171450">
              <a:buFont typeface="Arial"/>
              <a:buChar char="•"/>
            </a:pPr>
            <a:r>
              <a:rPr lang="en-US" dirty="0"/>
              <a:t>Issues not caught in design or early coding phases require significantly more effort to correct.</a:t>
            </a:r>
          </a:p>
          <a:p>
            <a:pPr marL="171450" indent="-171450">
              <a:buFont typeface="Arial"/>
              <a:buChar char="•"/>
            </a:pPr>
            <a:r>
              <a:rPr lang="en-US" dirty="0"/>
              <a:t>Testing, debugging, and integrations demand additional resources.</a:t>
            </a:r>
          </a:p>
          <a:p>
            <a:r>
              <a:rPr lang="en-US" b="1" dirty="0"/>
              <a:t>4. Up to 100x Cost During Maintenance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dirty="0"/>
              <a:t>Bugs found after release require more effort to diagnose and fix in a live environment.</a:t>
            </a:r>
          </a:p>
          <a:p>
            <a:pPr marL="171450" indent="-171450">
              <a:buFont typeface="Arial"/>
              <a:buChar char="•"/>
            </a:pPr>
            <a:r>
              <a:rPr lang="en-US" dirty="0"/>
              <a:t>Legacy systems become harder to maintain as technology evolves and documentation decays.</a:t>
            </a:r>
          </a:p>
          <a:p>
            <a:pPr marL="171450" indent="-171450">
              <a:buFont typeface="Arial"/>
              <a:buChar char="•"/>
            </a:pPr>
            <a:r>
              <a:rPr lang="en-US" dirty="0"/>
              <a:t>Security updates, performance optimizations, and feature enhancements increase costs.</a:t>
            </a:r>
          </a:p>
          <a:p>
            <a:r>
              <a:rPr lang="en-US" b="1" dirty="0"/>
              <a:t>5. Hardware/Software Configuration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dirty="0"/>
              <a:t>Software must run on various hardware setups, operating systems, and third-party dependencies.</a:t>
            </a:r>
          </a:p>
          <a:p>
            <a:pPr marL="171450" indent="-171450">
              <a:buFont typeface="Arial"/>
              <a:buChar char="•"/>
            </a:pPr>
            <a:r>
              <a:rPr lang="en-US" dirty="0"/>
              <a:t>Compatibility issues arise, requiring extra testing and development effort.</a:t>
            </a:r>
          </a:p>
          <a:p>
            <a:pPr marL="171450" indent="-171450">
              <a:buFont typeface="Arial"/>
              <a:buChar char="•"/>
            </a:pPr>
            <a:r>
              <a:rPr lang="en-US" dirty="0"/>
              <a:t>Performance tuning depends on hardware capabilities, adding to complexity.</a:t>
            </a:r>
          </a:p>
          <a:p>
            <a:r>
              <a:rPr lang="en-US" b="1" dirty="0"/>
              <a:t>6. Security Requirements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dirty="0"/>
              <a:t>Applications need protection against hacking, data breaches, and malware.</a:t>
            </a:r>
          </a:p>
          <a:p>
            <a:pPr marL="171450" indent="-171450">
              <a:buFont typeface="Arial"/>
              <a:buChar char="•"/>
            </a:pPr>
            <a:r>
              <a:rPr lang="en-US" dirty="0"/>
              <a:t>Secure coding practices, encryption, and compliance with regulations (e.g., GDPR, HIPAA) add development overhead.</a:t>
            </a:r>
          </a:p>
          <a:p>
            <a:pPr marL="171450" indent="-171450">
              <a:buFont typeface="Arial"/>
              <a:buChar char="•"/>
            </a:pPr>
            <a:r>
              <a:rPr lang="en-US" dirty="0"/>
              <a:t>Security vulnerabilities can lead to severe financial and reputational damage.</a:t>
            </a:r>
          </a:p>
          <a:p>
            <a:r>
              <a:rPr lang="en-US" b="1" dirty="0"/>
              <a:t>7. Real-Time Requirements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dirty="0"/>
              <a:t>Some systems (e.g., autonomous vehicles, stock trading platforms) require immediate processing.</a:t>
            </a:r>
          </a:p>
          <a:p>
            <a:pPr marL="171450" indent="-171450">
              <a:buFont typeface="Arial"/>
              <a:buChar char="•"/>
            </a:pPr>
            <a:r>
              <a:rPr lang="en-US" dirty="0"/>
              <a:t>Optimizing for low-latency, deterministic execution adds technical challenges.</a:t>
            </a:r>
          </a:p>
          <a:p>
            <a:pPr marL="171450" indent="-171450">
              <a:buFont typeface="Arial"/>
              <a:buChar char="•"/>
            </a:pPr>
            <a:r>
              <a:rPr lang="en-US" dirty="0"/>
              <a:t>Failure to meet real-time constraints can cause catastrophic consequences.</a:t>
            </a:r>
          </a:p>
          <a:p>
            <a:r>
              <a:rPr lang="en-US" b="1" dirty="0"/>
              <a:t>8. Reliability Requirements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dirty="0"/>
              <a:t>Critical systems (e.g., healthcare, aviation) must function with minimal downtime.</a:t>
            </a:r>
          </a:p>
          <a:p>
            <a:pPr marL="171450" indent="-171450">
              <a:buFont typeface="Arial"/>
              <a:buChar char="•"/>
            </a:pPr>
            <a:r>
              <a:rPr lang="en-US" dirty="0"/>
              <a:t>High availability, fault tolerance, and disaster recovery planning are required.</a:t>
            </a:r>
          </a:p>
          <a:p>
            <a:pPr marL="171450" indent="-171450">
              <a:buFont typeface="Arial"/>
              <a:buChar char="•"/>
            </a:pPr>
            <a:r>
              <a:rPr lang="en-US" dirty="0"/>
              <a:t>Rigorous testing (e.g., stress testing, failover simulations) increases development complexity.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350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25AFE-5E40-4692-E0B9-47FFDF0F4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FFD040-4E57-2C16-9C09-C27192176A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19974C-445E-0B29-4333-01AB3155EC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BB3A8-CB71-79B5-2F64-91EA0F3014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5886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0D7F2-39DA-CA58-C0E9-E74F09F46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3A18FA-2AC2-67B6-4043-AAE5319501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DDFDA8-5D39-0B94-F4D2-6A053E4C4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AD347-0D98-F822-4565-DD6931744F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3575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4011C-EACE-1D52-F2FF-637CA82EA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0AB13E-ABCD-4A93-D0BB-86441F88E4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B976AD-8AE1-F605-F4DD-BABC502D1B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0AD1B-9E48-73CD-C003-2A46D00B50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6021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99F7F-1E08-0EE7-EEE8-FAA2908B4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FDB45-0885-ABDF-FE28-35B121364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301828-F943-0D60-353F-E0D2549BB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3072C-DA19-0898-8E38-8E051F8862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5009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9B414-5199-7A9A-AD8A-30BC182CB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4C113E-0432-EEA1-842F-21D440113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294DF5-CE3B-3B19-E3D8-C6D08AC19E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198E2C-8E1E-E30B-893E-37BD389382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269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9D0C8-C284-AA54-2370-2A7C9A8D9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622863-A6F3-1093-4840-17FAFA5ED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3A3776-43DF-5134-7330-200E0F5CE4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94045-0AB6-410E-F938-BFD02B636F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2513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1FBAD-1A81-5EE1-15A7-218C7FD12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11A670-4275-6881-199F-3ED73C1B25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8206C4-32DF-A1F1-82C8-2CE5561778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2020B-01F7-D291-07E1-41AD98CAC1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4521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A8284-D32B-403A-FF97-9E8D55916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B1248A-6B63-9A89-45D8-041B0A6C3B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B4DCD6-E8BE-FADA-F4BD-8377ADD7D7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7E26E-7DED-7692-397A-C820BA693D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6478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C03A7-7C30-E807-473B-9A06E8F02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6DE45C-99BA-BA88-E867-8979CEC42D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1886F5-6820-9C16-AC2E-BABB715E8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70B7F-B61F-84F7-14CF-694DB1D49B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8081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6289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B354A-43D0-6AC3-1B92-120FA7A5A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13556C-50FE-0773-21C4-257E0F627B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79EDAF-42EB-2E3F-30FD-AB32F2CD7D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E23A8-F49B-448F-9972-DC68584B09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782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159E9-470B-4B8D-A9EB-CE8AF5FBB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AB98EB-266D-4DF3-A1C8-8FFFE70454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AD7FD-8146-4C92-B9C4-ABE3EDEB1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DCD19-635A-4F0C-A4D6-DCB11EE4711D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E42B6-D644-4AA7-B4E2-53DBAD7EF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AC68A-C2CE-47FA-BD3B-6AD5EDA23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593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50891-51D6-4C6E-8AB0-50690D5D4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F29A5-AEEE-446F-B62D-BD46C6B0C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43C36-C898-4C6E-97BC-0AE2998EB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470BA-D41E-437D-A225-B0D8986DE2C4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E89BF-AA6A-4CD1-AA42-45937EB05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5DC2B-9622-4D9B-A836-9C9CE22A7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992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0BC1F-CD2C-49A7-870C-07CC91760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C7702-4100-4CC3-A19F-474F03564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9C34D-B46E-470D-AD50-B9B038ABF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78E2B-208F-4B34-9A15-6955A3621029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D28AE-EBFC-4649-8128-2B57674BC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C87D2-79FD-40C2-B5D3-73BEFDD63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85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F8DF4-CC57-4331-BAB2-274B7F4FD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4484E-6336-4F19-9BD1-3B91D85B7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2305B-61F6-40D5-8511-22A203F9B2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A3351C-4BD8-4A76-A84D-D27D42D70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B34A0-0F7C-4A42-A80B-69A32453D234}" type="datetime1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6FA23-7C56-4373-97A9-C1E426909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B55C23-B74E-4564-83EB-E08011972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285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EF3C4-0090-4478-811F-9CEEEDF30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55BC3-728A-4215-938B-9F1E55DDA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9E5F37-172D-4DDD-8695-70423D0791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6C32F7-387C-48A9-8ED2-88A2E7CD45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A15BBF-7552-4D05-B395-22949E2233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303D83-2EA3-43C4-8C34-C2EEB16DB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126E-3B88-4036-9F2D-FB7969B45F4A}" type="datetime1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ED1FE8-F889-4A72-BCC1-50806FA11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3B86BC-226A-4A98-951A-01BC13DB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176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21E2B-54B4-4FD9-BC1F-9E86C9F08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BDDD7E-C2A1-425A-9C02-69453F7A5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84BB-C434-4F3E-BD0C-56FCD0B24816}" type="datetime1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2E4A64-28DA-4BCB-903B-0C2AB5DD4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62EF47-4BAF-438E-BFF8-6C806F186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790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42DD21-4658-405D-B2C3-9B85D3D77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BBA68-3361-4BBC-8467-F2FA7738ABD3}" type="datetime1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8F90DF-D196-4982-9379-A12FD1999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CC7654-80F7-4116-966D-2D3D2BC2A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158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29B0E-9BD9-44D9-9399-CB449D112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051D0-651F-4845-8890-5B610674D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582CB8-8E30-4092-BCE6-75EE6CE567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DC2B3-BBD0-4E62-99CD-DCB9D3F5E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3D98D-6704-4670-8FDC-09111D656BD4}" type="datetime1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1A16E1-26F2-4022-9090-75A0FEB23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AF83AA-1CE6-4EEA-8163-A440E285C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790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22C12-A56B-46B7-9523-4E7765EBA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818F4B-7FBD-449C-9D81-7D2921375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D3098B-08EB-4860-ACC2-E8D7BEB69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AD0008-6CA4-4B93-8BDC-7B7AA42F6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7458-5FA4-458B-AACF-1E599ACFA24A}" type="datetime1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E3AF11-361E-4FC8-B142-5CFE9169A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A3C41B-7EB8-4600-BEBB-0A45CF654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128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47D78-2A6F-4D0E-822D-7539139C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D071C0-3DC6-4B14-9F13-2FB2DD426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B5082-8A34-496B-8055-45C8486F1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94FA3-AC9C-4633-82C6-62F4B42E9A78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C4C49-FC80-44C6-AC99-7EF245F8F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B58D9-582A-4781-9C1A-4D75E5074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642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AB2E5F-7BB4-42F5-B4AA-7F999C225F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130C69-8C0C-4E02-AB30-8518634C9F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9A658-BB07-4BF1-B2A6-B1BA2897B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74142-9EFA-4C85-84A3-BE41724A2D18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DF58F-2272-487B-A973-40A781C3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02C37-591F-410C-B5AA-8C515F26C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061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61D8EC-B3EC-45B8-80A9-EB2955321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E5CB1-9A52-407D-9714-6B719FE97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07748-238B-4EDD-8118-BD7336FFF0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EB07D-1FD2-40D5-B059-0935C37A919D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277D7-910E-4130-B9EE-C5EFBB05E5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Operating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DCC63-9F16-4EEB-858E-FC2CFC17CF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728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ware-engineering-book.com/web/feasibility-study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870F2-A17E-4535-8ECE-F608007055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11835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Software Engineering</a:t>
            </a:r>
            <a:br>
              <a:rPr lang="en-US" dirty="0"/>
            </a:br>
            <a:r>
              <a:rPr lang="en-US" sz="4000" dirty="0"/>
              <a:t>(CS3201)</a:t>
            </a:r>
            <a:br>
              <a:rPr lang="en-US" sz="4000" dirty="0">
                <a:ea typeface="Calibri Light"/>
                <a:cs typeface="Calibri Light"/>
              </a:rPr>
            </a:br>
            <a:r>
              <a:rPr lang="en-US" sz="2500" dirty="0">
                <a:ea typeface="Calibri Light"/>
                <a:cs typeface="Calibri Light"/>
              </a:rPr>
              <a:t>Software Requirements</a:t>
            </a:r>
            <a:br>
              <a:rPr lang="en-US" dirty="0"/>
            </a:br>
            <a:endParaRPr lang="en-US" sz="4000">
              <a:cs typeface="Calibri Ligh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5A8E92-73AA-4E3A-9516-63C46A8A43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60626"/>
            <a:ext cx="9144000" cy="1655762"/>
          </a:xfrm>
        </p:spPr>
        <p:txBody>
          <a:bodyPr/>
          <a:lstStyle/>
          <a:p>
            <a:r>
              <a:rPr lang="en-US"/>
              <a:t>Avinash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6C0CC1-7E7A-46BB-AEDF-E956EA6F0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7575" y="5235388"/>
            <a:ext cx="527685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275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CB0E3-725D-C667-8357-C0B2090AD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Calibri Light"/>
              </a:rPr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CE3DE-516D-536F-B692-856904E12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328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ea typeface="Calibri" panose="020F0502020204030204"/>
                <a:cs typeface="Calibri"/>
              </a:rPr>
              <a:t>The Requirements</a:t>
            </a:r>
            <a:r>
              <a:rPr lang="en-US" sz="2400" dirty="0">
                <a:ea typeface="+mn-lt"/>
                <a:cs typeface="+mn-lt"/>
              </a:rPr>
              <a:t> for a system are the </a:t>
            </a:r>
            <a:r>
              <a:rPr lang="en-US" sz="2400" u="sng" dirty="0">
                <a:highlight>
                  <a:srgbClr val="FFFF00"/>
                </a:highlight>
                <a:ea typeface="+mn-lt"/>
                <a:cs typeface="+mn-lt"/>
              </a:rPr>
              <a:t>descriptions</a:t>
            </a:r>
            <a:r>
              <a:rPr lang="en-US" sz="2400" dirty="0">
                <a:ea typeface="+mn-lt"/>
                <a:cs typeface="+mn-lt"/>
              </a:rPr>
              <a:t> of the </a:t>
            </a:r>
            <a:r>
              <a:rPr lang="en-US" sz="2400" u="sng" dirty="0">
                <a:highlight>
                  <a:srgbClr val="FFFF00"/>
                </a:highlight>
                <a:ea typeface="+mn-lt"/>
                <a:cs typeface="+mn-lt"/>
              </a:rPr>
              <a:t>services that a system should provide</a:t>
            </a:r>
            <a:r>
              <a:rPr lang="en-US" sz="2400" dirty="0">
                <a:ea typeface="+mn-lt"/>
                <a:cs typeface="+mn-lt"/>
              </a:rPr>
              <a:t> and the </a:t>
            </a:r>
            <a:r>
              <a:rPr lang="en-US" sz="2400" u="sng" dirty="0">
                <a:highlight>
                  <a:srgbClr val="FFFF00"/>
                </a:highlight>
                <a:ea typeface="+mn-lt"/>
                <a:cs typeface="+mn-lt"/>
              </a:rPr>
              <a:t>constraints on its operation</a:t>
            </a:r>
          </a:p>
          <a:p>
            <a:r>
              <a:rPr lang="en-US" sz="2400" dirty="0">
                <a:ea typeface="+mn-lt"/>
                <a:cs typeface="+mn-lt"/>
              </a:rPr>
              <a:t>Requirements reflect the </a:t>
            </a:r>
            <a:r>
              <a:rPr lang="en-US" sz="2400" dirty="0">
                <a:highlight>
                  <a:srgbClr val="FFFF00"/>
                </a:highlight>
                <a:ea typeface="+mn-lt"/>
                <a:cs typeface="+mn-lt"/>
              </a:rPr>
              <a:t>needs of customers</a:t>
            </a:r>
          </a:p>
          <a:p>
            <a:r>
              <a:rPr lang="en-US" sz="2400" dirty="0">
                <a:ea typeface="+mn-lt"/>
                <a:cs typeface="+mn-lt"/>
              </a:rPr>
              <a:t>The process of </a:t>
            </a:r>
            <a:r>
              <a:rPr lang="en-US" sz="2400" u="sng" dirty="0">
                <a:highlight>
                  <a:srgbClr val="FFFF00"/>
                </a:highlight>
                <a:ea typeface="+mn-lt"/>
                <a:cs typeface="+mn-lt"/>
              </a:rPr>
              <a:t>finding out, analyzing, documenting</a:t>
            </a:r>
            <a:r>
              <a:rPr lang="en-US" sz="2400" dirty="0">
                <a:ea typeface="+mn-lt"/>
                <a:cs typeface="+mn-lt"/>
              </a:rPr>
              <a:t> and </a:t>
            </a:r>
            <a:r>
              <a:rPr lang="en-US" sz="2400" u="sng" dirty="0">
                <a:highlight>
                  <a:srgbClr val="FFFF00"/>
                </a:highlight>
                <a:ea typeface="+mn-lt"/>
                <a:cs typeface="+mn-lt"/>
              </a:rPr>
              <a:t>checking (the feasibility)</a:t>
            </a:r>
            <a:r>
              <a:rPr lang="en-US" sz="2400" dirty="0">
                <a:ea typeface="+mn-lt"/>
                <a:cs typeface="+mn-lt"/>
              </a:rPr>
              <a:t> of these </a:t>
            </a:r>
            <a:r>
              <a:rPr lang="en-US" sz="2400" u="sng" dirty="0">
                <a:highlight>
                  <a:srgbClr val="FFFF00"/>
                </a:highlight>
                <a:ea typeface="+mn-lt"/>
                <a:cs typeface="+mn-lt"/>
              </a:rPr>
              <a:t>services and constraints</a:t>
            </a:r>
            <a:r>
              <a:rPr lang="en-US" sz="2400" dirty="0">
                <a:ea typeface="+mn-lt"/>
                <a:cs typeface="+mn-lt"/>
              </a:rPr>
              <a:t> is called </a:t>
            </a:r>
            <a:r>
              <a:rPr lang="en-US" sz="2400" u="sng" dirty="0">
                <a:highlight>
                  <a:srgbClr val="FFFF00"/>
                </a:highlight>
                <a:ea typeface="+mn-lt"/>
                <a:cs typeface="+mn-lt"/>
              </a:rPr>
              <a:t>requirements engineering (RE)</a:t>
            </a:r>
          </a:p>
          <a:p>
            <a:r>
              <a:rPr lang="en-US" sz="2400" dirty="0">
                <a:ea typeface="+mn-lt"/>
                <a:cs typeface="+mn-lt"/>
              </a:rPr>
              <a:t>The term 'requirement' is not used consistently in the industry</a:t>
            </a:r>
          </a:p>
          <a:p>
            <a:pPr lvl="1"/>
            <a:r>
              <a:rPr lang="en-US" sz="2000" dirty="0">
                <a:ea typeface="+mn-lt"/>
                <a:cs typeface="+mn-lt"/>
              </a:rPr>
              <a:t>Sometimes, it is a </a:t>
            </a:r>
            <a:r>
              <a:rPr lang="en-US" sz="2000" dirty="0">
                <a:highlight>
                  <a:srgbClr val="FFFF00"/>
                </a:highlight>
                <a:ea typeface="+mn-lt"/>
                <a:cs typeface="+mn-lt"/>
              </a:rPr>
              <a:t>high-level, abstract</a:t>
            </a:r>
            <a:r>
              <a:rPr lang="en-US" sz="2000" dirty="0">
                <a:ea typeface="+mn-lt"/>
                <a:cs typeface="+mn-lt"/>
              </a:rPr>
              <a:t> statement of service</a:t>
            </a:r>
          </a:p>
          <a:p>
            <a:pPr lvl="1"/>
            <a:r>
              <a:rPr lang="en-US" sz="2000" dirty="0">
                <a:ea typeface="+mn-lt"/>
                <a:cs typeface="+mn-lt"/>
              </a:rPr>
              <a:t>Other times, it can be a </a:t>
            </a:r>
            <a:r>
              <a:rPr lang="en-US" sz="2000" dirty="0">
                <a:highlight>
                  <a:srgbClr val="FFFF00"/>
                </a:highlight>
                <a:ea typeface="+mn-lt"/>
                <a:cs typeface="+mn-lt"/>
              </a:rPr>
              <a:t>detailed and formal</a:t>
            </a:r>
            <a:r>
              <a:rPr lang="en-US" sz="2000" dirty="0">
                <a:ea typeface="+mn-lt"/>
                <a:cs typeface="+mn-lt"/>
              </a:rPr>
              <a:t> definition of a system function</a:t>
            </a:r>
          </a:p>
          <a:p>
            <a:r>
              <a:rPr lang="en-US" sz="2400" dirty="0">
                <a:ea typeface="+mn-lt"/>
                <a:cs typeface="+mn-lt"/>
              </a:rPr>
              <a:t>Both these types of requirement specification may be the 'Requirements document' for a system</a:t>
            </a:r>
          </a:p>
          <a:p>
            <a:r>
              <a:rPr lang="en-US" sz="2400" dirty="0">
                <a:ea typeface="+mn-lt"/>
                <a:cs typeface="+mn-lt"/>
              </a:rPr>
              <a:t>These two types of requirements are distinguished using the terms </a:t>
            </a:r>
            <a:r>
              <a:rPr lang="en-US" sz="2400" b="1" dirty="0">
                <a:highlight>
                  <a:srgbClr val="FFFF00"/>
                </a:highlight>
                <a:ea typeface="+mn-lt"/>
                <a:cs typeface="+mn-lt"/>
              </a:rPr>
              <a:t>user requirements</a:t>
            </a:r>
            <a:r>
              <a:rPr lang="en-US" sz="2400" dirty="0">
                <a:ea typeface="+mn-lt"/>
                <a:cs typeface="+mn-lt"/>
              </a:rPr>
              <a:t> and </a:t>
            </a:r>
            <a:r>
              <a:rPr lang="en-US" sz="2400" b="1" dirty="0">
                <a:highlight>
                  <a:srgbClr val="FFFF00"/>
                </a:highlight>
                <a:ea typeface="+mn-lt"/>
                <a:cs typeface="+mn-lt"/>
              </a:rPr>
              <a:t>system requirements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0555E800-2223-AF22-E951-44D69BACA0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C99DEC-B44B-1624-CFBC-9DF6B8ADF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2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811D016-3943-EBA3-F0C3-BEF56A19A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3662289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AE63D-778A-492C-3492-FC5FADB42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BE30F-58CD-0074-BDA2-90774FCF0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Calibri Light"/>
              </a:rPr>
              <a:t>User Requirements and System Requirements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C167F-F08D-BCB5-B4C1-0A7101E0F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328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 panose="020F0502020204030204"/>
                <a:cs typeface="Calibri"/>
              </a:rPr>
              <a:t>User Requirements</a:t>
            </a:r>
          </a:p>
          <a:p>
            <a:pPr marL="685800">
              <a:spcBef>
                <a:spcPts val="500"/>
              </a:spcBef>
            </a:pPr>
            <a:r>
              <a:rPr lang="en-US" sz="2400" dirty="0">
                <a:ea typeface="+mn-lt"/>
                <a:cs typeface="+mn-lt"/>
              </a:rPr>
              <a:t>User requirements are statements, in a </a:t>
            </a:r>
            <a:r>
              <a:rPr lang="en-US" sz="2400" u="sng" dirty="0">
                <a:highlight>
                  <a:srgbClr val="FFFF00"/>
                </a:highlight>
                <a:ea typeface="+mn-lt"/>
                <a:cs typeface="+mn-lt"/>
              </a:rPr>
              <a:t>natural language plus diagrams</a:t>
            </a:r>
            <a:r>
              <a:rPr lang="en-US" sz="2400" dirty="0">
                <a:ea typeface="+mn-lt"/>
                <a:cs typeface="+mn-lt"/>
              </a:rPr>
              <a:t>, of what services the system is expected to provide to system users and the constraints (under which it should operate)</a:t>
            </a:r>
          </a:p>
          <a:p>
            <a:pPr>
              <a:spcBef>
                <a:spcPts val="500"/>
              </a:spcBef>
            </a:pPr>
            <a:r>
              <a:rPr lang="en-US" dirty="0">
                <a:ea typeface="Calibri" panose="020F0502020204030204"/>
                <a:cs typeface="Calibri"/>
              </a:rPr>
              <a:t>System Requirements</a:t>
            </a:r>
          </a:p>
          <a:p>
            <a:pPr lvl="1"/>
            <a:r>
              <a:rPr lang="en-US" dirty="0">
                <a:ea typeface="+mn-lt"/>
                <a:cs typeface="+mn-lt"/>
              </a:rPr>
              <a:t>System requirements are </a:t>
            </a:r>
            <a:r>
              <a:rPr lang="en-US" u="sng" dirty="0">
                <a:highlight>
                  <a:srgbClr val="FFFF00"/>
                </a:highlight>
                <a:ea typeface="+mn-lt"/>
                <a:cs typeface="+mn-lt"/>
              </a:rPr>
              <a:t>more detailed descriptions</a:t>
            </a:r>
            <a:r>
              <a:rPr lang="en-US" dirty="0">
                <a:ea typeface="+mn-lt"/>
                <a:cs typeface="+mn-lt"/>
              </a:rPr>
              <a:t> of the software system’s functions, services, and operational constraints. The system requirements document (sometimes called a functional specification) should define exactly what is to be implemented</a:t>
            </a:r>
          </a:p>
          <a:p>
            <a:pPr lvl="1"/>
            <a:endParaRPr lang="en-US" dirty="0">
              <a:ea typeface="Calibri" panose="020F0502020204030204"/>
              <a:cs typeface="Calibri"/>
            </a:endParaRPr>
          </a:p>
          <a:p>
            <a:r>
              <a:rPr lang="en-US" dirty="0">
                <a:ea typeface="Calibri" panose="020F0502020204030204"/>
                <a:cs typeface="Calibri"/>
              </a:rPr>
              <a:t>Different kind of requirements are needed for different kinds of readers (Customers and managers speak one language, dev other)</a:t>
            </a:r>
          </a:p>
          <a:p>
            <a:pPr lvl="1"/>
            <a:endParaRPr lang="en-GB">
              <a:ea typeface="Calibri" panose="020F0502020204030204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C90B77B7-82A1-6262-5680-E2B2E35C0D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ACB0FE3-F9A5-9B5A-01C4-B0DD3B62D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3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36187E4-7162-A349-F58A-B7AE9A16C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2224388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2BD59-A09B-1F33-DB25-08F0D6F4F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470EF-3870-4DEE-FE4D-FDD88DB9F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Calibri Light"/>
              </a:rPr>
              <a:t>Example: User and System Requirements</a:t>
            </a:r>
            <a:endParaRPr lang="en-US" dirty="0"/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55A39B14-1294-DB16-6A4A-A544CABF65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C32D1CE-59B2-F617-C37C-9033AF95E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4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D21354A-27F3-9BD3-0B52-0DCF3103E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pic>
        <p:nvPicPr>
          <p:cNvPr id="5" name="Content Placeholder 4" descr="A screenshot of a medical report&#10;&#10;AI-generated content may be incorrect.">
            <a:extLst>
              <a:ext uri="{FF2B5EF4-FFF2-40B4-BE49-F238E27FC236}">
                <a16:creationId xmlns:a16="http://schemas.microsoft.com/office/drawing/2014/main" id="{AC35DB32-A49B-3894-0E83-4BB8C2342B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338508" y="1250531"/>
            <a:ext cx="7529360" cy="5602168"/>
          </a:xfrm>
        </p:spPr>
      </p:pic>
    </p:spTree>
    <p:extLst>
      <p:ext uri="{BB962C8B-B14F-4D97-AF65-F5344CB8AC3E}">
        <p14:creationId xmlns:p14="http://schemas.microsoft.com/office/powerpoint/2010/main" val="2145789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9498A-6809-90FA-30FB-13E100965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54350-6FF9-A868-6A4F-DB372025B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 Light"/>
                <a:cs typeface="Calibri Light"/>
              </a:rPr>
              <a:t>Example 2: User and System requirements (Sustainable shopping app)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3718F-0E9A-80C2-F3B8-AC1C4D0E7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328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pPr lvl="1"/>
            <a:endParaRPr lang="en-GB">
              <a:ea typeface="Calibri" panose="020F0502020204030204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8D22694D-2686-7CA4-0FF1-77DBAD2CA3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1422B3-8DAB-DAFA-ECCA-2EFAB644A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5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565F891-F7B3-4DFA-A531-6B1127665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A88579-A1ED-151D-B7FB-F953F450AA26}"/>
              </a:ext>
            </a:extLst>
          </p:cNvPr>
          <p:cNvSpPr txBox="1"/>
          <p:nvPr/>
        </p:nvSpPr>
        <p:spPr>
          <a:xfrm>
            <a:off x="721743" y="1739979"/>
            <a:ext cx="5367866" cy="4801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u="sng" dirty="0">
                <a:ea typeface="Calibri"/>
                <a:cs typeface="Calibri"/>
              </a:rPr>
              <a:t>User Requirements</a:t>
            </a:r>
            <a:endParaRPr lang="en-US" b="1" u="sng" dirty="0"/>
          </a:p>
          <a:p>
            <a:r>
              <a:rPr lang="en-US" dirty="0"/>
              <a:t>1. Barcode Scanning: The</a:t>
            </a:r>
            <a:r>
              <a:rPr lang="en-US" dirty="0">
                <a:ea typeface="+mn-lt"/>
                <a:cs typeface="+mn-lt"/>
              </a:rPr>
              <a:t> user should be able to scan a product barcode and see its sustainability rating.</a:t>
            </a:r>
            <a:endParaRPr lang="en-US">
              <a:ea typeface="Calibri"/>
              <a:cs typeface="Calibri"/>
            </a:endParaRPr>
          </a:p>
          <a:p>
            <a:br>
              <a:rPr lang="en-US" dirty="0">
                <a:ea typeface="Calibri"/>
                <a:cs typeface="Calibri"/>
              </a:rPr>
            </a:br>
            <a:r>
              <a:rPr lang="en-US" dirty="0"/>
              <a:t>2. Sustainability Information: The</a:t>
            </a:r>
            <a:r>
              <a:rPr lang="en-US" dirty="0">
                <a:ea typeface="+mn-lt"/>
                <a:cs typeface="+mn-lt"/>
              </a:rPr>
              <a:t> user should be able to see environmental impact details of a product (carbon footprint, recyclability, ethical sourcing).</a:t>
            </a:r>
            <a:endParaRPr lang="en-US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3. Eco-Friendly Alternatives: The</a:t>
            </a:r>
            <a:r>
              <a:rPr lang="en-US" dirty="0">
                <a:ea typeface="+mn-lt"/>
                <a:cs typeface="+mn-lt"/>
              </a:rPr>
              <a:t> app should suggest more sustainable alternatives for scanned products.</a:t>
            </a:r>
            <a:endParaRPr lang="en-US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4. Bill Analysis: The</a:t>
            </a:r>
            <a:r>
              <a:rPr lang="en-US" dirty="0">
                <a:ea typeface="+mn-lt"/>
                <a:cs typeface="+mn-lt"/>
              </a:rPr>
              <a:t> user should be able to upload or scan a supermarket bill and get an ecological footprint summary.</a:t>
            </a:r>
            <a:endParaRPr lang="en-US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5. Personal Impact Tracking: The</a:t>
            </a:r>
            <a:r>
              <a:rPr lang="en-US" dirty="0">
                <a:ea typeface="+mn-lt"/>
                <a:cs typeface="+mn-lt"/>
              </a:rPr>
              <a:t> user should be able to track their sustainability score over time.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11AD91-073C-F484-C5E7-5D2373DDC4E4}"/>
              </a:ext>
            </a:extLst>
          </p:cNvPr>
          <p:cNvSpPr txBox="1"/>
          <p:nvPr/>
        </p:nvSpPr>
        <p:spPr>
          <a:xfrm>
            <a:off x="6271402" y="1739978"/>
            <a:ext cx="5367866" cy="4801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u="sng" dirty="0">
                <a:ea typeface="Calibri"/>
                <a:cs typeface="Calibri"/>
              </a:rPr>
              <a:t>System Requirements</a:t>
            </a:r>
            <a:endParaRPr lang="en-US" b="1" u="sng" dirty="0"/>
          </a:p>
          <a:p>
            <a:r>
              <a:rPr lang="en-US" dirty="0"/>
              <a:t>Barcode Scanning: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SR1.1: The</a:t>
            </a:r>
            <a:r>
              <a:rPr lang="en-US" dirty="0">
                <a:ea typeface="+mn-lt"/>
                <a:cs typeface="+mn-lt"/>
              </a:rPr>
              <a:t> system shall allow users to scan EAN-13 and UPC-A barcodes using the mobile device camera.</a:t>
            </a:r>
            <a:endParaRPr lang="en-US" dirty="0"/>
          </a:p>
          <a:p>
            <a:r>
              <a:rPr lang="en-US" dirty="0"/>
              <a:t>SR1.2: The</a:t>
            </a:r>
            <a:r>
              <a:rPr lang="en-US" dirty="0">
                <a:ea typeface="+mn-lt"/>
                <a:cs typeface="+mn-lt"/>
              </a:rPr>
              <a:t> system shall retrieve product data from the sustainability database within 3 seconds of a successful scan.</a:t>
            </a:r>
            <a:endParaRPr lang="en-US" dirty="0"/>
          </a:p>
          <a:p>
            <a:r>
              <a:rPr lang="en-US" dirty="0"/>
              <a:t>SR1.3: </a:t>
            </a:r>
            <a:r>
              <a:rPr lang="en-US" dirty="0">
                <a:ea typeface="+mn-lt"/>
                <a:cs typeface="+mn-lt"/>
              </a:rPr>
              <a:t>If the barcode is not found, the system shall display “Product not available in database.”</a:t>
            </a:r>
            <a:endParaRPr lang="en-US">
              <a:ea typeface="Calibri"/>
              <a:cs typeface="Calibri"/>
            </a:endParaRPr>
          </a:p>
          <a:p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ea typeface="Calibri" panose="020F0502020204030204"/>
                <a:cs typeface="Calibri" panose="020F0502020204030204"/>
              </a:rPr>
              <a:t>Sustainability information:</a:t>
            </a:r>
          </a:p>
          <a:p>
            <a:r>
              <a:rPr lang="en-US" dirty="0"/>
              <a:t>SR2.1: The</a:t>
            </a:r>
            <a:r>
              <a:rPr lang="en-US" dirty="0">
                <a:ea typeface="+mn-lt"/>
                <a:cs typeface="+mn-lt"/>
              </a:rPr>
              <a:t> system shall display: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Carbon footprint (kg CO₂ equivalent per unit)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Packaging recyclability percentage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Ethical sourcing score (1–10 scale)</a:t>
            </a:r>
            <a:endParaRPr lang="en-US" dirty="0"/>
          </a:p>
          <a:p>
            <a:r>
              <a:rPr lang="en-US" dirty="0"/>
              <a:t>SR2.2: The</a:t>
            </a:r>
            <a:r>
              <a:rPr lang="en-US" dirty="0">
                <a:ea typeface="+mn-lt"/>
                <a:cs typeface="+mn-lt"/>
              </a:rPr>
              <a:t> system shall show a sustainability rating on a 0–100 scale.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197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A6464-9F10-77DC-8088-37F9BF653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25B14-6802-638A-74CD-EA0FA198F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 Light"/>
                <a:cs typeface="Calibri Light"/>
              </a:rPr>
              <a:t>System stakeholders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91DD5-5A04-01F3-E674-E34D52EC8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328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The</a:t>
            </a:r>
            <a:r>
              <a:rPr lang="en-US" dirty="0">
                <a:ea typeface="+mn-lt"/>
                <a:cs typeface="+mn-lt"/>
              </a:rPr>
              <a:t> different types of document readers (managers, clients, developers, etc.) are examples of system stakeholders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+mn-lt"/>
                <a:cs typeface="+mn-lt"/>
              </a:rPr>
              <a:t>System stakeholders include </a:t>
            </a:r>
            <a:r>
              <a:rPr lang="en-US" dirty="0">
                <a:highlight>
                  <a:srgbClr val="FFFF00"/>
                </a:highlight>
                <a:ea typeface="+mn-lt"/>
                <a:cs typeface="+mn-lt"/>
              </a:rPr>
              <a:t>anyone who is affected by the system in some way</a:t>
            </a:r>
            <a:r>
              <a:rPr lang="en-US" dirty="0">
                <a:ea typeface="+mn-lt"/>
                <a:cs typeface="+mn-lt"/>
              </a:rPr>
              <a:t> and so </a:t>
            </a:r>
            <a:r>
              <a:rPr lang="en-US" dirty="0">
                <a:highlight>
                  <a:srgbClr val="FFFF00"/>
                </a:highlight>
                <a:ea typeface="+mn-lt"/>
                <a:cs typeface="+mn-lt"/>
              </a:rPr>
              <a:t>anyone who has a legitimate interest</a:t>
            </a:r>
            <a:r>
              <a:rPr lang="en-US" dirty="0">
                <a:ea typeface="+mn-lt"/>
                <a:cs typeface="+mn-lt"/>
              </a:rPr>
              <a:t> in it or is impacted by it</a:t>
            </a:r>
            <a:endParaRPr lang="en-US" dirty="0">
              <a:ea typeface="Calibri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A78D20D8-336A-C80C-CCBF-A1BF7FF287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B59F770-3857-1BBD-EEF9-338305545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A8FD325-23BE-2990-6914-B3D3FCCB0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777442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B409B-0477-EE48-7246-98729EE07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C27B0-26D0-945F-E361-4BACAC261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 Light"/>
                <a:cs typeface="Calibri Light"/>
              </a:rPr>
              <a:t>Example: Stakeholders for </a:t>
            </a:r>
            <a:r>
              <a:rPr lang="en-GB" dirty="0" err="1">
                <a:ea typeface="Calibri Light"/>
                <a:cs typeface="Calibri Light"/>
              </a:rPr>
              <a:t>Mentcare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6784A-462D-7063-5460-BA5275B46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800"/>
            <a:ext cx="10515600" cy="528993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b="1" dirty="0">
                <a:ea typeface="+mn-lt"/>
                <a:cs typeface="+mn-lt"/>
              </a:rPr>
              <a:t>Patients</a:t>
            </a:r>
            <a:r>
              <a:rPr lang="en-US" dirty="0">
                <a:ea typeface="+mn-lt"/>
                <a:cs typeface="+mn-lt"/>
              </a:rPr>
              <a:t> whose information is recorded and </a:t>
            </a:r>
            <a:r>
              <a:rPr lang="en-US" b="1" dirty="0">
                <a:ea typeface="+mn-lt"/>
                <a:cs typeface="+mn-lt"/>
              </a:rPr>
              <a:t>relatives</a:t>
            </a:r>
            <a:r>
              <a:rPr lang="en-US" dirty="0">
                <a:ea typeface="+mn-lt"/>
                <a:cs typeface="+mn-lt"/>
              </a:rPr>
              <a:t> of these patients</a:t>
            </a:r>
          </a:p>
          <a:p>
            <a:r>
              <a:rPr lang="en-US" b="1" dirty="0">
                <a:ea typeface="+mn-lt"/>
                <a:cs typeface="+mn-lt"/>
              </a:rPr>
              <a:t>Doctors</a:t>
            </a:r>
            <a:r>
              <a:rPr lang="en-US" dirty="0">
                <a:ea typeface="+mn-lt"/>
                <a:cs typeface="+mn-lt"/>
              </a:rPr>
              <a:t> who are responsible for assessing and treating patients</a:t>
            </a:r>
          </a:p>
          <a:p>
            <a:r>
              <a:rPr lang="en-US" b="1" dirty="0">
                <a:ea typeface="+mn-lt"/>
                <a:cs typeface="+mn-lt"/>
              </a:rPr>
              <a:t>Nurses</a:t>
            </a:r>
            <a:r>
              <a:rPr lang="en-US" dirty="0">
                <a:ea typeface="+mn-lt"/>
                <a:cs typeface="+mn-lt"/>
              </a:rPr>
              <a:t> who coordinate the consultations with doctors and administer some treatments</a:t>
            </a:r>
          </a:p>
          <a:p>
            <a:r>
              <a:rPr lang="en-US" b="1" dirty="0">
                <a:ea typeface="+mn-lt"/>
                <a:cs typeface="+mn-lt"/>
              </a:rPr>
              <a:t>Medical receptionists</a:t>
            </a:r>
            <a:r>
              <a:rPr lang="en-US" dirty="0">
                <a:ea typeface="+mn-lt"/>
                <a:cs typeface="+mn-lt"/>
              </a:rPr>
              <a:t> who manage patients’ appointments</a:t>
            </a:r>
          </a:p>
          <a:p>
            <a:r>
              <a:rPr lang="en-US" b="1" dirty="0">
                <a:ea typeface="+mn-lt"/>
                <a:cs typeface="+mn-lt"/>
              </a:rPr>
              <a:t>IT staff</a:t>
            </a:r>
            <a:r>
              <a:rPr lang="en-US" dirty="0">
                <a:ea typeface="+mn-lt"/>
                <a:cs typeface="+mn-lt"/>
              </a:rPr>
              <a:t> who are responsible for installing and maintaining the system</a:t>
            </a:r>
          </a:p>
          <a:p>
            <a:r>
              <a:rPr lang="en-US" dirty="0">
                <a:ea typeface="+mn-lt"/>
                <a:cs typeface="+mn-lt"/>
              </a:rPr>
              <a:t>A </a:t>
            </a:r>
            <a:r>
              <a:rPr lang="en-US" b="1" dirty="0">
                <a:ea typeface="+mn-lt"/>
                <a:cs typeface="+mn-lt"/>
              </a:rPr>
              <a:t>medical ethics manager</a:t>
            </a:r>
            <a:r>
              <a:rPr lang="en-US" dirty="0">
                <a:ea typeface="+mn-lt"/>
                <a:cs typeface="+mn-lt"/>
              </a:rPr>
              <a:t> who must ensure that the system meets current ethical guidelines for patient care (confidentiality, informed consent, etc.)</a:t>
            </a:r>
          </a:p>
          <a:p>
            <a:r>
              <a:rPr lang="en-US" b="1" dirty="0">
                <a:ea typeface="+mn-lt"/>
                <a:cs typeface="+mn-lt"/>
              </a:rPr>
              <a:t>Health care managers</a:t>
            </a:r>
            <a:r>
              <a:rPr lang="en-US" dirty="0">
                <a:ea typeface="+mn-lt"/>
                <a:cs typeface="+mn-lt"/>
              </a:rPr>
              <a:t> who obtain management information from the system</a:t>
            </a:r>
          </a:p>
          <a:p>
            <a:r>
              <a:rPr lang="en-US" b="1" dirty="0">
                <a:ea typeface="+mn-lt"/>
                <a:cs typeface="+mn-lt"/>
              </a:rPr>
              <a:t>Medical records staff</a:t>
            </a:r>
            <a:r>
              <a:rPr lang="en-US" dirty="0">
                <a:ea typeface="+mn-lt"/>
                <a:cs typeface="+mn-lt"/>
              </a:rPr>
              <a:t> who are responsible for ensuring that system information can be maintained and preserved, and that record keeping procedures have been properly implemented</a:t>
            </a:r>
            <a:endParaRPr lang="en-US" dirty="0">
              <a:ea typeface="Calibri"/>
              <a:cs typeface="Calibri"/>
            </a:endParaRPr>
          </a:p>
          <a:p>
            <a:pPr lvl="1"/>
            <a:endParaRPr lang="en-GB">
              <a:ea typeface="Calibri" panose="020F0502020204030204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77F06849-2ECD-23D7-031D-4C9607413D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4E7387-2183-434A-2975-487703F67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7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A50184-7A5E-E24E-31DB-437C2F695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2588250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CDB09-8DD1-4959-D71B-E89548253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DD31C-CF33-847A-DE3B-AC7E4AA0B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 Light"/>
                <a:cs typeface="Calibri Light"/>
              </a:rPr>
              <a:t>Example: Stakeholders for Sustainable Shopping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841F4-B1F5-0337-FEE5-FF449BC22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9083"/>
            <a:ext cx="10515600" cy="52899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End users/ app users </a:t>
            </a:r>
            <a:r>
              <a:rPr lang="en-US" dirty="0">
                <a:ea typeface="+mn-lt"/>
                <a:cs typeface="+mn-lt"/>
              </a:rPr>
              <a:t> who install and use the app (primary stakeholders)</a:t>
            </a:r>
          </a:p>
          <a:p>
            <a:r>
              <a:rPr lang="en-US" b="1" dirty="0">
                <a:ea typeface="+mn-lt"/>
                <a:cs typeface="+mn-lt"/>
              </a:rPr>
              <a:t>Supermarkets</a:t>
            </a:r>
            <a:r>
              <a:rPr lang="en-US" dirty="0">
                <a:ea typeface="+mn-lt"/>
                <a:cs typeface="+mn-lt"/>
              </a:rPr>
              <a:t> who integrate their catalog with the app</a:t>
            </a:r>
          </a:p>
          <a:p>
            <a:r>
              <a:rPr lang="en-US" b="1" dirty="0">
                <a:ea typeface="+mn-lt"/>
                <a:cs typeface="+mn-lt"/>
              </a:rPr>
              <a:t>Sustainability data providers</a:t>
            </a:r>
            <a:r>
              <a:rPr lang="en-US" dirty="0">
                <a:ea typeface="+mn-lt"/>
                <a:cs typeface="+mn-lt"/>
              </a:rPr>
              <a:t> who provide sustainable ratings data</a:t>
            </a:r>
          </a:p>
          <a:p>
            <a:r>
              <a:rPr lang="en-US" b="1" dirty="0">
                <a:ea typeface="+mn-lt"/>
                <a:cs typeface="+mn-lt"/>
              </a:rPr>
              <a:t>App owners/ Product team</a:t>
            </a:r>
            <a:r>
              <a:rPr lang="en-US" dirty="0">
                <a:ea typeface="+mn-lt"/>
                <a:cs typeface="+mn-lt"/>
              </a:rPr>
              <a:t> who designed the app</a:t>
            </a:r>
          </a:p>
          <a:p>
            <a:r>
              <a:rPr lang="en-US" b="1" dirty="0">
                <a:ea typeface="+mn-lt"/>
                <a:cs typeface="+mn-lt"/>
              </a:rPr>
              <a:t>Technology providers</a:t>
            </a:r>
            <a:r>
              <a:rPr lang="en-US" dirty="0">
                <a:ea typeface="+mn-lt"/>
                <a:cs typeface="+mn-lt"/>
              </a:rPr>
              <a:t> who provide third party bar code scanning API</a:t>
            </a:r>
          </a:p>
          <a:p>
            <a:r>
              <a:rPr lang="en-US" b="1" dirty="0">
                <a:ea typeface="+mn-lt"/>
                <a:cs typeface="+mn-lt"/>
              </a:rPr>
              <a:t>Advertisers &amp; partners</a:t>
            </a:r>
            <a:r>
              <a:rPr lang="en-US" dirty="0">
                <a:ea typeface="+mn-lt"/>
                <a:cs typeface="+mn-lt"/>
              </a:rPr>
              <a:t> who showcase their sustainable products using our app</a:t>
            </a:r>
          </a:p>
          <a:p>
            <a:r>
              <a:rPr lang="en-US" b="1" dirty="0">
                <a:ea typeface="+mn-lt"/>
                <a:cs typeface="+mn-lt"/>
              </a:rPr>
              <a:t>Society and environment </a:t>
            </a:r>
            <a:r>
              <a:rPr lang="en-US" dirty="0">
                <a:ea typeface="+mn-lt"/>
                <a:cs typeface="+mn-lt"/>
              </a:rPr>
              <a:t>who are benefited by people using the app </a:t>
            </a:r>
            <a:r>
              <a:rPr lang="en-US">
                <a:ea typeface="+mn-lt"/>
                <a:cs typeface="+mn-lt"/>
              </a:rPr>
              <a:t>(these are the indirect stakeholders)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464445D5-769F-3C6D-3BA5-7D1DB3E70B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D9F1FF4-7E1D-4246-E9C3-F510A4C94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8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74BFF73-0ED6-27CB-6DEE-BB88481A8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2248754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73921-DB83-721D-FADF-4F2DDB47F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25433-8362-77B9-EAD3-D85958493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 Light"/>
                <a:cs typeface="Calibri Light"/>
              </a:rPr>
              <a:t>Requirements Engineering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5866C-28FB-3973-1671-E04311580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800"/>
            <a:ext cx="10515600" cy="52899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Requirements engineering is </a:t>
            </a:r>
            <a:r>
              <a:rPr lang="en-US" u="sng" dirty="0">
                <a:highlight>
                  <a:srgbClr val="FFFF00"/>
                </a:highlight>
                <a:ea typeface="+mn-lt"/>
                <a:cs typeface="+mn-lt"/>
              </a:rPr>
              <a:t>usually presented as the first stage</a:t>
            </a:r>
            <a:r>
              <a:rPr lang="en-US" dirty="0">
                <a:ea typeface="+mn-lt"/>
                <a:cs typeface="+mn-lt"/>
              </a:rPr>
              <a:t> of the software engineering process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Before committing to system development, a </a:t>
            </a:r>
            <a:r>
              <a:rPr lang="en-US" dirty="0">
                <a:highlight>
                  <a:srgbClr val="FFFF00"/>
                </a:highlight>
                <a:ea typeface="+mn-lt"/>
                <a:cs typeface="+mn-lt"/>
              </a:rPr>
              <a:t>preliminary understanding of requirements</a:t>
            </a:r>
            <a:r>
              <a:rPr lang="en-US" dirty="0">
                <a:ea typeface="+mn-lt"/>
                <a:cs typeface="+mn-lt"/>
              </a:rPr>
              <a:t> is needed to form a high-level view of system functionality and benefits, </a:t>
            </a:r>
            <a:r>
              <a:rPr lang="en-US" dirty="0">
                <a:highlight>
                  <a:srgbClr val="FFFF00"/>
                </a:highlight>
                <a:ea typeface="+mn-lt"/>
                <a:cs typeface="+mn-lt"/>
              </a:rPr>
              <a:t>enabling informed decision-making about feasibility and investment</a:t>
            </a:r>
            <a:r>
              <a:rPr lang="en-US" dirty="0">
                <a:ea typeface="+mn-lt"/>
                <a:cs typeface="+mn-lt"/>
              </a:rPr>
              <a:t>. </a:t>
            </a:r>
          </a:p>
          <a:p>
            <a:r>
              <a:rPr lang="en-US" dirty="0">
                <a:ea typeface="+mn-lt"/>
                <a:cs typeface="+mn-lt"/>
              </a:rPr>
              <a:t>These may then be considered in a </a:t>
            </a:r>
            <a:r>
              <a:rPr lang="en-US" b="1" dirty="0">
                <a:highlight>
                  <a:srgbClr val="FFFF00"/>
                </a:highlight>
                <a:ea typeface="+mn-lt"/>
                <a:cs typeface="+mn-lt"/>
              </a:rPr>
              <a:t>feasibility study</a:t>
            </a:r>
            <a:r>
              <a:rPr lang="en-US" dirty="0">
                <a:ea typeface="+mn-lt"/>
                <a:cs typeface="+mn-lt"/>
              </a:rPr>
              <a:t>, which tries to </a:t>
            </a:r>
            <a:r>
              <a:rPr lang="en-US" dirty="0">
                <a:highlight>
                  <a:srgbClr val="FFFF00"/>
                </a:highlight>
                <a:ea typeface="+mn-lt"/>
                <a:cs typeface="+mn-lt"/>
              </a:rPr>
              <a:t>assess whether or not the system is technically and financially feasible</a:t>
            </a:r>
            <a:endParaRPr lang="en-US">
              <a:highlight>
                <a:srgbClr val="FFFF00"/>
              </a:highlight>
              <a:ea typeface="Calibri" panose="020F0502020204030204"/>
              <a:cs typeface="Calibri"/>
            </a:endParaRPr>
          </a:p>
          <a:p>
            <a:r>
              <a:rPr lang="en-US" dirty="0">
                <a:ea typeface="Calibri" panose="020F0502020204030204"/>
                <a:cs typeface="Calibri"/>
              </a:rPr>
              <a:t>Help decide whether to </a:t>
            </a:r>
            <a:r>
              <a:rPr lang="en-US" u="sng" dirty="0">
                <a:ea typeface="Calibri" panose="020F0502020204030204"/>
                <a:cs typeface="Calibri"/>
              </a:rPr>
              <a:t>procure or develop (or drop)</a:t>
            </a:r>
            <a:r>
              <a:rPr lang="en-US" dirty="0">
                <a:ea typeface="Calibri" panose="020F0502020204030204"/>
                <a:cs typeface="Calibri"/>
              </a:rPr>
              <a:t> the system</a:t>
            </a:r>
          </a:p>
          <a:p>
            <a:pPr lvl="1"/>
            <a:endParaRPr lang="en-GB">
              <a:ea typeface="Calibri" panose="020F0502020204030204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14DBC024-984A-5F6D-2579-7F014A3E8C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ED31399-F11B-BAA0-9798-E6E3D4556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9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ED75E64-AF15-BFB0-C86A-F233318C0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3276880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FAC8D-46C2-339B-7399-76A8EF1E7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45A68-11A2-656B-E82E-E3789AA68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 Light"/>
                <a:cs typeface="Calibri Light"/>
              </a:rPr>
              <a:t>Requirements Engineering - breakdown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7E9E3-7A30-A776-A26C-B714AC159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800"/>
            <a:ext cx="10515600" cy="52899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Understand the Needs</a:t>
            </a:r>
            <a:r>
              <a:rPr lang="en-US" dirty="0">
                <a:ea typeface="+mn-lt"/>
                <a:cs typeface="+mn-lt"/>
              </a:rPr>
              <a:t> → Talk to users &amp; stakeholders to know what they want</a:t>
            </a:r>
          </a:p>
          <a:p>
            <a:r>
              <a:rPr lang="en-US" b="1" dirty="0">
                <a:ea typeface="+mn-lt"/>
                <a:cs typeface="+mn-lt"/>
              </a:rPr>
              <a:t>Define Requirements</a:t>
            </a:r>
            <a:r>
              <a:rPr lang="en-US" dirty="0">
                <a:ea typeface="+mn-lt"/>
                <a:cs typeface="+mn-lt"/>
              </a:rPr>
              <a:t> → Clearly describe what the system should do</a:t>
            </a:r>
          </a:p>
          <a:p>
            <a:r>
              <a:rPr lang="en-US" b="1" dirty="0">
                <a:ea typeface="+mn-lt"/>
                <a:cs typeface="+mn-lt"/>
              </a:rPr>
              <a:t>Check Feasibility</a:t>
            </a:r>
            <a:r>
              <a:rPr lang="en-US" dirty="0">
                <a:ea typeface="+mn-lt"/>
                <a:cs typeface="+mn-lt"/>
              </a:rPr>
              <a:t> → Ask whether requirements are realistic &amp; achievable?</a:t>
            </a:r>
          </a:p>
          <a:p>
            <a:r>
              <a:rPr lang="en-US" b="1" dirty="0">
                <a:ea typeface="+mn-lt"/>
                <a:cs typeface="+mn-lt"/>
              </a:rPr>
              <a:t>Document Everything</a:t>
            </a:r>
            <a:r>
              <a:rPr lang="en-US" dirty="0">
                <a:ea typeface="+mn-lt"/>
                <a:cs typeface="+mn-lt"/>
              </a:rPr>
              <a:t> → Write down the requirements in a structured way</a:t>
            </a:r>
          </a:p>
          <a:p>
            <a:r>
              <a:rPr lang="en-US" b="1" dirty="0">
                <a:ea typeface="+mn-lt"/>
                <a:cs typeface="+mn-lt"/>
              </a:rPr>
              <a:t>Manage Changes</a:t>
            </a:r>
            <a:r>
              <a:rPr lang="en-US" dirty="0">
                <a:ea typeface="+mn-lt"/>
                <a:cs typeface="+mn-lt"/>
              </a:rPr>
              <a:t> → Update requirements if needs change during development (even waterfall allows change, but change is controlled, expensive, formal and time consuming)</a:t>
            </a:r>
          </a:p>
          <a:p>
            <a:pPr lvl="1"/>
            <a:endParaRPr lang="en-GB">
              <a:ea typeface="Calibri" panose="020F0502020204030204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64515FD6-9E4B-BF81-F0AC-3E3643EE7A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5C1C644-1E74-F87B-1BD9-D06F89B3D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10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B6374AB-A210-76A3-810B-CEBE5E5A8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456028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8AF08-5B2C-E791-D1AB-336F8582F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D8602-5445-ACF1-48D4-ECCA7025D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 Light"/>
                <a:cs typeface="Calibri Light"/>
              </a:rPr>
              <a:t>Feasibility Studies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8D993-5542-7846-3650-29F924043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800"/>
            <a:ext cx="10515600" cy="52899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"A feasibility study is a short, focused study that should take place early in the RE process. It should answer three key questions: (1) Does the system contribute to the overall objectives of the organization? (2) Can the </a:t>
            </a:r>
            <a:r>
              <a:rPr lang="en-US" u="sng" dirty="0">
                <a:highlight>
                  <a:srgbClr val="FFFF00"/>
                </a:highlight>
                <a:ea typeface="+mn-lt"/>
                <a:cs typeface="+mn-lt"/>
              </a:rPr>
              <a:t>system be implemented within schedule and budget using current technology</a:t>
            </a:r>
            <a:r>
              <a:rPr lang="en-US" dirty="0">
                <a:ea typeface="+mn-lt"/>
                <a:cs typeface="+mn-lt"/>
              </a:rPr>
              <a:t>? and (3) </a:t>
            </a:r>
            <a:r>
              <a:rPr lang="en-US" u="sng" dirty="0">
                <a:highlight>
                  <a:srgbClr val="FFFF00"/>
                </a:highlight>
                <a:ea typeface="+mn-lt"/>
                <a:cs typeface="+mn-lt"/>
              </a:rPr>
              <a:t>Can the system be integrated with other systems</a:t>
            </a:r>
            <a:r>
              <a:rPr lang="en-US" dirty="0">
                <a:ea typeface="+mn-lt"/>
                <a:cs typeface="+mn-lt"/>
              </a:rPr>
              <a:t> that are used? If the answer to any of these questions is no, you should probably not go ahead with the project."</a:t>
            </a:r>
            <a:endParaRPr lang="en-US" dirty="0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/>
            </a:endParaRPr>
          </a:p>
          <a:p>
            <a:r>
              <a:rPr lang="en-US" dirty="0">
                <a:ea typeface="Calibri" panose="020F0502020204030204"/>
                <a:cs typeface="Calibri"/>
              </a:rPr>
              <a:t>Sommerville (Software Engineering, web sections) - </a:t>
            </a:r>
            <a:r>
              <a:rPr lang="en-US" dirty="0">
                <a:ea typeface="Calibri" panose="020F0502020204030204"/>
                <a:cs typeface="Calibri"/>
                <a:hlinkClick r:id="rId3"/>
              </a:rPr>
              <a:t>feasibility study</a:t>
            </a:r>
            <a:endParaRPr lang="en-US" dirty="0">
              <a:ea typeface="Calibri" panose="020F0502020204030204"/>
              <a:cs typeface="Calibri"/>
            </a:endParaRPr>
          </a:p>
          <a:p>
            <a:pPr lvl="1"/>
            <a:endParaRPr lang="en-GB">
              <a:ea typeface="Calibri" panose="020F0502020204030204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7B9CCB97-DB74-93AE-0971-34B172C077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A6C6999-B411-0567-647E-73A4973F1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11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97AA8D4-9E6A-5929-6922-0A39A5FA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2975428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CB0E3-725D-C667-8357-C0B2090AD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CE3DE-516D-536F-B692-856904E12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328"/>
            <a:ext cx="10515600" cy="46331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r>
              <a:rPr lang="en-US" sz="4000" dirty="0">
                <a:ea typeface="Calibri"/>
                <a:cs typeface="Calibri"/>
              </a:rPr>
              <a:t>Functional and Non-functional Requirements</a:t>
            </a: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endParaRPr lang="en-GB">
              <a:ea typeface="Calibri" panose="020F0502020204030204"/>
              <a:cs typeface="Calibri"/>
            </a:endParaRPr>
          </a:p>
          <a:p>
            <a:pPr lvl="1"/>
            <a:endParaRPr lang="en-GB">
              <a:ea typeface="Calibri" panose="020F0502020204030204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0555E800-2223-AF22-E951-44D69BACA0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C99DEC-B44B-1624-CFBC-9DF6B8ADF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12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811D016-3943-EBA3-F0C3-BEF56A19A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3396591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3AFA5-A56D-A6C0-9DA0-6EBA42217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B7D4-FAF1-9FC4-48E2-D32C47D54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 Light"/>
                <a:cs typeface="Calibri Light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B5996-8BAC-958F-3C6A-8DE33772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328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Software system requirements are often classified as functional or non-functional requirements</a:t>
            </a:r>
            <a:endParaRPr lang="en-US" dirty="0">
              <a:ea typeface="Calibri" panose="020F0502020204030204"/>
              <a:cs typeface="Calibri"/>
            </a:endParaRPr>
          </a:p>
          <a:p>
            <a:pPr lvl="1"/>
            <a:r>
              <a:rPr lang="en-US" b="1" u="sng" dirty="0">
                <a:ea typeface="Calibri" panose="020F0502020204030204"/>
                <a:cs typeface="Calibri"/>
              </a:rPr>
              <a:t>Functional Requirements</a:t>
            </a:r>
            <a:r>
              <a:rPr lang="en-US" dirty="0">
                <a:ea typeface="Calibri" panose="020F0502020204030204"/>
                <a:cs typeface="Calibri"/>
              </a:rPr>
              <a:t>: </a:t>
            </a:r>
            <a:r>
              <a:rPr lang="en-US" dirty="0">
                <a:ea typeface="+mn-lt"/>
                <a:cs typeface="+mn-lt"/>
              </a:rPr>
              <a:t>These are </a:t>
            </a:r>
            <a:r>
              <a:rPr lang="en-US" dirty="0">
                <a:highlight>
                  <a:srgbClr val="FFFF00"/>
                </a:highlight>
                <a:ea typeface="+mn-lt"/>
                <a:cs typeface="+mn-lt"/>
              </a:rPr>
              <a:t>statements of services the system should provide, how the system should react to particular inputs, and how the system should behave in particular situations</a:t>
            </a:r>
            <a:r>
              <a:rPr lang="en-US" dirty="0">
                <a:ea typeface="+mn-lt"/>
                <a:cs typeface="+mn-lt"/>
              </a:rPr>
              <a:t>. In some cases, the functional requirements may also explicitly state what the system should not do</a:t>
            </a:r>
          </a:p>
          <a:p>
            <a:pPr lvl="1"/>
            <a:endParaRPr lang="en-US" dirty="0">
              <a:ea typeface="Calibri" panose="020F0502020204030204"/>
              <a:cs typeface="Calibri"/>
            </a:endParaRPr>
          </a:p>
          <a:p>
            <a:pPr lvl="1"/>
            <a:r>
              <a:rPr lang="en-US" b="1" u="sng" dirty="0">
                <a:ea typeface="Calibri" panose="020F0502020204030204"/>
                <a:cs typeface="Calibri"/>
              </a:rPr>
              <a:t>Non-functional Requirements</a:t>
            </a:r>
            <a:r>
              <a:rPr lang="en-US" dirty="0">
                <a:ea typeface="Calibri" panose="020F0502020204030204"/>
                <a:cs typeface="Calibri"/>
              </a:rPr>
              <a:t>: </a:t>
            </a:r>
            <a:r>
              <a:rPr lang="en-US" dirty="0">
                <a:ea typeface="+mn-lt"/>
                <a:cs typeface="+mn-lt"/>
              </a:rPr>
              <a:t>These are </a:t>
            </a:r>
            <a:r>
              <a:rPr lang="en-US" dirty="0">
                <a:highlight>
                  <a:srgbClr val="FFFF00"/>
                </a:highlight>
                <a:ea typeface="+mn-lt"/>
                <a:cs typeface="+mn-lt"/>
              </a:rPr>
              <a:t>constraints on the services or functions offered by the system</a:t>
            </a:r>
            <a:r>
              <a:rPr lang="en-US" dirty="0">
                <a:ea typeface="+mn-lt"/>
                <a:cs typeface="+mn-lt"/>
              </a:rPr>
              <a:t>. They include timing constraints, constraints on the development process, and constraints imposed by standards. Non-functional requirements </a:t>
            </a:r>
            <a:r>
              <a:rPr lang="en-US" dirty="0">
                <a:highlight>
                  <a:srgbClr val="FFFF00"/>
                </a:highlight>
                <a:ea typeface="+mn-lt"/>
                <a:cs typeface="+mn-lt"/>
              </a:rPr>
              <a:t>often apply to the system as a whole rather than individual system features</a:t>
            </a:r>
            <a:r>
              <a:rPr lang="en-US" dirty="0">
                <a:ea typeface="+mn-lt"/>
                <a:cs typeface="+mn-lt"/>
              </a:rPr>
              <a:t> or services</a:t>
            </a:r>
            <a:endParaRPr lang="en-US" dirty="0">
              <a:ea typeface="Calibri" panose="020F0502020204030204"/>
              <a:cs typeface="Calibri"/>
            </a:endParaRPr>
          </a:p>
          <a:p>
            <a:endParaRPr lang="en-US" dirty="0">
              <a:ea typeface="Calibri" panose="020F0502020204030204"/>
              <a:cs typeface="Calibri"/>
            </a:endParaRPr>
          </a:p>
          <a:p>
            <a:endParaRPr lang="en-US" dirty="0">
              <a:ea typeface="Calibri" panose="020F0502020204030204"/>
              <a:cs typeface="Calibri"/>
            </a:endParaRPr>
          </a:p>
          <a:p>
            <a:pPr lvl="1"/>
            <a:endParaRPr lang="en-GB">
              <a:ea typeface="Calibri" panose="020F0502020204030204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CBBA8AAA-7FA6-92CA-EDEE-75F559415D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51B4D-A1D1-5911-8E08-F1375AEF7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13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21092A-DC48-2A26-D045-0ADE5F2C7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2802681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834713A0238B47A82B49BB61910BB7" ma:contentTypeVersion="4" ma:contentTypeDescription="Create a new document." ma:contentTypeScope="" ma:versionID="6d4706a53c2ea577fa6530616b401942">
  <xsd:schema xmlns:xsd="http://www.w3.org/2001/XMLSchema" xmlns:xs="http://www.w3.org/2001/XMLSchema" xmlns:p="http://schemas.microsoft.com/office/2006/metadata/properties" xmlns:ns3="5036cfa6-d0e1-4902-a771-3c3912700344" targetNamespace="http://schemas.microsoft.com/office/2006/metadata/properties" ma:root="true" ma:fieldsID="a1d272197f808f89f8a24a3fbeb7e316" ns3:_="">
    <xsd:import namespace="5036cfa6-d0e1-4902-a771-3c391270034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36cfa6-d0e1-4902-a771-3c39127003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0ED4F75-3CD7-45A8-9549-E613B31DDB2A}">
  <ds:schemaRefs>
    <ds:schemaRef ds:uri="5036cfa6-d0e1-4902-a771-3c391270034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52CE482-82E1-495F-A096-31F88599D290}">
  <ds:schemaRefs>
    <ds:schemaRef ds:uri="5036cfa6-d0e1-4902-a771-3c391270034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4292D93-FF2A-4DA5-8E8B-A42F52EE7A2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Software Engineering (CS3201) Software Requirements </vt:lpstr>
      <vt:lpstr>Introduction</vt:lpstr>
      <vt:lpstr>User Requirements and System Requirements</vt:lpstr>
      <vt:lpstr>Example: User and System Requirements</vt:lpstr>
      <vt:lpstr>Example 2: User and System requirements (Sustainable shopping app)</vt:lpstr>
      <vt:lpstr>System stakeholders</vt:lpstr>
      <vt:lpstr>Example: Stakeholders for Mentcare</vt:lpstr>
      <vt:lpstr>Example: Stakeholders for Sustainable Shopping App</vt:lpstr>
      <vt:lpstr>Requirements Engineering</vt:lpstr>
      <vt:lpstr>Requirements Engineering - breakdown</vt:lpstr>
      <vt:lpstr>Feasibility Studies</vt:lpstr>
      <vt:lpstr> </vt:lpstr>
      <vt:lpstr>Introduction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NLP  CS 475</dc:title>
  <dc:creator>Avinash Arun Chauhan</dc:creator>
  <cp:revision>2133</cp:revision>
  <dcterms:created xsi:type="dcterms:W3CDTF">2022-08-02T06:42:39Z</dcterms:created>
  <dcterms:modified xsi:type="dcterms:W3CDTF">2026-02-16T05:26:32Z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0x01010051834713A0238B47A82B49BB61910BB7</vt:lpwstr>
  </property>
</Properties>
</file>