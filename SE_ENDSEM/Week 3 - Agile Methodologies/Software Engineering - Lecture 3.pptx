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9"/>
  </p:notesMasterIdLst>
  <p:sldIdLst>
    <p:sldId id="256" r:id="rId5"/>
    <p:sldId id="393" r:id="rId6"/>
    <p:sldId id="363" r:id="rId7"/>
    <p:sldId id="343" r:id="rId8"/>
    <p:sldId id="374" r:id="rId9"/>
    <p:sldId id="344" r:id="rId10"/>
    <p:sldId id="345" r:id="rId11"/>
    <p:sldId id="346" r:id="rId12"/>
    <p:sldId id="348" r:id="rId13"/>
    <p:sldId id="347" r:id="rId14"/>
    <p:sldId id="381" r:id="rId15"/>
    <p:sldId id="350" r:id="rId16"/>
    <p:sldId id="351" r:id="rId17"/>
    <p:sldId id="416" r:id="rId18"/>
    <p:sldId id="352" r:id="rId19"/>
    <p:sldId id="375" r:id="rId20"/>
    <p:sldId id="376" r:id="rId21"/>
    <p:sldId id="383" r:id="rId22"/>
    <p:sldId id="384" r:id="rId23"/>
    <p:sldId id="385" r:id="rId24"/>
    <p:sldId id="372" r:id="rId25"/>
    <p:sldId id="394" r:id="rId26"/>
    <p:sldId id="379" r:id="rId27"/>
    <p:sldId id="389" r:id="rId28"/>
    <p:sldId id="390" r:id="rId29"/>
    <p:sldId id="387" r:id="rId30"/>
    <p:sldId id="388" r:id="rId31"/>
    <p:sldId id="386" r:id="rId32"/>
    <p:sldId id="391" r:id="rId33"/>
    <p:sldId id="392" r:id="rId34"/>
    <p:sldId id="380" r:id="rId35"/>
    <p:sldId id="353" r:id="rId36"/>
    <p:sldId id="377" r:id="rId37"/>
    <p:sldId id="378" r:id="rId38"/>
    <p:sldId id="354" r:id="rId39"/>
    <p:sldId id="395" r:id="rId40"/>
    <p:sldId id="355" r:id="rId41"/>
    <p:sldId id="398" r:id="rId42"/>
    <p:sldId id="399" r:id="rId43"/>
    <p:sldId id="397" r:id="rId44"/>
    <p:sldId id="405" r:id="rId45"/>
    <p:sldId id="406" r:id="rId46"/>
    <p:sldId id="407" r:id="rId47"/>
    <p:sldId id="408" r:id="rId48"/>
    <p:sldId id="409" r:id="rId49"/>
    <p:sldId id="410" r:id="rId50"/>
    <p:sldId id="411" r:id="rId51"/>
    <p:sldId id="412" r:id="rId52"/>
    <p:sldId id="413" r:id="rId53"/>
    <p:sldId id="414" r:id="rId54"/>
    <p:sldId id="415" r:id="rId55"/>
    <p:sldId id="396" r:id="rId56"/>
    <p:sldId id="404" r:id="rId57"/>
    <p:sldId id="319"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79E4EE-CEB3-8CC1-1FBF-2969BE8B58B8}" v="3" dt="2026-02-07T19:14:42.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76A8138B-69BE-E855-E9A7-D1B0C3815D69}"/>
    <pc:docChg chg="modSld">
      <pc:chgData name="Avinash Arun Chauhan" userId="S::avinash.chauhan@mahindrauniversity.edu.in::241b5f3e-36f4-4c61-9553-90e6a1c1b8a6" providerId="AD" clId="Web-{76A8138B-69BE-E855-E9A7-D1B0C3815D69}" dt="2026-01-28T11:37:31.478" v="1" actId="20577"/>
      <pc:docMkLst>
        <pc:docMk/>
      </pc:docMkLst>
      <pc:sldChg chg="modSp">
        <pc:chgData name="Avinash Arun Chauhan" userId="S::avinash.chauhan@mahindrauniversity.edu.in::241b5f3e-36f4-4c61-9553-90e6a1c1b8a6" providerId="AD" clId="Web-{76A8138B-69BE-E855-E9A7-D1B0C3815D69}" dt="2026-01-28T11:37:31.478" v="1" actId="20577"/>
        <pc:sldMkLst>
          <pc:docMk/>
          <pc:sldMk cId="3653590986" sldId="393"/>
        </pc:sldMkLst>
        <pc:spChg chg="mod">
          <ac:chgData name="Avinash Arun Chauhan" userId="S::avinash.chauhan@mahindrauniversity.edu.in::241b5f3e-36f4-4c61-9553-90e6a1c1b8a6" providerId="AD" clId="Web-{76A8138B-69BE-E855-E9A7-D1B0C3815D69}" dt="2026-01-28T11:37:31.478" v="1" actId="20577"/>
          <ac:spMkLst>
            <pc:docMk/>
            <pc:sldMk cId="3653590986" sldId="393"/>
            <ac:spMk id="3" creationId="{35FC5151-B5C9-628E-EAE0-4F2880B11176}"/>
          </ac:spMkLst>
        </pc:spChg>
      </pc:sldChg>
    </pc:docChg>
  </pc:docChgLst>
  <pc:docChgLst>
    <pc:chgData name="Avinash Arun Chauhan" userId="S::avinash.chauhan@mahindrauniversity.edu.in::241b5f3e-36f4-4c61-9553-90e6a1c1b8a6" providerId="AD" clId="Web-{DC9E3AB4-6CDB-D3ED-34CB-29B552B62325}"/>
    <pc:docChg chg="modSld">
      <pc:chgData name="Avinash Arun Chauhan" userId="S::avinash.chauhan@mahindrauniversity.edu.in::241b5f3e-36f4-4c61-9553-90e6a1c1b8a6" providerId="AD" clId="Web-{DC9E3AB4-6CDB-D3ED-34CB-29B552B62325}" dt="2026-02-03T11:09:37.047" v="455" actId="20577"/>
      <pc:docMkLst>
        <pc:docMk/>
      </pc:docMkLst>
      <pc:sldChg chg="modSp">
        <pc:chgData name="Avinash Arun Chauhan" userId="S::avinash.chauhan@mahindrauniversity.edu.in::241b5f3e-36f4-4c61-9553-90e6a1c1b8a6" providerId="AD" clId="Web-{DC9E3AB4-6CDB-D3ED-34CB-29B552B62325}" dt="2026-02-03T10:36:47.387" v="9" actId="20577"/>
        <pc:sldMkLst>
          <pc:docMk/>
          <pc:sldMk cId="111794783" sldId="351"/>
        </pc:sldMkLst>
        <pc:spChg chg="mod">
          <ac:chgData name="Avinash Arun Chauhan" userId="S::avinash.chauhan@mahindrauniversity.edu.in::241b5f3e-36f4-4c61-9553-90e6a1c1b8a6" providerId="AD" clId="Web-{DC9E3AB4-6CDB-D3ED-34CB-29B552B62325}" dt="2026-02-03T10:36:47.387" v="9" actId="20577"/>
          <ac:spMkLst>
            <pc:docMk/>
            <pc:sldMk cId="111794783" sldId="351"/>
            <ac:spMk id="3" creationId="{712CE3DE-516D-536F-B692-856904E12035}"/>
          </ac:spMkLst>
        </pc:spChg>
      </pc:sldChg>
      <pc:sldChg chg="addSp modSp">
        <pc:chgData name="Avinash Arun Chauhan" userId="S::avinash.chauhan@mahindrauniversity.edu.in::241b5f3e-36f4-4c61-9553-90e6a1c1b8a6" providerId="AD" clId="Web-{DC9E3AB4-6CDB-D3ED-34CB-29B552B62325}" dt="2026-02-03T10:50:18.191" v="339" actId="1076"/>
        <pc:sldMkLst>
          <pc:docMk/>
          <pc:sldMk cId="3509781182" sldId="353"/>
        </pc:sldMkLst>
        <pc:spChg chg="add mod">
          <ac:chgData name="Avinash Arun Chauhan" userId="S::avinash.chauhan@mahindrauniversity.edu.in::241b5f3e-36f4-4c61-9553-90e6a1c1b8a6" providerId="AD" clId="Web-{DC9E3AB4-6CDB-D3ED-34CB-29B552B62325}" dt="2026-02-03T10:50:18.191" v="339" actId="1076"/>
          <ac:spMkLst>
            <pc:docMk/>
            <pc:sldMk cId="3509781182" sldId="353"/>
            <ac:spMk id="4" creationId="{0BC483CE-726D-9675-55E6-8026064F3564}"/>
          </ac:spMkLst>
        </pc:spChg>
      </pc:sldChg>
      <pc:sldChg chg="modSp">
        <pc:chgData name="Avinash Arun Chauhan" userId="S::avinash.chauhan@mahindrauniversity.edu.in::241b5f3e-36f4-4c61-9553-90e6a1c1b8a6" providerId="AD" clId="Web-{DC9E3AB4-6CDB-D3ED-34CB-29B552B62325}" dt="2026-02-03T11:07:18.919" v="417" actId="20577"/>
        <pc:sldMkLst>
          <pc:docMk/>
          <pc:sldMk cId="1153999674" sldId="355"/>
        </pc:sldMkLst>
        <pc:spChg chg="mod">
          <ac:chgData name="Avinash Arun Chauhan" userId="S::avinash.chauhan@mahindrauniversity.edu.in::241b5f3e-36f4-4c61-9553-90e6a1c1b8a6" providerId="AD" clId="Web-{DC9E3AB4-6CDB-D3ED-34CB-29B552B62325}" dt="2026-02-03T11:07:18.919" v="417" actId="20577"/>
          <ac:spMkLst>
            <pc:docMk/>
            <pc:sldMk cId="1153999674" sldId="355"/>
            <ac:spMk id="3" creationId="{712CE3DE-516D-536F-B692-856904E12035}"/>
          </ac:spMkLst>
        </pc:spChg>
      </pc:sldChg>
      <pc:sldChg chg="modSp">
        <pc:chgData name="Avinash Arun Chauhan" userId="S::avinash.chauhan@mahindrauniversity.edu.in::241b5f3e-36f4-4c61-9553-90e6a1c1b8a6" providerId="AD" clId="Web-{DC9E3AB4-6CDB-D3ED-34CB-29B552B62325}" dt="2026-02-03T10:38:09.966" v="44" actId="20577"/>
        <pc:sldMkLst>
          <pc:docMk/>
          <pc:sldMk cId="278790401" sldId="383"/>
        </pc:sldMkLst>
        <pc:spChg chg="mod">
          <ac:chgData name="Avinash Arun Chauhan" userId="S::avinash.chauhan@mahindrauniversity.edu.in::241b5f3e-36f4-4c61-9553-90e6a1c1b8a6" providerId="AD" clId="Web-{DC9E3AB4-6CDB-D3ED-34CB-29B552B62325}" dt="2026-02-03T10:38:09.966" v="44" actId="20577"/>
          <ac:spMkLst>
            <pc:docMk/>
            <pc:sldMk cId="278790401" sldId="383"/>
            <ac:spMk id="3" creationId="{599FCD7E-3728-54BE-B92A-3CC8FAFCE0DC}"/>
          </ac:spMkLst>
        </pc:spChg>
      </pc:sldChg>
      <pc:sldChg chg="modSp">
        <pc:chgData name="Avinash Arun Chauhan" userId="S::avinash.chauhan@mahindrauniversity.edu.in::241b5f3e-36f4-4c61-9553-90e6a1c1b8a6" providerId="AD" clId="Web-{DC9E3AB4-6CDB-D3ED-34CB-29B552B62325}" dt="2026-02-03T10:40:20.716" v="118" actId="20577"/>
        <pc:sldMkLst>
          <pc:docMk/>
          <pc:sldMk cId="3912346787" sldId="385"/>
        </pc:sldMkLst>
        <pc:spChg chg="mod">
          <ac:chgData name="Avinash Arun Chauhan" userId="S::avinash.chauhan@mahindrauniversity.edu.in::241b5f3e-36f4-4c61-9553-90e6a1c1b8a6" providerId="AD" clId="Web-{DC9E3AB4-6CDB-D3ED-34CB-29B552B62325}" dt="2026-02-03T10:40:20.716" v="118" actId="20577"/>
          <ac:spMkLst>
            <pc:docMk/>
            <pc:sldMk cId="3912346787" sldId="385"/>
            <ac:spMk id="3" creationId="{ACF2506A-540B-E79F-79EA-0A7BBEB8F6F5}"/>
          </ac:spMkLst>
        </pc:spChg>
      </pc:sldChg>
      <pc:sldChg chg="modSp">
        <pc:chgData name="Avinash Arun Chauhan" userId="S::avinash.chauhan@mahindrauniversity.edu.in::241b5f3e-36f4-4c61-9553-90e6a1c1b8a6" providerId="AD" clId="Web-{DC9E3AB4-6CDB-D3ED-34CB-29B552B62325}" dt="2026-02-03T10:42:28.621" v="132" actId="20577"/>
        <pc:sldMkLst>
          <pc:docMk/>
          <pc:sldMk cId="1309432007" sldId="389"/>
        </pc:sldMkLst>
        <pc:spChg chg="mod">
          <ac:chgData name="Avinash Arun Chauhan" userId="S::avinash.chauhan@mahindrauniversity.edu.in::241b5f3e-36f4-4c61-9553-90e6a1c1b8a6" providerId="AD" clId="Web-{DC9E3AB4-6CDB-D3ED-34CB-29B552B62325}" dt="2026-02-03T10:42:28.621" v="132" actId="20577"/>
          <ac:spMkLst>
            <pc:docMk/>
            <pc:sldMk cId="1309432007" sldId="389"/>
            <ac:spMk id="3" creationId="{475BDF8F-68E1-95AD-BDD9-703EB65D9A79}"/>
          </ac:spMkLst>
        </pc:spChg>
      </pc:sldChg>
      <pc:sldChg chg="modSp">
        <pc:chgData name="Avinash Arun Chauhan" userId="S::avinash.chauhan@mahindrauniversity.edu.in::241b5f3e-36f4-4c61-9553-90e6a1c1b8a6" providerId="AD" clId="Web-{DC9E3AB4-6CDB-D3ED-34CB-29B552B62325}" dt="2026-02-03T10:42:05.293" v="131" actId="20577"/>
        <pc:sldMkLst>
          <pc:docMk/>
          <pc:sldMk cId="113107880" sldId="394"/>
        </pc:sldMkLst>
        <pc:spChg chg="mod">
          <ac:chgData name="Avinash Arun Chauhan" userId="S::avinash.chauhan@mahindrauniversity.edu.in::241b5f3e-36f4-4c61-9553-90e6a1c1b8a6" providerId="AD" clId="Web-{DC9E3AB4-6CDB-D3ED-34CB-29B552B62325}" dt="2026-02-03T10:42:05.293" v="131" actId="20577"/>
          <ac:spMkLst>
            <pc:docMk/>
            <pc:sldMk cId="113107880" sldId="394"/>
            <ac:spMk id="3" creationId="{DE124472-CF52-D4DC-7B63-8E0D01295E67}"/>
          </ac:spMkLst>
        </pc:spChg>
      </pc:sldChg>
      <pc:sldChg chg="modSp">
        <pc:chgData name="Avinash Arun Chauhan" userId="S::avinash.chauhan@mahindrauniversity.edu.in::241b5f3e-36f4-4c61-9553-90e6a1c1b8a6" providerId="AD" clId="Web-{DC9E3AB4-6CDB-D3ED-34CB-29B552B62325}" dt="2026-02-03T11:06:58.746" v="406" actId="20577"/>
        <pc:sldMkLst>
          <pc:docMk/>
          <pc:sldMk cId="2054758623" sldId="398"/>
        </pc:sldMkLst>
        <pc:spChg chg="mod">
          <ac:chgData name="Avinash Arun Chauhan" userId="S::avinash.chauhan@mahindrauniversity.edu.in::241b5f3e-36f4-4c61-9553-90e6a1c1b8a6" providerId="AD" clId="Web-{DC9E3AB4-6CDB-D3ED-34CB-29B552B62325}" dt="2026-02-03T11:06:58.746" v="406" actId="20577"/>
          <ac:spMkLst>
            <pc:docMk/>
            <pc:sldMk cId="2054758623" sldId="398"/>
            <ac:spMk id="3" creationId="{1EF3B05F-54EC-CE82-B963-C034D7AFA9B8}"/>
          </ac:spMkLst>
        </pc:spChg>
      </pc:sldChg>
      <pc:sldChg chg="modSp">
        <pc:chgData name="Avinash Arun Chauhan" userId="S::avinash.chauhan@mahindrauniversity.edu.in::241b5f3e-36f4-4c61-9553-90e6a1c1b8a6" providerId="AD" clId="Web-{DC9E3AB4-6CDB-D3ED-34CB-29B552B62325}" dt="2026-02-03T11:09:37.047" v="455" actId="20577"/>
        <pc:sldMkLst>
          <pc:docMk/>
          <pc:sldMk cId="3490620550" sldId="406"/>
        </pc:sldMkLst>
        <pc:spChg chg="mod">
          <ac:chgData name="Avinash Arun Chauhan" userId="S::avinash.chauhan@mahindrauniversity.edu.in::241b5f3e-36f4-4c61-9553-90e6a1c1b8a6" providerId="AD" clId="Web-{DC9E3AB4-6CDB-D3ED-34CB-29B552B62325}" dt="2026-02-03T11:09:37.047" v="455" actId="20577"/>
          <ac:spMkLst>
            <pc:docMk/>
            <pc:sldMk cId="3490620550" sldId="406"/>
            <ac:spMk id="3" creationId="{92B08754-CB2F-1371-C199-43B827089422}"/>
          </ac:spMkLst>
        </pc:spChg>
      </pc:sldChg>
    </pc:docChg>
  </pc:docChgLst>
  <pc:docChgLst>
    <pc:chgData name="Avinash Arun Chauhan" userId="S::avinash.chauhan@mahindrauniversity.edu.in::241b5f3e-36f4-4c61-9553-90e6a1c1b8a6" providerId="AD" clId="Web-{E340F533-3758-D00D-2750-89B03DAFF888}"/>
    <pc:docChg chg="modSld">
      <pc:chgData name="Avinash Arun Chauhan" userId="S::avinash.chauhan@mahindrauniversity.edu.in::241b5f3e-36f4-4c61-9553-90e6a1c1b8a6" providerId="AD" clId="Web-{E340F533-3758-D00D-2750-89B03DAFF888}" dt="2026-02-02T11:02:29.659" v="261"/>
      <pc:docMkLst>
        <pc:docMk/>
      </pc:docMkLst>
      <pc:sldChg chg="delSp">
        <pc:chgData name="Avinash Arun Chauhan" userId="S::avinash.chauhan@mahindrauniversity.edu.in::241b5f3e-36f4-4c61-9553-90e6a1c1b8a6" providerId="AD" clId="Web-{E340F533-3758-D00D-2750-89B03DAFF888}" dt="2026-02-02T11:02:29.659" v="261"/>
        <pc:sldMkLst>
          <pc:docMk/>
          <pc:sldMk cId="1331974274" sldId="396"/>
        </pc:sldMkLst>
      </pc:sldChg>
      <pc:sldChg chg="modSp">
        <pc:chgData name="Avinash Arun Chauhan" userId="S::avinash.chauhan@mahindrauniversity.edu.in::241b5f3e-36f4-4c61-9553-90e6a1c1b8a6" providerId="AD" clId="Web-{E340F533-3758-D00D-2750-89B03DAFF888}" dt="2026-02-02T10:59:18.518" v="260" actId="20577"/>
        <pc:sldMkLst>
          <pc:docMk/>
          <pc:sldMk cId="3884221527" sldId="404"/>
        </pc:sldMkLst>
        <pc:spChg chg="mod">
          <ac:chgData name="Avinash Arun Chauhan" userId="S::avinash.chauhan@mahindrauniversity.edu.in::241b5f3e-36f4-4c61-9553-90e6a1c1b8a6" providerId="AD" clId="Web-{E340F533-3758-D00D-2750-89B03DAFF888}" dt="2026-02-02T10:59:18.518" v="260" actId="20577"/>
          <ac:spMkLst>
            <pc:docMk/>
            <pc:sldMk cId="3884221527" sldId="404"/>
            <ac:spMk id="3" creationId="{46419D5A-3B8F-9710-BD8E-55C191E9D6B4}"/>
          </ac:spMkLst>
        </pc:spChg>
      </pc:sldChg>
      <pc:sldChg chg="addSp modSp">
        <pc:chgData name="Avinash Arun Chauhan" userId="S::avinash.chauhan@mahindrauniversity.edu.in::241b5f3e-36f4-4c61-9553-90e6a1c1b8a6" providerId="AD" clId="Web-{E340F533-3758-D00D-2750-89B03DAFF888}" dt="2026-02-02T10:54:03.248" v="220" actId="1076"/>
        <pc:sldMkLst>
          <pc:docMk/>
          <pc:sldMk cId="797437864" sldId="405"/>
        </pc:sldMkLst>
        <pc:spChg chg="add mod">
          <ac:chgData name="Avinash Arun Chauhan" userId="S::avinash.chauhan@mahindrauniversity.edu.in::241b5f3e-36f4-4c61-9553-90e6a1c1b8a6" providerId="AD" clId="Web-{E340F533-3758-D00D-2750-89B03DAFF888}" dt="2026-02-02T10:54:03.248" v="220" actId="1076"/>
          <ac:spMkLst>
            <pc:docMk/>
            <pc:sldMk cId="797437864" sldId="405"/>
            <ac:spMk id="5" creationId="{06669C28-450C-F3A7-8961-52D4D1900140}"/>
          </ac:spMkLst>
        </pc:spChg>
      </pc:sldChg>
      <pc:sldChg chg="modSp">
        <pc:chgData name="Avinash Arun Chauhan" userId="S::avinash.chauhan@mahindrauniversity.edu.in::241b5f3e-36f4-4c61-9553-90e6a1c1b8a6" providerId="AD" clId="Web-{E340F533-3758-D00D-2750-89B03DAFF888}" dt="2026-02-02T10:50:04.590" v="8" actId="20577"/>
        <pc:sldMkLst>
          <pc:docMk/>
          <pc:sldMk cId="1706956384" sldId="407"/>
        </pc:sldMkLst>
        <pc:spChg chg="mod">
          <ac:chgData name="Avinash Arun Chauhan" userId="S::avinash.chauhan@mahindrauniversity.edu.in::241b5f3e-36f4-4c61-9553-90e6a1c1b8a6" providerId="AD" clId="Web-{E340F533-3758-D00D-2750-89B03DAFF888}" dt="2026-02-02T10:50:04.590" v="8" actId="20577"/>
          <ac:spMkLst>
            <pc:docMk/>
            <pc:sldMk cId="1706956384" sldId="407"/>
            <ac:spMk id="3" creationId="{2EAFD3EE-7466-CD62-CA5C-9CEFADAE6FAD}"/>
          </ac:spMkLst>
        </pc:spChg>
      </pc:sldChg>
      <pc:sldChg chg="modSp">
        <pc:chgData name="Avinash Arun Chauhan" userId="S::avinash.chauhan@mahindrauniversity.edu.in::241b5f3e-36f4-4c61-9553-90e6a1c1b8a6" providerId="AD" clId="Web-{E340F533-3758-D00D-2750-89B03DAFF888}" dt="2026-02-02T10:49:50.762" v="5" actId="20577"/>
        <pc:sldMkLst>
          <pc:docMk/>
          <pc:sldMk cId="2363286037" sldId="408"/>
        </pc:sldMkLst>
        <pc:spChg chg="mod">
          <ac:chgData name="Avinash Arun Chauhan" userId="S::avinash.chauhan@mahindrauniversity.edu.in::241b5f3e-36f4-4c61-9553-90e6a1c1b8a6" providerId="AD" clId="Web-{E340F533-3758-D00D-2750-89B03DAFF888}" dt="2026-02-02T10:49:50.762" v="5" actId="20577"/>
          <ac:spMkLst>
            <pc:docMk/>
            <pc:sldMk cId="2363286037" sldId="408"/>
            <ac:spMk id="3" creationId="{4FAB4FD6-0E19-3065-0954-433C715AEAB7}"/>
          </ac:spMkLst>
        </pc:spChg>
      </pc:sldChg>
      <pc:sldChg chg="modSp">
        <pc:chgData name="Avinash Arun Chauhan" userId="S::avinash.chauhan@mahindrauniversity.edu.in::241b5f3e-36f4-4c61-9553-90e6a1c1b8a6" providerId="AD" clId="Web-{E340F533-3758-D00D-2750-89B03DAFF888}" dt="2026-02-02T10:54:40.061" v="224" actId="20577"/>
        <pc:sldMkLst>
          <pc:docMk/>
          <pc:sldMk cId="468204953" sldId="409"/>
        </pc:sldMkLst>
        <pc:spChg chg="mod">
          <ac:chgData name="Avinash Arun Chauhan" userId="S::avinash.chauhan@mahindrauniversity.edu.in::241b5f3e-36f4-4c61-9553-90e6a1c1b8a6" providerId="AD" clId="Web-{E340F533-3758-D00D-2750-89B03DAFF888}" dt="2026-02-02T10:54:40.061" v="224" actId="20577"/>
          <ac:spMkLst>
            <pc:docMk/>
            <pc:sldMk cId="468204953" sldId="409"/>
            <ac:spMk id="3" creationId="{05A0ACC7-6129-6485-AE0D-8AFAF3B4B52B}"/>
          </ac:spMkLst>
        </pc:spChg>
      </pc:sldChg>
      <pc:sldChg chg="modSp">
        <pc:chgData name="Avinash Arun Chauhan" userId="S::avinash.chauhan@mahindrauniversity.edu.in::241b5f3e-36f4-4c61-9553-90e6a1c1b8a6" providerId="AD" clId="Web-{E340F533-3758-D00D-2750-89B03DAFF888}" dt="2026-02-02T10:55:20.764" v="226" actId="20577"/>
        <pc:sldMkLst>
          <pc:docMk/>
          <pc:sldMk cId="3059869477" sldId="411"/>
        </pc:sldMkLst>
        <pc:spChg chg="mod">
          <ac:chgData name="Avinash Arun Chauhan" userId="S::avinash.chauhan@mahindrauniversity.edu.in::241b5f3e-36f4-4c61-9553-90e6a1c1b8a6" providerId="AD" clId="Web-{E340F533-3758-D00D-2750-89B03DAFF888}" dt="2026-02-02T10:55:20.764" v="226" actId="20577"/>
          <ac:spMkLst>
            <pc:docMk/>
            <pc:sldMk cId="3059869477" sldId="411"/>
            <ac:spMk id="3" creationId="{EA0F8861-ABDE-E805-D79F-1FF0EB163AB9}"/>
          </ac:spMkLst>
        </pc:spChg>
      </pc:sldChg>
      <pc:sldChg chg="modSp">
        <pc:chgData name="Avinash Arun Chauhan" userId="S::avinash.chauhan@mahindrauniversity.edu.in::241b5f3e-36f4-4c61-9553-90e6a1c1b8a6" providerId="AD" clId="Web-{E340F533-3758-D00D-2750-89B03DAFF888}" dt="2026-02-02T10:56:51.905" v="242" actId="20577"/>
        <pc:sldMkLst>
          <pc:docMk/>
          <pc:sldMk cId="2250290411" sldId="412"/>
        </pc:sldMkLst>
        <pc:spChg chg="mod">
          <ac:chgData name="Avinash Arun Chauhan" userId="S::avinash.chauhan@mahindrauniversity.edu.in::241b5f3e-36f4-4c61-9553-90e6a1c1b8a6" providerId="AD" clId="Web-{E340F533-3758-D00D-2750-89B03DAFF888}" dt="2026-02-02T10:56:51.905" v="242" actId="20577"/>
          <ac:spMkLst>
            <pc:docMk/>
            <pc:sldMk cId="2250290411" sldId="412"/>
            <ac:spMk id="3" creationId="{3BF28369-18FE-4C41-407B-09BB9DCD5575}"/>
          </ac:spMkLst>
        </pc:spChg>
      </pc:sldChg>
      <pc:sldChg chg="modSp">
        <pc:chgData name="Avinash Arun Chauhan" userId="S::avinash.chauhan@mahindrauniversity.edu.in::241b5f3e-36f4-4c61-9553-90e6a1c1b8a6" providerId="AD" clId="Web-{E340F533-3758-D00D-2750-89B03DAFF888}" dt="2026-02-02T10:57:24.594" v="244" actId="20577"/>
        <pc:sldMkLst>
          <pc:docMk/>
          <pc:sldMk cId="1663143253" sldId="414"/>
        </pc:sldMkLst>
        <pc:spChg chg="mod">
          <ac:chgData name="Avinash Arun Chauhan" userId="S::avinash.chauhan@mahindrauniversity.edu.in::241b5f3e-36f4-4c61-9553-90e6a1c1b8a6" providerId="AD" clId="Web-{E340F533-3758-D00D-2750-89B03DAFF888}" dt="2026-02-02T10:57:24.594" v="244" actId="20577"/>
          <ac:spMkLst>
            <pc:docMk/>
            <pc:sldMk cId="1663143253" sldId="414"/>
            <ac:spMk id="3" creationId="{5A95DC9A-8F24-30C4-B256-D2E358635405}"/>
          </ac:spMkLst>
        </pc:spChg>
      </pc:sldChg>
      <pc:sldChg chg="modSp">
        <pc:chgData name="Avinash Arun Chauhan" userId="S::avinash.chauhan@mahindrauniversity.edu.in::241b5f3e-36f4-4c61-9553-90e6a1c1b8a6" providerId="AD" clId="Web-{E340F533-3758-D00D-2750-89B03DAFF888}" dt="2026-02-02T10:57:46.517" v="251" actId="20577"/>
        <pc:sldMkLst>
          <pc:docMk/>
          <pc:sldMk cId="2608449174" sldId="415"/>
        </pc:sldMkLst>
        <pc:spChg chg="mod">
          <ac:chgData name="Avinash Arun Chauhan" userId="S::avinash.chauhan@mahindrauniversity.edu.in::241b5f3e-36f4-4c61-9553-90e6a1c1b8a6" providerId="AD" clId="Web-{E340F533-3758-D00D-2750-89B03DAFF888}" dt="2026-02-02T10:57:46.517" v="251" actId="20577"/>
          <ac:spMkLst>
            <pc:docMk/>
            <pc:sldMk cId="2608449174" sldId="415"/>
            <ac:spMk id="3" creationId="{9CD53FE5-292C-4600-11AA-C8B5A7A38534}"/>
          </ac:spMkLst>
        </pc:spChg>
      </pc:sldChg>
    </pc:docChg>
  </pc:docChgLst>
  <pc:docChgLst>
    <pc:chgData name="Avinash Arun Chauhan" userId="S::avinash.chauhan@mahindrauniversity.edu.in::241b5f3e-36f4-4c61-9553-90e6a1c1b8a6" providerId="AD" clId="Web-{1F79E4EE-CEB3-8CC1-1FBF-2969BE8B58B8}"/>
    <pc:docChg chg="modSld">
      <pc:chgData name="Avinash Arun Chauhan" userId="S::avinash.chauhan@mahindrauniversity.edu.in::241b5f3e-36f4-4c61-9553-90e6a1c1b8a6" providerId="AD" clId="Web-{1F79E4EE-CEB3-8CC1-1FBF-2969BE8B58B8}" dt="2026-02-07T19:14:42.619" v="2" actId="20577"/>
      <pc:docMkLst>
        <pc:docMk/>
      </pc:docMkLst>
      <pc:sldChg chg="modSp">
        <pc:chgData name="Avinash Arun Chauhan" userId="S::avinash.chauhan@mahindrauniversity.edu.in::241b5f3e-36f4-4c61-9553-90e6a1c1b8a6" providerId="AD" clId="Web-{1F79E4EE-CEB3-8CC1-1FBF-2969BE8B58B8}" dt="2026-02-07T19:14:42.619" v="2" actId="20577"/>
        <pc:sldMkLst>
          <pc:docMk/>
          <pc:sldMk cId="2054758623" sldId="398"/>
        </pc:sldMkLst>
        <pc:spChg chg="mod">
          <ac:chgData name="Avinash Arun Chauhan" userId="S::avinash.chauhan@mahindrauniversity.edu.in::241b5f3e-36f4-4c61-9553-90e6a1c1b8a6" providerId="AD" clId="Web-{1F79E4EE-CEB3-8CC1-1FBF-2969BE8B58B8}" dt="2026-02-07T19:14:42.619" v="2" actId="20577"/>
          <ac:spMkLst>
            <pc:docMk/>
            <pc:sldMk cId="2054758623" sldId="398"/>
            <ac:spMk id="3" creationId="{1EF3B05F-54EC-CE82-B963-C034D7AFA9B8}"/>
          </ac:spMkLst>
        </pc:spChg>
      </pc:sldChg>
    </pc:docChg>
  </pc:docChgLst>
  <pc:docChgLst>
    <pc:chgData name="Avinash Arun Chauhan" userId="S::avinash.chauhan@mahindrauniversity.edu.in::241b5f3e-36f4-4c61-9553-90e6a1c1b8a6" providerId="AD" clId="Web-{7612C907-89C8-A924-E2CC-77C48E87E04A}"/>
    <pc:docChg chg="addSld delSld modSld sldOrd">
      <pc:chgData name="Avinash Arun Chauhan" userId="S::avinash.chauhan@mahindrauniversity.edu.in::241b5f3e-36f4-4c61-9553-90e6a1c1b8a6" providerId="AD" clId="Web-{7612C907-89C8-A924-E2CC-77C48E87E04A}" dt="2026-02-02T10:46:21.263" v="248" actId="20577"/>
      <pc:docMkLst>
        <pc:docMk/>
      </pc:docMkLst>
      <pc:sldChg chg="modSp">
        <pc:chgData name="Avinash Arun Chauhan" userId="S::avinash.chauhan@mahindrauniversity.edu.in::241b5f3e-36f4-4c61-9553-90e6a1c1b8a6" providerId="AD" clId="Web-{7612C907-89C8-A924-E2CC-77C48E87E04A}" dt="2026-02-02T09:38:56.115" v="10" actId="20577"/>
        <pc:sldMkLst>
          <pc:docMk/>
          <pc:sldMk cId="3379929072" sldId="344"/>
        </pc:sldMkLst>
        <pc:spChg chg="mod">
          <ac:chgData name="Avinash Arun Chauhan" userId="S::avinash.chauhan@mahindrauniversity.edu.in::241b5f3e-36f4-4c61-9553-90e6a1c1b8a6" providerId="AD" clId="Web-{7612C907-89C8-A924-E2CC-77C48E87E04A}" dt="2026-02-02T09:38:56.115" v="10" actId="20577"/>
          <ac:spMkLst>
            <pc:docMk/>
            <pc:sldMk cId="3379929072" sldId="344"/>
            <ac:spMk id="3" creationId="{712CE3DE-516D-536F-B692-856904E12035}"/>
          </ac:spMkLst>
        </pc:spChg>
      </pc:sldChg>
      <pc:sldChg chg="modSp">
        <pc:chgData name="Avinash Arun Chauhan" userId="S::avinash.chauhan@mahindrauniversity.edu.in::241b5f3e-36f4-4c61-9553-90e6a1c1b8a6" providerId="AD" clId="Web-{7612C907-89C8-A924-E2CC-77C48E87E04A}" dt="2026-02-02T09:52:10.085" v="16" actId="20577"/>
        <pc:sldMkLst>
          <pc:docMk/>
          <pc:sldMk cId="3804487949" sldId="345"/>
        </pc:sldMkLst>
        <pc:spChg chg="mod">
          <ac:chgData name="Avinash Arun Chauhan" userId="S::avinash.chauhan@mahindrauniversity.edu.in::241b5f3e-36f4-4c61-9553-90e6a1c1b8a6" providerId="AD" clId="Web-{7612C907-89C8-A924-E2CC-77C48E87E04A}" dt="2026-02-02T09:52:10.085" v="16" actId="20577"/>
          <ac:spMkLst>
            <pc:docMk/>
            <pc:sldMk cId="3804487949" sldId="345"/>
            <ac:spMk id="3" creationId="{712CE3DE-516D-536F-B692-856904E12035}"/>
          </ac:spMkLst>
        </pc:spChg>
      </pc:sldChg>
      <pc:sldChg chg="modSp">
        <pc:chgData name="Avinash Arun Chauhan" userId="S::avinash.chauhan@mahindrauniversity.edu.in::241b5f3e-36f4-4c61-9553-90e6a1c1b8a6" providerId="AD" clId="Web-{7612C907-89C8-A924-E2CC-77C48E87E04A}" dt="2026-02-02T09:53:18.139" v="25" actId="20577"/>
        <pc:sldMkLst>
          <pc:docMk/>
          <pc:sldMk cId="1050131186" sldId="346"/>
        </pc:sldMkLst>
        <pc:spChg chg="mod">
          <ac:chgData name="Avinash Arun Chauhan" userId="S::avinash.chauhan@mahindrauniversity.edu.in::241b5f3e-36f4-4c61-9553-90e6a1c1b8a6" providerId="AD" clId="Web-{7612C907-89C8-A924-E2CC-77C48E87E04A}" dt="2026-02-02T09:53:18.139" v="25" actId="20577"/>
          <ac:spMkLst>
            <pc:docMk/>
            <pc:sldMk cId="1050131186" sldId="346"/>
            <ac:spMk id="3" creationId="{712CE3DE-516D-536F-B692-856904E12035}"/>
          </ac:spMkLst>
        </pc:spChg>
      </pc:sldChg>
      <pc:sldChg chg="modSp">
        <pc:chgData name="Avinash Arun Chauhan" userId="S::avinash.chauhan@mahindrauniversity.edu.in::241b5f3e-36f4-4c61-9553-90e6a1c1b8a6" providerId="AD" clId="Web-{7612C907-89C8-A924-E2CC-77C48E87E04A}" dt="2026-02-02T09:55:11.929" v="33" actId="20577"/>
        <pc:sldMkLst>
          <pc:docMk/>
          <pc:sldMk cId="770928017" sldId="347"/>
        </pc:sldMkLst>
        <pc:spChg chg="mod">
          <ac:chgData name="Avinash Arun Chauhan" userId="S::avinash.chauhan@mahindrauniversity.edu.in::241b5f3e-36f4-4c61-9553-90e6a1c1b8a6" providerId="AD" clId="Web-{7612C907-89C8-A924-E2CC-77C48E87E04A}" dt="2026-02-02T09:55:11.929" v="33" actId="20577"/>
          <ac:spMkLst>
            <pc:docMk/>
            <pc:sldMk cId="770928017" sldId="347"/>
            <ac:spMk id="3" creationId="{712CE3DE-516D-536F-B692-856904E12035}"/>
          </ac:spMkLst>
        </pc:spChg>
      </pc:sldChg>
      <pc:sldChg chg="modSp">
        <pc:chgData name="Avinash Arun Chauhan" userId="S::avinash.chauhan@mahindrauniversity.edu.in::241b5f3e-36f4-4c61-9553-90e6a1c1b8a6" providerId="AD" clId="Web-{7612C907-89C8-A924-E2CC-77C48E87E04A}" dt="2026-02-02T09:54:00.486" v="30" actId="1076"/>
        <pc:sldMkLst>
          <pc:docMk/>
          <pc:sldMk cId="4166520187" sldId="348"/>
        </pc:sldMkLst>
        <pc:spChg chg="mod">
          <ac:chgData name="Avinash Arun Chauhan" userId="S::avinash.chauhan@mahindrauniversity.edu.in::241b5f3e-36f4-4c61-9553-90e6a1c1b8a6" providerId="AD" clId="Web-{7612C907-89C8-A924-E2CC-77C48E87E04A}" dt="2026-02-02T09:53:48.189" v="28" actId="1076"/>
          <ac:spMkLst>
            <pc:docMk/>
            <pc:sldMk cId="4166520187" sldId="348"/>
            <ac:spMk id="4" creationId="{58FF2E8C-B4FE-A17C-C57A-FF8337E42D12}"/>
          </ac:spMkLst>
        </pc:spChg>
        <pc:spChg chg="mod">
          <ac:chgData name="Avinash Arun Chauhan" userId="S::avinash.chauhan@mahindrauniversity.edu.in::241b5f3e-36f4-4c61-9553-90e6a1c1b8a6" providerId="AD" clId="Web-{7612C907-89C8-A924-E2CC-77C48E87E04A}" dt="2026-02-02T09:53:55.439" v="29" actId="1076"/>
          <ac:spMkLst>
            <pc:docMk/>
            <pc:sldMk cId="4166520187" sldId="348"/>
            <ac:spMk id="5" creationId="{DB14B2FC-4273-4AC9-9464-FE74F142B2A6}"/>
          </ac:spMkLst>
        </pc:spChg>
        <pc:spChg chg="mod">
          <ac:chgData name="Avinash Arun Chauhan" userId="S::avinash.chauhan@mahindrauniversity.edu.in::241b5f3e-36f4-4c61-9553-90e6a1c1b8a6" providerId="AD" clId="Web-{7612C907-89C8-A924-E2CC-77C48E87E04A}" dt="2026-02-02T09:54:00.486" v="30" actId="1076"/>
          <ac:spMkLst>
            <pc:docMk/>
            <pc:sldMk cId="4166520187" sldId="348"/>
            <ac:spMk id="9" creationId="{070B5882-744F-1734-09BE-550BC34C9641}"/>
          </ac:spMkLst>
        </pc:spChg>
      </pc:sldChg>
      <pc:sldChg chg="modSp">
        <pc:chgData name="Avinash Arun Chauhan" userId="S::avinash.chauhan@mahindrauniversity.edu.in::241b5f3e-36f4-4c61-9553-90e6a1c1b8a6" providerId="AD" clId="Web-{7612C907-89C8-A924-E2CC-77C48E87E04A}" dt="2026-02-02T09:56:39.919" v="37" actId="20577"/>
        <pc:sldMkLst>
          <pc:docMk/>
          <pc:sldMk cId="111794783" sldId="351"/>
        </pc:sldMkLst>
        <pc:spChg chg="mod">
          <ac:chgData name="Avinash Arun Chauhan" userId="S::avinash.chauhan@mahindrauniversity.edu.in::241b5f3e-36f4-4c61-9553-90e6a1c1b8a6" providerId="AD" clId="Web-{7612C907-89C8-A924-E2CC-77C48E87E04A}" dt="2026-02-02T09:56:39.919" v="37" actId="20577"/>
          <ac:spMkLst>
            <pc:docMk/>
            <pc:sldMk cId="111794783" sldId="351"/>
            <ac:spMk id="3" creationId="{712CE3DE-516D-536F-B692-856904E12035}"/>
          </ac:spMkLst>
        </pc:spChg>
      </pc:sldChg>
      <pc:sldChg chg="modSp">
        <pc:chgData name="Avinash Arun Chauhan" userId="S::avinash.chauhan@mahindrauniversity.edu.in::241b5f3e-36f4-4c61-9553-90e6a1c1b8a6" providerId="AD" clId="Web-{7612C907-89C8-A924-E2CC-77C48E87E04A}" dt="2026-02-02T10:21:51.649" v="115" actId="20577"/>
        <pc:sldMkLst>
          <pc:docMk/>
          <pc:sldMk cId="1291515926" sldId="354"/>
        </pc:sldMkLst>
        <pc:spChg chg="mod">
          <ac:chgData name="Avinash Arun Chauhan" userId="S::avinash.chauhan@mahindrauniversity.edu.in::241b5f3e-36f4-4c61-9553-90e6a1c1b8a6" providerId="AD" clId="Web-{7612C907-89C8-A924-E2CC-77C48E87E04A}" dt="2026-02-02T10:21:51.649" v="115" actId="20577"/>
          <ac:spMkLst>
            <pc:docMk/>
            <pc:sldMk cId="1291515926" sldId="354"/>
            <ac:spMk id="3" creationId="{712CE3DE-516D-536F-B692-856904E12035}"/>
          </ac:spMkLst>
        </pc:spChg>
      </pc:sldChg>
      <pc:sldChg chg="modSp">
        <pc:chgData name="Avinash Arun Chauhan" userId="S::avinash.chauhan@mahindrauniversity.edu.in::241b5f3e-36f4-4c61-9553-90e6a1c1b8a6" providerId="AD" clId="Web-{7612C907-89C8-A924-E2CC-77C48E87E04A}" dt="2026-02-02T10:28:41.516" v="138" actId="20577"/>
        <pc:sldMkLst>
          <pc:docMk/>
          <pc:sldMk cId="1153999674" sldId="355"/>
        </pc:sldMkLst>
        <pc:spChg chg="mod">
          <ac:chgData name="Avinash Arun Chauhan" userId="S::avinash.chauhan@mahindrauniversity.edu.in::241b5f3e-36f4-4c61-9553-90e6a1c1b8a6" providerId="AD" clId="Web-{7612C907-89C8-A924-E2CC-77C48E87E04A}" dt="2026-02-02T10:28:41.516" v="138" actId="20577"/>
          <ac:spMkLst>
            <pc:docMk/>
            <pc:sldMk cId="1153999674" sldId="355"/>
            <ac:spMk id="3" creationId="{712CE3DE-516D-536F-B692-856904E12035}"/>
          </ac:spMkLst>
        </pc:spChg>
      </pc:sldChg>
      <pc:sldChg chg="modSp">
        <pc:chgData name="Avinash Arun Chauhan" userId="S::avinash.chauhan@mahindrauniversity.edu.in::241b5f3e-36f4-4c61-9553-90e6a1c1b8a6" providerId="AD" clId="Web-{7612C907-89C8-A924-E2CC-77C48E87E04A}" dt="2026-02-02T09:37:34.750" v="3" actId="20577"/>
        <pc:sldMkLst>
          <pc:docMk/>
          <pc:sldMk cId="3125990423" sldId="374"/>
        </pc:sldMkLst>
        <pc:spChg chg="mod">
          <ac:chgData name="Avinash Arun Chauhan" userId="S::avinash.chauhan@mahindrauniversity.edu.in::241b5f3e-36f4-4c61-9553-90e6a1c1b8a6" providerId="AD" clId="Web-{7612C907-89C8-A924-E2CC-77C48E87E04A}" dt="2026-02-02T09:37:34.750" v="3" actId="20577"/>
          <ac:spMkLst>
            <pc:docMk/>
            <pc:sldMk cId="3125990423" sldId="374"/>
            <ac:spMk id="3" creationId="{CBC72A3F-02B0-5669-7582-61D85199CAB5}"/>
          </ac:spMkLst>
        </pc:spChg>
      </pc:sldChg>
      <pc:sldChg chg="modSp">
        <pc:chgData name="Avinash Arun Chauhan" userId="S::avinash.chauhan@mahindrauniversity.edu.in::241b5f3e-36f4-4c61-9553-90e6a1c1b8a6" providerId="AD" clId="Web-{7612C907-89C8-A924-E2CC-77C48E87E04A}" dt="2026-02-02T09:59:40.911" v="85" actId="20577"/>
        <pc:sldMkLst>
          <pc:docMk/>
          <pc:sldMk cId="2243988265" sldId="376"/>
        </pc:sldMkLst>
        <pc:spChg chg="mod">
          <ac:chgData name="Avinash Arun Chauhan" userId="S::avinash.chauhan@mahindrauniversity.edu.in::241b5f3e-36f4-4c61-9553-90e6a1c1b8a6" providerId="AD" clId="Web-{7612C907-89C8-A924-E2CC-77C48E87E04A}" dt="2026-02-02T09:59:40.911" v="85" actId="20577"/>
          <ac:spMkLst>
            <pc:docMk/>
            <pc:sldMk cId="2243988265" sldId="376"/>
            <ac:spMk id="3" creationId="{2C5E7EE0-1755-BC7A-0B64-5CB9CE2942C2}"/>
          </ac:spMkLst>
        </pc:spChg>
      </pc:sldChg>
      <pc:sldChg chg="modSp">
        <pc:chgData name="Avinash Arun Chauhan" userId="S::avinash.chauhan@mahindrauniversity.edu.in::241b5f3e-36f4-4c61-9553-90e6a1c1b8a6" providerId="AD" clId="Web-{7612C907-89C8-A924-E2CC-77C48E87E04A}" dt="2026-02-02T10:09:45.177" v="104" actId="20577"/>
        <pc:sldMkLst>
          <pc:docMk/>
          <pc:sldMk cId="278790401" sldId="383"/>
        </pc:sldMkLst>
        <pc:spChg chg="mod">
          <ac:chgData name="Avinash Arun Chauhan" userId="S::avinash.chauhan@mahindrauniversity.edu.in::241b5f3e-36f4-4c61-9553-90e6a1c1b8a6" providerId="AD" clId="Web-{7612C907-89C8-A924-E2CC-77C48E87E04A}" dt="2026-02-02T10:09:45.177" v="104" actId="20577"/>
          <ac:spMkLst>
            <pc:docMk/>
            <pc:sldMk cId="278790401" sldId="383"/>
            <ac:spMk id="3" creationId="{599FCD7E-3728-54BE-B92A-3CC8FAFCE0DC}"/>
          </ac:spMkLst>
        </pc:spChg>
      </pc:sldChg>
      <pc:sldChg chg="modSp">
        <pc:chgData name="Avinash Arun Chauhan" userId="S::avinash.chauhan@mahindrauniversity.edu.in::241b5f3e-36f4-4c61-9553-90e6a1c1b8a6" providerId="AD" clId="Web-{7612C907-89C8-A924-E2CC-77C48E87E04A}" dt="2026-02-02T10:17:04.156" v="105" actId="20577"/>
        <pc:sldMkLst>
          <pc:docMk/>
          <pc:sldMk cId="3912346787" sldId="385"/>
        </pc:sldMkLst>
        <pc:spChg chg="mod">
          <ac:chgData name="Avinash Arun Chauhan" userId="S::avinash.chauhan@mahindrauniversity.edu.in::241b5f3e-36f4-4c61-9553-90e6a1c1b8a6" providerId="AD" clId="Web-{7612C907-89C8-A924-E2CC-77C48E87E04A}" dt="2026-02-02T10:17:04.156" v="105" actId="20577"/>
          <ac:spMkLst>
            <pc:docMk/>
            <pc:sldMk cId="3912346787" sldId="385"/>
            <ac:spMk id="3" creationId="{ACF2506A-540B-E79F-79EA-0A7BBEB8F6F5}"/>
          </ac:spMkLst>
        </pc:spChg>
      </pc:sldChg>
      <pc:sldChg chg="modSp">
        <pc:chgData name="Avinash Arun Chauhan" userId="S::avinash.chauhan@mahindrauniversity.edu.in::241b5f3e-36f4-4c61-9553-90e6a1c1b8a6" providerId="AD" clId="Web-{7612C907-89C8-A924-E2CC-77C48E87E04A}" dt="2026-02-02T10:18:09.157" v="106" actId="20577"/>
        <pc:sldMkLst>
          <pc:docMk/>
          <pc:sldMk cId="1930055580" sldId="387"/>
        </pc:sldMkLst>
        <pc:spChg chg="mod">
          <ac:chgData name="Avinash Arun Chauhan" userId="S::avinash.chauhan@mahindrauniversity.edu.in::241b5f3e-36f4-4c61-9553-90e6a1c1b8a6" providerId="AD" clId="Web-{7612C907-89C8-A924-E2CC-77C48E87E04A}" dt="2026-02-02T10:18:09.157" v="106" actId="20577"/>
          <ac:spMkLst>
            <pc:docMk/>
            <pc:sldMk cId="1930055580" sldId="387"/>
            <ac:spMk id="3" creationId="{B0BE3456-18FC-0338-7B53-B07B01978204}"/>
          </ac:spMkLst>
        </pc:spChg>
      </pc:sldChg>
      <pc:sldChg chg="modSp">
        <pc:chgData name="Avinash Arun Chauhan" userId="S::avinash.chauhan@mahindrauniversity.edu.in::241b5f3e-36f4-4c61-9553-90e6a1c1b8a6" providerId="AD" clId="Web-{7612C907-89C8-A924-E2CC-77C48E87E04A}" dt="2026-02-02T10:19:28.424" v="107" actId="20577"/>
        <pc:sldMkLst>
          <pc:docMk/>
          <pc:sldMk cId="4197956168" sldId="388"/>
        </pc:sldMkLst>
        <pc:spChg chg="mod">
          <ac:chgData name="Avinash Arun Chauhan" userId="S::avinash.chauhan@mahindrauniversity.edu.in::241b5f3e-36f4-4c61-9553-90e6a1c1b8a6" providerId="AD" clId="Web-{7612C907-89C8-A924-E2CC-77C48E87E04A}" dt="2026-02-02T10:19:28.424" v="107" actId="20577"/>
          <ac:spMkLst>
            <pc:docMk/>
            <pc:sldMk cId="4197956168" sldId="388"/>
            <ac:spMk id="3" creationId="{10D27868-FB86-AA98-01E5-10EE51DA8DA1}"/>
          </ac:spMkLst>
        </pc:spChg>
      </pc:sldChg>
      <pc:sldChg chg="modSp">
        <pc:chgData name="Avinash Arun Chauhan" userId="S::avinash.chauhan@mahindrauniversity.edu.in::241b5f3e-36f4-4c61-9553-90e6a1c1b8a6" providerId="AD" clId="Web-{7612C907-89C8-A924-E2CC-77C48E87E04A}" dt="2026-02-02T10:19:41.332" v="109" actId="20577"/>
        <pc:sldMkLst>
          <pc:docMk/>
          <pc:sldMk cId="1642163674" sldId="391"/>
        </pc:sldMkLst>
        <pc:spChg chg="mod">
          <ac:chgData name="Avinash Arun Chauhan" userId="S::avinash.chauhan@mahindrauniversity.edu.in::241b5f3e-36f4-4c61-9553-90e6a1c1b8a6" providerId="AD" clId="Web-{7612C907-89C8-A924-E2CC-77C48E87E04A}" dt="2026-02-02T10:19:41.332" v="109" actId="20577"/>
          <ac:spMkLst>
            <pc:docMk/>
            <pc:sldMk cId="1642163674" sldId="391"/>
            <ac:spMk id="3" creationId="{A2B297FB-0DC9-DF43-1FE2-E1D06D679BFD}"/>
          </ac:spMkLst>
        </pc:spChg>
      </pc:sldChg>
      <pc:sldChg chg="modSp">
        <pc:chgData name="Avinash Arun Chauhan" userId="S::avinash.chauhan@mahindrauniversity.edu.in::241b5f3e-36f4-4c61-9553-90e6a1c1b8a6" providerId="AD" clId="Web-{7612C907-89C8-A924-E2CC-77C48E87E04A}" dt="2026-02-02T10:20:04.615" v="111" actId="20577"/>
        <pc:sldMkLst>
          <pc:docMk/>
          <pc:sldMk cId="3166245324" sldId="392"/>
        </pc:sldMkLst>
        <pc:spChg chg="mod">
          <ac:chgData name="Avinash Arun Chauhan" userId="S::avinash.chauhan@mahindrauniversity.edu.in::241b5f3e-36f4-4c61-9553-90e6a1c1b8a6" providerId="AD" clId="Web-{7612C907-89C8-A924-E2CC-77C48E87E04A}" dt="2026-02-02T10:20:04.615" v="111" actId="20577"/>
          <ac:spMkLst>
            <pc:docMk/>
            <pc:sldMk cId="3166245324" sldId="392"/>
            <ac:spMk id="3" creationId="{5345366D-DFDB-52D2-DEC5-3D3589B51A99}"/>
          </ac:spMkLst>
        </pc:spChg>
      </pc:sldChg>
      <pc:sldChg chg="ord">
        <pc:chgData name="Avinash Arun Chauhan" userId="S::avinash.chauhan@mahindrauniversity.edu.in::241b5f3e-36f4-4c61-9553-90e6a1c1b8a6" providerId="AD" clId="Web-{7612C907-89C8-A924-E2CC-77C48E87E04A}" dt="2026-02-02T10:37:45.807" v="205"/>
        <pc:sldMkLst>
          <pc:docMk/>
          <pc:sldMk cId="1331974274" sldId="396"/>
        </pc:sldMkLst>
      </pc:sldChg>
      <pc:sldChg chg="modSp ord">
        <pc:chgData name="Avinash Arun Chauhan" userId="S::avinash.chauhan@mahindrauniversity.edu.in::241b5f3e-36f4-4c61-9553-90e6a1c1b8a6" providerId="AD" clId="Web-{7612C907-89C8-A924-E2CC-77C48E87E04A}" dt="2026-02-02T10:37:56.932" v="206"/>
        <pc:sldMkLst>
          <pc:docMk/>
          <pc:sldMk cId="1676810814" sldId="397"/>
        </pc:sldMkLst>
        <pc:spChg chg="mod">
          <ac:chgData name="Avinash Arun Chauhan" userId="S::avinash.chauhan@mahindrauniversity.edu.in::241b5f3e-36f4-4c61-9553-90e6a1c1b8a6" providerId="AD" clId="Web-{7612C907-89C8-A924-E2CC-77C48E87E04A}" dt="2026-02-02T10:24:11.510" v="126" actId="20577"/>
          <ac:spMkLst>
            <pc:docMk/>
            <pc:sldMk cId="1676810814" sldId="397"/>
            <ac:spMk id="2" creationId="{CE705F12-B5C4-E17E-DB60-C4862BDA50FB}"/>
          </ac:spMkLst>
        </pc:spChg>
      </pc:sldChg>
      <pc:sldChg chg="modSp">
        <pc:chgData name="Avinash Arun Chauhan" userId="S::avinash.chauhan@mahindrauniversity.edu.in::241b5f3e-36f4-4c61-9553-90e6a1c1b8a6" providerId="AD" clId="Web-{7612C907-89C8-A924-E2CC-77C48E87E04A}" dt="2026-02-02T10:30:15.642" v="146" actId="20577"/>
        <pc:sldMkLst>
          <pc:docMk/>
          <pc:sldMk cId="2054758623" sldId="398"/>
        </pc:sldMkLst>
        <pc:spChg chg="mod">
          <ac:chgData name="Avinash Arun Chauhan" userId="S::avinash.chauhan@mahindrauniversity.edu.in::241b5f3e-36f4-4c61-9553-90e6a1c1b8a6" providerId="AD" clId="Web-{7612C907-89C8-A924-E2CC-77C48E87E04A}" dt="2026-02-02T10:30:15.642" v="146" actId="20577"/>
          <ac:spMkLst>
            <pc:docMk/>
            <pc:sldMk cId="2054758623" sldId="398"/>
            <ac:spMk id="3" creationId="{1EF3B05F-54EC-CE82-B963-C034D7AFA9B8}"/>
          </ac:spMkLst>
        </pc:spChg>
      </pc:sldChg>
      <pc:sldChg chg="modSp">
        <pc:chgData name="Avinash Arun Chauhan" userId="S::avinash.chauhan@mahindrauniversity.edu.in::241b5f3e-36f4-4c61-9553-90e6a1c1b8a6" providerId="AD" clId="Web-{7612C907-89C8-A924-E2CC-77C48E87E04A}" dt="2026-02-02T10:45:11.994" v="235" actId="20577"/>
        <pc:sldMkLst>
          <pc:docMk/>
          <pc:sldMk cId="2651303011" sldId="399"/>
        </pc:sldMkLst>
        <pc:spChg chg="mod">
          <ac:chgData name="Avinash Arun Chauhan" userId="S::avinash.chauhan@mahindrauniversity.edu.in::241b5f3e-36f4-4c61-9553-90e6a1c1b8a6" providerId="AD" clId="Web-{7612C907-89C8-A924-E2CC-77C48E87E04A}" dt="2026-02-02T10:45:11.994" v="235" actId="20577"/>
          <ac:spMkLst>
            <pc:docMk/>
            <pc:sldMk cId="2651303011" sldId="399"/>
            <ac:spMk id="3" creationId="{8277541F-54E4-9572-3016-BFE23F73526D}"/>
          </ac:spMkLst>
        </pc:spChg>
      </pc:sldChg>
      <pc:sldChg chg="modSp">
        <pc:chgData name="Avinash Arun Chauhan" userId="S::avinash.chauhan@mahindrauniversity.edu.in::241b5f3e-36f4-4c61-9553-90e6a1c1b8a6" providerId="AD" clId="Web-{7612C907-89C8-A924-E2CC-77C48E87E04A}" dt="2026-02-02T10:45:43.996" v="245" actId="20577"/>
        <pc:sldMkLst>
          <pc:docMk/>
          <pc:sldMk cId="797437864" sldId="405"/>
        </pc:sldMkLst>
        <pc:spChg chg="mod">
          <ac:chgData name="Avinash Arun Chauhan" userId="S::avinash.chauhan@mahindrauniversity.edu.in::241b5f3e-36f4-4c61-9553-90e6a1c1b8a6" providerId="AD" clId="Web-{7612C907-89C8-A924-E2CC-77C48E87E04A}" dt="2026-02-02T10:45:43.996" v="245" actId="20577"/>
          <ac:spMkLst>
            <pc:docMk/>
            <pc:sldMk cId="797437864" sldId="405"/>
            <ac:spMk id="4" creationId="{B8A552F9-0648-50A3-316F-33B99A9DF752}"/>
          </ac:spMkLst>
        </pc:spChg>
      </pc:sldChg>
      <pc:sldChg chg="modSp">
        <pc:chgData name="Avinash Arun Chauhan" userId="S::avinash.chauhan@mahindrauniversity.edu.in::241b5f3e-36f4-4c61-9553-90e6a1c1b8a6" providerId="AD" clId="Web-{7612C907-89C8-A924-E2CC-77C48E87E04A}" dt="2026-02-02T10:46:14.982" v="247" actId="20577"/>
        <pc:sldMkLst>
          <pc:docMk/>
          <pc:sldMk cId="3490620550" sldId="406"/>
        </pc:sldMkLst>
        <pc:spChg chg="mod">
          <ac:chgData name="Avinash Arun Chauhan" userId="S::avinash.chauhan@mahindrauniversity.edu.in::241b5f3e-36f4-4c61-9553-90e6a1c1b8a6" providerId="AD" clId="Web-{7612C907-89C8-A924-E2CC-77C48E87E04A}" dt="2026-02-02T10:46:14.982" v="247" actId="20577"/>
          <ac:spMkLst>
            <pc:docMk/>
            <pc:sldMk cId="3490620550" sldId="406"/>
            <ac:spMk id="3" creationId="{92B08754-CB2F-1371-C199-43B827089422}"/>
          </ac:spMkLst>
        </pc:spChg>
      </pc:sldChg>
      <pc:sldChg chg="modSp">
        <pc:chgData name="Avinash Arun Chauhan" userId="S::avinash.chauhan@mahindrauniversity.edu.in::241b5f3e-36f4-4c61-9553-90e6a1c1b8a6" providerId="AD" clId="Web-{7612C907-89C8-A924-E2CC-77C48E87E04A}" dt="2026-02-02T10:46:21.263" v="248" actId="20577"/>
        <pc:sldMkLst>
          <pc:docMk/>
          <pc:sldMk cId="1706956384" sldId="407"/>
        </pc:sldMkLst>
        <pc:spChg chg="mod">
          <ac:chgData name="Avinash Arun Chauhan" userId="S::avinash.chauhan@mahindrauniversity.edu.in::241b5f3e-36f4-4c61-9553-90e6a1c1b8a6" providerId="AD" clId="Web-{7612C907-89C8-A924-E2CC-77C48E87E04A}" dt="2026-02-02T10:46:21.263" v="248" actId="20577"/>
          <ac:spMkLst>
            <pc:docMk/>
            <pc:sldMk cId="1706956384" sldId="407"/>
            <ac:spMk id="3" creationId="{2EAFD3EE-7466-CD62-CA5C-9CEFADAE6FAD}"/>
          </ac:spMkLst>
        </pc:spChg>
      </pc:sldChg>
      <pc:sldChg chg="addSp delSp modSp add replId">
        <pc:chgData name="Avinash Arun Chauhan" userId="S::avinash.chauhan@mahindrauniversity.edu.in::241b5f3e-36f4-4c61-9553-90e6a1c1b8a6" providerId="AD" clId="Web-{7612C907-89C8-A924-E2CC-77C48E87E04A}" dt="2026-02-02T09:58:56.723" v="83" actId="20577"/>
        <pc:sldMkLst>
          <pc:docMk/>
          <pc:sldMk cId="774716215" sldId="416"/>
        </pc:sldMkLst>
        <pc:spChg chg="mod">
          <ac:chgData name="Avinash Arun Chauhan" userId="S::avinash.chauhan@mahindrauniversity.edu.in::241b5f3e-36f4-4c61-9553-90e6a1c1b8a6" providerId="AD" clId="Web-{7612C907-89C8-A924-E2CC-77C48E87E04A}" dt="2026-02-02T09:57:20.890" v="53" actId="20577"/>
          <ac:spMkLst>
            <pc:docMk/>
            <pc:sldMk cId="774716215" sldId="416"/>
            <ac:spMk id="2" creationId="{AB504923-0F22-5713-525D-F8CDACD24C97}"/>
          </ac:spMkLst>
        </pc:spChg>
        <pc:spChg chg="add del mod">
          <ac:chgData name="Avinash Arun Chauhan" userId="S::avinash.chauhan@mahindrauniversity.edu.in::241b5f3e-36f4-4c61-9553-90e6a1c1b8a6" providerId="AD" clId="Web-{7612C907-89C8-A924-E2CC-77C48E87E04A}" dt="2026-02-02T09:58:56.723" v="83" actId="20577"/>
          <ac:spMkLst>
            <pc:docMk/>
            <pc:sldMk cId="774716215" sldId="416"/>
            <ac:spMk id="3" creationId="{582BBCC2-F092-F8C2-C46C-080BDE25896D}"/>
          </ac:spMkLst>
        </pc:spChg>
        <pc:spChg chg="mod">
          <ac:chgData name="Avinash Arun Chauhan" userId="S::avinash.chauhan@mahindrauniversity.edu.in::241b5f3e-36f4-4c61-9553-90e6a1c1b8a6" providerId="AD" clId="Web-{7612C907-89C8-A924-E2CC-77C48E87E04A}" dt="2026-02-02T09:57:00.233" v="40" actId="1076"/>
          <ac:spMkLst>
            <pc:docMk/>
            <pc:sldMk cId="774716215" sldId="416"/>
            <ac:spMk id="7" creationId="{0A9A962E-35CD-D554-B870-B7D53D4DEA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34B48-4FE2-B019-FEE6-D9FA2F5F8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E5AA8-C649-A5D7-CBCC-580A9AD70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26624-4CB3-980C-3526-08ADD346A1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897AE3-7EA7-83D5-D417-9B7FB70DAA6A}"/>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244233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508628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1315350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D970-EEA8-B640-565F-D4FAA31C7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FB658-EF43-9573-6FC1-6EE42C496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FF076-61E1-EA3A-E0F9-9F4A56DAB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2DAD25-2796-B82C-84D1-96AEFA2FDC82}"/>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1163528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3997503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097406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hardware development, where high manufacturing costs are involved, this makes sense. However, for software development, these stages overlap and feed information to each other. During design, problems with requirements are identified; during coding design problems are found, and so on. The software process, in practice, is never a simple linear model but involves feedback from one phase to another</a:t>
            </a:r>
          </a:p>
        </p:txBody>
      </p:sp>
      <p:sp>
        <p:nvSpPr>
          <p:cNvPr id="4" name="Slide Number Placeholder 3"/>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120860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1053197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2818561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BDD86-313F-B460-3BDC-3BAA33C55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8F8D8-57BD-625E-2B87-900A2B7E9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84AC5-DD18-87BB-2E99-6C3D5154B7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E085EE-5A55-C665-661F-29E3C4D5C79B}"/>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2657682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1225346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186063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BA61B-C5C5-77F7-E903-56954597A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338F9-CA26-64D7-3195-5776636470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E2DF2-C21F-A81D-BB53-AF068009999F}"/>
              </a:ext>
            </a:extLst>
          </p:cNvPr>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a:extLst>
              <a:ext uri="{FF2B5EF4-FFF2-40B4-BE49-F238E27FC236}">
                <a16:creationId xmlns:a16="http://schemas.microsoft.com/office/drawing/2014/main" id="{CE0E4407-8EE4-3586-0860-42B4310372B7}"/>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28773370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2520055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4B337-335C-A762-0BC8-39F3E3BC4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F2349-AB3D-AEDD-B657-A8567E446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C6C9E6-6D7B-B3EF-BA06-267B8BF981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0EAA0DB-0A10-2850-BD96-FFDAAD052CF3}"/>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3274980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38F65-2676-86BC-1105-E53C3124B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43230-B076-9183-7B3C-B2EAFD1AC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F27ED-55DC-D1E0-D3F0-943E387FD5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7C2DA9-F254-C5B8-475A-66A524C7E899}"/>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3210012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7B90-01C6-2F2F-EFF3-CD18568C1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49C31-2E31-D7A7-D6C8-39D516E09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38B857-B8B3-D47D-60A0-9ACB34B635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C8A95B-1D62-FCAD-DDAA-16035CEEE7CF}"/>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1314390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3272C-14B4-88C1-0219-A52B8043C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9C844-AC09-BD26-D8C1-23C50DB6D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89D71-EE0D-769C-4A92-54EC45471A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FC0152-6FA0-6DFE-2A0D-B0A326E0E7A4}"/>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25414876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0013-641F-58BE-3409-49D2C9D40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84B3E-0AF3-DCD6-28BC-6F624EED0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378A2-E3FC-DDA9-DD16-06C26A3AC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B6391F-E1EE-4B6C-8B35-8A0EC0360499}"/>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3747913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Key Characteristics of a Story:</a:t>
            </a:r>
            <a:endParaRPr lang="en-US"/>
          </a:p>
          <a:p>
            <a:pPr marL="171450" indent="-171450">
              <a:buFont typeface="Arial"/>
              <a:buChar char="•"/>
            </a:pPr>
            <a:r>
              <a:rPr lang="en-US" b="1"/>
              <a:t>User-Centric:</a:t>
            </a:r>
            <a:endParaRPr lang="en-US"/>
          </a:p>
          <a:p>
            <a:pPr marL="628650" lvl="1" indent="-171450">
              <a:buFont typeface="Arial"/>
              <a:buChar char="•"/>
            </a:pPr>
            <a:r>
              <a:rPr lang="en-US"/>
              <a:t>Describes a feature in terms of the user’s needs.</a:t>
            </a:r>
          </a:p>
          <a:p>
            <a:pPr marL="628650" lvl="1" indent="-171450">
              <a:buFont typeface="Arial"/>
              <a:buChar char="•"/>
            </a:pPr>
            <a:r>
              <a:rPr lang="en-US"/>
              <a:t>Written in natural language, avoiding technical jargon.</a:t>
            </a:r>
          </a:p>
          <a:p>
            <a:pPr marL="171450" indent="-171450">
              <a:buFont typeface="Arial"/>
              <a:buChar char="•"/>
            </a:pPr>
            <a:r>
              <a:rPr lang="en-US" b="1"/>
              <a:t>Simple and Concise:</a:t>
            </a:r>
            <a:endParaRPr lang="en-US"/>
          </a:p>
          <a:p>
            <a:pPr marL="628650" lvl="1" indent="-171450">
              <a:buFont typeface="Arial"/>
              <a:buChar char="•"/>
            </a:pPr>
            <a:r>
              <a:rPr lang="en-US"/>
              <a:t>Typically fits on an index card or a few lines of text.</a:t>
            </a:r>
          </a:p>
          <a:p>
            <a:pPr marL="628650" lvl="1" indent="-171450">
              <a:buFont typeface="Arial"/>
              <a:buChar char="•"/>
            </a:pPr>
            <a:r>
              <a:rPr lang="en-US"/>
              <a:t>Focuses on a specific goal or task.</a:t>
            </a:r>
          </a:p>
          <a:p>
            <a:pPr marL="171450" indent="-171450">
              <a:buFont typeface="Arial"/>
              <a:buChar char="•"/>
            </a:pPr>
            <a:r>
              <a:rPr lang="en-US" b="1"/>
              <a:t>INVEST Criteria (Good User Stories):</a:t>
            </a:r>
            <a:endParaRPr lang="en-US"/>
          </a:p>
          <a:p>
            <a:pPr marL="628650" lvl="1" indent="-171450">
              <a:buFont typeface="Arial"/>
              <a:buChar char="•"/>
            </a:pPr>
            <a:r>
              <a:rPr lang="en-US" b="1"/>
              <a:t>I</a:t>
            </a:r>
            <a:r>
              <a:rPr lang="en-US"/>
              <a:t>ndependent: Can be developed separately from other stories.</a:t>
            </a:r>
          </a:p>
          <a:p>
            <a:pPr marL="628650" lvl="1" indent="-171450">
              <a:buFont typeface="Arial"/>
              <a:buChar char="•"/>
            </a:pPr>
            <a:r>
              <a:rPr lang="en-US" b="1"/>
              <a:t>N</a:t>
            </a:r>
            <a:r>
              <a:rPr lang="en-US"/>
              <a:t>egotiable: Flexible for discussions and refinements.</a:t>
            </a:r>
          </a:p>
          <a:p>
            <a:pPr marL="628650" lvl="1" indent="-171450">
              <a:buFont typeface="Arial"/>
              <a:buChar char="•"/>
            </a:pPr>
            <a:r>
              <a:rPr lang="en-US" b="1" dirty="0"/>
              <a:t>V</a:t>
            </a:r>
            <a:r>
              <a:rPr lang="en-US" dirty="0"/>
              <a:t>aluable: Provides clear value to the user or customer.</a:t>
            </a:r>
            <a:endParaRPr lang="en-US" dirty="0">
              <a:ea typeface="Calibri"/>
              <a:cs typeface="Calibri"/>
            </a:endParaRPr>
          </a:p>
          <a:p>
            <a:pPr marL="628650" lvl="1" indent="-171450">
              <a:buFont typeface="Arial"/>
              <a:buChar char="•"/>
            </a:pPr>
            <a:r>
              <a:rPr lang="en-US" b="1" dirty="0"/>
              <a:t>E</a:t>
            </a:r>
            <a:r>
              <a:rPr lang="en-US" dirty="0"/>
              <a:t>stimable: Can be estimated in terms of effort or time.</a:t>
            </a:r>
            <a:endParaRPr lang="en-US" dirty="0">
              <a:ea typeface="Calibri"/>
              <a:cs typeface="Calibri"/>
            </a:endParaRPr>
          </a:p>
          <a:p>
            <a:pPr marL="628650" lvl="1" indent="-171450">
              <a:buFont typeface="Arial"/>
              <a:buChar char="•"/>
            </a:pPr>
            <a:r>
              <a:rPr lang="en-US" b="1" dirty="0"/>
              <a:t>S</a:t>
            </a:r>
            <a:r>
              <a:rPr lang="en-US" dirty="0"/>
              <a:t>mall: Manageable within a single iteration.</a:t>
            </a:r>
            <a:endParaRPr lang="en-US" dirty="0">
              <a:ea typeface="Calibri"/>
              <a:cs typeface="Calibri"/>
            </a:endParaRPr>
          </a:p>
          <a:p>
            <a:pPr marL="628650" lvl="1" indent="-171450">
              <a:buFont typeface="Arial"/>
              <a:buChar char="•"/>
            </a:pPr>
            <a:r>
              <a:rPr lang="en-US" b="1" dirty="0"/>
              <a:t>T</a:t>
            </a:r>
            <a:r>
              <a:rPr lang="en-US" dirty="0"/>
              <a:t>estable: Clear criteria to verify its completion.</a:t>
            </a:r>
            <a:endParaRPr lang="en-US" dirty="0">
              <a:ea typeface="Calibri"/>
              <a:cs typeface="Calibri"/>
            </a:endParaRPr>
          </a:p>
          <a:p>
            <a:endParaRPr lang="en-US" dirty="0">
              <a:ea typeface="Calibri"/>
              <a:cs typeface="Calibri"/>
            </a:endParaRPr>
          </a:p>
          <a:p>
            <a:r>
              <a:rPr lang="en-US" b="1" dirty="0"/>
              <a:t>Structure of a User Story:</a:t>
            </a:r>
            <a:endParaRPr lang="en-US" dirty="0"/>
          </a:p>
          <a:p>
            <a:r>
              <a:rPr lang="en-US" dirty="0"/>
              <a:t>The common template is:</a:t>
            </a:r>
            <a:endParaRPr lang="en-US" dirty="0">
              <a:ea typeface="Calibri"/>
              <a:cs typeface="Calibri"/>
            </a:endParaRPr>
          </a:p>
          <a:p>
            <a:r>
              <a:rPr lang="en-US" b="1" dirty="0"/>
              <a:t>“As a [type of user], I want [an action or feature] so that [desired outcome].”</a:t>
            </a:r>
            <a:endParaRPr lang="en-US" dirty="0"/>
          </a:p>
          <a:p>
            <a:endParaRPr lang="en-US" b="1" dirty="0"/>
          </a:p>
          <a:p>
            <a:r>
              <a:rPr lang="en-US" b="1" dirty="0"/>
              <a:t>Examples (Sustainable Shopping Assistant App):</a:t>
            </a:r>
            <a:endParaRPr lang="en-US" dirty="0"/>
          </a:p>
          <a:p>
            <a:pPr marL="171450" indent="-171450">
              <a:buFont typeface="Arial"/>
              <a:buChar char="•"/>
            </a:pPr>
            <a:r>
              <a:rPr lang="en-US" b="1" dirty="0"/>
              <a:t>Barcode Scanning:</a:t>
            </a:r>
            <a:endParaRPr lang="en-US" dirty="0"/>
          </a:p>
          <a:p>
            <a:pPr marL="628650" lvl="1" indent="-171450">
              <a:buFont typeface="Arial"/>
              <a:buChar char="•"/>
            </a:pPr>
            <a:r>
              <a:rPr lang="en-US" i="1" dirty="0"/>
              <a:t>"As a shopper, I want to scan a product’s barcode so that I can instantly see its sustainability rating."</a:t>
            </a:r>
            <a:endParaRPr lang="en-US" dirty="0"/>
          </a:p>
          <a:p>
            <a:pPr marL="171450" indent="-171450">
              <a:buFont typeface="Arial"/>
              <a:buChar char="•"/>
            </a:pPr>
            <a:r>
              <a:rPr lang="en-US" b="1" dirty="0"/>
              <a:t>Eco-Friendly Suggestions:</a:t>
            </a:r>
            <a:endParaRPr lang="en-US" dirty="0"/>
          </a:p>
          <a:p>
            <a:pPr marL="628650" lvl="1" indent="-171450">
              <a:buFont typeface="Arial"/>
              <a:buChar char="•"/>
            </a:pPr>
            <a:r>
              <a:rPr lang="en-US" i="1" dirty="0"/>
              <a:t>"As a conscious consumer, I want to receive eco-friendly product suggestions based on my purchases so that I can make more sustainable choices."</a:t>
            </a:r>
            <a:endParaRPr lang="en-US" dirty="0"/>
          </a:p>
          <a:p>
            <a:pPr marL="171450" indent="-171450">
              <a:buFont typeface="Arial"/>
              <a:buChar char="•"/>
            </a:pPr>
            <a:r>
              <a:rPr lang="en-US" b="1" dirty="0"/>
              <a:t>Carbon Footprint Analysis:</a:t>
            </a:r>
            <a:endParaRPr lang="en-US" dirty="0"/>
          </a:p>
          <a:p>
            <a:pPr marL="628650" lvl="1" indent="-171450">
              <a:buFont typeface="Arial"/>
              <a:buChar char="•"/>
            </a:pPr>
            <a:r>
              <a:rPr lang="en-US" i="1" dirty="0"/>
              <a:t>"As a user, I want to upload my supermarket bills so that the app can analyze my ecological footprint."</a:t>
            </a:r>
            <a:endParaRPr lang="en-US" dirty="0"/>
          </a:p>
        </p:txBody>
      </p:sp>
      <p:sp>
        <p:nvSpPr>
          <p:cNvPr id="4" name="Slide Number Placeholder 3"/>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3982381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4929A-0C87-1782-F9CC-B08285E08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533AC-4D11-1B04-7886-A7C1596E3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4E98F-1FFD-3260-2F93-4CD1103009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92FC1-159D-01E8-5358-30EA97878447}"/>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4005908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F6B4-53A4-F48C-5896-6E09AA239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7A8A7-0F78-D51D-D9E9-4CFFFD4938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94140-8F74-4C9B-06B6-C0B8422133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9C7D44-71EE-51C6-2C51-4494988ABC17}"/>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2319288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DBD2-04E8-7462-917E-4576652662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18390-18AE-2614-5164-E51A44167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AAB01-937B-8AFC-513E-D6B67705B7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352612-7C1B-3CCE-A030-E4705140B5E6}"/>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232948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D9396-4E2D-7C2A-E74E-959FD5A05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B1E5C-03F5-71D4-FCA2-9AF0EE6A2C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CB76B-1530-E015-4FE2-83F72296CA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B47E0A-C050-9309-8052-890D1809202A}"/>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1271421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4577F-06E6-D8B6-C9DB-E32184B8D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1CB21-7677-7C80-C517-468CD7E748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1DF47-BAD6-2F96-5145-D6D85D5F03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D37179-C4AC-3E18-F7D7-D566DCC62791}"/>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2464586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6E69A-2CAD-C5AA-B320-A62740792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B3737-4BCD-B404-E738-948A5FF39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4D755-E374-97DA-E3BF-70BDE67640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2C7F56-6C52-20A4-F36B-FE7DC8AD315A}"/>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3389381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8FD42-52EC-DB89-1CF7-EB0D30751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6FDA3-71AF-0F24-41E6-CB00F58CEE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EBF20-4DC7-9E05-0B65-5BAE85B8AD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316FC6-E419-1624-B194-4112DED4AF49}"/>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35473421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4CDD-4A65-3C23-14B8-6C080210F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E8ECA-1C91-7BFB-DCE6-DBEDC421D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C13786-768F-BCEA-9A9D-9979020B84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8C69C1A-6364-3140-29D2-C8F1F06D3CE6}"/>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10765905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384F9-8638-E40F-CE3E-D2953AE15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FF39A-6A09-894A-4E1E-C7D2A17E5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1860D-148A-553C-7591-61CDEC241D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67466-70EF-F50A-F86B-58D4132F98CE}"/>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29871405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9A8F0-A2EC-B9AB-6034-AB083B513C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F19A6-DDDE-0FA9-0FEE-DE78E2C724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8F832-F630-45A6-BD2F-820E8150D9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273733-3601-0A3B-276F-E8EDAA862A1B}"/>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6388198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18892711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D7AFA-F2CA-533B-C4B0-142CF12BF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764C6-B29E-4337-41E3-EE552687F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6736C-CF47-9E37-6F77-D55FFE1348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4DD960-3AB8-3C2F-D1A1-D31D183F2FAA}"/>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961211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7AB34-384F-E060-404D-193C11DFC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FC2AC-798F-986D-696A-3650F38AA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545311-95D4-69BE-F6D0-6E6DC8B599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311E31-DE0D-D109-A16B-9287457CC75C}"/>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26126991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16147330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401F-15C0-E207-139A-6132492F0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B736A-BBBC-848D-BE42-7933ECD13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D7A57-2C81-1D9C-E27B-D8E5AECF40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048C49-2489-0236-DED8-8C816C05EE02}"/>
              </a:ext>
            </a:extLst>
          </p:cNvPr>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19453191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8872768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AA8B-464C-DF31-34AD-8B1B8CEEE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F9856-7C4A-A94D-DF86-225B6A901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6AD8D-55D6-35AA-17CC-9795DF8FF0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24896D-F5B5-AE2B-4184-401220D1004E}"/>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35270308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4565F-C320-4405-3322-70D88F30C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44EE7-5BE5-FC70-89CD-8D738EF16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16F69-C8E9-8347-85D0-411B37ABDF58}"/>
              </a:ext>
            </a:extLst>
          </p:cNvPr>
          <p:cNvSpPr>
            <a:spLocks noGrp="1"/>
          </p:cNvSpPr>
          <p:nvPr>
            <p:ph type="body" idx="1"/>
          </p:nvPr>
        </p:nvSpPr>
        <p:spPr/>
        <p:txBody>
          <a:bodyPr/>
          <a:lstStyle/>
          <a:p>
            <a:r>
              <a:rPr lang="en-US"/>
              <a:t>While the majority of entries in the product backlog are concerned with the implementation of system features, other activities may also be included. Sometimes, when planning an iteration, questions that cannot be easily answered come to light and additional work is required to explore possible solutions. The team may carry out some prototyping or trial development to understand the problem and solution. There may also be backlog items to design the system architecture or to develop system documentation</a:t>
            </a:r>
          </a:p>
          <a:p>
            <a:endParaRPr lang="en-US" dirty="0">
              <a:ea typeface="Calibri"/>
              <a:cs typeface="Calibri"/>
            </a:endParaRPr>
          </a:p>
          <a:p>
            <a:pPr marL="171450" indent="-171450">
              <a:lnSpc>
                <a:spcPct val="90000"/>
              </a:lnSpc>
              <a:spcBef>
                <a:spcPts val="1000"/>
              </a:spcBef>
              <a:buFont typeface="Arial"/>
              <a:buChar char="•"/>
            </a:pPr>
            <a:r>
              <a:rPr lang="en-US"/>
              <a:t>The product backlog can be the list of items such as product features, requirements, and engineering improvement that have to be worked on by the Scrum team</a:t>
            </a:r>
          </a:p>
          <a:p>
            <a:pPr marL="171450" indent="-171450">
              <a:lnSpc>
                <a:spcPct val="90000"/>
              </a:lnSpc>
              <a:spcBef>
                <a:spcPts val="1000"/>
              </a:spcBef>
              <a:buFont typeface="Arial"/>
              <a:buChar char="•"/>
            </a:pPr>
            <a:r>
              <a:rPr lang="en-US"/>
              <a:t>The initial product backlog can be derived from requirements document, user stories, or any other stories of the software being developed</a:t>
            </a:r>
          </a:p>
          <a:p>
            <a:endParaRPr lang="en-US" dirty="0">
              <a:ea typeface="Calibri"/>
              <a:cs typeface="Calibri"/>
            </a:endParaRPr>
          </a:p>
        </p:txBody>
      </p:sp>
      <p:sp>
        <p:nvSpPr>
          <p:cNvPr id="4" name="Slide Number Placeholder 3">
            <a:extLst>
              <a:ext uri="{FF2B5EF4-FFF2-40B4-BE49-F238E27FC236}">
                <a16:creationId xmlns:a16="http://schemas.microsoft.com/office/drawing/2014/main" id="{8FA9AD39-2DA0-0F29-FEEB-E83DC6B897DC}"/>
              </a:ext>
            </a:extLst>
          </p:cNvPr>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31716144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5B8F-6BAF-5444-79CF-B464A54F9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5AB74-3818-3F66-E717-E7CD0A15D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4E014-421E-7A74-FBBE-F4553E9CA9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79345B-3347-8CEB-E140-637ED6011369}"/>
              </a:ext>
            </a:extLst>
          </p:cNvPr>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31407740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1278-D75A-BFBF-F0BB-75F239C28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98E33-E342-E8E6-246E-D78D513FF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288FF-ABB6-522B-CB02-51481B0B75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E093C-E938-1453-8DDB-D70987797EF2}"/>
              </a:ext>
            </a:extLst>
          </p:cNvPr>
          <p:cNvSpPr>
            <a:spLocks noGrp="1"/>
          </p:cNvSpPr>
          <p:nvPr>
            <p:ph type="sldNum" sz="quarter" idx="5"/>
          </p:nvPr>
        </p:nvSpPr>
        <p:spPr/>
        <p:txBody>
          <a:bodyPr/>
          <a:lstStyle/>
          <a:p>
            <a:fld id="{2E5A36BE-6307-4311-8670-04B167AD63B7}" type="slidenum">
              <a:rPr lang="en-US" smtClean="0"/>
              <a:t>41</a:t>
            </a:fld>
            <a:endParaRPr lang="en-US"/>
          </a:p>
        </p:txBody>
      </p:sp>
    </p:spTree>
    <p:extLst>
      <p:ext uri="{BB962C8B-B14F-4D97-AF65-F5344CB8AC3E}">
        <p14:creationId xmlns:p14="http://schemas.microsoft.com/office/powerpoint/2010/main" val="40038889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76E96-2E10-676C-0313-0CF603CB6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537F6F-C6AC-0B0E-1E6C-BE10C98F8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B199E-C2B3-C06D-B026-B187B627E2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8D378E-58B1-EE33-ED83-92B5D5F11751}"/>
              </a:ext>
            </a:extLst>
          </p:cNvPr>
          <p:cNvSpPr>
            <a:spLocks noGrp="1"/>
          </p:cNvSpPr>
          <p:nvPr>
            <p:ph type="sldNum" sz="quarter" idx="5"/>
          </p:nvPr>
        </p:nvSpPr>
        <p:spPr/>
        <p:txBody>
          <a:bodyPr/>
          <a:lstStyle/>
          <a:p>
            <a:fld id="{2E5A36BE-6307-4311-8670-04B167AD63B7}" type="slidenum">
              <a:rPr lang="en-US" smtClean="0"/>
              <a:t>42</a:t>
            </a:fld>
            <a:endParaRPr lang="en-US"/>
          </a:p>
        </p:txBody>
      </p:sp>
    </p:spTree>
    <p:extLst>
      <p:ext uri="{BB962C8B-B14F-4D97-AF65-F5344CB8AC3E}">
        <p14:creationId xmlns:p14="http://schemas.microsoft.com/office/powerpoint/2010/main" val="13211435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59E1-3470-BD03-5862-51A46E937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E94F9-3423-6926-8B49-A088F5211D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184D9-10E4-D2DE-1E80-1F86BBBC35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A35ED0-EABE-86AD-5383-FDDDCBB8EEB5}"/>
              </a:ext>
            </a:extLst>
          </p:cNvPr>
          <p:cNvSpPr>
            <a:spLocks noGrp="1"/>
          </p:cNvSpPr>
          <p:nvPr>
            <p:ph type="sldNum" sz="quarter" idx="5"/>
          </p:nvPr>
        </p:nvSpPr>
        <p:spPr/>
        <p:txBody>
          <a:bodyPr/>
          <a:lstStyle/>
          <a:p>
            <a:fld id="{2E5A36BE-6307-4311-8670-04B167AD63B7}" type="slidenum">
              <a:rPr lang="en-US" smtClean="0"/>
              <a:t>43</a:t>
            </a:fld>
            <a:endParaRPr lang="en-US"/>
          </a:p>
        </p:txBody>
      </p:sp>
    </p:spTree>
    <p:extLst>
      <p:ext uri="{BB962C8B-B14F-4D97-AF65-F5344CB8AC3E}">
        <p14:creationId xmlns:p14="http://schemas.microsoft.com/office/powerpoint/2010/main" val="15494553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25411-057E-B34A-75F2-027C16C25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3E762-2549-9123-2652-CAF353101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048A5-96B3-5380-07DC-4C6BE5C0EE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A487A9-0DC7-72FF-96A9-D407C594E0F1}"/>
              </a:ext>
            </a:extLst>
          </p:cNvPr>
          <p:cNvSpPr>
            <a:spLocks noGrp="1"/>
          </p:cNvSpPr>
          <p:nvPr>
            <p:ph type="sldNum" sz="quarter" idx="5"/>
          </p:nvPr>
        </p:nvSpPr>
        <p:spPr/>
        <p:txBody>
          <a:bodyPr/>
          <a:lstStyle/>
          <a:p>
            <a:fld id="{2E5A36BE-6307-4311-8670-04B167AD63B7}" type="slidenum">
              <a:rPr lang="en-US" smtClean="0"/>
              <a:t>44</a:t>
            </a:fld>
            <a:endParaRPr lang="en-US"/>
          </a:p>
        </p:txBody>
      </p:sp>
    </p:spTree>
    <p:extLst>
      <p:ext uri="{BB962C8B-B14F-4D97-AF65-F5344CB8AC3E}">
        <p14:creationId xmlns:p14="http://schemas.microsoft.com/office/powerpoint/2010/main" val="31812990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C1B96-9DA6-9461-F290-BD433A50F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54266-0E6C-4D47-FB22-28C4A1A6C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898E1-E3CD-BAC1-62EE-05D5C2A230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E7EE23-6107-27EF-C6CA-2CAAFE76F0C6}"/>
              </a:ext>
            </a:extLst>
          </p:cNvPr>
          <p:cNvSpPr>
            <a:spLocks noGrp="1"/>
          </p:cNvSpPr>
          <p:nvPr>
            <p:ph type="sldNum" sz="quarter" idx="5"/>
          </p:nvPr>
        </p:nvSpPr>
        <p:spPr/>
        <p:txBody>
          <a:bodyPr/>
          <a:lstStyle/>
          <a:p>
            <a:fld id="{2E5A36BE-6307-4311-8670-04B167AD63B7}" type="slidenum">
              <a:rPr lang="en-US" smtClean="0"/>
              <a:t>45</a:t>
            </a:fld>
            <a:endParaRPr lang="en-US"/>
          </a:p>
        </p:txBody>
      </p:sp>
    </p:spTree>
    <p:extLst>
      <p:ext uri="{BB962C8B-B14F-4D97-AF65-F5344CB8AC3E}">
        <p14:creationId xmlns:p14="http://schemas.microsoft.com/office/powerpoint/2010/main" val="1773715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BA386-1E92-2F6E-4E96-4EFABE76E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6A35B-1637-44DF-2792-F9C105DFAC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4D905-93D1-21AB-5BBD-2EA8AF4051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63831C-A3D8-063A-74BA-EA0C850720B1}"/>
              </a:ext>
            </a:extLst>
          </p:cNvPr>
          <p:cNvSpPr>
            <a:spLocks noGrp="1"/>
          </p:cNvSpPr>
          <p:nvPr>
            <p:ph type="sldNum" sz="quarter" idx="5"/>
          </p:nvPr>
        </p:nvSpPr>
        <p:spPr/>
        <p:txBody>
          <a:bodyPr/>
          <a:lstStyle/>
          <a:p>
            <a:fld id="{2E5A36BE-6307-4311-8670-04B167AD63B7}" type="slidenum">
              <a:rPr lang="en-US" smtClean="0"/>
              <a:t>46</a:t>
            </a:fld>
            <a:endParaRPr lang="en-US"/>
          </a:p>
        </p:txBody>
      </p:sp>
    </p:spTree>
    <p:extLst>
      <p:ext uri="{BB962C8B-B14F-4D97-AF65-F5344CB8AC3E}">
        <p14:creationId xmlns:p14="http://schemas.microsoft.com/office/powerpoint/2010/main" val="37516159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227E9-84A6-7C9E-99B3-68D92E4EB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525AE-B3F5-B242-801B-00C3C98CD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D9CAD-3FD8-A216-EBE4-D476B8B722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0AB547-CFCD-D1D2-2B42-D1BDB0602C92}"/>
              </a:ext>
            </a:extLst>
          </p:cNvPr>
          <p:cNvSpPr>
            <a:spLocks noGrp="1"/>
          </p:cNvSpPr>
          <p:nvPr>
            <p:ph type="sldNum" sz="quarter" idx="5"/>
          </p:nvPr>
        </p:nvSpPr>
        <p:spPr/>
        <p:txBody>
          <a:bodyPr/>
          <a:lstStyle/>
          <a:p>
            <a:fld id="{2E5A36BE-6307-4311-8670-04B167AD63B7}" type="slidenum">
              <a:rPr lang="en-US" smtClean="0"/>
              <a:t>47</a:t>
            </a:fld>
            <a:endParaRPr lang="en-US"/>
          </a:p>
        </p:txBody>
      </p:sp>
    </p:spTree>
    <p:extLst>
      <p:ext uri="{BB962C8B-B14F-4D97-AF65-F5344CB8AC3E}">
        <p14:creationId xmlns:p14="http://schemas.microsoft.com/office/powerpoint/2010/main" val="17819264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3F40A-D398-F441-4EB9-1C42CA661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43D56-09AC-A47A-F29B-F6B366DD0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15AE4-5B7F-338A-A03D-6166E490D9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6D9A5AF-5F1E-276C-BA92-D383D510401C}"/>
              </a:ext>
            </a:extLst>
          </p:cNvPr>
          <p:cNvSpPr>
            <a:spLocks noGrp="1"/>
          </p:cNvSpPr>
          <p:nvPr>
            <p:ph type="sldNum" sz="quarter" idx="5"/>
          </p:nvPr>
        </p:nvSpPr>
        <p:spPr/>
        <p:txBody>
          <a:bodyPr/>
          <a:lstStyle/>
          <a:p>
            <a:fld id="{2E5A36BE-6307-4311-8670-04B167AD63B7}" type="slidenum">
              <a:rPr lang="en-US" smtClean="0"/>
              <a:t>48</a:t>
            </a:fld>
            <a:endParaRPr lang="en-US"/>
          </a:p>
        </p:txBody>
      </p:sp>
    </p:spTree>
    <p:extLst>
      <p:ext uri="{BB962C8B-B14F-4D97-AF65-F5344CB8AC3E}">
        <p14:creationId xmlns:p14="http://schemas.microsoft.com/office/powerpoint/2010/main" val="4518302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3BA9C-2871-9C9E-3262-52790ACE3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65DCB-AE3F-8D0B-7063-F190B2328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A4981-52EC-3BA1-6B5F-81D0FBC539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AD23138-4715-59F8-68EB-7E394981D565}"/>
              </a:ext>
            </a:extLst>
          </p:cNvPr>
          <p:cNvSpPr>
            <a:spLocks noGrp="1"/>
          </p:cNvSpPr>
          <p:nvPr>
            <p:ph type="sldNum" sz="quarter" idx="5"/>
          </p:nvPr>
        </p:nvSpPr>
        <p:spPr/>
        <p:txBody>
          <a:bodyPr/>
          <a:lstStyle/>
          <a:p>
            <a:fld id="{2E5A36BE-6307-4311-8670-04B167AD63B7}" type="slidenum">
              <a:rPr lang="en-US" smtClean="0"/>
              <a:t>49</a:t>
            </a:fld>
            <a:endParaRPr lang="en-US"/>
          </a:p>
        </p:txBody>
      </p:sp>
    </p:spTree>
    <p:extLst>
      <p:ext uri="{BB962C8B-B14F-4D97-AF65-F5344CB8AC3E}">
        <p14:creationId xmlns:p14="http://schemas.microsoft.com/office/powerpoint/2010/main" val="15709840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738CB-94C7-6A9B-B234-7B16547C8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E21E6-B2A1-19D5-E9C1-5049E30B1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B090F-73E0-EEA7-0F96-4A2B117FD6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E0C5FF-C016-97DB-0D60-1ADDA56D0B2C}"/>
              </a:ext>
            </a:extLst>
          </p:cNvPr>
          <p:cNvSpPr>
            <a:spLocks noGrp="1"/>
          </p:cNvSpPr>
          <p:nvPr>
            <p:ph type="sldNum" sz="quarter" idx="5"/>
          </p:nvPr>
        </p:nvSpPr>
        <p:spPr/>
        <p:txBody>
          <a:bodyPr/>
          <a:lstStyle/>
          <a:p>
            <a:fld id="{2E5A36BE-6307-4311-8670-04B167AD63B7}" type="slidenum">
              <a:rPr lang="en-US" smtClean="0"/>
              <a:t>50</a:t>
            </a:fld>
            <a:endParaRPr lang="en-US"/>
          </a:p>
        </p:txBody>
      </p:sp>
    </p:spTree>
    <p:extLst>
      <p:ext uri="{BB962C8B-B14F-4D97-AF65-F5344CB8AC3E}">
        <p14:creationId xmlns:p14="http://schemas.microsoft.com/office/powerpoint/2010/main" val="21355117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5B3C3-DA6F-D358-BFA8-C75AEE1F1E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91DA8-1909-998C-F1DD-CBEC2FBFB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48BAC-629F-0BB0-7420-20BD975219D2}"/>
              </a:ext>
            </a:extLst>
          </p:cNvPr>
          <p:cNvSpPr>
            <a:spLocks noGrp="1"/>
          </p:cNvSpPr>
          <p:nvPr>
            <p:ph type="body" idx="1"/>
          </p:nvPr>
        </p:nvSpPr>
        <p:spPr/>
        <p:txBody>
          <a:bodyPr/>
          <a:lstStyle/>
          <a:p>
            <a:pPr marL="171450" indent="-171450">
              <a:lnSpc>
                <a:spcPct val="90000"/>
              </a:lnSpc>
              <a:spcBef>
                <a:spcPts val="1000"/>
              </a:spcBef>
              <a:buFont typeface="Arial"/>
              <a:buChar char="•"/>
            </a:pPr>
            <a:r>
              <a:rPr lang="en-US"/>
              <a:t>At the end of each sprint, there is a review meeting, which involves the whole team. This meeting has two purposes. First, it is a means of process improvement. The team reviews the way they have worked and reflects on how things could have been done better. Second, it provides input on the product and the product state for the product backlog review that precedes the next sprint</a:t>
            </a:r>
            <a:endParaRPr lang="en-US" dirty="0"/>
          </a:p>
          <a:p>
            <a:pPr marL="171450" indent="-171450">
              <a:lnSpc>
                <a:spcPct val="90000"/>
              </a:lnSpc>
              <a:spcBef>
                <a:spcPts val="1000"/>
              </a:spcBef>
              <a:buFont typeface="Arial"/>
              <a:buChar char="•"/>
            </a:pPr>
            <a:r>
              <a:rPr lang="en-US"/>
              <a:t>While the ScrumMaster is not formally a project manager, in practice ScrumMasters take this role in many organizations that have a conventional management structure. They report on progress to senior management and are involved in longer-term planning and project budgeting</a:t>
            </a:r>
            <a:endParaRPr lang="en-US" dirty="0"/>
          </a:p>
        </p:txBody>
      </p:sp>
      <p:sp>
        <p:nvSpPr>
          <p:cNvPr id="4" name="Slide Number Placeholder 3">
            <a:extLst>
              <a:ext uri="{FF2B5EF4-FFF2-40B4-BE49-F238E27FC236}">
                <a16:creationId xmlns:a16="http://schemas.microsoft.com/office/drawing/2014/main" id="{99D3B329-C57E-C978-5FDB-91AF2F594CD9}"/>
              </a:ext>
            </a:extLst>
          </p:cNvPr>
          <p:cNvSpPr>
            <a:spLocks noGrp="1"/>
          </p:cNvSpPr>
          <p:nvPr>
            <p:ph type="sldNum" sz="quarter" idx="5"/>
          </p:nvPr>
        </p:nvSpPr>
        <p:spPr/>
        <p:txBody>
          <a:bodyPr/>
          <a:lstStyle/>
          <a:p>
            <a:fld id="{2E5A36BE-6307-4311-8670-04B167AD63B7}" type="slidenum">
              <a:rPr lang="en-US" smtClean="0"/>
              <a:t>51</a:t>
            </a:fld>
            <a:endParaRPr lang="en-US"/>
          </a:p>
        </p:txBody>
      </p:sp>
    </p:spTree>
    <p:extLst>
      <p:ext uri="{BB962C8B-B14F-4D97-AF65-F5344CB8AC3E}">
        <p14:creationId xmlns:p14="http://schemas.microsoft.com/office/powerpoint/2010/main" val="34016567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76788-E5DA-178C-E7B2-239578598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C20ECB-872A-21AB-63C2-2A4482362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CF43A-DAA5-0FF1-8C4E-C86988553C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DB8603-A71F-A51F-A6C2-F32931AB3CE1}"/>
              </a:ext>
            </a:extLst>
          </p:cNvPr>
          <p:cNvSpPr>
            <a:spLocks noGrp="1"/>
          </p:cNvSpPr>
          <p:nvPr>
            <p:ph type="sldNum" sz="quarter" idx="5"/>
          </p:nvPr>
        </p:nvSpPr>
        <p:spPr/>
        <p:txBody>
          <a:bodyPr/>
          <a:lstStyle/>
          <a:p>
            <a:fld id="{2E5A36BE-6307-4311-8670-04B167AD63B7}" type="slidenum">
              <a:rPr lang="en-US" smtClean="0"/>
              <a:t>52</a:t>
            </a:fld>
            <a:endParaRPr lang="en-US"/>
          </a:p>
        </p:txBody>
      </p:sp>
    </p:spTree>
    <p:extLst>
      <p:ext uri="{BB962C8B-B14F-4D97-AF65-F5344CB8AC3E}">
        <p14:creationId xmlns:p14="http://schemas.microsoft.com/office/powerpoint/2010/main" val="21146631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495CB-FE98-EA8F-ACDD-053F2CBF9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7C8EA-D4FB-BAB0-D79F-1D4992792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A9C45-2CF9-0919-E5B6-F8C16AB5E4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2913E8-AD17-755E-497E-ADEB96F96054}"/>
              </a:ext>
            </a:extLst>
          </p:cNvPr>
          <p:cNvSpPr>
            <a:spLocks noGrp="1"/>
          </p:cNvSpPr>
          <p:nvPr>
            <p:ph type="sldNum" sz="quarter" idx="5"/>
          </p:nvPr>
        </p:nvSpPr>
        <p:spPr/>
        <p:txBody>
          <a:bodyPr/>
          <a:lstStyle/>
          <a:p>
            <a:fld id="{2E5A36BE-6307-4311-8670-04B167AD63B7}" type="slidenum">
              <a:rPr lang="en-US" smtClean="0"/>
              <a:t>53</a:t>
            </a:fld>
            <a:endParaRPr lang="en-US"/>
          </a:p>
        </p:txBody>
      </p:sp>
    </p:spTree>
    <p:extLst>
      <p:ext uri="{BB962C8B-B14F-4D97-AF65-F5344CB8AC3E}">
        <p14:creationId xmlns:p14="http://schemas.microsoft.com/office/powerpoint/2010/main" val="25778915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54</a:t>
            </a:fld>
            <a:endParaRPr lang="en-US"/>
          </a:p>
        </p:txBody>
      </p:sp>
    </p:spTree>
    <p:extLst>
      <p:ext uri="{BB962C8B-B14F-4D97-AF65-F5344CB8AC3E}">
        <p14:creationId xmlns:p14="http://schemas.microsoft.com/office/powerpoint/2010/main" val="20143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2/7/2026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2/7/2026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2/7/2026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2/7/2026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2/7/2026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2/7/2026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2/7/2026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2/7/2026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2/7/2026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2/7/2026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2/7/2026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2/7/2026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ahindraecolecentrale-my.sharepoint.com/:w:/g/personal/avinash_chauhan_mahindrauniversity_edu_in/IQDuwcb3iwmESbhBuhbOpkxzAXjVpCgnXtrOKOBhYFb2ho0?e=b4x8q9"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hyperlink" Target="http://agilemanifesto.or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mahindraecolecentrale-my.sharepoint.com/:f:/g/personal/avinash_chauhan_mahindrauniversity_edu_in/IgCgjKIo_-xDRLA4KX_2uA4bAdWe4ssqS0CV6VltYR0anxk?e=xbXuFj"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mahindraecolecentrale-my.sharepoint.com/:f:/g/personal/avinash_chauhan_mahindrauniversity_edu_in/IgCgjKIo_-xDRLA4KX_2uA4bAdWe4ssqS0CV6VltYR0anxk?e=xbXuFj"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hyperlink" Target="https://mahindraecolecentrale-my.sharepoint.com/:f:/g/personal/avinash_chauhan_mahindrauniversity_edu_in/IgCgjKIo_-xDRLA4KX_2uA4bAdWe4ssqS0CV6VltYR0anxk?e=xbXuFj"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https://www.atlassian.com/agile/scrum/scrum-master"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atlassian.com/agile/project-management/sprint-backlog-product-backlog"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hyperlink" Target="https://www.atlassian.com/agile/project-management/sprint-backlog-product-backlog"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568061"/>
            <a:ext cx="9144000" cy="2387600"/>
          </a:xfrm>
        </p:spPr>
        <p:txBody>
          <a:bodyPr>
            <a:normAutofit/>
          </a:bodyPr>
          <a:lstStyle/>
          <a:p>
            <a:r>
              <a:rPr lang="en-US" dirty="0"/>
              <a:t>Software Engineering</a:t>
            </a:r>
            <a:br>
              <a:rPr lang="en-US" dirty="0"/>
            </a:br>
            <a:r>
              <a:rPr lang="en-US" sz="4000" dirty="0"/>
              <a:t>(CS3201)</a:t>
            </a:r>
            <a:br>
              <a:rPr lang="en-US" sz="4000" dirty="0">
                <a:ea typeface="Calibri Light"/>
                <a:cs typeface="Calibri Light"/>
              </a:rPr>
            </a:br>
            <a:r>
              <a:rPr lang="en-US" sz="2500">
                <a:ea typeface="Calibri Light"/>
                <a:cs typeface="Calibri Light"/>
              </a:rPr>
              <a:t>Agile Methodologies</a:t>
            </a:r>
            <a:br>
              <a:rPr lang="en-US" dirty="0"/>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33DA-67C8-A416-71C0-89B2338C3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C592C-1914-1EED-811C-C6B3961B773C}"/>
              </a:ext>
            </a:extLst>
          </p:cNvPr>
          <p:cNvSpPr>
            <a:spLocks noGrp="1"/>
          </p:cNvSpPr>
          <p:nvPr>
            <p:ph type="title"/>
          </p:nvPr>
        </p:nvSpPr>
        <p:spPr/>
        <p:txBody>
          <a:bodyPr/>
          <a:lstStyle/>
          <a:p>
            <a:r>
              <a:rPr lang="en-GB">
                <a:cs typeface="Calibri Light"/>
              </a:rPr>
              <a:t>Some artefacts (for course project)</a:t>
            </a:r>
            <a:endParaRPr lang="en-US"/>
          </a:p>
        </p:txBody>
      </p:sp>
      <p:sp>
        <p:nvSpPr>
          <p:cNvPr id="3" name="Content Placeholder 2">
            <a:extLst>
              <a:ext uri="{FF2B5EF4-FFF2-40B4-BE49-F238E27FC236}">
                <a16:creationId xmlns:a16="http://schemas.microsoft.com/office/drawing/2014/main" id="{35FC5151-B5C9-628E-EAE0-4F2880B11176}"/>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t>Statement</a:t>
            </a:r>
            <a:r>
              <a:rPr lang="en-US" dirty="0">
                <a:ea typeface="Calibri" panose="020F0502020204030204"/>
                <a:cs typeface="Calibri"/>
              </a:rPr>
              <a:t> of Work Template: </a:t>
            </a:r>
            <a:r>
              <a:rPr lang="en-US" dirty="0">
                <a:ea typeface="Calibri" panose="020F0502020204030204"/>
                <a:cs typeface="Calibri"/>
                <a:hlinkClick r:id="rId3"/>
              </a:rPr>
              <a:t>Available here</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AB8F0D8-249B-71EE-E58B-4E1AA9D6DC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83D0562-A2C7-689B-2907-C8CFC3667DA3}"/>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5948A2E5-0248-19A2-91D9-04792E68F87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53590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panose="020F0502020204030204"/>
                <a:cs typeface="Calibri"/>
              </a:rPr>
              <a:t>Process Models... continued</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96591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Agile Software Development (Process)</a:t>
            </a:r>
            <a:endParaRPr lang="en-US" dirty="0"/>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t>Agile Processes (Agile methods)</a:t>
            </a:r>
            <a:endParaRPr lang="en-US" dirty="0">
              <a:ea typeface="Calibri" panose="020F0502020204030204"/>
              <a:cs typeface="Calibri"/>
            </a:endParaRPr>
          </a:p>
          <a:p>
            <a:pPr lvl="1"/>
            <a:r>
              <a:rPr lang="en-US" dirty="0">
                <a:ea typeface="Calibri" panose="020F0502020204030204"/>
                <a:cs typeface="Calibri"/>
              </a:rPr>
              <a:t>Extreme Programming</a:t>
            </a:r>
          </a:p>
          <a:p>
            <a:pPr lvl="1"/>
            <a:r>
              <a:rPr lang="en-US" dirty="0">
                <a:ea typeface="Calibri" panose="020F0502020204030204"/>
                <a:cs typeface="Calibri"/>
              </a:rPr>
              <a:t>Scrum</a:t>
            </a:r>
          </a:p>
          <a:p>
            <a:pPr lvl="1"/>
            <a:r>
              <a:rPr lang="en-US" dirty="0">
                <a:ea typeface="Calibri" panose="020F0502020204030204"/>
                <a:cs typeface="Calibri"/>
              </a:rPr>
              <a:t>DSDM (Refer Pressman, pg. 79)</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62289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8E67C-D6F9-8E15-E21F-78C233D55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18FB2-3D8F-8035-1455-747ED81E49A4}"/>
              </a:ext>
            </a:extLst>
          </p:cNvPr>
          <p:cNvSpPr>
            <a:spLocks noGrp="1"/>
          </p:cNvSpPr>
          <p:nvPr>
            <p:ph type="title"/>
          </p:nvPr>
        </p:nvSpPr>
        <p:spPr/>
        <p:txBody>
          <a:bodyPr/>
          <a:lstStyle/>
          <a:p>
            <a:r>
              <a:rPr lang="en-GB" dirty="0">
                <a:cs typeface="Calibri Light"/>
              </a:rPr>
              <a:t>Introduction</a:t>
            </a:r>
            <a:endParaRPr lang="en-US" dirty="0"/>
          </a:p>
        </p:txBody>
      </p:sp>
      <p:sp>
        <p:nvSpPr>
          <p:cNvPr id="3" name="Content Placeholder 2">
            <a:extLst>
              <a:ext uri="{FF2B5EF4-FFF2-40B4-BE49-F238E27FC236}">
                <a16:creationId xmlns:a16="http://schemas.microsoft.com/office/drawing/2014/main" id="{CBC72A3F-02B0-5669-7582-61D85199CAB5}"/>
              </a:ext>
            </a:extLst>
          </p:cNvPr>
          <p:cNvSpPr>
            <a:spLocks noGrp="1"/>
          </p:cNvSpPr>
          <p:nvPr>
            <p:ph idx="1"/>
          </p:nvPr>
        </p:nvSpPr>
        <p:spPr>
          <a:xfrm>
            <a:off x="838200" y="1690328"/>
            <a:ext cx="10515600" cy="4633173"/>
          </a:xfrm>
        </p:spPr>
        <p:txBody>
          <a:bodyPr vert="horz" lIns="91440" tIns="45720" rIns="91440" bIns="45720" rtlCol="0" anchor="t">
            <a:normAutofit lnSpcReduction="10000"/>
          </a:bodyPr>
          <a:lstStyle/>
          <a:p>
            <a:r>
              <a:rPr lang="en-US" dirty="0">
                <a:ea typeface="Calibri" panose="020F0502020204030204"/>
                <a:cs typeface="Calibri"/>
              </a:rPr>
              <a:t>Businesses now operate in a global, rapidly changing environment</a:t>
            </a:r>
          </a:p>
          <a:p>
            <a:r>
              <a:rPr lang="en-US" dirty="0">
                <a:highlight>
                  <a:srgbClr val="FFFF00"/>
                </a:highlight>
                <a:ea typeface="+mn-lt"/>
                <a:cs typeface="+mn-lt"/>
              </a:rPr>
              <a:t>Rapid software development and delivery</a:t>
            </a:r>
            <a:r>
              <a:rPr lang="en-US" dirty="0">
                <a:ea typeface="+mn-lt"/>
                <a:cs typeface="+mn-lt"/>
              </a:rPr>
              <a:t> is therefore the most critical requirement for most business systems</a:t>
            </a:r>
            <a:endParaRPr lang="en-US" dirty="0">
              <a:ea typeface="Calibri" panose="020F0502020204030204"/>
              <a:cs typeface="Calibri"/>
            </a:endParaRPr>
          </a:p>
          <a:p>
            <a:r>
              <a:rPr lang="en-US" dirty="0">
                <a:ea typeface="Calibri" panose="020F0502020204030204"/>
                <a:cs typeface="Calibri"/>
              </a:rPr>
              <a:t>In a changing environment,</a:t>
            </a:r>
            <a:r>
              <a:rPr lang="en-US" dirty="0">
                <a:ea typeface="+mn-lt"/>
                <a:cs typeface="+mn-lt"/>
              </a:rPr>
              <a:t> it is </a:t>
            </a:r>
            <a:r>
              <a:rPr lang="en-US" dirty="0">
                <a:highlight>
                  <a:srgbClr val="FFFF00"/>
                </a:highlight>
                <a:ea typeface="+mn-lt"/>
                <a:cs typeface="+mn-lt"/>
              </a:rPr>
              <a:t>impossible</a:t>
            </a:r>
            <a:r>
              <a:rPr lang="en-US" dirty="0">
                <a:ea typeface="+mn-lt"/>
                <a:cs typeface="+mn-lt"/>
              </a:rPr>
              <a:t> to derive a complete set of </a:t>
            </a:r>
            <a:r>
              <a:rPr lang="en-US" dirty="0">
                <a:highlight>
                  <a:srgbClr val="FFFF00"/>
                </a:highlight>
                <a:ea typeface="+mn-lt"/>
                <a:cs typeface="+mn-lt"/>
              </a:rPr>
              <a:t>stable software requirements</a:t>
            </a:r>
            <a:endParaRPr lang="en-US">
              <a:highlight>
                <a:srgbClr val="FFFF00"/>
              </a:highlight>
              <a:ea typeface="Calibri" panose="020F0502020204030204"/>
              <a:cs typeface="Calibri"/>
            </a:endParaRPr>
          </a:p>
          <a:p>
            <a:r>
              <a:rPr lang="en-US" dirty="0">
                <a:ea typeface="+mn-lt"/>
                <a:cs typeface="+mn-lt"/>
              </a:rPr>
              <a:t>It may only be after a system has been delivered and users gain experience with it that the real requirements become clear</a:t>
            </a:r>
            <a:endParaRPr lang="en-US" dirty="0">
              <a:ea typeface="Calibri" panose="020F0502020204030204"/>
              <a:cs typeface="Calibri"/>
            </a:endParaRPr>
          </a:p>
          <a:p>
            <a:r>
              <a:rPr lang="en-US" dirty="0">
                <a:ea typeface="+mn-lt"/>
                <a:cs typeface="+mn-lt"/>
              </a:rPr>
              <a:t>As the requirements change or as requirements problems are discovered, the system design or implementation has to be reworked</a:t>
            </a:r>
            <a:endParaRPr lang="en-US" dirty="0">
              <a:ea typeface="Calibri" panose="020F0502020204030204"/>
              <a:cs typeface="Calibri"/>
            </a:endParaRPr>
          </a:p>
          <a:p>
            <a:r>
              <a:rPr lang="en-US" dirty="0">
                <a:ea typeface="+mn-lt"/>
                <a:cs typeface="+mn-lt"/>
              </a:rPr>
              <a:t>Conventional waterfall or specification-based process usually becomes a lengthy one</a:t>
            </a:r>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1ED0B05-1DA9-299A-AF29-502083A5DE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DFEEB8D-EB33-1C7D-7A1F-22E3C0338C5A}"/>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24DBEBEE-FA00-A9F3-86AC-88F55D29216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2599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Introduction</a:t>
            </a:r>
            <a:endParaRPr lang="en-US" dirty="0"/>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mn-lt"/>
                <a:cs typeface="+mn-lt"/>
              </a:rPr>
              <a:t>For some types of software, such as </a:t>
            </a:r>
            <a:r>
              <a:rPr lang="en-US" dirty="0">
                <a:highlight>
                  <a:srgbClr val="FFFF00"/>
                </a:highlight>
                <a:ea typeface="+mn-lt"/>
                <a:cs typeface="+mn-lt"/>
              </a:rPr>
              <a:t>safety-critical control systems</a:t>
            </a:r>
            <a:r>
              <a:rPr lang="en-US" dirty="0">
                <a:ea typeface="+mn-lt"/>
                <a:cs typeface="+mn-lt"/>
              </a:rPr>
              <a:t>, where a complete analysis of the system is essential, this </a:t>
            </a:r>
            <a:r>
              <a:rPr lang="en-US" dirty="0">
                <a:highlight>
                  <a:srgbClr val="FFFF00"/>
                </a:highlight>
                <a:ea typeface="+mn-lt"/>
                <a:cs typeface="+mn-lt"/>
              </a:rPr>
              <a:t>plan-driven approach</a:t>
            </a:r>
            <a:r>
              <a:rPr lang="en-US" dirty="0">
                <a:ea typeface="+mn-lt"/>
                <a:cs typeface="+mn-lt"/>
              </a:rPr>
              <a:t> is the right one</a:t>
            </a:r>
            <a:endParaRPr lang="en-US" dirty="0">
              <a:ea typeface="Calibri" panose="020F0502020204030204"/>
              <a:cs typeface="Calibri"/>
            </a:endParaRPr>
          </a:p>
          <a:p>
            <a:r>
              <a:rPr lang="en-US" dirty="0">
                <a:ea typeface="Calibri" panose="020F0502020204030204"/>
                <a:cs typeface="Calibri"/>
              </a:rPr>
              <a:t>For fast moving businesses,</a:t>
            </a:r>
            <a:r>
              <a:rPr lang="en-US" dirty="0">
                <a:ea typeface="+mn-lt"/>
                <a:cs typeface="+mn-lt"/>
              </a:rPr>
              <a:t> by the time the software is available for use, the original reason for its procurement may have changed so radically that the software is effectively useless</a:t>
            </a:r>
            <a:endParaRPr lang="en-US" dirty="0">
              <a:ea typeface="Calibri" panose="020F0502020204030204"/>
              <a:cs typeface="Calibri"/>
            </a:endParaRPr>
          </a:p>
          <a:p>
            <a:r>
              <a:rPr lang="en-US" dirty="0">
                <a:ea typeface="+mn-lt"/>
                <a:cs typeface="+mn-lt"/>
              </a:rPr>
              <a:t>Therefore, for </a:t>
            </a:r>
            <a:r>
              <a:rPr lang="en-US" dirty="0">
                <a:highlight>
                  <a:srgbClr val="FFFF00"/>
                </a:highlight>
                <a:ea typeface="+mn-lt"/>
                <a:cs typeface="+mn-lt"/>
              </a:rPr>
              <a:t>business systems</a:t>
            </a:r>
            <a:r>
              <a:rPr lang="en-US" dirty="0">
                <a:ea typeface="+mn-lt"/>
                <a:cs typeface="+mn-lt"/>
              </a:rPr>
              <a:t> in particular, development processes that focus on </a:t>
            </a:r>
            <a:r>
              <a:rPr lang="en-US" dirty="0">
                <a:highlight>
                  <a:srgbClr val="FFFF00"/>
                </a:highlight>
                <a:ea typeface="+mn-lt"/>
                <a:cs typeface="+mn-lt"/>
              </a:rPr>
              <a:t>rapid software development</a:t>
            </a:r>
            <a:r>
              <a:rPr lang="en-US" dirty="0">
                <a:ea typeface="+mn-lt"/>
                <a:cs typeface="+mn-lt"/>
              </a:rPr>
              <a:t> and delivery are essential</a:t>
            </a:r>
          </a:p>
          <a:p>
            <a:r>
              <a:rPr lang="en-US" b="1" dirty="0">
                <a:highlight>
                  <a:srgbClr val="FFFF00"/>
                </a:highlight>
                <a:ea typeface="+mn-lt"/>
                <a:cs typeface="+mn-lt"/>
              </a:rPr>
              <a:t>Agile methods</a:t>
            </a:r>
            <a:r>
              <a:rPr lang="en-US" dirty="0">
                <a:ea typeface="+mn-lt"/>
                <a:cs typeface="+mn-lt"/>
              </a:rPr>
              <a:t> are designed to </a:t>
            </a:r>
            <a:r>
              <a:rPr lang="en-US" dirty="0">
                <a:highlight>
                  <a:srgbClr val="FFFF00"/>
                </a:highlight>
                <a:ea typeface="+mn-lt"/>
                <a:cs typeface="+mn-lt"/>
              </a:rPr>
              <a:t>produce useful software quickly</a:t>
            </a:r>
            <a:endParaRPr lang="en-US" dirty="0">
              <a:highlight>
                <a:srgbClr val="FFFF00"/>
              </a:highlight>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79929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Method characteristics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704705"/>
            <a:ext cx="10515600" cy="5107626"/>
          </a:xfrm>
        </p:spPr>
        <p:txBody>
          <a:bodyPr vert="horz" lIns="91440" tIns="45720" rIns="91440" bIns="45720" rtlCol="0" anchor="t">
            <a:normAutofit/>
          </a:bodyPr>
          <a:lstStyle/>
          <a:p>
            <a:r>
              <a:rPr lang="en-US" dirty="0">
                <a:ea typeface="+mn-lt"/>
                <a:cs typeface="+mn-lt"/>
              </a:rPr>
              <a:t>The processes of specification, design and implementation are interleaved. There is </a:t>
            </a:r>
            <a:r>
              <a:rPr lang="en-US" dirty="0">
                <a:highlight>
                  <a:srgbClr val="FFFF00"/>
                </a:highlight>
                <a:ea typeface="+mn-lt"/>
                <a:cs typeface="+mn-lt"/>
              </a:rPr>
              <a:t>no detailed system specification</a:t>
            </a:r>
            <a:r>
              <a:rPr lang="en-US" dirty="0">
                <a:ea typeface="+mn-lt"/>
                <a:cs typeface="+mn-lt"/>
              </a:rPr>
              <a:t>, and design documentation is minimized or generated automatically (by using certain tools)</a:t>
            </a:r>
          </a:p>
          <a:p>
            <a:r>
              <a:rPr lang="en-US" dirty="0">
                <a:ea typeface="+mn-lt"/>
                <a:cs typeface="+mn-lt"/>
              </a:rPr>
              <a:t>User requirements document is an outline definition of the most important characteristics of the system</a:t>
            </a:r>
          </a:p>
          <a:p>
            <a:r>
              <a:rPr lang="en-US" dirty="0">
                <a:highlight>
                  <a:srgbClr val="FFFF00"/>
                </a:highlight>
                <a:ea typeface="+mn-lt"/>
                <a:cs typeface="+mn-lt"/>
              </a:rPr>
              <a:t>System</a:t>
            </a:r>
            <a:r>
              <a:rPr lang="en-US" dirty="0">
                <a:ea typeface="+mn-lt"/>
                <a:cs typeface="+mn-lt"/>
              </a:rPr>
              <a:t> is </a:t>
            </a:r>
            <a:r>
              <a:rPr lang="en-US" dirty="0">
                <a:highlight>
                  <a:srgbClr val="FFFF00"/>
                </a:highlight>
                <a:ea typeface="+mn-lt"/>
                <a:cs typeface="+mn-lt"/>
              </a:rPr>
              <a:t>developed</a:t>
            </a:r>
            <a:r>
              <a:rPr lang="en-US" dirty="0">
                <a:ea typeface="+mn-lt"/>
                <a:cs typeface="+mn-lt"/>
              </a:rPr>
              <a:t> in a </a:t>
            </a:r>
            <a:r>
              <a:rPr lang="en-US" dirty="0">
                <a:highlight>
                  <a:srgbClr val="FFFF00"/>
                </a:highlight>
                <a:ea typeface="+mn-lt"/>
                <a:cs typeface="+mn-lt"/>
              </a:rPr>
              <a:t>series of increments</a:t>
            </a:r>
            <a:r>
              <a:rPr lang="en-US" dirty="0">
                <a:ea typeface="+mn-lt"/>
                <a:cs typeface="+mn-lt"/>
              </a:rPr>
              <a:t>. End users and other stakeholders involved in specifying and evaluating each increment</a:t>
            </a:r>
          </a:p>
          <a:p>
            <a:r>
              <a:rPr lang="en-US" dirty="0">
                <a:highlight>
                  <a:srgbClr val="FFFF00"/>
                </a:highlight>
                <a:ea typeface="+mn-lt"/>
                <a:cs typeface="+mn-lt"/>
              </a:rPr>
              <a:t>Extensive tool support</a:t>
            </a:r>
            <a:r>
              <a:rPr lang="en-US" dirty="0">
                <a:ea typeface="+mn-lt"/>
                <a:cs typeface="+mn-lt"/>
              </a:rPr>
              <a:t> is used to support the development process (examples: Automated testing tools, configuration management, system integration)</a:t>
            </a:r>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04487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Methods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mn-lt"/>
                <a:cs typeface="+mn-lt"/>
              </a:rPr>
              <a:t>Incremental development methods</a:t>
            </a:r>
          </a:p>
          <a:p>
            <a:r>
              <a:rPr lang="en-US" dirty="0">
                <a:ea typeface="+mn-lt"/>
                <a:cs typeface="+mn-lt"/>
              </a:rPr>
              <a:t>I</a:t>
            </a:r>
            <a:r>
              <a:rPr lang="en-US" dirty="0">
                <a:highlight>
                  <a:srgbClr val="FFFF00"/>
                </a:highlight>
                <a:ea typeface="+mn-lt"/>
                <a:cs typeface="+mn-lt"/>
              </a:rPr>
              <a:t>ncrements are small</a:t>
            </a:r>
            <a:r>
              <a:rPr lang="en-US" dirty="0">
                <a:ea typeface="+mn-lt"/>
                <a:cs typeface="+mn-lt"/>
              </a:rPr>
              <a:t>, and, typically, </a:t>
            </a:r>
            <a:r>
              <a:rPr lang="en-US" dirty="0">
                <a:highlight>
                  <a:srgbClr val="FFFF00"/>
                </a:highlight>
                <a:ea typeface="+mn-lt"/>
                <a:cs typeface="+mn-lt"/>
              </a:rPr>
              <a:t>new releases</a:t>
            </a:r>
            <a:r>
              <a:rPr lang="en-US" dirty="0">
                <a:ea typeface="+mn-lt"/>
                <a:cs typeface="+mn-lt"/>
              </a:rPr>
              <a:t> of the system are created and made available to customers </a:t>
            </a:r>
            <a:r>
              <a:rPr lang="en-US" dirty="0">
                <a:highlight>
                  <a:srgbClr val="FFFF00"/>
                </a:highlight>
                <a:ea typeface="+mn-lt"/>
                <a:cs typeface="+mn-lt"/>
              </a:rPr>
              <a:t>every two or three weeks</a:t>
            </a:r>
          </a:p>
          <a:p>
            <a:r>
              <a:rPr lang="en-US" dirty="0">
                <a:highlight>
                  <a:srgbClr val="FFFF00"/>
                </a:highlight>
                <a:ea typeface="Calibri" panose="020F0502020204030204"/>
                <a:cs typeface="Calibri"/>
              </a:rPr>
              <a:t>Customers involved</a:t>
            </a:r>
            <a:r>
              <a:rPr lang="en-US" dirty="0">
                <a:ea typeface="Calibri" panose="020F0502020204030204"/>
                <a:cs typeface="Calibri"/>
              </a:rPr>
              <a:t> in development - </a:t>
            </a:r>
            <a:r>
              <a:rPr lang="en-US" dirty="0">
                <a:ea typeface="+mn-lt"/>
                <a:cs typeface="+mn-lt"/>
              </a:rPr>
              <a:t>rapid feedback on changing requirements</a:t>
            </a:r>
          </a:p>
          <a:p>
            <a:r>
              <a:rPr lang="en-US" dirty="0">
                <a:highlight>
                  <a:srgbClr val="FFFF00"/>
                </a:highlight>
                <a:ea typeface="+mn-lt"/>
                <a:cs typeface="+mn-lt"/>
              </a:rPr>
              <a:t>Minimize documentation</a:t>
            </a:r>
            <a:r>
              <a:rPr lang="en-US" dirty="0">
                <a:ea typeface="+mn-lt"/>
                <a:cs typeface="+mn-lt"/>
              </a:rPr>
              <a:t> by using </a:t>
            </a:r>
            <a:r>
              <a:rPr lang="en-US" dirty="0">
                <a:highlight>
                  <a:srgbClr val="FFFF00"/>
                </a:highlight>
                <a:ea typeface="+mn-lt"/>
                <a:cs typeface="+mn-lt"/>
              </a:rPr>
              <a:t>informal communications</a:t>
            </a:r>
            <a:r>
              <a:rPr lang="en-US" dirty="0">
                <a:ea typeface="+mn-lt"/>
                <a:cs typeface="+mn-lt"/>
              </a:rPr>
              <a:t> rather than formal meetings with written documents</a:t>
            </a:r>
          </a:p>
          <a:p>
            <a:r>
              <a:rPr lang="en-US" dirty="0">
                <a:ea typeface="+mn-lt"/>
                <a:cs typeface="+mn-lt"/>
              </a:rPr>
              <a:t>Consider </a:t>
            </a:r>
            <a:r>
              <a:rPr lang="en-US" dirty="0">
                <a:highlight>
                  <a:srgbClr val="FFFF00"/>
                </a:highlight>
                <a:ea typeface="+mn-lt"/>
                <a:cs typeface="+mn-lt"/>
              </a:rPr>
              <a:t>design and implementation</a:t>
            </a:r>
            <a:r>
              <a:rPr lang="en-US" dirty="0">
                <a:ea typeface="+mn-lt"/>
                <a:cs typeface="+mn-lt"/>
              </a:rPr>
              <a:t> to be the </a:t>
            </a:r>
            <a:r>
              <a:rPr lang="en-US" dirty="0">
                <a:highlight>
                  <a:srgbClr val="FFFF00"/>
                </a:highlight>
                <a:ea typeface="+mn-lt"/>
                <a:cs typeface="+mn-lt"/>
              </a:rPr>
              <a:t>central activities</a:t>
            </a: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50131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Method vs. Plan based methods</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3" name="Picture 2" descr="A diagram of a process&#10;&#10;AI-generated content may be incorrect.">
            <a:extLst>
              <a:ext uri="{FF2B5EF4-FFF2-40B4-BE49-F238E27FC236}">
                <a16:creationId xmlns:a16="http://schemas.microsoft.com/office/drawing/2014/main" id="{0019D27D-8031-C0F9-20BB-D87FBDEA20BD}"/>
              </a:ext>
            </a:extLst>
          </p:cNvPr>
          <p:cNvPicPr>
            <a:picLocks noChangeAspect="1"/>
          </p:cNvPicPr>
          <p:nvPr/>
        </p:nvPicPr>
        <p:blipFill>
          <a:blip r:embed="rId4"/>
          <a:stretch>
            <a:fillRect/>
          </a:stretch>
        </p:blipFill>
        <p:spPr>
          <a:xfrm>
            <a:off x="2523317" y="1447800"/>
            <a:ext cx="7159744" cy="5285116"/>
          </a:xfrm>
          <a:prstGeom prst="rect">
            <a:avLst/>
          </a:prstGeom>
        </p:spPr>
      </p:pic>
      <p:sp>
        <p:nvSpPr>
          <p:cNvPr id="4" name="TextBox 3">
            <a:extLst>
              <a:ext uri="{FF2B5EF4-FFF2-40B4-BE49-F238E27FC236}">
                <a16:creationId xmlns:a16="http://schemas.microsoft.com/office/drawing/2014/main" id="{58FF2E8C-B4FE-A17C-C57A-FF8337E42D12}"/>
              </a:ext>
            </a:extLst>
          </p:cNvPr>
          <p:cNvSpPr txBox="1"/>
          <p:nvPr/>
        </p:nvSpPr>
        <p:spPr>
          <a:xfrm>
            <a:off x="4473" y="2242548"/>
            <a:ext cx="250549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In </a:t>
            </a:r>
            <a:r>
              <a:rPr lang="en-GB">
                <a:ea typeface="Calibri"/>
                <a:cs typeface="Calibri"/>
              </a:rPr>
              <a:t>plan-based</a:t>
            </a:r>
            <a:r>
              <a:rPr lang="en-GB" dirty="0">
                <a:ea typeface="Calibri"/>
                <a:cs typeface="Calibri"/>
              </a:rPr>
              <a:t> development, iterations happen within phases / activities</a:t>
            </a:r>
            <a:endParaRPr lang="en-GB" dirty="0"/>
          </a:p>
        </p:txBody>
      </p:sp>
      <p:sp>
        <p:nvSpPr>
          <p:cNvPr id="5" name="TextBox 4">
            <a:extLst>
              <a:ext uri="{FF2B5EF4-FFF2-40B4-BE49-F238E27FC236}">
                <a16:creationId xmlns:a16="http://schemas.microsoft.com/office/drawing/2014/main" id="{DB14B2FC-4273-4AC9-9464-FE74F142B2A6}"/>
              </a:ext>
            </a:extLst>
          </p:cNvPr>
          <p:cNvSpPr txBox="1"/>
          <p:nvPr/>
        </p:nvSpPr>
        <p:spPr>
          <a:xfrm>
            <a:off x="4473" y="5434321"/>
            <a:ext cx="250549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In Agile, iterations happen across phases / activities</a:t>
            </a:r>
            <a:endParaRPr lang="en-US"/>
          </a:p>
        </p:txBody>
      </p:sp>
      <p:sp>
        <p:nvSpPr>
          <p:cNvPr id="9" name="TextBox 8">
            <a:extLst>
              <a:ext uri="{FF2B5EF4-FFF2-40B4-BE49-F238E27FC236}">
                <a16:creationId xmlns:a16="http://schemas.microsoft.com/office/drawing/2014/main" id="{070B5882-744F-1734-09BE-550BC34C9641}"/>
              </a:ext>
            </a:extLst>
          </p:cNvPr>
          <p:cNvSpPr txBox="1"/>
          <p:nvPr/>
        </p:nvSpPr>
        <p:spPr>
          <a:xfrm>
            <a:off x="9368287" y="3631721"/>
            <a:ext cx="276013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Possible to use agile practices along with plan based processes</a:t>
            </a:r>
            <a:endParaRPr lang="en-GB" dirty="0"/>
          </a:p>
        </p:txBody>
      </p:sp>
    </p:spTree>
    <p:extLst>
      <p:ext uri="{BB962C8B-B14F-4D97-AF65-F5344CB8AC3E}">
        <p14:creationId xmlns:p14="http://schemas.microsoft.com/office/powerpoint/2010/main" val="4166520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Methods vs. Plan based methods</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460290"/>
            <a:ext cx="10515600" cy="4633173"/>
          </a:xfrm>
        </p:spPr>
        <p:txBody>
          <a:bodyPr vert="horz" lIns="91440" tIns="45720" rIns="91440" bIns="45720" rtlCol="0" anchor="t">
            <a:normAutofit fontScale="92500"/>
          </a:bodyPr>
          <a:lstStyle/>
          <a:p>
            <a:r>
              <a:rPr lang="en-US" dirty="0">
                <a:ea typeface="Calibri"/>
                <a:cs typeface="Calibri"/>
              </a:rPr>
              <a:t>Plan based software development</a:t>
            </a:r>
          </a:p>
          <a:p>
            <a:pPr lvl="1"/>
            <a:r>
              <a:rPr lang="en-US" dirty="0">
                <a:ea typeface="Calibri"/>
                <a:cs typeface="Calibri"/>
              </a:rPr>
              <a:t>Came from a software engineering community that was responsible for developing large, long-lived software systems such as aerospace or government systems</a:t>
            </a:r>
          </a:p>
          <a:p>
            <a:pPr lvl="1"/>
            <a:r>
              <a:rPr lang="en-US" dirty="0">
                <a:ea typeface="Calibri"/>
                <a:cs typeface="Calibri"/>
              </a:rPr>
              <a:t>Usually large teams across different companies</a:t>
            </a:r>
          </a:p>
          <a:p>
            <a:pPr lvl="1"/>
            <a:r>
              <a:rPr lang="en-US" dirty="0">
                <a:ea typeface="Calibri"/>
                <a:cs typeface="Calibri"/>
              </a:rPr>
              <a:t>Time: Might take even 10 years from initial plan to deployment</a:t>
            </a:r>
          </a:p>
          <a:p>
            <a:pPr lvl="1"/>
            <a:r>
              <a:rPr lang="en-US" dirty="0">
                <a:highlight>
                  <a:srgbClr val="FFFF00"/>
                </a:highlight>
                <a:ea typeface="Calibri"/>
                <a:cs typeface="Calibri"/>
              </a:rPr>
              <a:t>Overhead in planning</a:t>
            </a:r>
            <a:r>
              <a:rPr lang="en-US" dirty="0">
                <a:ea typeface="Calibri" panose="020F0502020204030204"/>
                <a:cs typeface="Calibri"/>
              </a:rPr>
              <a:t> but </a:t>
            </a:r>
            <a:r>
              <a:rPr lang="en-US" dirty="0">
                <a:highlight>
                  <a:srgbClr val="FFFF00"/>
                </a:highlight>
                <a:ea typeface="Calibri" panose="020F0502020204030204"/>
                <a:cs typeface="Calibri"/>
              </a:rPr>
              <a:t>justified by system criticality</a:t>
            </a:r>
            <a:r>
              <a:rPr lang="en-US" dirty="0">
                <a:ea typeface="Calibri" panose="020F0502020204030204"/>
                <a:cs typeface="Calibri"/>
              </a:rPr>
              <a:t> and coordination</a:t>
            </a:r>
          </a:p>
          <a:p>
            <a:r>
              <a:rPr lang="en-US" dirty="0">
                <a:ea typeface="Calibri" panose="020F0502020204030204"/>
                <a:cs typeface="Calibri"/>
              </a:rPr>
              <a:t>Agile:</a:t>
            </a:r>
          </a:p>
          <a:p>
            <a:pPr lvl="1"/>
            <a:r>
              <a:rPr lang="en-US" dirty="0">
                <a:ea typeface="Calibri" panose="020F0502020204030204"/>
                <a:cs typeface="Calibri"/>
              </a:rPr>
              <a:t>For small and medium businesses, overhead in plan-based approach dominates actual software development process</a:t>
            </a:r>
          </a:p>
          <a:p>
            <a:pPr lvl="1"/>
            <a:r>
              <a:rPr lang="en-US" dirty="0">
                <a:ea typeface="Calibri" panose="020F0502020204030204"/>
                <a:cs typeface="Calibri"/>
              </a:rPr>
              <a:t>Focus on software, requirements change as software develops</a:t>
            </a:r>
          </a:p>
          <a:p>
            <a:pPr lvl="1"/>
            <a:r>
              <a:rPr lang="en-US" dirty="0">
                <a:ea typeface="Calibri" panose="020F0502020204030204"/>
                <a:cs typeface="Calibri"/>
              </a:rPr>
              <a:t>Deliver working software quickly, new and changed requirements in future iterations</a:t>
            </a:r>
          </a:p>
          <a:p>
            <a:pPr lvl="1"/>
            <a:r>
              <a:rPr lang="en-US" dirty="0">
                <a:ea typeface="Calibri" panose="020F0502020204030204"/>
                <a:cs typeface="Calibri"/>
                <a:hlinkClick r:id="rId3"/>
              </a:rPr>
              <a:t>Agile Manifesto</a:t>
            </a:r>
            <a:endParaRPr lang="en-US" dirty="0">
              <a:ea typeface="Calibri" panose="020F0502020204030204"/>
              <a:cs typeface="Calibri"/>
            </a:endParaRPr>
          </a:p>
          <a:p>
            <a:pPr lvl="1"/>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70928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7DE3C-5D78-5F82-A13C-048020774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A9714-4F77-2FD6-1CA1-9C9D30FAE9E0}"/>
              </a:ext>
            </a:extLst>
          </p:cNvPr>
          <p:cNvSpPr>
            <a:spLocks noGrp="1"/>
          </p:cNvSpPr>
          <p:nvPr>
            <p:ph type="title"/>
          </p:nvPr>
        </p:nvSpPr>
        <p:spPr/>
        <p:txBody>
          <a:bodyPr/>
          <a:lstStyle/>
          <a:p>
            <a:r>
              <a:rPr lang="en-GB">
                <a:ea typeface="Calibri Light"/>
                <a:cs typeface="Calibri Light"/>
              </a:rPr>
              <a:t>Change costs as a function of time:</a:t>
            </a:r>
            <a:br>
              <a:rPr lang="en-GB" dirty="0">
                <a:ea typeface="Calibri Light"/>
                <a:cs typeface="Calibri Light"/>
              </a:rPr>
            </a:br>
            <a:r>
              <a:rPr lang="en-GB">
                <a:ea typeface="Calibri Light"/>
                <a:cs typeface="Calibri Light"/>
              </a:rPr>
              <a:t>Agile vs. </a:t>
            </a:r>
            <a:r>
              <a:rPr lang="en-GB" dirty="0">
                <a:ea typeface="Calibri Light"/>
                <a:cs typeface="Calibri Light"/>
              </a:rPr>
              <a:t>Plan based</a:t>
            </a:r>
          </a:p>
        </p:txBody>
      </p:sp>
      <p:pic>
        <p:nvPicPr>
          <p:cNvPr id="6" name="Picture 5" descr="A black and white logo&#10;&#10;Description automatically generated">
            <a:extLst>
              <a:ext uri="{FF2B5EF4-FFF2-40B4-BE49-F238E27FC236}">
                <a16:creationId xmlns:a16="http://schemas.microsoft.com/office/drawing/2014/main" id="{A6F1CC09-2014-DBFC-85C6-F2BB43985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D5C6E03-1C01-79C7-0A7A-B11923E12B1B}"/>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206DC289-E9BC-8137-A231-77008963D73F}"/>
              </a:ext>
            </a:extLst>
          </p:cNvPr>
          <p:cNvSpPr>
            <a:spLocks noGrp="1"/>
          </p:cNvSpPr>
          <p:nvPr>
            <p:ph type="ftr" sz="quarter" idx="11"/>
          </p:nvPr>
        </p:nvSpPr>
        <p:spPr/>
        <p:txBody>
          <a:bodyPr/>
          <a:lstStyle/>
          <a:p>
            <a:r>
              <a:rPr lang="en-US"/>
              <a:t>Software Engineering</a:t>
            </a:r>
          </a:p>
        </p:txBody>
      </p:sp>
      <p:pic>
        <p:nvPicPr>
          <p:cNvPr id="10" name="Picture 9" descr="A diagram of a software schedule&#10;&#10;AI-generated content may be incorrect.">
            <a:extLst>
              <a:ext uri="{FF2B5EF4-FFF2-40B4-BE49-F238E27FC236}">
                <a16:creationId xmlns:a16="http://schemas.microsoft.com/office/drawing/2014/main" id="{73E5D495-98CA-28E9-A212-375D3180A55F}"/>
              </a:ext>
            </a:extLst>
          </p:cNvPr>
          <p:cNvPicPr>
            <a:picLocks noChangeAspect="1"/>
          </p:cNvPicPr>
          <p:nvPr/>
        </p:nvPicPr>
        <p:blipFill>
          <a:blip r:embed="rId4"/>
          <a:stretch>
            <a:fillRect/>
          </a:stretch>
        </p:blipFill>
        <p:spPr>
          <a:xfrm>
            <a:off x="2020917" y="1709918"/>
            <a:ext cx="8164542" cy="5105939"/>
          </a:xfrm>
          <a:prstGeom prst="rect">
            <a:avLst/>
          </a:prstGeom>
        </p:spPr>
      </p:pic>
    </p:spTree>
    <p:extLst>
      <p:ext uri="{BB962C8B-B14F-4D97-AF65-F5344CB8AC3E}">
        <p14:creationId xmlns:p14="http://schemas.microsoft.com/office/powerpoint/2010/main" val="3407660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Principles of Agile Methods (Som., pg. </a:t>
            </a:r>
            <a:r>
              <a:rPr lang="en-GB" dirty="0">
                <a:cs typeface="Calibri Light"/>
              </a:rPr>
              <a:t>76)</a:t>
            </a:r>
            <a:endParaRPr lang="en-US" dirty="0"/>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4" name="Picture 3" descr="A blue and white text on a blue background&#10;&#10;AI-generated content may be incorrect.">
            <a:extLst>
              <a:ext uri="{FF2B5EF4-FFF2-40B4-BE49-F238E27FC236}">
                <a16:creationId xmlns:a16="http://schemas.microsoft.com/office/drawing/2014/main" id="{7CC2D416-037B-4841-3879-79A3BA88F983}"/>
              </a:ext>
            </a:extLst>
          </p:cNvPr>
          <p:cNvPicPr>
            <a:picLocks noChangeAspect="1"/>
          </p:cNvPicPr>
          <p:nvPr/>
        </p:nvPicPr>
        <p:blipFill>
          <a:blip r:embed="rId4"/>
          <a:stretch>
            <a:fillRect/>
          </a:stretch>
        </p:blipFill>
        <p:spPr>
          <a:xfrm>
            <a:off x="78536" y="1551048"/>
            <a:ext cx="12106813" cy="4805450"/>
          </a:xfrm>
          <a:prstGeom prst="rect">
            <a:avLst/>
          </a:prstGeom>
        </p:spPr>
      </p:pic>
    </p:spTree>
    <p:extLst>
      <p:ext uri="{BB962C8B-B14F-4D97-AF65-F5344CB8AC3E}">
        <p14:creationId xmlns:p14="http://schemas.microsoft.com/office/powerpoint/2010/main" val="3686163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Methods: Usage</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704705"/>
            <a:ext cx="10515600" cy="5122003"/>
          </a:xfrm>
        </p:spPr>
        <p:txBody>
          <a:bodyPr vert="horz" lIns="91440" tIns="45720" rIns="91440" bIns="45720" rtlCol="0" anchor="t">
            <a:normAutofit lnSpcReduction="10000"/>
          </a:bodyPr>
          <a:lstStyle/>
          <a:p>
            <a:r>
              <a:rPr lang="en-US" dirty="0">
                <a:ea typeface="+mn-lt"/>
                <a:cs typeface="+mn-lt"/>
              </a:rPr>
              <a:t>Agile methods have been particularly successful for two kinds of system development:</a:t>
            </a:r>
          </a:p>
          <a:p>
            <a:pPr marL="914400" lvl="1" indent="-457200">
              <a:buAutoNum type="arabicPeriod"/>
            </a:pPr>
            <a:r>
              <a:rPr lang="en-US" dirty="0">
                <a:ea typeface="+mn-lt"/>
                <a:cs typeface="+mn-lt"/>
              </a:rPr>
              <a:t>Product development where a software company is </a:t>
            </a:r>
            <a:r>
              <a:rPr lang="en-US" dirty="0">
                <a:highlight>
                  <a:srgbClr val="FFFF00"/>
                </a:highlight>
                <a:ea typeface="+mn-lt"/>
                <a:cs typeface="+mn-lt"/>
              </a:rPr>
              <a:t>developing a small or medium-sized product</a:t>
            </a:r>
            <a:r>
              <a:rPr lang="en-US" dirty="0">
                <a:ea typeface="+mn-lt"/>
                <a:cs typeface="+mn-lt"/>
              </a:rPr>
              <a:t> for sale. Virtually all software products and apps are now developed using an agile approach</a:t>
            </a:r>
          </a:p>
          <a:p>
            <a:pPr marL="914400" lvl="1" indent="-457200">
              <a:buAutoNum type="arabicPeriod"/>
            </a:pPr>
            <a:r>
              <a:rPr lang="en-US" dirty="0">
                <a:highlight>
                  <a:srgbClr val="FFFF00"/>
                </a:highlight>
                <a:ea typeface="+mn-lt"/>
                <a:cs typeface="+mn-lt"/>
              </a:rPr>
              <a:t>Custom system development within an organization</a:t>
            </a:r>
            <a:r>
              <a:rPr lang="en-US" dirty="0">
                <a:ea typeface="+mn-lt"/>
                <a:cs typeface="+mn-lt"/>
              </a:rPr>
              <a:t>, where there is a clear commitment from the </a:t>
            </a:r>
            <a:r>
              <a:rPr lang="en-US" dirty="0">
                <a:highlight>
                  <a:srgbClr val="FFFF00"/>
                </a:highlight>
                <a:ea typeface="+mn-lt"/>
                <a:cs typeface="+mn-lt"/>
              </a:rPr>
              <a:t>customer</a:t>
            </a:r>
            <a:r>
              <a:rPr lang="en-US" dirty="0">
                <a:ea typeface="+mn-lt"/>
                <a:cs typeface="+mn-lt"/>
              </a:rPr>
              <a:t> to become </a:t>
            </a:r>
            <a:r>
              <a:rPr lang="en-US" dirty="0">
                <a:highlight>
                  <a:srgbClr val="FFFF00"/>
                </a:highlight>
                <a:ea typeface="+mn-lt"/>
                <a:cs typeface="+mn-lt"/>
              </a:rPr>
              <a:t>involved</a:t>
            </a:r>
            <a:r>
              <a:rPr lang="en-US" dirty="0">
                <a:ea typeface="+mn-lt"/>
                <a:cs typeface="+mn-lt"/>
              </a:rPr>
              <a:t> in the development process and where there are few external stakeholders and regulations that affect the software</a:t>
            </a:r>
          </a:p>
          <a:p>
            <a:pPr marL="457200" indent="-457200"/>
            <a:endParaRPr lang="en-US" dirty="0">
              <a:ea typeface="Calibri"/>
              <a:cs typeface="Calibri"/>
            </a:endParaRPr>
          </a:p>
          <a:p>
            <a:pPr marL="457200" indent="-457200"/>
            <a:r>
              <a:rPr lang="en-US" dirty="0">
                <a:ea typeface="+mn-lt"/>
                <a:cs typeface="+mn-lt"/>
              </a:rPr>
              <a:t>Agile methodology works (best) when the software itself is a stand-alone system rather than tightly integrated with other systems being developed at the same time. Consequently, there is no need to coordinate parallel development streams</a:t>
            </a:r>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1794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88879-0B5D-7CC9-AF31-FE35C2A81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04923-0F22-5713-525D-F8CDACD24C97}"/>
              </a:ext>
            </a:extLst>
          </p:cNvPr>
          <p:cNvSpPr>
            <a:spLocks noGrp="1"/>
          </p:cNvSpPr>
          <p:nvPr>
            <p:ph type="title"/>
          </p:nvPr>
        </p:nvSpPr>
        <p:spPr/>
        <p:txBody>
          <a:bodyPr/>
          <a:lstStyle/>
          <a:p>
            <a:r>
              <a:rPr lang="en-GB" dirty="0">
                <a:ea typeface="Calibri Light"/>
                <a:cs typeface="Calibri Light"/>
              </a:rPr>
              <a:t>Agile Manifesto</a:t>
            </a:r>
          </a:p>
        </p:txBody>
      </p:sp>
      <p:sp>
        <p:nvSpPr>
          <p:cNvPr id="3" name="Content Placeholder 2">
            <a:extLst>
              <a:ext uri="{FF2B5EF4-FFF2-40B4-BE49-F238E27FC236}">
                <a16:creationId xmlns:a16="http://schemas.microsoft.com/office/drawing/2014/main" id="{582BBCC2-F092-F8C2-C46C-080BDE25896D}"/>
              </a:ext>
            </a:extLst>
          </p:cNvPr>
          <p:cNvSpPr>
            <a:spLocks noGrp="1"/>
          </p:cNvSpPr>
          <p:nvPr>
            <p:ph idx="1"/>
          </p:nvPr>
        </p:nvSpPr>
        <p:spPr>
          <a:xfrm>
            <a:off x="838200" y="1704705"/>
            <a:ext cx="10515600" cy="5122003"/>
          </a:xfrm>
        </p:spPr>
        <p:txBody>
          <a:bodyPr vert="horz" lIns="91440" tIns="45720" rIns="91440" bIns="45720" rtlCol="0" anchor="t">
            <a:normAutofit/>
          </a:bodyPr>
          <a:lstStyle/>
          <a:p>
            <a:r>
              <a:rPr lang="en-US" i="1">
                <a:ea typeface="Calibri"/>
                <a:cs typeface="Calibri"/>
              </a:rPr>
              <a:t>"</a:t>
            </a:r>
            <a:r>
              <a:rPr lang="en-US" i="1">
                <a:ea typeface="+mn-lt"/>
                <a:cs typeface="+mn-lt"/>
              </a:rPr>
              <a:t>We are uncovering better ways of developing software by doing it and helping others</a:t>
            </a:r>
            <a:r>
              <a:rPr lang="en-US" i="1" dirty="0">
                <a:ea typeface="+mn-lt"/>
                <a:cs typeface="+mn-lt"/>
              </a:rPr>
              <a:t> do it. Through this work we have come to value:</a:t>
            </a:r>
            <a:endParaRPr lang="en-US" i="1" dirty="0">
              <a:ea typeface="Calibri" panose="020F0502020204030204"/>
              <a:cs typeface="Calibri" panose="020F0502020204030204"/>
            </a:endParaRPr>
          </a:p>
          <a:p>
            <a:pPr lvl="1"/>
            <a:r>
              <a:rPr lang="en-US" i="1" dirty="0">
                <a:ea typeface="+mn-lt"/>
                <a:cs typeface="+mn-lt"/>
              </a:rPr>
              <a:t>Individuals and interactions over processes and tools</a:t>
            </a:r>
            <a:endParaRPr lang="en-US" i="1">
              <a:ea typeface="Calibri"/>
              <a:cs typeface="Calibri"/>
            </a:endParaRPr>
          </a:p>
          <a:p>
            <a:pPr lvl="1"/>
            <a:r>
              <a:rPr lang="en-US" i="1" dirty="0">
                <a:ea typeface="+mn-lt"/>
                <a:cs typeface="+mn-lt"/>
              </a:rPr>
              <a:t>Working software over comprehensive documentation</a:t>
            </a:r>
            <a:endParaRPr lang="en-US" i="1">
              <a:ea typeface="Calibri"/>
              <a:cs typeface="Calibri"/>
            </a:endParaRPr>
          </a:p>
          <a:p>
            <a:pPr lvl="1"/>
            <a:r>
              <a:rPr lang="en-US" i="1" dirty="0">
                <a:ea typeface="+mn-lt"/>
                <a:cs typeface="+mn-lt"/>
              </a:rPr>
              <a:t>Customer collaboration over contract negotiation</a:t>
            </a:r>
            <a:endParaRPr lang="en-US" i="1">
              <a:ea typeface="Calibri"/>
              <a:cs typeface="Calibri"/>
            </a:endParaRPr>
          </a:p>
          <a:p>
            <a:pPr lvl="1"/>
            <a:r>
              <a:rPr lang="en-US" i="1" dirty="0">
                <a:ea typeface="+mn-lt"/>
                <a:cs typeface="+mn-lt"/>
              </a:rPr>
              <a:t>Responding to change over following a plan</a:t>
            </a:r>
            <a:endParaRPr lang="en-US" i="1">
              <a:ea typeface="Calibri"/>
              <a:cs typeface="Calibri"/>
            </a:endParaRPr>
          </a:p>
          <a:p>
            <a:pPr marL="0" indent="0">
              <a:buNone/>
            </a:pPr>
            <a:r>
              <a:rPr lang="en-US" i="1">
                <a:ea typeface="+mn-lt"/>
                <a:cs typeface="+mn-lt"/>
              </a:rPr>
              <a:t>   That is, while there is value in the items on the right, we value the items on the left</a:t>
            </a:r>
            <a:r>
              <a:rPr lang="en-US" i="1" dirty="0">
                <a:ea typeface="+mn-lt"/>
                <a:cs typeface="+mn-lt"/>
              </a:rPr>
              <a:t> more.</a:t>
            </a:r>
            <a:r>
              <a:rPr lang="en-US" i="1" dirty="0">
                <a:ea typeface="Calibri"/>
                <a:cs typeface="Calibri"/>
              </a:rPr>
              <a:t>"</a:t>
            </a:r>
          </a:p>
        </p:txBody>
      </p:sp>
      <p:pic>
        <p:nvPicPr>
          <p:cNvPr id="6" name="Picture 5" descr="A black and white logo&#10;&#10;Description automatically generated">
            <a:extLst>
              <a:ext uri="{FF2B5EF4-FFF2-40B4-BE49-F238E27FC236}">
                <a16:creationId xmlns:a16="http://schemas.microsoft.com/office/drawing/2014/main" id="{CBBA4C26-6EB0-B596-8C68-9630826EF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7DB2E6-204A-A449-8394-D41589080444}"/>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0A9A962E-35CD-D554-B870-B7D53D4DEA0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74716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Methods</a:t>
            </a:r>
            <a:endParaRPr lang="en-GB">
              <a:ea typeface="Calibri Light"/>
              <a:cs typeface="Calibri Light"/>
            </a:endParaRP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a:ea typeface="Calibri" panose="020F0502020204030204"/>
                <a:cs typeface="Calibri"/>
              </a:rPr>
              <a:t>Extreme Programming (XP)</a:t>
            </a:r>
          </a:p>
          <a:p>
            <a:r>
              <a:rPr lang="en-US">
                <a:ea typeface="Calibri" panose="020F0502020204030204"/>
                <a:cs typeface="Calibri"/>
              </a:rPr>
              <a:t>Scrum</a:t>
            </a:r>
          </a:p>
          <a:p>
            <a:r>
              <a:rPr lang="en-US">
                <a:ea typeface="Calibri" panose="020F0502020204030204"/>
                <a:cs typeface="Calibri"/>
              </a:rPr>
              <a:t>DSDM</a:t>
            </a:r>
            <a:endParaRPr lang="en-US" dirty="0">
              <a:ea typeface="Calibri" panose="020F0502020204030204"/>
              <a:cs typeface="Calibri"/>
            </a:endParaRPr>
          </a:p>
          <a:p>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807025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221D0-D89E-9F44-57E6-A440B839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DFB3E-026E-8B4B-F284-857E4BDCA48C}"/>
              </a:ext>
            </a:extLst>
          </p:cNvPr>
          <p:cNvSpPr>
            <a:spLocks noGrp="1"/>
          </p:cNvSpPr>
          <p:nvPr>
            <p:ph type="title"/>
          </p:nvPr>
        </p:nvSpPr>
        <p:spPr/>
        <p:txBody>
          <a:bodyPr/>
          <a:lstStyle/>
          <a:p>
            <a:r>
              <a:rPr lang="en-GB">
                <a:cs typeface="Calibri Light"/>
              </a:rPr>
              <a:t>Extreme Programming (XP)</a:t>
            </a:r>
            <a:endParaRPr lang="en-US"/>
          </a:p>
        </p:txBody>
      </p:sp>
      <p:sp>
        <p:nvSpPr>
          <p:cNvPr id="3" name="Content Placeholder 2">
            <a:extLst>
              <a:ext uri="{FF2B5EF4-FFF2-40B4-BE49-F238E27FC236}">
                <a16:creationId xmlns:a16="http://schemas.microsoft.com/office/drawing/2014/main" id="{29F77A3D-76F1-B9D9-EA08-506CEF2DCDFB}"/>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a:ea typeface="Calibri" panose="020F0502020204030204"/>
                <a:cs typeface="Calibri"/>
              </a:rPr>
              <a:t>Most significant approach to changing software development culture</a:t>
            </a:r>
          </a:p>
          <a:p>
            <a:r>
              <a:rPr lang="en-US">
                <a:ea typeface="Calibri" panose="020F0502020204030204"/>
                <a:cs typeface="Calibri"/>
              </a:rPr>
              <a:t>Pushing recognized software good practices (such as iterative development) to the extreme (An example of extreme: </a:t>
            </a:r>
            <a:r>
              <a:rPr lang="en-US">
                <a:ea typeface="+mn-lt"/>
                <a:cs typeface="+mn-lt"/>
              </a:rPr>
              <a:t>Several new versions of a system may be developed by different programmers, integrated, and tested in a day)</a:t>
            </a:r>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2D84D7B-B9A2-C18C-7C79-F14DCD5B7E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88B5B51-C56B-2564-5518-59C0F0B2C547}"/>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0BBB1CB0-33FD-EFC2-B02F-CF3C94D12CA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21486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0C0-0E38-F3A6-9579-62D21FE94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52716-6E8C-CB4B-16C6-35C262C4E0D2}"/>
              </a:ext>
            </a:extLst>
          </p:cNvPr>
          <p:cNvSpPr>
            <a:spLocks noGrp="1"/>
          </p:cNvSpPr>
          <p:nvPr>
            <p:ph type="title"/>
          </p:nvPr>
        </p:nvSpPr>
        <p:spPr/>
        <p:txBody>
          <a:bodyPr/>
          <a:lstStyle/>
          <a:p>
            <a:r>
              <a:rPr lang="en-GB">
                <a:cs typeface="Calibri Light"/>
              </a:rPr>
              <a:t>Extreme Programming (XP)</a:t>
            </a:r>
            <a:endParaRPr lang="en-US"/>
          </a:p>
        </p:txBody>
      </p:sp>
      <p:sp>
        <p:nvSpPr>
          <p:cNvPr id="3" name="Content Placeholder 2">
            <a:extLst>
              <a:ext uri="{FF2B5EF4-FFF2-40B4-BE49-F238E27FC236}">
                <a16:creationId xmlns:a16="http://schemas.microsoft.com/office/drawing/2014/main" id="{2C5E7EE0-1755-BC7A-0B64-5CB9CE2942C2}"/>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dirty="0">
                <a:ea typeface="Calibri" panose="020F0502020204030204"/>
                <a:cs typeface="Calibri"/>
              </a:rPr>
              <a:t>In XP:</a:t>
            </a:r>
          </a:p>
          <a:p>
            <a:pPr lvl="1"/>
            <a:r>
              <a:rPr lang="en-US">
                <a:ea typeface="+mn-lt"/>
                <a:cs typeface="+mn-lt"/>
              </a:rPr>
              <a:t>Requirements are expressed as scenarios (called user stories)</a:t>
            </a:r>
            <a:endParaRPr lang="en-US" dirty="0">
              <a:ea typeface="Calibri" panose="020F0502020204030204"/>
              <a:cs typeface="Calibri"/>
            </a:endParaRPr>
          </a:p>
          <a:p>
            <a:pPr lvl="1"/>
            <a:r>
              <a:rPr lang="en-US">
                <a:ea typeface="+mn-lt"/>
                <a:cs typeface="+mn-lt"/>
              </a:rPr>
              <a:t>Implemented directly as a series of tasks</a:t>
            </a:r>
            <a:endParaRPr lang="en-US" dirty="0">
              <a:ea typeface="Calibri" panose="020F0502020204030204"/>
              <a:cs typeface="Calibri"/>
            </a:endParaRPr>
          </a:p>
          <a:p>
            <a:pPr lvl="1"/>
            <a:r>
              <a:rPr lang="en-US">
                <a:ea typeface="+mn-lt"/>
                <a:cs typeface="+mn-lt"/>
              </a:rPr>
              <a:t>Programmers work in pairs and develop tests for each task before writing the code</a:t>
            </a:r>
            <a:endParaRPr lang="en-US" dirty="0">
              <a:ea typeface="Calibri" panose="020F0502020204030204"/>
              <a:cs typeface="Calibri"/>
            </a:endParaRPr>
          </a:p>
          <a:p>
            <a:pPr lvl="1"/>
            <a:r>
              <a:rPr lang="en-US">
                <a:ea typeface="+mn-lt"/>
                <a:cs typeface="+mn-lt"/>
              </a:rPr>
              <a:t>All tests must be successfully executed when new code is integrated into the system</a:t>
            </a:r>
            <a:endParaRPr lang="en-US" dirty="0">
              <a:ea typeface="Calibri" panose="020F0502020204030204"/>
              <a:cs typeface="Calibri"/>
            </a:endParaRPr>
          </a:p>
          <a:p>
            <a:pPr lvl="1"/>
            <a:r>
              <a:rPr lang="en-US">
                <a:ea typeface="+mn-lt"/>
                <a:cs typeface="+mn-lt"/>
              </a:rPr>
              <a:t>There is a short time gap between releases of the system</a:t>
            </a:r>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1BCD3B1-321F-9757-1D42-07572C8151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EE646DD-F7C8-C294-A9F9-76E1F9A4D8AD}"/>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70894555-4C73-DEB4-0646-5A89DA1AE61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43988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C3A1E-BA19-789B-A074-2F19C6CB2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22E35-F6BC-C0B4-CF6A-DA5E94409979}"/>
              </a:ext>
            </a:extLst>
          </p:cNvPr>
          <p:cNvSpPr>
            <a:spLocks noGrp="1"/>
          </p:cNvSpPr>
          <p:nvPr>
            <p:ph type="title"/>
          </p:nvPr>
        </p:nvSpPr>
        <p:spPr/>
        <p:txBody>
          <a:bodyPr/>
          <a:lstStyle/>
          <a:p>
            <a:r>
              <a:rPr lang="en-GB">
                <a:cs typeface="Calibri Light"/>
              </a:rPr>
              <a:t>XP Process</a:t>
            </a:r>
            <a:endParaRPr lang="en-US"/>
          </a:p>
        </p:txBody>
      </p:sp>
      <p:sp>
        <p:nvSpPr>
          <p:cNvPr id="3" name="Content Placeholder 2">
            <a:extLst>
              <a:ext uri="{FF2B5EF4-FFF2-40B4-BE49-F238E27FC236}">
                <a16:creationId xmlns:a16="http://schemas.microsoft.com/office/drawing/2014/main" id="{599FCD7E-3728-54BE-B92A-3CC8FAFCE0DC}"/>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dirty="0">
                <a:ea typeface="Calibri" panose="020F0502020204030204"/>
                <a:cs typeface="Calibri"/>
              </a:rPr>
              <a:t>Planning:</a:t>
            </a:r>
          </a:p>
          <a:p>
            <a:pPr lvl="1">
              <a:buFont typeface="Courier New" panose="020B0604020202020204" pitchFamily="34" charset="0"/>
              <a:buChar char="o"/>
            </a:pPr>
            <a:r>
              <a:rPr lang="en-US" dirty="0">
                <a:ea typeface="+mn-lt"/>
                <a:cs typeface="+mn-lt"/>
              </a:rPr>
              <a:t>XP Release Planning</a:t>
            </a:r>
          </a:p>
          <a:p>
            <a:pPr lvl="2"/>
            <a:r>
              <a:rPr lang="en-US" dirty="0">
                <a:ea typeface="+mn-lt"/>
                <a:cs typeface="+mn-lt"/>
              </a:rPr>
              <a:t>Identify requirements in the form of </a:t>
            </a:r>
            <a:r>
              <a:rPr lang="en-US" b="1" u="sng" dirty="0">
                <a:ea typeface="+mn-lt"/>
                <a:cs typeface="+mn-lt"/>
              </a:rPr>
              <a:t>stories</a:t>
            </a:r>
            <a:endParaRPr lang="en-US" dirty="0">
              <a:ea typeface="+mn-lt"/>
              <a:cs typeface="+mn-lt"/>
            </a:endParaRPr>
          </a:p>
          <a:p>
            <a:pPr lvl="2"/>
            <a:r>
              <a:rPr lang="en-US" dirty="0">
                <a:ea typeface="+mn-lt"/>
                <a:cs typeface="+mn-lt"/>
              </a:rPr>
              <a:t>Prioritize them</a:t>
            </a:r>
          </a:p>
          <a:p>
            <a:pPr lvl="2"/>
            <a:r>
              <a:rPr lang="en-US" dirty="0">
                <a:ea typeface="+mn-lt"/>
                <a:cs typeface="+mn-lt"/>
              </a:rPr>
              <a:t>Group them into releases.</a:t>
            </a:r>
          </a:p>
          <a:p>
            <a:pPr lvl="1">
              <a:buFont typeface="Courier New" panose="020B0604020202020204" pitchFamily="34" charset="0"/>
              <a:buChar char="o"/>
            </a:pPr>
            <a:r>
              <a:rPr lang="en-US" dirty="0">
                <a:ea typeface="+mn-lt"/>
                <a:cs typeface="+mn-lt"/>
              </a:rPr>
              <a:t>XP Iteration Planning</a:t>
            </a:r>
          </a:p>
          <a:p>
            <a:pPr lvl="2"/>
            <a:r>
              <a:rPr lang="en-US" dirty="0">
                <a:ea typeface="+mn-lt"/>
                <a:cs typeface="+mn-lt"/>
              </a:rPr>
              <a:t>Each iteration delivers a group of stories</a:t>
            </a:r>
          </a:p>
          <a:p>
            <a:pPr lvl="2"/>
            <a:r>
              <a:rPr lang="en-US" dirty="0">
                <a:ea typeface="+mn-lt"/>
                <a:cs typeface="+mn-lt"/>
              </a:rPr>
              <a:t>Estimate project </a:t>
            </a:r>
            <a:r>
              <a:rPr lang="en-US" b="1" u="sng" dirty="0">
                <a:ea typeface="+mn-lt"/>
                <a:cs typeface="+mn-lt"/>
              </a:rPr>
              <a:t>velocity</a:t>
            </a:r>
            <a:r>
              <a:rPr lang="en-US" dirty="0">
                <a:ea typeface="+mn-lt"/>
                <a:cs typeface="+mn-lt"/>
              </a:rPr>
              <a:t> (total number of story points, estimate of number of work done)</a:t>
            </a:r>
            <a:endParaRPr lang="en-US" dirty="0">
              <a:ea typeface="Calibri" panose="020F0502020204030204"/>
              <a:cs typeface="Calibri" panose="020F0502020204030204"/>
            </a:endParaRPr>
          </a:p>
          <a:p>
            <a:pPr lvl="2"/>
            <a:r>
              <a:rPr lang="en-US" dirty="0">
                <a:ea typeface="+mn-lt"/>
                <a:cs typeface="+mn-lt"/>
              </a:rPr>
              <a:t>Plan the overall project deadline based on the velocity (possible from 2nd iteration onwards)</a:t>
            </a:r>
            <a:endParaRPr lang="en-US"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44EF79D0-88D1-D7CF-DDDC-3CB137970D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1082750-D533-2E9D-3F31-9EDCE2ACB2C5}"/>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72825F54-B109-9BA0-9634-6559EEC85B1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8790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905FD-BE96-BEC8-A666-0A244FBC0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01F7F-7202-638A-695A-8E6CEF2F5C5D}"/>
              </a:ext>
            </a:extLst>
          </p:cNvPr>
          <p:cNvSpPr>
            <a:spLocks noGrp="1"/>
          </p:cNvSpPr>
          <p:nvPr>
            <p:ph type="title"/>
          </p:nvPr>
        </p:nvSpPr>
        <p:spPr/>
        <p:txBody>
          <a:bodyPr/>
          <a:lstStyle/>
          <a:p>
            <a:r>
              <a:rPr lang="en-GB">
                <a:cs typeface="Calibri Light"/>
              </a:rPr>
              <a:t>XP Process</a:t>
            </a:r>
            <a:endParaRPr lang="en-US"/>
          </a:p>
        </p:txBody>
      </p:sp>
      <p:sp>
        <p:nvSpPr>
          <p:cNvPr id="3" name="Content Placeholder 2">
            <a:extLst>
              <a:ext uri="{FF2B5EF4-FFF2-40B4-BE49-F238E27FC236}">
                <a16:creationId xmlns:a16="http://schemas.microsoft.com/office/drawing/2014/main" id="{E017F0BD-A676-C94E-B11B-BC73243F43D5}"/>
              </a:ext>
            </a:extLst>
          </p:cNvPr>
          <p:cNvSpPr>
            <a:spLocks noGrp="1"/>
          </p:cNvSpPr>
          <p:nvPr>
            <p:ph idx="1"/>
          </p:nvPr>
        </p:nvSpPr>
        <p:spPr>
          <a:xfrm>
            <a:off x="838200" y="1690328"/>
            <a:ext cx="10515600" cy="4802547"/>
          </a:xfrm>
        </p:spPr>
        <p:txBody>
          <a:bodyPr vert="horz" lIns="91440" tIns="45720" rIns="91440" bIns="45720" rtlCol="0" anchor="t">
            <a:normAutofit lnSpcReduction="10000"/>
          </a:bodyPr>
          <a:lstStyle/>
          <a:p>
            <a:r>
              <a:rPr lang="en-US" dirty="0">
                <a:ea typeface="Calibri" panose="020F0502020204030204"/>
                <a:cs typeface="Calibri"/>
              </a:rPr>
              <a:t>Design:</a:t>
            </a:r>
            <a:endParaRPr lang="en-US" dirty="0">
              <a:ea typeface="+mn-lt"/>
              <a:cs typeface="+mn-lt"/>
            </a:endParaRPr>
          </a:p>
          <a:p>
            <a:pPr lvl="1">
              <a:buFont typeface="Courier New" panose="020B0604020202020204" pitchFamily="34" charset="0"/>
              <a:buChar char="o"/>
            </a:pPr>
            <a:r>
              <a:rPr lang="en-US">
                <a:ea typeface="+mn-lt"/>
                <a:cs typeface="+mn-lt"/>
              </a:rPr>
              <a:t>Build </a:t>
            </a:r>
            <a:r>
              <a:rPr lang="en-US" b="1" u="sng">
                <a:ea typeface="+mn-lt"/>
                <a:cs typeface="+mn-lt"/>
              </a:rPr>
              <a:t>Task cards</a:t>
            </a:r>
            <a:endParaRPr lang="en-US" b="1" dirty="0">
              <a:ea typeface="+mn-lt"/>
              <a:cs typeface="+mn-lt"/>
            </a:endParaRPr>
          </a:p>
          <a:p>
            <a:pPr lvl="1">
              <a:buFont typeface="Courier New" panose="020B0604020202020204" pitchFamily="34" charset="0"/>
              <a:buChar char="o"/>
            </a:pPr>
            <a:r>
              <a:rPr lang="en-US">
                <a:ea typeface="+mn-lt"/>
                <a:cs typeface="+mn-lt"/>
              </a:rPr>
              <a:t>Build </a:t>
            </a:r>
            <a:r>
              <a:rPr lang="en-US" b="1" u="sng" dirty="0">
                <a:ea typeface="+mn-lt"/>
                <a:cs typeface="+mn-lt"/>
              </a:rPr>
              <a:t>Class-Responsibility-Collaborator (CRC) cards</a:t>
            </a:r>
            <a:endParaRPr lang="en-US"/>
          </a:p>
          <a:p>
            <a:pPr lvl="1">
              <a:buFont typeface="Courier New" panose="020B0604020202020204" pitchFamily="34" charset="0"/>
              <a:buChar char="o"/>
            </a:pPr>
            <a:r>
              <a:rPr lang="en-US" dirty="0">
                <a:ea typeface="+mn-lt"/>
                <a:cs typeface="+mn-lt"/>
              </a:rPr>
              <a:t>CRC cards identify and organize the object-oriented classes</a:t>
            </a:r>
            <a:endParaRPr lang="en-US"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Create prototypes to address difficult designs</a:t>
            </a:r>
            <a:endParaRPr lang="en-US"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Prototype is called spike solution</a:t>
            </a:r>
            <a:endParaRPr lang="en-US" dirty="0">
              <a:ea typeface="Calibri" panose="020F0502020204030204"/>
              <a:cs typeface="Calibri" panose="020F0502020204030204"/>
            </a:endParaRPr>
          </a:p>
          <a:p>
            <a:r>
              <a:rPr lang="en-US" dirty="0">
                <a:ea typeface="Calibri" panose="020F0502020204030204"/>
                <a:cs typeface="Calibri" panose="020F0502020204030204"/>
              </a:rPr>
              <a:t>Coding:</a:t>
            </a:r>
            <a:endParaRPr lang="en-US" dirty="0">
              <a:ea typeface="+mn-lt"/>
              <a:cs typeface="+mn-lt"/>
            </a:endParaRPr>
          </a:p>
          <a:p>
            <a:pPr lvl="1">
              <a:buFont typeface="Courier New" panose="020B0604020202020204" pitchFamily="34" charset="0"/>
              <a:buChar char="o"/>
            </a:pPr>
            <a:r>
              <a:rPr lang="en-US" dirty="0">
                <a:ea typeface="+mn-lt"/>
                <a:cs typeface="+mn-lt"/>
              </a:rPr>
              <a:t>Develop test cases first.</a:t>
            </a:r>
          </a:p>
          <a:p>
            <a:pPr lvl="1">
              <a:buFont typeface="Courier New" panose="020B0604020202020204" pitchFamily="34" charset="0"/>
              <a:buChar char="o"/>
            </a:pPr>
            <a:r>
              <a:rPr lang="en-US" dirty="0">
                <a:ea typeface="+mn-lt"/>
                <a:cs typeface="+mn-lt"/>
              </a:rPr>
              <a:t>Programmers code with test cases in view</a:t>
            </a:r>
          </a:p>
          <a:p>
            <a:pPr lvl="1">
              <a:buFont typeface="Courier New" panose="020B0604020202020204" pitchFamily="34" charset="0"/>
              <a:buChar char="o"/>
            </a:pPr>
            <a:r>
              <a:rPr lang="en-US" b="1" u="sng" dirty="0">
                <a:ea typeface="+mn-lt"/>
                <a:cs typeface="+mn-lt"/>
              </a:rPr>
              <a:t>Pair programming</a:t>
            </a:r>
            <a:endParaRPr lang="en-US" b="1" u="sng"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Ensures real time problem solving and quality assurance</a:t>
            </a:r>
          </a:p>
          <a:p>
            <a:pPr lvl="1">
              <a:buFont typeface="Courier New" panose="020B0604020202020204" pitchFamily="34" charset="0"/>
              <a:buChar char="o"/>
            </a:pPr>
            <a:r>
              <a:rPr lang="en-US" dirty="0">
                <a:ea typeface="+mn-lt"/>
                <a:cs typeface="+mn-lt"/>
              </a:rPr>
              <a:t>Code is integrated at the end of the day with that of others</a:t>
            </a:r>
            <a:endParaRPr lang="en-US"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96661617-8757-C54C-823A-749DED0448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EEC2E3A-EC6D-DEBF-4634-4B4D8DB81A06}"/>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4C72B466-6F63-CF29-8EAE-4443A08159C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5710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0C0C-4B5E-CF20-1AC1-B6DB40FDC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19D8D-C207-D806-7595-5DBD80563384}"/>
              </a:ext>
            </a:extLst>
          </p:cNvPr>
          <p:cNvSpPr>
            <a:spLocks noGrp="1"/>
          </p:cNvSpPr>
          <p:nvPr>
            <p:ph type="title"/>
          </p:nvPr>
        </p:nvSpPr>
        <p:spPr/>
        <p:txBody>
          <a:bodyPr/>
          <a:lstStyle/>
          <a:p>
            <a:r>
              <a:rPr lang="en-GB">
                <a:cs typeface="Calibri Light"/>
              </a:rPr>
              <a:t>XP Process</a:t>
            </a:r>
            <a:endParaRPr lang="en-US"/>
          </a:p>
        </p:txBody>
      </p:sp>
      <p:sp>
        <p:nvSpPr>
          <p:cNvPr id="3" name="Content Placeholder 2">
            <a:extLst>
              <a:ext uri="{FF2B5EF4-FFF2-40B4-BE49-F238E27FC236}">
                <a16:creationId xmlns:a16="http://schemas.microsoft.com/office/drawing/2014/main" id="{ACF2506A-540B-E79F-79EA-0A7BBEB8F6F5}"/>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dirty="0">
                <a:ea typeface="Calibri" panose="020F0502020204030204"/>
                <a:cs typeface="Calibri"/>
              </a:rPr>
              <a:t>Testing:</a:t>
            </a:r>
            <a:endParaRPr lang="en-US" dirty="0">
              <a:ea typeface="+mn-lt"/>
              <a:cs typeface="+mn-lt"/>
            </a:endParaRPr>
          </a:p>
          <a:p>
            <a:pPr lvl="1">
              <a:buFont typeface="Courier New" panose="020B0604020202020204" pitchFamily="34" charset="0"/>
              <a:buChar char="o"/>
            </a:pPr>
            <a:r>
              <a:rPr lang="en-US" dirty="0">
                <a:ea typeface="+mn-lt"/>
                <a:cs typeface="+mn-lt"/>
              </a:rPr>
              <a:t>Focus on XP acceptance tests also called customer tests</a:t>
            </a:r>
          </a:p>
          <a:p>
            <a:pPr lvl="1">
              <a:buFont typeface="Courier New" panose="020B0604020202020204" pitchFamily="34" charset="0"/>
              <a:buChar char="o"/>
            </a:pPr>
            <a:r>
              <a:rPr lang="en-US" dirty="0">
                <a:ea typeface="+mn-lt"/>
                <a:cs typeface="+mn-lt"/>
              </a:rPr>
              <a:t>Acceptance tests are derived from user stories</a:t>
            </a:r>
          </a:p>
          <a:p>
            <a:pPr lvl="1">
              <a:buFont typeface="Courier New" panose="020B0604020202020204" pitchFamily="34" charset="0"/>
              <a:buChar char="o"/>
            </a:pPr>
            <a:r>
              <a:rPr lang="en-US" dirty="0">
                <a:ea typeface="+mn-lt"/>
                <a:cs typeface="+mn-lt"/>
              </a:rPr>
              <a:t>Verification and Validation</a:t>
            </a:r>
            <a:endParaRPr lang="en-US" dirty="0">
              <a:ea typeface="Calibri" panose="020F0502020204030204"/>
              <a:cs typeface="Calibri" panose="020F0502020204030204"/>
            </a:endParaRPr>
          </a:p>
          <a:p>
            <a:pPr lvl="2"/>
            <a:r>
              <a:rPr lang="en-US" dirty="0">
                <a:ea typeface="+mn-lt"/>
                <a:cs typeface="+mn-lt"/>
              </a:rPr>
              <a:t>Building the product right Vs building the right product</a:t>
            </a:r>
            <a:endParaRPr lang="en-US" dirty="0">
              <a:ea typeface="Calibri" panose="020F0502020204030204"/>
              <a:cs typeface="Calibri" panose="020F0502020204030204"/>
            </a:endParaRPr>
          </a:p>
          <a:p>
            <a:r>
              <a:rPr lang="en-US" dirty="0">
                <a:ea typeface="Calibri" panose="020F0502020204030204"/>
                <a:cs typeface="Calibri" panose="020F0502020204030204"/>
              </a:rPr>
              <a:t>Release:</a:t>
            </a:r>
          </a:p>
          <a:p>
            <a:pPr lvl="1">
              <a:buFont typeface="Courier New" panose="020B0604020202020204" pitchFamily="34" charset="0"/>
              <a:buChar char="o"/>
            </a:pPr>
            <a:r>
              <a:rPr lang="en-US" dirty="0">
                <a:ea typeface="Calibri" panose="020F0502020204030204"/>
                <a:cs typeface="Calibri" panose="020F0502020204030204"/>
              </a:rPr>
              <a:t>Software increment decided (what features are to be implemented in the next iteration are decided)</a:t>
            </a:r>
          </a:p>
          <a:p>
            <a:pPr lvl="1">
              <a:buFont typeface="Courier New" panose="020B0604020202020204" pitchFamily="34" charset="0"/>
              <a:buChar char="o"/>
            </a:pPr>
            <a:r>
              <a:rPr lang="en-US" dirty="0">
                <a:ea typeface="Calibri" panose="020F0502020204030204"/>
                <a:cs typeface="Calibri" panose="020F0502020204030204"/>
              </a:rPr>
              <a:t>Velocity computed (helps plan for the next release)</a:t>
            </a: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C9F285A3-C1F0-049B-8C86-4CC407CA6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D7FC00C-9FF7-C439-F3AE-A786E2569CD7}"/>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D23C7D96-8962-5B18-1E76-A14F00B9219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12346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a:xfrm>
            <a:off x="4313" y="350748"/>
            <a:ext cx="10515600" cy="1325563"/>
          </a:xfrm>
        </p:spPr>
        <p:txBody>
          <a:bodyPr/>
          <a:lstStyle/>
          <a:p>
            <a:r>
              <a:rPr lang="en-GB" dirty="0">
                <a:ea typeface="Calibri Light"/>
                <a:cs typeface="Calibri Light"/>
              </a:rPr>
              <a:t>XP Components</a:t>
            </a:r>
            <a:br>
              <a:rPr lang="en-GB" dirty="0">
                <a:ea typeface="Calibri Light"/>
                <a:cs typeface="Calibri Light"/>
              </a:rPr>
            </a:br>
            <a:r>
              <a:rPr lang="en-GB" dirty="0">
                <a:ea typeface="Calibri Light"/>
                <a:cs typeface="Calibri Light"/>
              </a:rPr>
              <a:t>Story</a:t>
            </a:r>
            <a:endParaRPr lang="en-US" dirty="0"/>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9" name="Picture 8" descr="A screenshot of a medical prescription&#10;&#10;AI-generated content may be incorrect.">
            <a:extLst>
              <a:ext uri="{FF2B5EF4-FFF2-40B4-BE49-F238E27FC236}">
                <a16:creationId xmlns:a16="http://schemas.microsoft.com/office/drawing/2014/main" id="{3646CAFA-69C9-3518-3F1D-FE7959D1C41A}"/>
              </a:ext>
            </a:extLst>
          </p:cNvPr>
          <p:cNvPicPr>
            <a:picLocks noChangeAspect="1"/>
          </p:cNvPicPr>
          <p:nvPr/>
        </p:nvPicPr>
        <p:blipFill>
          <a:blip r:embed="rId4"/>
          <a:stretch>
            <a:fillRect/>
          </a:stretch>
        </p:blipFill>
        <p:spPr>
          <a:xfrm>
            <a:off x="3733441" y="37381"/>
            <a:ext cx="8405721" cy="6840745"/>
          </a:xfrm>
          <a:prstGeom prst="rect">
            <a:avLst/>
          </a:prstGeom>
        </p:spPr>
      </p:pic>
      <p:sp>
        <p:nvSpPr>
          <p:cNvPr id="3" name="TextBox 2">
            <a:extLst>
              <a:ext uri="{FF2B5EF4-FFF2-40B4-BE49-F238E27FC236}">
                <a16:creationId xmlns:a16="http://schemas.microsoft.com/office/drawing/2014/main" id="{C3521110-8167-4A13-C4DF-E05D3AF1E005}"/>
              </a:ext>
            </a:extLst>
          </p:cNvPr>
          <p:cNvSpPr txBox="1"/>
          <p:nvPr/>
        </p:nvSpPr>
        <p:spPr>
          <a:xfrm>
            <a:off x="8625" y="2603260"/>
            <a:ext cx="359050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In the </a:t>
            </a:r>
            <a:r>
              <a:rPr lang="en-GB" b="1" dirty="0">
                <a:ea typeface="+mn-lt"/>
                <a:cs typeface="+mn-lt"/>
              </a:rPr>
              <a:t>Extreme Programming (XP)</a:t>
            </a:r>
            <a:r>
              <a:rPr lang="en-GB" dirty="0">
                <a:ea typeface="+mn-lt"/>
                <a:cs typeface="+mn-lt"/>
              </a:rPr>
              <a:t> process model, a </a:t>
            </a:r>
            <a:r>
              <a:rPr lang="en-GB" b="1" dirty="0">
                <a:ea typeface="+mn-lt"/>
                <a:cs typeface="+mn-lt"/>
              </a:rPr>
              <a:t>story</a:t>
            </a:r>
            <a:r>
              <a:rPr lang="en-GB" dirty="0">
                <a:ea typeface="+mn-lt"/>
                <a:cs typeface="+mn-lt"/>
              </a:rPr>
              <a:t> (also known as a </a:t>
            </a:r>
            <a:r>
              <a:rPr lang="en-GB" b="1" dirty="0">
                <a:ea typeface="+mn-lt"/>
                <a:cs typeface="+mn-lt"/>
              </a:rPr>
              <a:t>user story</a:t>
            </a:r>
            <a:r>
              <a:rPr lang="en-GB" dirty="0">
                <a:ea typeface="+mn-lt"/>
                <a:cs typeface="+mn-lt"/>
              </a:rPr>
              <a:t>) is a </a:t>
            </a:r>
            <a:r>
              <a:rPr lang="en-GB" b="1" dirty="0">
                <a:ea typeface="+mn-lt"/>
                <a:cs typeface="+mn-lt"/>
              </a:rPr>
              <a:t>short, simple description of a feature or functionality</a:t>
            </a:r>
            <a:r>
              <a:rPr lang="en-GB" dirty="0">
                <a:ea typeface="+mn-lt"/>
                <a:cs typeface="+mn-lt"/>
              </a:rPr>
              <a:t> that the system should provide. It’s written from the perspective of the </a:t>
            </a:r>
            <a:r>
              <a:rPr lang="en-GB" b="1" dirty="0">
                <a:ea typeface="+mn-lt"/>
                <a:cs typeface="+mn-lt"/>
              </a:rPr>
              <a:t>end user</a:t>
            </a:r>
            <a:r>
              <a:rPr lang="en-GB" dirty="0">
                <a:ea typeface="+mn-lt"/>
                <a:cs typeface="+mn-lt"/>
              </a:rPr>
              <a:t> or </a:t>
            </a:r>
            <a:r>
              <a:rPr lang="en-GB" b="1" dirty="0">
                <a:ea typeface="+mn-lt"/>
                <a:cs typeface="+mn-lt"/>
              </a:rPr>
              <a:t>customer</a:t>
            </a:r>
            <a:r>
              <a:rPr lang="en-GB" dirty="0">
                <a:ea typeface="+mn-lt"/>
                <a:cs typeface="+mn-lt"/>
              </a:rPr>
              <a:t> and focuses on </a:t>
            </a:r>
            <a:r>
              <a:rPr lang="en-GB" b="1" dirty="0">
                <a:ea typeface="+mn-lt"/>
                <a:cs typeface="+mn-lt"/>
              </a:rPr>
              <a:t>what</a:t>
            </a:r>
            <a:r>
              <a:rPr lang="en-GB" dirty="0">
                <a:ea typeface="+mn-lt"/>
                <a:cs typeface="+mn-lt"/>
              </a:rPr>
              <a:t> the user wants to achieve rather than </a:t>
            </a:r>
            <a:r>
              <a:rPr lang="en-GB" b="1" dirty="0">
                <a:ea typeface="+mn-lt"/>
                <a:cs typeface="+mn-lt"/>
              </a:rPr>
              <a:t>how</a:t>
            </a:r>
            <a:r>
              <a:rPr lang="en-GB" dirty="0">
                <a:ea typeface="+mn-lt"/>
                <a:cs typeface="+mn-lt"/>
              </a:rPr>
              <a:t> it will be implemented.</a:t>
            </a:r>
            <a:endParaRPr lang="en-US" dirty="0"/>
          </a:p>
        </p:txBody>
      </p:sp>
    </p:spTree>
    <p:extLst>
      <p:ext uri="{BB962C8B-B14F-4D97-AF65-F5344CB8AC3E}">
        <p14:creationId xmlns:p14="http://schemas.microsoft.com/office/powerpoint/2010/main" val="4238744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7DAE3-65C4-2303-899C-32CAA113B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74796-AB6D-8C5B-1256-6A84214A957D}"/>
              </a:ext>
            </a:extLst>
          </p:cNvPr>
          <p:cNvSpPr>
            <a:spLocks noGrp="1"/>
          </p:cNvSpPr>
          <p:nvPr>
            <p:ph type="title"/>
          </p:nvPr>
        </p:nvSpPr>
        <p:spPr/>
        <p:txBody>
          <a:bodyPr/>
          <a:lstStyle/>
          <a:p>
            <a:r>
              <a:rPr lang="en-GB">
                <a:cs typeface="Calibri Light"/>
              </a:rPr>
              <a:t>XP Components: Story</a:t>
            </a:r>
            <a:endParaRPr lang="en-US"/>
          </a:p>
        </p:txBody>
      </p:sp>
      <p:sp>
        <p:nvSpPr>
          <p:cNvPr id="3" name="Content Placeholder 2">
            <a:extLst>
              <a:ext uri="{FF2B5EF4-FFF2-40B4-BE49-F238E27FC236}">
                <a16:creationId xmlns:a16="http://schemas.microsoft.com/office/drawing/2014/main" id="{DE124472-CF52-D4DC-7B63-8E0D01295E67}"/>
              </a:ext>
            </a:extLst>
          </p:cNvPr>
          <p:cNvSpPr>
            <a:spLocks noGrp="1"/>
          </p:cNvSpPr>
          <p:nvPr>
            <p:ph idx="1"/>
          </p:nvPr>
        </p:nvSpPr>
        <p:spPr>
          <a:xfrm>
            <a:off x="838200" y="1704705"/>
            <a:ext cx="10515600" cy="5090094"/>
          </a:xfrm>
        </p:spPr>
        <p:txBody>
          <a:bodyPr vert="horz" lIns="91440" tIns="45720" rIns="91440" bIns="45720" rtlCol="0" anchor="t">
            <a:normAutofit fontScale="92500" lnSpcReduction="10000"/>
          </a:bodyPr>
          <a:lstStyle/>
          <a:p>
            <a:pPr>
              <a:lnSpc>
                <a:spcPct val="100000"/>
              </a:lnSpc>
              <a:spcBef>
                <a:spcPts val="0"/>
              </a:spcBef>
            </a:pPr>
            <a:r>
              <a:rPr lang="en-US" dirty="0">
                <a:ea typeface="+mn-lt"/>
                <a:cs typeface="+mn-lt"/>
              </a:rPr>
              <a:t>The common template is:</a:t>
            </a:r>
          </a:p>
          <a:p>
            <a:pPr>
              <a:lnSpc>
                <a:spcPct val="100000"/>
              </a:lnSpc>
              <a:spcBef>
                <a:spcPts val="0"/>
              </a:spcBef>
            </a:pPr>
            <a:r>
              <a:rPr lang="en-US" b="1" dirty="0">
                <a:ea typeface="+mn-lt"/>
                <a:cs typeface="+mn-lt"/>
              </a:rPr>
              <a:t>“As a [</a:t>
            </a:r>
            <a:r>
              <a:rPr lang="en-US" b="1" dirty="0">
                <a:highlight>
                  <a:srgbClr val="FFFF00"/>
                </a:highlight>
                <a:ea typeface="+mn-lt"/>
                <a:cs typeface="+mn-lt"/>
              </a:rPr>
              <a:t>type of user</a:t>
            </a:r>
            <a:r>
              <a:rPr lang="en-US" b="1" dirty="0">
                <a:ea typeface="+mn-lt"/>
                <a:cs typeface="+mn-lt"/>
              </a:rPr>
              <a:t>], I want [</a:t>
            </a:r>
            <a:r>
              <a:rPr lang="en-US" b="1" dirty="0">
                <a:highlight>
                  <a:srgbClr val="FFFF00"/>
                </a:highlight>
                <a:ea typeface="+mn-lt"/>
                <a:cs typeface="+mn-lt"/>
              </a:rPr>
              <a:t>an action or feature</a:t>
            </a:r>
            <a:r>
              <a:rPr lang="en-US" b="1" dirty="0">
                <a:ea typeface="+mn-lt"/>
                <a:cs typeface="+mn-lt"/>
              </a:rPr>
              <a:t>] so that [</a:t>
            </a:r>
            <a:r>
              <a:rPr lang="en-US" b="1" dirty="0">
                <a:highlight>
                  <a:srgbClr val="FFFF00"/>
                </a:highlight>
                <a:ea typeface="+mn-lt"/>
                <a:cs typeface="+mn-lt"/>
              </a:rPr>
              <a:t>desired outcome</a:t>
            </a:r>
            <a:r>
              <a:rPr lang="en-US" b="1" dirty="0">
                <a:ea typeface="+mn-lt"/>
                <a:cs typeface="+mn-lt"/>
              </a:rPr>
              <a:t>].”</a:t>
            </a:r>
            <a:endParaRPr lang="en-US" dirty="0">
              <a:ea typeface="+mn-lt"/>
              <a:cs typeface="+mn-lt"/>
            </a:endParaRPr>
          </a:p>
          <a:p>
            <a:pPr>
              <a:lnSpc>
                <a:spcPct val="100000"/>
              </a:lnSpc>
              <a:spcBef>
                <a:spcPts val="0"/>
              </a:spcBef>
            </a:pPr>
            <a:endParaRPr lang="en-US" dirty="0">
              <a:ea typeface="+mn-lt"/>
              <a:cs typeface="+mn-lt"/>
            </a:endParaRPr>
          </a:p>
          <a:p>
            <a:pPr>
              <a:lnSpc>
                <a:spcPct val="100000"/>
              </a:lnSpc>
              <a:spcBef>
                <a:spcPts val="0"/>
              </a:spcBef>
            </a:pPr>
            <a:r>
              <a:rPr lang="en-US" b="1" dirty="0">
                <a:ea typeface="+mn-lt"/>
                <a:cs typeface="+mn-lt"/>
              </a:rPr>
              <a:t>Examples (Sustainable Shopping Assistant App):</a:t>
            </a:r>
            <a:endParaRPr lang="en-US" dirty="0">
              <a:ea typeface="+mn-lt"/>
              <a:cs typeface="+mn-lt"/>
            </a:endParaRPr>
          </a:p>
          <a:p>
            <a:pPr marL="171450" indent="-171450">
              <a:lnSpc>
                <a:spcPct val="100000"/>
              </a:lnSpc>
              <a:spcBef>
                <a:spcPts val="0"/>
              </a:spcBef>
              <a:buFont typeface="Arial,Sans-Serif" panose="020B0604020202020204" pitchFamily="34" charset="0"/>
            </a:pPr>
            <a:r>
              <a:rPr lang="en-US" b="1" dirty="0">
                <a:ea typeface="+mn-lt"/>
                <a:cs typeface="+mn-lt"/>
              </a:rPr>
              <a:t>Barcode Scanning:</a:t>
            </a:r>
            <a:endParaRPr lang="en-US" dirty="0">
              <a:ea typeface="+mn-lt"/>
              <a:cs typeface="+mn-lt"/>
            </a:endParaRPr>
          </a:p>
          <a:p>
            <a:pPr marL="628650" lvl="1" indent="-171450">
              <a:lnSpc>
                <a:spcPct val="100000"/>
              </a:lnSpc>
              <a:spcBef>
                <a:spcPts val="0"/>
              </a:spcBef>
              <a:buFont typeface="Arial,Sans-Serif" panose="020B0604020202020204" pitchFamily="34" charset="0"/>
            </a:pPr>
            <a:r>
              <a:rPr lang="en-US" i="1" dirty="0">
                <a:ea typeface="+mn-lt"/>
                <a:cs typeface="+mn-lt"/>
              </a:rPr>
              <a:t>"As a </a:t>
            </a:r>
            <a:r>
              <a:rPr lang="en-US" i="1" dirty="0">
                <a:highlight>
                  <a:srgbClr val="FFFF00"/>
                </a:highlight>
                <a:ea typeface="+mn-lt"/>
                <a:cs typeface="+mn-lt"/>
              </a:rPr>
              <a:t>shopper</a:t>
            </a:r>
            <a:r>
              <a:rPr lang="en-US" i="1" dirty="0">
                <a:ea typeface="+mn-lt"/>
                <a:cs typeface="+mn-lt"/>
              </a:rPr>
              <a:t>, I want to </a:t>
            </a:r>
            <a:r>
              <a:rPr lang="en-US" i="1" dirty="0">
                <a:highlight>
                  <a:srgbClr val="FFFF00"/>
                </a:highlight>
                <a:ea typeface="+mn-lt"/>
                <a:cs typeface="+mn-lt"/>
              </a:rPr>
              <a:t>scan a product’s barcode</a:t>
            </a:r>
            <a:r>
              <a:rPr lang="en-US" i="1" dirty="0">
                <a:ea typeface="+mn-lt"/>
                <a:cs typeface="+mn-lt"/>
              </a:rPr>
              <a:t> so that </a:t>
            </a:r>
            <a:r>
              <a:rPr lang="en-US" i="1" dirty="0">
                <a:highlight>
                  <a:srgbClr val="FFFF00"/>
                </a:highlight>
                <a:ea typeface="+mn-lt"/>
                <a:cs typeface="+mn-lt"/>
              </a:rPr>
              <a:t>I can instantly see its sustainability rating.</a:t>
            </a:r>
            <a:r>
              <a:rPr lang="en-US" i="1" dirty="0">
                <a:ea typeface="+mn-lt"/>
                <a:cs typeface="+mn-lt"/>
              </a:rPr>
              <a:t>"</a:t>
            </a:r>
            <a:endParaRPr lang="en-US" dirty="0">
              <a:ea typeface="+mn-lt"/>
              <a:cs typeface="+mn-lt"/>
            </a:endParaRPr>
          </a:p>
          <a:p>
            <a:pPr marL="171450" indent="-171450">
              <a:lnSpc>
                <a:spcPct val="100000"/>
              </a:lnSpc>
              <a:spcBef>
                <a:spcPts val="0"/>
              </a:spcBef>
              <a:buFont typeface="Arial,Sans-Serif" panose="020B0604020202020204" pitchFamily="34" charset="0"/>
            </a:pPr>
            <a:r>
              <a:rPr lang="en-US" b="1" dirty="0">
                <a:ea typeface="+mn-lt"/>
                <a:cs typeface="+mn-lt"/>
              </a:rPr>
              <a:t>Eco-Friendly Suggestions:</a:t>
            </a:r>
            <a:endParaRPr lang="en-US" dirty="0">
              <a:ea typeface="+mn-lt"/>
              <a:cs typeface="+mn-lt"/>
            </a:endParaRPr>
          </a:p>
          <a:p>
            <a:pPr marL="628650" lvl="1" indent="-171450">
              <a:lnSpc>
                <a:spcPct val="100000"/>
              </a:lnSpc>
              <a:spcBef>
                <a:spcPts val="0"/>
              </a:spcBef>
              <a:buFont typeface="Arial,Sans-Serif" panose="020B0604020202020204" pitchFamily="34" charset="0"/>
            </a:pPr>
            <a:r>
              <a:rPr lang="en-US" i="1" dirty="0">
                <a:ea typeface="+mn-lt"/>
                <a:cs typeface="+mn-lt"/>
              </a:rPr>
              <a:t>"As a </a:t>
            </a:r>
            <a:r>
              <a:rPr lang="en-US" i="1" dirty="0">
                <a:highlight>
                  <a:srgbClr val="FFFF00"/>
                </a:highlight>
                <a:ea typeface="+mn-lt"/>
                <a:cs typeface="+mn-lt"/>
              </a:rPr>
              <a:t>conscious consumer</a:t>
            </a:r>
            <a:r>
              <a:rPr lang="en-US" i="1" dirty="0">
                <a:ea typeface="+mn-lt"/>
                <a:cs typeface="+mn-lt"/>
              </a:rPr>
              <a:t>, I want to </a:t>
            </a:r>
            <a:r>
              <a:rPr lang="en-US" i="1" dirty="0">
                <a:highlight>
                  <a:srgbClr val="FFFF00"/>
                </a:highlight>
                <a:ea typeface="+mn-lt"/>
                <a:cs typeface="+mn-lt"/>
              </a:rPr>
              <a:t>receive eco-friendly product suggestions</a:t>
            </a:r>
            <a:r>
              <a:rPr lang="en-US" i="1" dirty="0">
                <a:ea typeface="+mn-lt"/>
                <a:cs typeface="+mn-lt"/>
              </a:rPr>
              <a:t> based on my purchases so that I can </a:t>
            </a:r>
            <a:r>
              <a:rPr lang="en-US" i="1" dirty="0">
                <a:highlight>
                  <a:srgbClr val="FFFF00"/>
                </a:highlight>
                <a:ea typeface="+mn-lt"/>
                <a:cs typeface="+mn-lt"/>
              </a:rPr>
              <a:t>make more sustainable choices</a:t>
            </a:r>
            <a:r>
              <a:rPr lang="en-US" i="1" dirty="0">
                <a:ea typeface="+mn-lt"/>
                <a:cs typeface="+mn-lt"/>
              </a:rPr>
              <a:t>."</a:t>
            </a:r>
            <a:endParaRPr lang="en-US" dirty="0">
              <a:ea typeface="+mn-lt"/>
              <a:cs typeface="+mn-lt"/>
            </a:endParaRPr>
          </a:p>
          <a:p>
            <a:pPr marL="171450" indent="-171450">
              <a:lnSpc>
                <a:spcPct val="100000"/>
              </a:lnSpc>
              <a:spcBef>
                <a:spcPts val="0"/>
              </a:spcBef>
              <a:buFont typeface="Arial,Sans-Serif" panose="020B0604020202020204" pitchFamily="34" charset="0"/>
            </a:pPr>
            <a:r>
              <a:rPr lang="en-US" b="1" dirty="0">
                <a:ea typeface="+mn-lt"/>
                <a:cs typeface="+mn-lt"/>
              </a:rPr>
              <a:t>Carbon Footprint Analysis:</a:t>
            </a:r>
            <a:endParaRPr lang="en-US" dirty="0">
              <a:ea typeface="+mn-lt"/>
              <a:cs typeface="+mn-lt"/>
            </a:endParaRPr>
          </a:p>
          <a:p>
            <a:pPr marL="628650" lvl="1" indent="-171450">
              <a:lnSpc>
                <a:spcPct val="100000"/>
              </a:lnSpc>
              <a:spcBef>
                <a:spcPts val="0"/>
              </a:spcBef>
              <a:buFont typeface="Arial,Sans-Serif" panose="020B0604020202020204" pitchFamily="34" charset="0"/>
            </a:pPr>
            <a:r>
              <a:rPr lang="en-US" i="1" dirty="0">
                <a:ea typeface="+mn-lt"/>
                <a:cs typeface="+mn-lt"/>
              </a:rPr>
              <a:t>"As a </a:t>
            </a:r>
            <a:r>
              <a:rPr lang="en-US" i="1" dirty="0">
                <a:highlight>
                  <a:srgbClr val="FFFF00"/>
                </a:highlight>
                <a:ea typeface="+mn-lt"/>
                <a:cs typeface="+mn-lt"/>
              </a:rPr>
              <a:t>user</a:t>
            </a:r>
            <a:r>
              <a:rPr lang="en-US" i="1" dirty="0">
                <a:ea typeface="+mn-lt"/>
                <a:cs typeface="+mn-lt"/>
              </a:rPr>
              <a:t>, I want to </a:t>
            </a:r>
            <a:r>
              <a:rPr lang="en-US" i="1" dirty="0">
                <a:highlight>
                  <a:srgbClr val="FFFF00"/>
                </a:highlight>
                <a:ea typeface="+mn-lt"/>
                <a:cs typeface="+mn-lt"/>
              </a:rPr>
              <a:t>upload my supermarket bills</a:t>
            </a:r>
            <a:r>
              <a:rPr lang="en-US" i="1" dirty="0">
                <a:ea typeface="+mn-lt"/>
                <a:cs typeface="+mn-lt"/>
              </a:rPr>
              <a:t> so that the </a:t>
            </a:r>
            <a:r>
              <a:rPr lang="en-US" i="1" dirty="0">
                <a:highlight>
                  <a:srgbClr val="FFFF00"/>
                </a:highlight>
                <a:ea typeface="+mn-lt"/>
                <a:cs typeface="+mn-lt"/>
              </a:rPr>
              <a:t>app can analyze my ecological footprint</a:t>
            </a:r>
            <a:r>
              <a:rPr lang="en-US" i="1" dirty="0">
                <a:ea typeface="+mn-lt"/>
                <a:cs typeface="+mn-lt"/>
              </a:rPr>
              <a:t>."</a:t>
            </a:r>
            <a:endParaRPr lang="en-US" dirty="0">
              <a:ea typeface="+mn-lt"/>
              <a:cs typeface="+mn-lt"/>
            </a:endParaRPr>
          </a:p>
          <a:p>
            <a:endParaRPr lang="en-US"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79B4A582-3CD6-B2D9-9E7B-2852487009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AF64BF2-4B6C-9BF2-EC25-90F9858CDAD9}"/>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9BF52400-7C59-61BC-899B-67661C0EE66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3107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818A-FE6C-CFC5-5E5E-D38FB362B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53362-3F6A-3064-D6A2-E5C6CA367F8B}"/>
              </a:ext>
            </a:extLst>
          </p:cNvPr>
          <p:cNvSpPr>
            <a:spLocks noGrp="1"/>
          </p:cNvSpPr>
          <p:nvPr>
            <p:ph type="title"/>
          </p:nvPr>
        </p:nvSpPr>
        <p:spPr>
          <a:xfrm>
            <a:off x="4313" y="350748"/>
            <a:ext cx="10515600" cy="1325563"/>
          </a:xfrm>
        </p:spPr>
        <p:txBody>
          <a:bodyPr/>
          <a:lstStyle/>
          <a:p>
            <a:r>
              <a:rPr lang="en-GB" dirty="0">
                <a:ea typeface="Calibri Light"/>
                <a:cs typeface="Calibri Light"/>
              </a:rPr>
              <a:t>XP Components</a:t>
            </a:r>
            <a:br>
              <a:rPr lang="en-GB" dirty="0">
                <a:ea typeface="Calibri Light"/>
                <a:cs typeface="Calibri Light"/>
              </a:rPr>
            </a:br>
            <a:r>
              <a:rPr lang="en-GB" dirty="0">
                <a:ea typeface="Calibri Light"/>
                <a:cs typeface="Calibri Light"/>
              </a:rPr>
              <a:t>Task cards</a:t>
            </a:r>
            <a:endParaRPr lang="en-US" dirty="0"/>
          </a:p>
        </p:txBody>
      </p:sp>
      <p:pic>
        <p:nvPicPr>
          <p:cNvPr id="6" name="Picture 5" descr="A black and white logo&#10;&#10;Description automatically generated">
            <a:extLst>
              <a:ext uri="{FF2B5EF4-FFF2-40B4-BE49-F238E27FC236}">
                <a16:creationId xmlns:a16="http://schemas.microsoft.com/office/drawing/2014/main" id="{F255FBAD-104D-9089-DE8A-0F4D6DF6C3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2D8A2FB-5075-5E6B-FDD4-85181E1C9703}"/>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47D7B290-0423-F450-F5DB-FA35B1163B7C}"/>
              </a:ext>
            </a:extLst>
          </p:cNvPr>
          <p:cNvSpPr>
            <a:spLocks noGrp="1"/>
          </p:cNvSpPr>
          <p:nvPr>
            <p:ph type="ftr" sz="quarter" idx="11"/>
          </p:nvPr>
        </p:nvSpPr>
        <p:spPr/>
        <p:txBody>
          <a:bodyPr/>
          <a:lstStyle/>
          <a:p>
            <a:r>
              <a:rPr lang="en-US"/>
              <a:t>Software Engineering</a:t>
            </a:r>
          </a:p>
        </p:txBody>
      </p:sp>
      <p:pic>
        <p:nvPicPr>
          <p:cNvPr id="3" name="Picture 2" descr="A screenshot of a medical checklist&#10;&#10;AI-generated content may be incorrect.">
            <a:extLst>
              <a:ext uri="{FF2B5EF4-FFF2-40B4-BE49-F238E27FC236}">
                <a16:creationId xmlns:a16="http://schemas.microsoft.com/office/drawing/2014/main" id="{9B12E3D9-61C9-B0C5-4355-37D94362D8C6}"/>
              </a:ext>
            </a:extLst>
          </p:cNvPr>
          <p:cNvPicPr>
            <a:picLocks noChangeAspect="1"/>
          </p:cNvPicPr>
          <p:nvPr/>
        </p:nvPicPr>
        <p:blipFill>
          <a:blip r:embed="rId4"/>
          <a:stretch>
            <a:fillRect/>
          </a:stretch>
        </p:blipFill>
        <p:spPr>
          <a:xfrm>
            <a:off x="3849809" y="674569"/>
            <a:ext cx="8345516" cy="5681392"/>
          </a:xfrm>
          <a:prstGeom prst="rect">
            <a:avLst/>
          </a:prstGeom>
        </p:spPr>
      </p:pic>
      <p:sp>
        <p:nvSpPr>
          <p:cNvPr id="4" name="TextBox 3">
            <a:extLst>
              <a:ext uri="{FF2B5EF4-FFF2-40B4-BE49-F238E27FC236}">
                <a16:creationId xmlns:a16="http://schemas.microsoft.com/office/drawing/2014/main" id="{33C3ABC2-11A8-02C4-CAC1-D54ED4A89608}"/>
              </a:ext>
            </a:extLst>
          </p:cNvPr>
          <p:cNvSpPr txBox="1"/>
          <p:nvPr/>
        </p:nvSpPr>
        <p:spPr>
          <a:xfrm>
            <a:off x="-3406" y="2105526"/>
            <a:ext cx="374984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ea typeface="+mn-lt"/>
                <a:cs typeface="+mn-lt"/>
              </a:rPr>
              <a:t>In </a:t>
            </a:r>
            <a:r>
              <a:rPr lang="en-GB" sz="2400" b="1" dirty="0">
                <a:ea typeface="+mn-lt"/>
                <a:cs typeface="+mn-lt"/>
              </a:rPr>
              <a:t>Extreme Programming (XP)</a:t>
            </a:r>
            <a:r>
              <a:rPr lang="en-GB" sz="2400" dirty="0">
                <a:ea typeface="+mn-lt"/>
                <a:cs typeface="+mn-lt"/>
              </a:rPr>
              <a:t>, </a:t>
            </a:r>
            <a:r>
              <a:rPr lang="en-GB" sz="2400" b="1" dirty="0">
                <a:ea typeface="+mn-lt"/>
                <a:cs typeface="+mn-lt"/>
              </a:rPr>
              <a:t>task cards</a:t>
            </a:r>
            <a:r>
              <a:rPr lang="en-GB" sz="2400" dirty="0">
                <a:ea typeface="+mn-lt"/>
                <a:cs typeface="+mn-lt"/>
              </a:rPr>
              <a:t> are used to break down </a:t>
            </a:r>
            <a:r>
              <a:rPr lang="en-GB" sz="2400" b="1" dirty="0">
                <a:ea typeface="+mn-lt"/>
                <a:cs typeface="+mn-lt"/>
              </a:rPr>
              <a:t>user stories</a:t>
            </a:r>
            <a:r>
              <a:rPr lang="en-GB" sz="2400" dirty="0">
                <a:ea typeface="+mn-lt"/>
                <a:cs typeface="+mn-lt"/>
              </a:rPr>
              <a:t> into smaller, manageable units of work called </a:t>
            </a:r>
            <a:r>
              <a:rPr lang="en-GB" sz="2400" b="1" dirty="0">
                <a:ea typeface="+mn-lt"/>
                <a:cs typeface="+mn-lt"/>
              </a:rPr>
              <a:t>tasks</a:t>
            </a:r>
            <a:r>
              <a:rPr lang="en-GB" sz="2400" dirty="0">
                <a:ea typeface="+mn-lt"/>
                <a:cs typeface="+mn-lt"/>
              </a:rPr>
              <a:t>. While user stories describe </a:t>
            </a:r>
            <a:r>
              <a:rPr lang="en-GB" sz="2400" b="1" dirty="0">
                <a:ea typeface="+mn-lt"/>
                <a:cs typeface="+mn-lt"/>
              </a:rPr>
              <a:t>what</a:t>
            </a:r>
            <a:r>
              <a:rPr lang="en-GB" sz="2400" dirty="0">
                <a:ea typeface="+mn-lt"/>
                <a:cs typeface="+mn-lt"/>
              </a:rPr>
              <a:t> the user wants, task cards focus on </a:t>
            </a:r>
            <a:r>
              <a:rPr lang="en-GB" sz="2400" b="1" dirty="0">
                <a:ea typeface="+mn-lt"/>
                <a:cs typeface="+mn-lt"/>
              </a:rPr>
              <a:t>how</a:t>
            </a:r>
            <a:r>
              <a:rPr lang="en-GB" sz="2400" dirty="0">
                <a:ea typeface="+mn-lt"/>
                <a:cs typeface="+mn-lt"/>
              </a:rPr>
              <a:t> to implement those features from a technical perspective.</a:t>
            </a:r>
            <a:endParaRPr lang="en-US" sz="2400" dirty="0">
              <a:ea typeface="+mn-lt"/>
              <a:cs typeface="+mn-lt"/>
            </a:endParaRPr>
          </a:p>
        </p:txBody>
      </p:sp>
    </p:spTree>
    <p:extLst>
      <p:ext uri="{BB962C8B-B14F-4D97-AF65-F5344CB8AC3E}">
        <p14:creationId xmlns:p14="http://schemas.microsoft.com/office/powerpoint/2010/main" val="1215175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8A8A2-415E-E86D-CEFA-825E4D17F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971CA-E4BB-78EE-C33A-3BD316EBB267}"/>
              </a:ext>
            </a:extLst>
          </p:cNvPr>
          <p:cNvSpPr>
            <a:spLocks noGrp="1"/>
          </p:cNvSpPr>
          <p:nvPr>
            <p:ph type="title"/>
          </p:nvPr>
        </p:nvSpPr>
        <p:spPr/>
        <p:txBody>
          <a:bodyPr/>
          <a:lstStyle/>
          <a:p>
            <a:r>
              <a:rPr lang="en-GB" dirty="0">
                <a:cs typeface="Calibri Light"/>
              </a:rPr>
              <a:t>XP Process Components – Task cards</a:t>
            </a:r>
            <a:endParaRPr lang="en-US" dirty="0"/>
          </a:p>
        </p:txBody>
      </p:sp>
      <p:sp>
        <p:nvSpPr>
          <p:cNvPr id="3" name="Content Placeholder 2">
            <a:extLst>
              <a:ext uri="{FF2B5EF4-FFF2-40B4-BE49-F238E27FC236}">
                <a16:creationId xmlns:a16="http://schemas.microsoft.com/office/drawing/2014/main" id="{475BDF8F-68E1-95AD-BDD9-703EB65D9A79}"/>
              </a:ext>
            </a:extLst>
          </p:cNvPr>
          <p:cNvSpPr>
            <a:spLocks noGrp="1"/>
          </p:cNvSpPr>
          <p:nvPr>
            <p:ph idx="1"/>
          </p:nvPr>
        </p:nvSpPr>
        <p:spPr>
          <a:xfrm>
            <a:off x="838200" y="1431535"/>
            <a:ext cx="10515600" cy="5118849"/>
          </a:xfrm>
        </p:spPr>
        <p:txBody>
          <a:bodyPr vert="horz" lIns="91440" tIns="45720" rIns="91440" bIns="45720" rtlCol="0" anchor="t">
            <a:normAutofit fontScale="85000" lnSpcReduction="20000"/>
          </a:bodyPr>
          <a:lstStyle/>
          <a:p>
            <a:r>
              <a:rPr lang="en-US" b="1" dirty="0"/>
              <a:t>Key Characteristics of Task Cards:</a:t>
            </a:r>
            <a:endParaRPr lang="en-US" b="1" dirty="0">
              <a:ea typeface="Calibri" panose="020F0502020204030204"/>
              <a:cs typeface="Calibri" panose="020F0502020204030204"/>
            </a:endParaRPr>
          </a:p>
          <a:p>
            <a:r>
              <a:rPr lang="en-US" b="1" dirty="0">
                <a:ea typeface="+mn-lt"/>
                <a:cs typeface="+mn-lt"/>
              </a:rPr>
              <a:t>Implementation-Focused:</a:t>
            </a:r>
            <a:endParaRPr lang="en-US" dirty="0"/>
          </a:p>
          <a:p>
            <a:pPr lvl="1"/>
            <a:r>
              <a:rPr lang="en-US" sz="2800" dirty="0">
                <a:ea typeface="+mn-lt"/>
                <a:cs typeface="+mn-lt"/>
              </a:rPr>
              <a:t>Each task card describes a </a:t>
            </a:r>
            <a:r>
              <a:rPr lang="en-US" sz="2800" u="sng" dirty="0">
                <a:highlight>
                  <a:srgbClr val="FFFF00"/>
                </a:highlight>
                <a:ea typeface="+mn-lt"/>
                <a:cs typeface="+mn-lt"/>
              </a:rPr>
              <a:t>specific technical activity</a:t>
            </a:r>
            <a:r>
              <a:rPr lang="en-US" sz="2800" dirty="0">
                <a:ea typeface="+mn-lt"/>
                <a:cs typeface="+mn-lt"/>
              </a:rPr>
              <a:t> needed to complete a user story.</a:t>
            </a:r>
            <a:endParaRPr lang="en-US" dirty="0"/>
          </a:p>
          <a:p>
            <a:pPr lvl="1"/>
            <a:r>
              <a:rPr lang="en-US" sz="2800" dirty="0">
                <a:ea typeface="+mn-lt"/>
                <a:cs typeface="+mn-lt"/>
              </a:rPr>
              <a:t>Example: </a:t>
            </a:r>
            <a:r>
              <a:rPr lang="en-US" sz="2800" i="1" dirty="0">
                <a:ea typeface="+mn-lt"/>
                <a:cs typeface="+mn-lt"/>
              </a:rPr>
              <a:t>“Design the database schema for storing product sustainability data.”</a:t>
            </a:r>
            <a:endParaRPr lang="en-US" dirty="0"/>
          </a:p>
          <a:p>
            <a:r>
              <a:rPr lang="en-US" b="1" dirty="0">
                <a:ea typeface="+mn-lt"/>
                <a:cs typeface="+mn-lt"/>
              </a:rPr>
              <a:t>Small and Manageable:</a:t>
            </a:r>
            <a:endParaRPr lang="en-US" dirty="0"/>
          </a:p>
          <a:p>
            <a:pPr lvl="1"/>
            <a:r>
              <a:rPr lang="en-US" sz="2800" dirty="0">
                <a:ea typeface="+mn-lt"/>
                <a:cs typeface="+mn-lt"/>
              </a:rPr>
              <a:t>Tasks should be small enough to be completed within a few hours to a day.</a:t>
            </a:r>
            <a:endParaRPr lang="en-US" dirty="0"/>
          </a:p>
          <a:p>
            <a:pPr lvl="1"/>
            <a:r>
              <a:rPr lang="en-US" sz="2800" dirty="0">
                <a:ea typeface="+mn-lt"/>
                <a:cs typeface="+mn-lt"/>
              </a:rPr>
              <a:t>This makes tracking progress easier during iterations.</a:t>
            </a:r>
            <a:endParaRPr lang="en-US" dirty="0"/>
          </a:p>
          <a:p>
            <a:r>
              <a:rPr lang="en-US" b="1" dirty="0">
                <a:ea typeface="+mn-lt"/>
                <a:cs typeface="+mn-lt"/>
              </a:rPr>
              <a:t>Linked to User Stories:</a:t>
            </a:r>
            <a:endParaRPr lang="en-US" dirty="0"/>
          </a:p>
          <a:p>
            <a:pPr lvl="1"/>
            <a:r>
              <a:rPr lang="en-US" sz="2800" dirty="0">
                <a:ea typeface="+mn-lt"/>
                <a:cs typeface="+mn-lt"/>
              </a:rPr>
              <a:t>Every task card is associated with a specific user story, ensuring that all technical work directly contributes to delivering user value.</a:t>
            </a:r>
            <a:endParaRPr lang="en-US" dirty="0"/>
          </a:p>
          <a:p>
            <a:r>
              <a:rPr lang="en-US" b="1" dirty="0">
                <a:ea typeface="+mn-lt"/>
                <a:cs typeface="+mn-lt"/>
              </a:rPr>
              <a:t>Written by Developers:</a:t>
            </a:r>
            <a:endParaRPr lang="en-US" dirty="0"/>
          </a:p>
          <a:p>
            <a:pPr lvl="1"/>
            <a:r>
              <a:rPr lang="en-US" sz="2800" dirty="0">
                <a:ea typeface="+mn-lt"/>
                <a:cs typeface="+mn-lt"/>
              </a:rPr>
              <a:t>Unlike user stories, which are often written by customers or product owners, task cards are usually created by the </a:t>
            </a:r>
            <a:r>
              <a:rPr lang="en-US" sz="2800" b="1" dirty="0">
                <a:ea typeface="+mn-lt"/>
                <a:cs typeface="+mn-lt"/>
              </a:rPr>
              <a:t>development team</a:t>
            </a:r>
            <a:r>
              <a:rPr lang="en-US" sz="2800" dirty="0">
                <a:ea typeface="+mn-lt"/>
                <a:cs typeface="+mn-lt"/>
              </a:rPr>
              <a:t> during iteration planning</a:t>
            </a:r>
            <a:endParaRPr lang="en-US" dirty="0"/>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14ACDC6E-52CB-40F2-E4EC-0B05EEFD3E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D878F85-E805-B5B0-0ECB-ACF1FFC4B3EA}"/>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ECA07F1A-FFF9-C895-ADA8-3B29E1346CF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309432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5BDCD-3249-2D9F-D3F9-73509B336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8B8C9-E357-448B-9774-A927B1C8FD3A}"/>
              </a:ext>
            </a:extLst>
          </p:cNvPr>
          <p:cNvSpPr>
            <a:spLocks noGrp="1"/>
          </p:cNvSpPr>
          <p:nvPr>
            <p:ph type="title"/>
          </p:nvPr>
        </p:nvSpPr>
        <p:spPr/>
        <p:txBody>
          <a:bodyPr/>
          <a:lstStyle/>
          <a:p>
            <a:r>
              <a:rPr lang="en-GB" dirty="0">
                <a:cs typeface="Calibri Light"/>
              </a:rPr>
              <a:t>Example: Sustainable Shopping Assistant App</a:t>
            </a:r>
            <a:endParaRPr lang="en-US" dirty="0"/>
          </a:p>
        </p:txBody>
      </p:sp>
      <p:sp>
        <p:nvSpPr>
          <p:cNvPr id="3" name="Content Placeholder 2">
            <a:extLst>
              <a:ext uri="{FF2B5EF4-FFF2-40B4-BE49-F238E27FC236}">
                <a16:creationId xmlns:a16="http://schemas.microsoft.com/office/drawing/2014/main" id="{D608EB63-377C-93CD-CED2-4F067847DB63}"/>
              </a:ext>
            </a:extLst>
          </p:cNvPr>
          <p:cNvSpPr>
            <a:spLocks noGrp="1"/>
          </p:cNvSpPr>
          <p:nvPr>
            <p:ph idx="1"/>
          </p:nvPr>
        </p:nvSpPr>
        <p:spPr>
          <a:xfrm>
            <a:off x="838200" y="1431535"/>
            <a:ext cx="10515600" cy="5118849"/>
          </a:xfrm>
        </p:spPr>
        <p:txBody>
          <a:bodyPr vert="horz" lIns="91440" tIns="45720" rIns="91440" bIns="45720" rtlCol="0" anchor="t">
            <a:normAutofit fontScale="85000" lnSpcReduction="20000"/>
          </a:bodyPr>
          <a:lstStyle/>
          <a:p>
            <a:r>
              <a:rPr lang="en-US" b="1" dirty="0"/>
              <a:t>User Story:</a:t>
            </a:r>
            <a:endParaRPr lang="en-US" dirty="0"/>
          </a:p>
          <a:p>
            <a:r>
              <a:rPr lang="en-US" i="1" dirty="0">
                <a:ea typeface="+mn-lt"/>
                <a:cs typeface="+mn-lt"/>
              </a:rPr>
              <a:t>"As a shopper, I want to scan a product’s barcode so that I can instantly see its sustainability rating."</a:t>
            </a:r>
            <a:endParaRPr lang="en-US" dirty="0"/>
          </a:p>
          <a:p>
            <a:r>
              <a:rPr lang="en-US" b="1" dirty="0"/>
              <a:t>Associated Task Cards:</a:t>
            </a:r>
            <a:endParaRPr lang="en-US" dirty="0"/>
          </a:p>
          <a:p>
            <a:r>
              <a:rPr lang="en-US" b="1" dirty="0">
                <a:ea typeface="+mn-lt"/>
                <a:cs typeface="+mn-lt"/>
              </a:rPr>
              <a:t>Integrate Barcode Scanner API</a:t>
            </a:r>
            <a:endParaRPr lang="en-US" dirty="0"/>
          </a:p>
          <a:p>
            <a:pPr lvl="1"/>
            <a:r>
              <a:rPr lang="en-US" i="1" dirty="0">
                <a:ea typeface="+mn-lt"/>
                <a:cs typeface="+mn-lt"/>
              </a:rPr>
              <a:t>Set up the barcode scanning library and test device compatibility.</a:t>
            </a:r>
            <a:endParaRPr lang="en-US" dirty="0"/>
          </a:p>
          <a:p>
            <a:pPr lvl="1"/>
            <a:r>
              <a:rPr lang="en-US" b="1" dirty="0">
                <a:ea typeface="+mn-lt"/>
                <a:cs typeface="+mn-lt"/>
              </a:rPr>
              <a:t>Estimate:</a:t>
            </a:r>
            <a:r>
              <a:rPr lang="en-US" dirty="0">
                <a:ea typeface="+mn-lt"/>
                <a:cs typeface="+mn-lt"/>
              </a:rPr>
              <a:t> 4 hours</a:t>
            </a:r>
            <a:endParaRPr lang="en-US" dirty="0"/>
          </a:p>
          <a:p>
            <a:r>
              <a:rPr lang="en-US" b="1" dirty="0">
                <a:ea typeface="+mn-lt"/>
                <a:cs typeface="+mn-lt"/>
              </a:rPr>
              <a:t>Develop UI for Scanning Screen</a:t>
            </a:r>
            <a:endParaRPr lang="en-US" dirty="0"/>
          </a:p>
          <a:p>
            <a:pPr lvl="1"/>
            <a:r>
              <a:rPr lang="en-US" i="1" dirty="0">
                <a:ea typeface="+mn-lt"/>
                <a:cs typeface="+mn-lt"/>
              </a:rPr>
              <a:t>Design and implement the screen where users scan barcodes.</a:t>
            </a:r>
            <a:endParaRPr lang="en-US" dirty="0"/>
          </a:p>
          <a:p>
            <a:pPr lvl="1"/>
            <a:r>
              <a:rPr lang="en-US" b="1" dirty="0">
                <a:ea typeface="+mn-lt"/>
                <a:cs typeface="+mn-lt"/>
              </a:rPr>
              <a:t>Estimate:</a:t>
            </a:r>
            <a:r>
              <a:rPr lang="en-US" dirty="0">
                <a:ea typeface="+mn-lt"/>
                <a:cs typeface="+mn-lt"/>
              </a:rPr>
              <a:t> 3 hours</a:t>
            </a:r>
            <a:endParaRPr lang="en-US" dirty="0"/>
          </a:p>
          <a:p>
            <a:r>
              <a:rPr lang="en-US" b="1" dirty="0">
                <a:ea typeface="+mn-lt"/>
                <a:cs typeface="+mn-lt"/>
              </a:rPr>
              <a:t>Connect Scanner to Database</a:t>
            </a:r>
            <a:endParaRPr lang="en-US" dirty="0"/>
          </a:p>
          <a:p>
            <a:pPr lvl="1"/>
            <a:r>
              <a:rPr lang="en-US" i="1" dirty="0">
                <a:ea typeface="+mn-lt"/>
                <a:cs typeface="+mn-lt"/>
              </a:rPr>
              <a:t>Ensure scanned barcodes fetch sustainability data from the database.</a:t>
            </a:r>
            <a:endParaRPr lang="en-US" dirty="0"/>
          </a:p>
          <a:p>
            <a:pPr lvl="1"/>
            <a:r>
              <a:rPr lang="en-US" b="1" dirty="0">
                <a:ea typeface="+mn-lt"/>
                <a:cs typeface="+mn-lt"/>
              </a:rPr>
              <a:t>Estimate:</a:t>
            </a:r>
            <a:r>
              <a:rPr lang="en-US" dirty="0">
                <a:ea typeface="+mn-lt"/>
                <a:cs typeface="+mn-lt"/>
              </a:rPr>
              <a:t> 5 hours</a:t>
            </a:r>
            <a:endParaRPr lang="en-US" dirty="0"/>
          </a:p>
          <a:p>
            <a:r>
              <a:rPr lang="en-US" b="1" dirty="0">
                <a:ea typeface="+mn-lt"/>
                <a:cs typeface="+mn-lt"/>
              </a:rPr>
              <a:t>Implement Error Handling for Invalid Barcodes</a:t>
            </a:r>
            <a:endParaRPr lang="en-US" dirty="0"/>
          </a:p>
          <a:p>
            <a:pPr lvl="1"/>
            <a:r>
              <a:rPr lang="en-US" i="1" dirty="0">
                <a:ea typeface="+mn-lt"/>
                <a:cs typeface="+mn-lt"/>
              </a:rPr>
              <a:t>Display appropriate messages when a barcode isn’t recognized.</a:t>
            </a:r>
            <a:endParaRPr lang="en-US" dirty="0"/>
          </a:p>
          <a:p>
            <a:pPr lvl="1"/>
            <a:r>
              <a:rPr lang="en-US" b="1" dirty="0">
                <a:ea typeface="+mn-lt"/>
                <a:cs typeface="+mn-lt"/>
              </a:rPr>
              <a:t>Estimate:</a:t>
            </a:r>
            <a:r>
              <a:rPr lang="en-US" dirty="0">
                <a:ea typeface="+mn-lt"/>
                <a:cs typeface="+mn-lt"/>
              </a:rPr>
              <a:t> 2 hours</a:t>
            </a:r>
            <a:endParaRPr lang="en-US" dirty="0"/>
          </a:p>
          <a:p>
            <a:endParaRPr lang="en-US" b="1"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9B2EFE99-BAD7-7D3E-D7A0-A869847D5C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3957413-F4AA-524A-EFF6-37888562CDE8}"/>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76DBB425-E2DD-7C33-078E-499E55E9CE3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78756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110A-B60B-233B-12B0-EEF3AD8D3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A8891-B19F-ABC3-8B23-540064D5FAFF}"/>
              </a:ext>
            </a:extLst>
          </p:cNvPr>
          <p:cNvSpPr>
            <a:spLocks noGrp="1"/>
          </p:cNvSpPr>
          <p:nvPr>
            <p:ph type="title"/>
          </p:nvPr>
        </p:nvSpPr>
        <p:spPr/>
        <p:txBody>
          <a:bodyPr/>
          <a:lstStyle/>
          <a:p>
            <a:r>
              <a:rPr lang="en-GB" dirty="0">
                <a:cs typeface="Calibri Light"/>
              </a:rPr>
              <a:t>XP Process Components – Velocity</a:t>
            </a:r>
            <a:endParaRPr lang="en-US" dirty="0"/>
          </a:p>
        </p:txBody>
      </p:sp>
      <p:sp>
        <p:nvSpPr>
          <p:cNvPr id="3" name="Content Placeholder 2">
            <a:extLst>
              <a:ext uri="{FF2B5EF4-FFF2-40B4-BE49-F238E27FC236}">
                <a16:creationId xmlns:a16="http://schemas.microsoft.com/office/drawing/2014/main" id="{B0BE3456-18FC-0338-7B53-B07B01978204}"/>
              </a:ext>
            </a:extLst>
          </p:cNvPr>
          <p:cNvSpPr>
            <a:spLocks noGrp="1"/>
          </p:cNvSpPr>
          <p:nvPr>
            <p:ph idx="1"/>
          </p:nvPr>
        </p:nvSpPr>
        <p:spPr>
          <a:xfrm>
            <a:off x="838200" y="1690328"/>
            <a:ext cx="10515600" cy="4802547"/>
          </a:xfrm>
        </p:spPr>
        <p:txBody>
          <a:bodyPr vert="horz" lIns="91440" tIns="45720" rIns="91440" bIns="45720" rtlCol="0" anchor="t">
            <a:normAutofit lnSpcReduction="10000"/>
          </a:bodyPr>
          <a:lstStyle/>
          <a:p>
            <a:r>
              <a:rPr lang="en-US" b="1" dirty="0"/>
              <a:t>Key Aspects of Velocity:</a:t>
            </a:r>
            <a:endParaRPr lang="en-US" dirty="0"/>
          </a:p>
          <a:p>
            <a:r>
              <a:rPr lang="en-US" b="1" dirty="0">
                <a:ea typeface="+mn-lt"/>
                <a:cs typeface="+mn-lt"/>
              </a:rPr>
              <a:t>Definition:</a:t>
            </a:r>
            <a:endParaRPr lang="en-US" dirty="0">
              <a:ea typeface="+mn-lt"/>
              <a:cs typeface="+mn-lt"/>
            </a:endParaRPr>
          </a:p>
          <a:p>
            <a:pPr lvl="1"/>
            <a:r>
              <a:rPr lang="en-US" sz="2800" dirty="0">
                <a:ea typeface="+mn-lt"/>
                <a:cs typeface="+mn-lt"/>
              </a:rPr>
              <a:t>Velocity represents the </a:t>
            </a:r>
            <a:r>
              <a:rPr lang="en-US" sz="2800" b="1" dirty="0">
                <a:highlight>
                  <a:srgbClr val="FFFF00"/>
                </a:highlight>
                <a:ea typeface="+mn-lt"/>
                <a:cs typeface="+mn-lt"/>
              </a:rPr>
              <a:t>sum of effort estimates</a:t>
            </a:r>
            <a:r>
              <a:rPr lang="en-US" sz="2800" dirty="0">
                <a:ea typeface="+mn-lt"/>
                <a:cs typeface="+mn-lt"/>
              </a:rPr>
              <a:t> (usually in </a:t>
            </a:r>
            <a:r>
              <a:rPr lang="en-US" sz="2800" b="1" dirty="0">
                <a:ea typeface="+mn-lt"/>
                <a:cs typeface="+mn-lt"/>
              </a:rPr>
              <a:t>story points</a:t>
            </a:r>
            <a:r>
              <a:rPr lang="en-US" sz="2800" dirty="0">
                <a:ea typeface="+mn-lt"/>
                <a:cs typeface="+mn-lt"/>
              </a:rPr>
              <a:t>, </a:t>
            </a:r>
            <a:r>
              <a:rPr lang="en-US" sz="2800" b="1" dirty="0">
                <a:ea typeface="+mn-lt"/>
                <a:cs typeface="+mn-lt"/>
              </a:rPr>
              <a:t>ideal days</a:t>
            </a:r>
            <a:r>
              <a:rPr lang="en-US" sz="2800" dirty="0">
                <a:ea typeface="+mn-lt"/>
                <a:cs typeface="+mn-lt"/>
              </a:rPr>
              <a:t>, or </a:t>
            </a:r>
            <a:r>
              <a:rPr lang="en-US" sz="2800" b="1" dirty="0">
                <a:ea typeface="+mn-lt"/>
                <a:cs typeface="+mn-lt"/>
              </a:rPr>
              <a:t>hours</a:t>
            </a:r>
            <a:r>
              <a:rPr lang="en-US" sz="2800" dirty="0">
                <a:ea typeface="+mn-lt"/>
                <a:cs typeface="+mn-lt"/>
              </a:rPr>
              <a:t>) for all the </a:t>
            </a:r>
            <a:r>
              <a:rPr lang="en-US" sz="2800" b="1" dirty="0">
                <a:ea typeface="+mn-lt"/>
                <a:cs typeface="+mn-lt"/>
              </a:rPr>
              <a:t>user stories</a:t>
            </a:r>
            <a:r>
              <a:rPr lang="en-US" sz="2800" dirty="0">
                <a:ea typeface="+mn-lt"/>
                <a:cs typeface="+mn-lt"/>
              </a:rPr>
              <a:t> or tasks that a team completes in an iteration</a:t>
            </a:r>
          </a:p>
          <a:p>
            <a:pPr lvl="1"/>
            <a:r>
              <a:rPr lang="en-US" sz="2800" dirty="0">
                <a:ea typeface="+mn-lt"/>
                <a:cs typeface="+mn-lt"/>
              </a:rPr>
              <a:t>It reflects the team’s productivity and capacity</a:t>
            </a:r>
          </a:p>
          <a:p>
            <a:r>
              <a:rPr lang="en-US" b="1" dirty="0">
                <a:ea typeface="+mn-lt"/>
                <a:cs typeface="+mn-lt"/>
              </a:rPr>
              <a:t>How It's Measured:</a:t>
            </a:r>
            <a:endParaRPr lang="en-US" dirty="0">
              <a:ea typeface="+mn-lt"/>
              <a:cs typeface="+mn-lt"/>
            </a:endParaRPr>
          </a:p>
          <a:p>
            <a:pPr lvl="1"/>
            <a:r>
              <a:rPr lang="en-US" sz="2800" dirty="0">
                <a:ea typeface="+mn-lt"/>
                <a:cs typeface="+mn-lt"/>
              </a:rPr>
              <a:t>At the end of each iteration, the team adds up</a:t>
            </a:r>
            <a:r>
              <a:rPr lang="en-US" dirty="0">
                <a:ea typeface="+mn-lt"/>
                <a:cs typeface="+mn-lt"/>
              </a:rPr>
              <a:t> the effort </a:t>
            </a:r>
            <a:r>
              <a:rPr lang="en-US" sz="2800" dirty="0">
                <a:ea typeface="+mn-lt"/>
                <a:cs typeface="+mn-lt"/>
              </a:rPr>
              <a:t>estimates of </a:t>
            </a:r>
            <a:r>
              <a:rPr lang="en-US" sz="2800" b="1" dirty="0">
                <a:ea typeface="+mn-lt"/>
                <a:cs typeface="+mn-lt"/>
              </a:rPr>
              <a:t>fully completed</a:t>
            </a:r>
            <a:r>
              <a:rPr lang="en-US" sz="2800" dirty="0">
                <a:ea typeface="+mn-lt"/>
                <a:cs typeface="+mn-lt"/>
              </a:rPr>
              <a:t> work items</a:t>
            </a:r>
          </a:p>
          <a:p>
            <a:pPr lvl="1"/>
            <a:r>
              <a:rPr lang="en-US" sz="2800" dirty="0">
                <a:ea typeface="+mn-lt"/>
                <a:cs typeface="+mn-lt"/>
              </a:rPr>
              <a:t>For example, if a team completes stories worth </a:t>
            </a:r>
            <a:r>
              <a:rPr lang="en-US" sz="2800" b="1" dirty="0">
                <a:ea typeface="+mn-lt"/>
                <a:cs typeface="+mn-lt"/>
              </a:rPr>
              <a:t>20, 15, and 10 story points</a:t>
            </a:r>
            <a:r>
              <a:rPr lang="en-US" sz="2800" dirty="0">
                <a:ea typeface="+mn-lt"/>
                <a:cs typeface="+mn-lt"/>
              </a:rPr>
              <a:t>, their velocity for that iteration is </a:t>
            </a:r>
            <a:r>
              <a:rPr lang="en-US" sz="2800" b="1" dirty="0">
                <a:ea typeface="+mn-lt"/>
                <a:cs typeface="+mn-lt"/>
              </a:rPr>
              <a:t>45 story points</a:t>
            </a:r>
            <a:endParaRPr lang="en-US" sz="2800"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ED5FDBF1-0B22-27B8-7250-2828B675CA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92B2BC6-75FC-D413-A42E-796E5F3B3BCE}"/>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A8D8A4B2-CF55-AB28-C463-F5EF16E864C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930055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4853-3FD1-5B81-1D15-F233B7824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BB6CB-1E8B-B358-AE9D-D5E6F1F6424D}"/>
              </a:ext>
            </a:extLst>
          </p:cNvPr>
          <p:cNvSpPr>
            <a:spLocks noGrp="1"/>
          </p:cNvSpPr>
          <p:nvPr>
            <p:ph type="title"/>
          </p:nvPr>
        </p:nvSpPr>
        <p:spPr/>
        <p:txBody>
          <a:bodyPr/>
          <a:lstStyle/>
          <a:p>
            <a:r>
              <a:rPr lang="en-GB" dirty="0">
                <a:cs typeface="Calibri Light"/>
              </a:rPr>
              <a:t>XP Process Components – Velocity example</a:t>
            </a:r>
            <a:endParaRPr lang="en-US" dirty="0"/>
          </a:p>
        </p:txBody>
      </p:sp>
      <p:sp>
        <p:nvSpPr>
          <p:cNvPr id="3" name="Content Placeholder 2">
            <a:extLst>
              <a:ext uri="{FF2B5EF4-FFF2-40B4-BE49-F238E27FC236}">
                <a16:creationId xmlns:a16="http://schemas.microsoft.com/office/drawing/2014/main" id="{10D27868-FB86-AA98-01E5-10EE51DA8DA1}"/>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b="1" dirty="0"/>
              <a:t>Example (Sustainable Shopping Assistant App):</a:t>
            </a:r>
            <a:endParaRPr lang="en-US" dirty="0"/>
          </a:p>
          <a:p>
            <a:r>
              <a:rPr lang="en-US" b="1" dirty="0">
                <a:ea typeface="+mn-lt"/>
                <a:cs typeface="+mn-lt"/>
              </a:rPr>
              <a:t>Iteration 1:</a:t>
            </a:r>
            <a:endParaRPr lang="en-US" dirty="0">
              <a:ea typeface="+mn-lt"/>
              <a:cs typeface="+mn-lt"/>
            </a:endParaRPr>
          </a:p>
          <a:p>
            <a:pPr lvl="1"/>
            <a:r>
              <a:rPr lang="en-US" sz="2800" i="1" dirty="0">
                <a:ea typeface="+mn-lt"/>
                <a:cs typeface="+mn-lt"/>
              </a:rPr>
              <a:t>Barcode Scanner Feature</a:t>
            </a:r>
            <a:r>
              <a:rPr lang="en-US" sz="2800" dirty="0">
                <a:ea typeface="+mn-lt"/>
                <a:cs typeface="+mn-lt"/>
              </a:rPr>
              <a:t> (8 story points) ✔</a:t>
            </a:r>
            <a:endParaRPr lang="en-US"/>
          </a:p>
          <a:p>
            <a:pPr lvl="1"/>
            <a:r>
              <a:rPr lang="en-US" sz="2800" i="1" dirty="0">
                <a:ea typeface="+mn-lt"/>
                <a:cs typeface="+mn-lt"/>
              </a:rPr>
              <a:t>Product Sustainability Database</a:t>
            </a:r>
            <a:r>
              <a:rPr lang="en-US" sz="2800" dirty="0">
                <a:ea typeface="+mn-lt"/>
                <a:cs typeface="+mn-lt"/>
              </a:rPr>
              <a:t> (13 story points) ✔</a:t>
            </a:r>
            <a:endParaRPr lang="en-US" sz="2800">
              <a:ea typeface="Calibri"/>
              <a:cs typeface="Calibri"/>
            </a:endParaRPr>
          </a:p>
          <a:p>
            <a:pPr lvl="1"/>
            <a:r>
              <a:rPr lang="en-US" sz="2800" i="1" dirty="0">
                <a:ea typeface="+mn-lt"/>
                <a:cs typeface="+mn-lt"/>
              </a:rPr>
              <a:t>Eco-Friendly Product Suggestions</a:t>
            </a:r>
            <a:r>
              <a:rPr lang="en-US" sz="2800" dirty="0">
                <a:ea typeface="+mn-lt"/>
                <a:cs typeface="+mn-lt"/>
              </a:rPr>
              <a:t> (5 story points) ❌ (not completed)</a:t>
            </a:r>
            <a:endParaRPr lang="en-US" dirty="0"/>
          </a:p>
          <a:p>
            <a:r>
              <a:rPr lang="en-US" b="1" dirty="0">
                <a:ea typeface="+mn-lt"/>
                <a:cs typeface="+mn-lt"/>
              </a:rPr>
              <a:t>Velocity:</a:t>
            </a:r>
            <a:r>
              <a:rPr lang="en-US" dirty="0">
                <a:ea typeface="+mn-lt"/>
                <a:cs typeface="+mn-lt"/>
              </a:rPr>
              <a:t> 8 + 13 = </a:t>
            </a:r>
            <a:r>
              <a:rPr lang="en-US" b="1" dirty="0">
                <a:ea typeface="+mn-lt"/>
                <a:cs typeface="+mn-lt"/>
              </a:rPr>
              <a:t>21 </a:t>
            </a:r>
            <a:r>
              <a:rPr lang="en-US" sz="2800" b="1" dirty="0">
                <a:ea typeface="+mn-lt"/>
                <a:cs typeface="+mn-lt"/>
              </a:rPr>
              <a:t>story points</a:t>
            </a:r>
            <a:r>
              <a:rPr lang="en-US" sz="2800" dirty="0">
                <a:ea typeface="+mn-lt"/>
                <a:cs typeface="+mn-lt"/>
              </a:rPr>
              <a:t> for </a:t>
            </a:r>
            <a:r>
              <a:rPr lang="en-US" dirty="0">
                <a:ea typeface="+mn-lt"/>
                <a:cs typeface="+mn-lt"/>
              </a:rPr>
              <a:t>Iteration 1</a:t>
            </a:r>
            <a:endParaRPr lang="en-US" sz="2800" dirty="0">
              <a:ea typeface="Calibri" panose="020F0502020204030204"/>
              <a:cs typeface="Calibri" panose="020F0502020204030204"/>
            </a:endParaRPr>
          </a:p>
          <a:p>
            <a:endParaRPr lang="en-US" dirty="0">
              <a:ea typeface="Calibri" panose="020F0502020204030204"/>
              <a:cs typeface="Calibri" panose="020F0502020204030204"/>
            </a:endParaRPr>
          </a:p>
          <a:p>
            <a:r>
              <a:rPr lang="en-US">
                <a:ea typeface="Calibri" panose="020F0502020204030204"/>
                <a:cs typeface="Calibri" panose="020F0502020204030204"/>
              </a:rPr>
              <a:t>For a full example, refer </a:t>
            </a:r>
            <a:r>
              <a:rPr lang="en-US" dirty="0">
                <a:ea typeface="Calibri" panose="020F0502020204030204"/>
                <a:cs typeface="Calibri" panose="020F0502020204030204"/>
                <a:hlinkClick r:id="rId3"/>
              </a:rPr>
              <a:t>here</a:t>
            </a: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8421CEC9-6F82-A47C-A215-EBE0EE6928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3D49884-7876-0448-88C0-39E15B11D6C3}"/>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7F9AF57D-F816-A3C3-6EAD-4681F61DDBC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97956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BB4D-9FC2-552B-BDF3-DBDA7E792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49D0C-198B-4E57-4677-63B2BEB92119}"/>
              </a:ext>
            </a:extLst>
          </p:cNvPr>
          <p:cNvSpPr>
            <a:spLocks noGrp="1"/>
          </p:cNvSpPr>
          <p:nvPr>
            <p:ph type="title"/>
          </p:nvPr>
        </p:nvSpPr>
        <p:spPr/>
        <p:txBody>
          <a:bodyPr/>
          <a:lstStyle/>
          <a:p>
            <a:r>
              <a:rPr lang="en-GB" dirty="0">
                <a:cs typeface="Calibri Light"/>
              </a:rPr>
              <a:t>XP Process Components – CRC cards</a:t>
            </a:r>
            <a:endParaRPr lang="en-US" dirty="0"/>
          </a:p>
        </p:txBody>
      </p:sp>
      <p:sp>
        <p:nvSpPr>
          <p:cNvPr id="3" name="Content Placeholder 2">
            <a:extLst>
              <a:ext uri="{FF2B5EF4-FFF2-40B4-BE49-F238E27FC236}">
                <a16:creationId xmlns:a16="http://schemas.microsoft.com/office/drawing/2014/main" id="{2E91C3A0-20DB-1FF8-2100-3E0A283AF90B}"/>
              </a:ext>
            </a:extLst>
          </p:cNvPr>
          <p:cNvSpPr>
            <a:spLocks noGrp="1"/>
          </p:cNvSpPr>
          <p:nvPr>
            <p:ph idx="1"/>
          </p:nvPr>
        </p:nvSpPr>
        <p:spPr>
          <a:xfrm>
            <a:off x="838200" y="1690328"/>
            <a:ext cx="10515600" cy="4802547"/>
          </a:xfrm>
        </p:spPr>
        <p:txBody>
          <a:bodyPr vert="horz" lIns="91440" tIns="45720" rIns="91440" bIns="45720" rtlCol="0" anchor="t">
            <a:normAutofit fontScale="92500" lnSpcReduction="10000"/>
          </a:bodyPr>
          <a:lstStyle/>
          <a:p>
            <a:r>
              <a:rPr lang="en-US" b="1" dirty="0"/>
              <a:t>Key Components of CRC Cards:</a:t>
            </a:r>
            <a:endParaRPr lang="en-US" dirty="0">
              <a:ea typeface="Calibri" panose="020F0502020204030204"/>
              <a:cs typeface="Calibri" panose="020F0502020204030204"/>
            </a:endParaRPr>
          </a:p>
          <a:p>
            <a:r>
              <a:rPr lang="en-US" b="1" dirty="0">
                <a:ea typeface="+mn-lt"/>
                <a:cs typeface="+mn-lt"/>
              </a:rPr>
              <a:t>Class:</a:t>
            </a:r>
            <a:endParaRPr lang="en-US" dirty="0"/>
          </a:p>
          <a:p>
            <a:pPr lvl="1"/>
            <a:r>
              <a:rPr lang="en-US" dirty="0">
                <a:ea typeface="+mn-lt"/>
                <a:cs typeface="+mn-lt"/>
              </a:rPr>
              <a:t>Represents an object or entity in the system.</a:t>
            </a:r>
            <a:endParaRPr lang="en-US"/>
          </a:p>
          <a:p>
            <a:pPr lvl="1"/>
            <a:r>
              <a:rPr lang="en-US" dirty="0">
                <a:ea typeface="+mn-lt"/>
                <a:cs typeface="+mn-lt"/>
              </a:rPr>
              <a:t>The name of the class is written at the top of the card.</a:t>
            </a:r>
            <a:endParaRPr lang="en-US" dirty="0"/>
          </a:p>
          <a:p>
            <a:pPr lvl="1"/>
            <a:r>
              <a:rPr lang="en-US" dirty="0">
                <a:ea typeface="+mn-lt"/>
                <a:cs typeface="+mn-lt"/>
              </a:rPr>
              <a:t>Example: </a:t>
            </a:r>
            <a:r>
              <a:rPr lang="en-US" i="1" dirty="0">
                <a:ea typeface="+mn-lt"/>
                <a:cs typeface="+mn-lt"/>
              </a:rPr>
              <a:t>Product, User, Order.</a:t>
            </a:r>
            <a:endParaRPr lang="en-US" dirty="0"/>
          </a:p>
          <a:p>
            <a:r>
              <a:rPr lang="en-US" b="1" dirty="0">
                <a:ea typeface="+mn-lt"/>
                <a:cs typeface="+mn-lt"/>
              </a:rPr>
              <a:t>Responsibilities:</a:t>
            </a:r>
            <a:endParaRPr lang="en-US" dirty="0"/>
          </a:p>
          <a:p>
            <a:pPr lvl="1"/>
            <a:r>
              <a:rPr lang="en-US" dirty="0">
                <a:ea typeface="+mn-lt"/>
                <a:cs typeface="+mn-lt"/>
              </a:rPr>
              <a:t>Defines what the class is supposed to do—its duties, behaviors, or functions.</a:t>
            </a:r>
            <a:endParaRPr lang="en-US" dirty="0"/>
          </a:p>
          <a:p>
            <a:pPr lvl="1"/>
            <a:r>
              <a:rPr lang="en-US" dirty="0">
                <a:ea typeface="+mn-lt"/>
                <a:cs typeface="+mn-lt"/>
              </a:rPr>
              <a:t>Example: For a </a:t>
            </a:r>
            <a:r>
              <a:rPr lang="en-US" i="1" dirty="0">
                <a:ea typeface="+mn-lt"/>
                <a:cs typeface="+mn-lt"/>
              </a:rPr>
              <a:t>Product</a:t>
            </a:r>
            <a:r>
              <a:rPr lang="en-US" dirty="0">
                <a:ea typeface="+mn-lt"/>
                <a:cs typeface="+mn-lt"/>
              </a:rPr>
              <a:t> class, responsibilities could be </a:t>
            </a:r>
            <a:r>
              <a:rPr lang="en-US" i="1" dirty="0">
                <a:ea typeface="+mn-lt"/>
                <a:cs typeface="+mn-lt"/>
              </a:rPr>
              <a:t>"calculate price with discount"</a:t>
            </a:r>
            <a:r>
              <a:rPr lang="en-US" dirty="0">
                <a:ea typeface="+mn-lt"/>
                <a:cs typeface="+mn-lt"/>
              </a:rPr>
              <a:t> or </a:t>
            </a:r>
            <a:r>
              <a:rPr lang="en-US" i="1" dirty="0">
                <a:ea typeface="+mn-lt"/>
                <a:cs typeface="+mn-lt"/>
              </a:rPr>
              <a:t>"update stock quantity."</a:t>
            </a:r>
            <a:endParaRPr lang="en-US" dirty="0"/>
          </a:p>
          <a:p>
            <a:r>
              <a:rPr lang="en-US" b="1" dirty="0">
                <a:ea typeface="+mn-lt"/>
                <a:cs typeface="+mn-lt"/>
              </a:rPr>
              <a:t>Collaborators:</a:t>
            </a:r>
            <a:endParaRPr lang="en-US" dirty="0"/>
          </a:p>
          <a:p>
            <a:pPr lvl="1"/>
            <a:r>
              <a:rPr lang="en-US" dirty="0">
                <a:ea typeface="+mn-lt"/>
                <a:cs typeface="+mn-lt"/>
              </a:rPr>
              <a:t>Lists other classes that this class interacts with to fulfill its responsibilities.</a:t>
            </a:r>
            <a:endParaRPr lang="en-US" dirty="0"/>
          </a:p>
          <a:p>
            <a:pPr lvl="1"/>
            <a:r>
              <a:rPr lang="en-US" dirty="0">
                <a:ea typeface="+mn-lt"/>
                <a:cs typeface="+mn-lt"/>
              </a:rPr>
              <a:t>Example: A </a:t>
            </a:r>
            <a:r>
              <a:rPr lang="en-US" i="1" dirty="0" err="1">
                <a:ea typeface="+mn-lt"/>
                <a:cs typeface="+mn-lt"/>
              </a:rPr>
              <a:t>ShoppingCart</a:t>
            </a:r>
            <a:r>
              <a:rPr lang="en-US" dirty="0">
                <a:ea typeface="+mn-lt"/>
                <a:cs typeface="+mn-lt"/>
              </a:rPr>
              <a:t> class might collaborate with the </a:t>
            </a:r>
            <a:r>
              <a:rPr lang="en-US" i="1" dirty="0">
                <a:ea typeface="+mn-lt"/>
                <a:cs typeface="+mn-lt"/>
              </a:rPr>
              <a:t>Product</a:t>
            </a:r>
            <a:r>
              <a:rPr lang="en-US" dirty="0">
                <a:ea typeface="+mn-lt"/>
                <a:cs typeface="+mn-lt"/>
              </a:rPr>
              <a:t> and </a:t>
            </a:r>
            <a:r>
              <a:rPr lang="en-US" i="1" dirty="0">
                <a:ea typeface="+mn-lt"/>
                <a:cs typeface="+mn-lt"/>
              </a:rPr>
              <a:t>Payment</a:t>
            </a:r>
            <a:r>
              <a:rPr lang="en-US" dirty="0">
                <a:ea typeface="+mn-lt"/>
                <a:cs typeface="+mn-lt"/>
              </a:rPr>
              <a:t> classes</a:t>
            </a:r>
            <a:endParaRPr lang="en-US"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152DDA66-4591-B049-DD95-BA5A46F25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1D9F24D-E355-3725-6654-819811170B42}"/>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70D73406-C9A7-03F0-C8C0-59187E6B6F6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90613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F1752-E88C-C6AE-7272-C4BE581D3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12946-9823-D85F-BBB4-79EAC8D798BA}"/>
              </a:ext>
            </a:extLst>
          </p:cNvPr>
          <p:cNvSpPr>
            <a:spLocks noGrp="1"/>
          </p:cNvSpPr>
          <p:nvPr>
            <p:ph type="title"/>
          </p:nvPr>
        </p:nvSpPr>
        <p:spPr/>
        <p:txBody>
          <a:bodyPr/>
          <a:lstStyle/>
          <a:p>
            <a:r>
              <a:rPr lang="en-GB" dirty="0">
                <a:cs typeface="Calibri Light"/>
              </a:rPr>
              <a:t>XP Process Components – Pair Programming</a:t>
            </a:r>
            <a:endParaRPr lang="en-US" dirty="0"/>
          </a:p>
        </p:txBody>
      </p:sp>
      <p:sp>
        <p:nvSpPr>
          <p:cNvPr id="3" name="Content Placeholder 2">
            <a:extLst>
              <a:ext uri="{FF2B5EF4-FFF2-40B4-BE49-F238E27FC236}">
                <a16:creationId xmlns:a16="http://schemas.microsoft.com/office/drawing/2014/main" id="{A2B297FB-0DC9-DF43-1FE2-E1D06D679BFD}"/>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US" b="1" dirty="0">
                <a:ea typeface="+mn-lt"/>
                <a:cs typeface="+mn-lt"/>
              </a:rPr>
              <a:t>Pair Programming</a:t>
            </a:r>
            <a:r>
              <a:rPr lang="en-US" dirty="0">
                <a:ea typeface="+mn-lt"/>
                <a:cs typeface="+mn-lt"/>
              </a:rPr>
              <a:t> is a core practice in </a:t>
            </a:r>
            <a:r>
              <a:rPr lang="en-US" b="1" dirty="0">
                <a:ea typeface="+mn-lt"/>
                <a:cs typeface="+mn-lt"/>
              </a:rPr>
              <a:t>Extreme Programming (XP)</a:t>
            </a:r>
            <a:r>
              <a:rPr lang="en-US" dirty="0">
                <a:ea typeface="+mn-lt"/>
                <a:cs typeface="+mn-lt"/>
              </a:rPr>
              <a:t> where </a:t>
            </a:r>
            <a:r>
              <a:rPr lang="en-US" b="1" dirty="0">
                <a:ea typeface="+mn-lt"/>
                <a:cs typeface="+mn-lt"/>
              </a:rPr>
              <a:t>two developers work together at one workstation</a:t>
            </a:r>
            <a:r>
              <a:rPr lang="en-US" dirty="0">
                <a:ea typeface="+mn-lt"/>
                <a:cs typeface="+mn-lt"/>
              </a:rPr>
              <a:t> to write code. It’s designed to improve code quality, encourage collaboration, and enhance problem-solving through real-time feedback and shared knowledge</a:t>
            </a:r>
            <a:endParaRPr lang="en-US" b="1" dirty="0">
              <a:ea typeface="Calibri" panose="020F0502020204030204"/>
              <a:cs typeface="Calibri" panose="020F0502020204030204"/>
            </a:endParaRPr>
          </a:p>
          <a:p>
            <a:pPr marL="0" indent="0">
              <a:buNone/>
            </a:pPr>
            <a:endParaRPr lang="en-US" dirty="0">
              <a:ea typeface="+mn-lt"/>
              <a:cs typeface="+mn-lt"/>
            </a:endParaRPr>
          </a:p>
          <a:p>
            <a:r>
              <a:rPr lang="en-US">
                <a:ea typeface="+mn-lt"/>
                <a:cs typeface="+mn-lt"/>
              </a:rPr>
              <a:t>Details (2-page handout) of pair programming: </a:t>
            </a:r>
            <a:r>
              <a:rPr lang="en-US" dirty="0">
                <a:ea typeface="+mn-lt"/>
                <a:cs typeface="+mn-lt"/>
                <a:hlinkClick r:id="rId3"/>
              </a:rPr>
              <a:t>here</a:t>
            </a:r>
            <a:endParaRPr lang="en-US">
              <a:ea typeface="Calibri" panose="020F0502020204030204"/>
              <a:cs typeface="Calibri" panose="020F0502020204030204"/>
              <a:hlinkClick r:id="rId3"/>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C195BBC5-2A8B-547F-57B4-C462A67D86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784A000-CD6D-6361-0583-9301BE884A04}"/>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EE23E2DD-D6A1-E508-AF1C-12A8B4CBA1C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42163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71B8A-48AE-A35C-311B-BCF00E273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42483-F7C0-8479-74B6-77D160B0D167}"/>
              </a:ext>
            </a:extLst>
          </p:cNvPr>
          <p:cNvSpPr>
            <a:spLocks noGrp="1"/>
          </p:cNvSpPr>
          <p:nvPr>
            <p:ph type="title"/>
          </p:nvPr>
        </p:nvSpPr>
        <p:spPr/>
        <p:txBody>
          <a:bodyPr/>
          <a:lstStyle/>
          <a:p>
            <a:r>
              <a:rPr lang="en-GB">
                <a:cs typeface="Calibri Light"/>
              </a:rPr>
              <a:t>XP Process Components – Test case description</a:t>
            </a:r>
            <a:endParaRPr lang="en-US" dirty="0"/>
          </a:p>
        </p:txBody>
      </p:sp>
      <p:sp>
        <p:nvSpPr>
          <p:cNvPr id="3" name="Content Placeholder 2">
            <a:extLst>
              <a:ext uri="{FF2B5EF4-FFF2-40B4-BE49-F238E27FC236}">
                <a16:creationId xmlns:a16="http://schemas.microsoft.com/office/drawing/2014/main" id="{5345366D-DFDB-52D2-DEC5-3D3589B51A99}"/>
              </a:ext>
            </a:extLst>
          </p:cNvPr>
          <p:cNvSpPr>
            <a:spLocks noGrp="1"/>
          </p:cNvSpPr>
          <p:nvPr>
            <p:ph idx="1"/>
          </p:nvPr>
        </p:nvSpPr>
        <p:spPr>
          <a:xfrm>
            <a:off x="838200" y="1690328"/>
            <a:ext cx="10515600" cy="4802547"/>
          </a:xfrm>
        </p:spPr>
        <p:txBody>
          <a:bodyPr vert="horz" lIns="91440" tIns="45720" rIns="91440" bIns="45720" rtlCol="0" anchor="t">
            <a:normAutofit/>
          </a:bodyPr>
          <a:lstStyle/>
          <a:p>
            <a:r>
              <a:rPr lang="en-GB" dirty="0">
                <a:ea typeface="+mn-lt"/>
                <a:cs typeface="+mn-lt"/>
              </a:rPr>
              <a:t>In </a:t>
            </a:r>
            <a:r>
              <a:rPr lang="en-GB" b="1" dirty="0">
                <a:ea typeface="+mn-lt"/>
                <a:cs typeface="+mn-lt"/>
              </a:rPr>
              <a:t>Extreme Programming (XP)</a:t>
            </a:r>
            <a:r>
              <a:rPr lang="en-GB" dirty="0">
                <a:ea typeface="+mn-lt"/>
                <a:cs typeface="+mn-lt"/>
              </a:rPr>
              <a:t>, </a:t>
            </a:r>
            <a:r>
              <a:rPr lang="en-GB" b="1" dirty="0">
                <a:ea typeface="+mn-lt"/>
                <a:cs typeface="+mn-lt"/>
              </a:rPr>
              <a:t>test cases</a:t>
            </a:r>
            <a:r>
              <a:rPr lang="en-GB" dirty="0">
                <a:ea typeface="+mn-lt"/>
                <a:cs typeface="+mn-lt"/>
              </a:rPr>
              <a:t> are an integral part of the development process, especially because XP heavily relies on </a:t>
            </a:r>
            <a:r>
              <a:rPr lang="en-GB" b="1" dirty="0">
                <a:ea typeface="+mn-lt"/>
                <a:cs typeface="+mn-lt"/>
              </a:rPr>
              <a:t>Test-Driven Development (TDD)</a:t>
            </a:r>
            <a:r>
              <a:rPr lang="en-GB" dirty="0">
                <a:ea typeface="+mn-lt"/>
                <a:cs typeface="+mn-lt"/>
              </a:rPr>
              <a:t>. Test cases in XP are often written </a:t>
            </a:r>
            <a:r>
              <a:rPr lang="en-GB" b="1" dirty="0">
                <a:ea typeface="+mn-lt"/>
                <a:cs typeface="+mn-lt"/>
              </a:rPr>
              <a:t>before the actual code</a:t>
            </a:r>
            <a:r>
              <a:rPr lang="en-GB" dirty="0">
                <a:ea typeface="+mn-lt"/>
                <a:cs typeface="+mn-lt"/>
              </a:rPr>
              <a:t> to ensure that the code meets the desired requirements and behaves as expected.</a:t>
            </a:r>
            <a:endParaRPr lang="en-US" dirty="0">
              <a:ea typeface="+mn-lt"/>
              <a:cs typeface="+mn-lt"/>
            </a:endParaRPr>
          </a:p>
          <a:p>
            <a:pPr marL="0" indent="0">
              <a:buNone/>
            </a:pPr>
            <a:endParaRPr lang="en-GB" dirty="0">
              <a:ea typeface="Calibri" panose="020F0502020204030204"/>
              <a:cs typeface="Calibri" panose="020F0502020204030204"/>
            </a:endParaRPr>
          </a:p>
          <a:p>
            <a:r>
              <a:rPr lang="en-US">
                <a:ea typeface="+mn-lt"/>
                <a:cs typeface="+mn-lt"/>
              </a:rPr>
              <a:t>Details (2-page handout) of pair programming: </a:t>
            </a:r>
            <a:r>
              <a:rPr lang="en-US" dirty="0">
                <a:ea typeface="+mn-lt"/>
                <a:cs typeface="+mn-lt"/>
                <a:hlinkClick r:id="rId3"/>
              </a:rPr>
              <a:t>here</a:t>
            </a:r>
            <a:endParaRPr lang="en-US">
              <a:ea typeface="Calibri" panose="020F0502020204030204"/>
              <a:cs typeface="Calibri" panose="020F0502020204030204"/>
              <a:hlinkClick r:id="rId3"/>
            </a:endParaRPr>
          </a:p>
          <a:p>
            <a:pPr lvl="1">
              <a:buFont typeface="Courier New" panose="020B0604020202020204" pitchFamily="34" charset="0"/>
              <a:buChar char="o"/>
            </a:pP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368BAEB9-9335-CF48-6DC6-EE6E36E23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11CC55D-4181-5517-B1D1-D9DD7E8793B5}"/>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5CD6400E-738F-A13D-B326-548C8EF6694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66245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A398-DB6D-860D-674B-F5EA72ADB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7DCD3-6E6D-1695-E341-2E87E46835F0}"/>
              </a:ext>
            </a:extLst>
          </p:cNvPr>
          <p:cNvSpPr>
            <a:spLocks noGrp="1"/>
          </p:cNvSpPr>
          <p:nvPr>
            <p:ph type="title"/>
          </p:nvPr>
        </p:nvSpPr>
        <p:spPr>
          <a:xfrm>
            <a:off x="838200" y="667049"/>
            <a:ext cx="10515600" cy="1325563"/>
          </a:xfrm>
        </p:spPr>
        <p:txBody>
          <a:bodyPr>
            <a:normAutofit fontScale="90000"/>
          </a:bodyPr>
          <a:lstStyle/>
          <a:p>
            <a:r>
              <a:rPr lang="en-GB">
                <a:ea typeface="Calibri Light"/>
                <a:cs typeface="Calibri Light"/>
              </a:rPr>
              <a:t>XP Components:</a:t>
            </a:r>
            <a:br>
              <a:rPr lang="en-GB" dirty="0">
                <a:ea typeface="Calibri Light"/>
                <a:cs typeface="Calibri Light"/>
              </a:rPr>
            </a:br>
            <a:r>
              <a:rPr lang="en-GB">
                <a:ea typeface="Calibri Light"/>
                <a:cs typeface="Calibri Light"/>
              </a:rPr>
              <a:t>Test case</a:t>
            </a:r>
            <a:br>
              <a:rPr lang="en-GB" dirty="0">
                <a:ea typeface="Calibri Light"/>
                <a:cs typeface="Calibri Light"/>
              </a:rPr>
            </a:br>
            <a:r>
              <a:rPr lang="en-GB" dirty="0">
                <a:ea typeface="Calibri Light"/>
                <a:cs typeface="Calibri Light"/>
              </a:rPr>
              <a:t>description</a:t>
            </a:r>
          </a:p>
        </p:txBody>
      </p:sp>
      <p:pic>
        <p:nvPicPr>
          <p:cNvPr id="6" name="Picture 5" descr="A black and white logo&#10;&#10;Description automatically generated">
            <a:extLst>
              <a:ext uri="{FF2B5EF4-FFF2-40B4-BE49-F238E27FC236}">
                <a16:creationId xmlns:a16="http://schemas.microsoft.com/office/drawing/2014/main" id="{49A8B17D-6D2B-E798-5E0D-17723D96E3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F87A15B-2F92-0966-08A5-A63DDFB5B83F}"/>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9A04890A-D684-03BE-CC01-00FF34BAF251}"/>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5BD118D0-F1F8-53FB-C28C-660F6303D5D9}"/>
              </a:ext>
            </a:extLst>
          </p:cNvPr>
          <p:cNvPicPr>
            <a:picLocks noChangeAspect="1"/>
          </p:cNvPicPr>
          <p:nvPr/>
        </p:nvPicPr>
        <p:blipFill>
          <a:blip r:embed="rId4"/>
          <a:stretch>
            <a:fillRect/>
          </a:stretch>
        </p:blipFill>
        <p:spPr>
          <a:xfrm>
            <a:off x="3305714" y="1080729"/>
            <a:ext cx="8887363" cy="4696543"/>
          </a:xfrm>
          <a:prstGeom prst="rect">
            <a:avLst/>
          </a:prstGeom>
        </p:spPr>
      </p:pic>
    </p:spTree>
    <p:extLst>
      <p:ext uri="{BB962C8B-B14F-4D97-AF65-F5344CB8AC3E}">
        <p14:creationId xmlns:p14="http://schemas.microsoft.com/office/powerpoint/2010/main" val="3894528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XP Release Cycle</a:t>
            </a:r>
            <a:endParaRPr lang="en-US"/>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pic>
        <p:nvPicPr>
          <p:cNvPr id="3" name="Picture 2" descr="A diagram of software&#10;&#10;AI-generated content may be incorrect.">
            <a:extLst>
              <a:ext uri="{FF2B5EF4-FFF2-40B4-BE49-F238E27FC236}">
                <a16:creationId xmlns:a16="http://schemas.microsoft.com/office/drawing/2014/main" id="{F1207A21-974C-5A3D-71AB-00BE0A572284}"/>
              </a:ext>
            </a:extLst>
          </p:cNvPr>
          <p:cNvPicPr>
            <a:picLocks noChangeAspect="1"/>
          </p:cNvPicPr>
          <p:nvPr/>
        </p:nvPicPr>
        <p:blipFill>
          <a:blip r:embed="rId4"/>
          <a:stretch>
            <a:fillRect/>
          </a:stretch>
        </p:blipFill>
        <p:spPr>
          <a:xfrm>
            <a:off x="1422640" y="1697067"/>
            <a:ext cx="9346720" cy="3909563"/>
          </a:xfrm>
          <a:prstGeom prst="rect">
            <a:avLst/>
          </a:prstGeom>
        </p:spPr>
      </p:pic>
      <p:sp>
        <p:nvSpPr>
          <p:cNvPr id="4" name="TextBox 3">
            <a:extLst>
              <a:ext uri="{FF2B5EF4-FFF2-40B4-BE49-F238E27FC236}">
                <a16:creationId xmlns:a16="http://schemas.microsoft.com/office/drawing/2014/main" id="{0BC483CE-726D-9675-55E6-8026064F3564}"/>
              </a:ext>
            </a:extLst>
          </p:cNvPr>
          <p:cNvSpPr txBox="1"/>
          <p:nvPr/>
        </p:nvSpPr>
        <p:spPr>
          <a:xfrm>
            <a:off x="0" y="5384800"/>
            <a:ext cx="625856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Note (my 2 cents): The term 'release' here is slightly confusing. Release generally consists of multiple iterations, where each iteration is a phase where some part of the product is built. You can think of an iteration as an increment. Therefore, read 'release' as 'iteration' in this graph.</a:t>
            </a:r>
            <a:endParaRPr lang="en-US" dirty="0"/>
          </a:p>
        </p:txBody>
      </p:sp>
    </p:spTree>
    <p:extLst>
      <p:ext uri="{BB962C8B-B14F-4D97-AF65-F5344CB8AC3E}">
        <p14:creationId xmlns:p14="http://schemas.microsoft.com/office/powerpoint/2010/main" val="35097811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77211-0501-76B4-54A2-B16179747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FC45D-5142-EF00-F20A-E5785C626AE4}"/>
              </a:ext>
            </a:extLst>
          </p:cNvPr>
          <p:cNvSpPr>
            <a:spLocks noGrp="1"/>
          </p:cNvSpPr>
          <p:nvPr>
            <p:ph type="title"/>
          </p:nvPr>
        </p:nvSpPr>
        <p:spPr/>
        <p:txBody>
          <a:bodyPr/>
          <a:lstStyle/>
          <a:p>
            <a:r>
              <a:rPr lang="en-GB">
                <a:cs typeface="Calibri Light"/>
              </a:rPr>
              <a:t>XP Practices</a:t>
            </a:r>
            <a:endParaRPr lang="en-US"/>
          </a:p>
        </p:txBody>
      </p:sp>
      <p:pic>
        <p:nvPicPr>
          <p:cNvPr id="6" name="Picture 5" descr="A black and white logo&#10;&#10;Description automatically generated">
            <a:extLst>
              <a:ext uri="{FF2B5EF4-FFF2-40B4-BE49-F238E27FC236}">
                <a16:creationId xmlns:a16="http://schemas.microsoft.com/office/drawing/2014/main" id="{9535ECE9-A080-2326-AFA4-4EFF62B428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0EDE026-67D8-99A0-698B-945476D58B97}"/>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F312AE31-E81A-03D5-BB7C-A3BAACEA9B9D}"/>
              </a:ext>
            </a:extLst>
          </p:cNvPr>
          <p:cNvSpPr>
            <a:spLocks noGrp="1"/>
          </p:cNvSpPr>
          <p:nvPr>
            <p:ph type="ftr" sz="quarter" idx="11"/>
          </p:nvPr>
        </p:nvSpPr>
        <p:spPr/>
        <p:txBody>
          <a:bodyPr/>
          <a:lstStyle/>
          <a:p>
            <a:r>
              <a:rPr lang="en-US"/>
              <a:t>Software Engineering</a:t>
            </a:r>
          </a:p>
        </p:txBody>
      </p:sp>
      <p:pic>
        <p:nvPicPr>
          <p:cNvPr id="4" name="Picture 3" descr="A blue and white text&#10;&#10;AI-generated content may be incorrect.">
            <a:extLst>
              <a:ext uri="{FF2B5EF4-FFF2-40B4-BE49-F238E27FC236}">
                <a16:creationId xmlns:a16="http://schemas.microsoft.com/office/drawing/2014/main" id="{FD3C9549-BCDD-C1DE-5AB8-7F41FA073FB8}"/>
              </a:ext>
            </a:extLst>
          </p:cNvPr>
          <p:cNvPicPr>
            <a:picLocks noChangeAspect="1"/>
          </p:cNvPicPr>
          <p:nvPr/>
        </p:nvPicPr>
        <p:blipFill>
          <a:blip r:embed="rId4"/>
          <a:stretch>
            <a:fillRect/>
          </a:stretch>
        </p:blipFill>
        <p:spPr>
          <a:xfrm>
            <a:off x="428086" y="1236812"/>
            <a:ext cx="11335827" cy="5620827"/>
          </a:xfrm>
          <a:prstGeom prst="rect">
            <a:avLst/>
          </a:prstGeom>
        </p:spPr>
      </p:pic>
    </p:spTree>
    <p:extLst>
      <p:ext uri="{BB962C8B-B14F-4D97-AF65-F5344CB8AC3E}">
        <p14:creationId xmlns:p14="http://schemas.microsoft.com/office/powerpoint/2010/main" val="1283551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CBF4-95A7-BAD2-B6F7-D1CEAE458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30B57-709E-F7BC-491F-ED61F8CFBA93}"/>
              </a:ext>
            </a:extLst>
          </p:cNvPr>
          <p:cNvSpPr>
            <a:spLocks noGrp="1"/>
          </p:cNvSpPr>
          <p:nvPr>
            <p:ph type="title"/>
          </p:nvPr>
        </p:nvSpPr>
        <p:spPr/>
        <p:txBody>
          <a:bodyPr/>
          <a:lstStyle/>
          <a:p>
            <a:r>
              <a:rPr lang="en-GB">
                <a:cs typeface="Calibri Light"/>
              </a:rPr>
              <a:t>XP Practices</a:t>
            </a:r>
            <a:endParaRPr lang="en-US"/>
          </a:p>
        </p:txBody>
      </p:sp>
      <p:pic>
        <p:nvPicPr>
          <p:cNvPr id="6" name="Picture 5" descr="A black and white logo&#10;&#10;Description automatically generated">
            <a:extLst>
              <a:ext uri="{FF2B5EF4-FFF2-40B4-BE49-F238E27FC236}">
                <a16:creationId xmlns:a16="http://schemas.microsoft.com/office/drawing/2014/main" id="{804BDBCA-2DDC-A217-62FE-76F89E484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06C0E4A-B6D9-6810-15EC-6056DAC6D48A}"/>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E2B2E2A9-B093-40D8-CEFE-50BE4F047305}"/>
              </a:ext>
            </a:extLst>
          </p:cNvPr>
          <p:cNvSpPr>
            <a:spLocks noGrp="1"/>
          </p:cNvSpPr>
          <p:nvPr>
            <p:ph type="ftr" sz="quarter" idx="11"/>
          </p:nvPr>
        </p:nvSpPr>
        <p:spPr/>
        <p:txBody>
          <a:bodyPr/>
          <a:lstStyle/>
          <a:p>
            <a:r>
              <a:rPr lang="en-US"/>
              <a:t>Software Engineering</a:t>
            </a:r>
          </a:p>
        </p:txBody>
      </p:sp>
      <p:pic>
        <p:nvPicPr>
          <p:cNvPr id="3" name="Picture 2" descr="A blue text box with white text&#10;&#10;AI-generated content may be incorrect.">
            <a:extLst>
              <a:ext uri="{FF2B5EF4-FFF2-40B4-BE49-F238E27FC236}">
                <a16:creationId xmlns:a16="http://schemas.microsoft.com/office/drawing/2014/main" id="{7B0BB17A-1C46-BA1C-DBA6-543136E63B16}"/>
              </a:ext>
            </a:extLst>
          </p:cNvPr>
          <p:cNvPicPr>
            <a:picLocks noChangeAspect="1"/>
          </p:cNvPicPr>
          <p:nvPr/>
        </p:nvPicPr>
        <p:blipFill>
          <a:blip r:embed="rId4"/>
          <a:stretch>
            <a:fillRect/>
          </a:stretch>
        </p:blipFill>
        <p:spPr>
          <a:xfrm>
            <a:off x="1977" y="1708030"/>
            <a:ext cx="12130536" cy="4247071"/>
          </a:xfrm>
          <a:prstGeom prst="rect">
            <a:avLst/>
          </a:prstGeom>
        </p:spPr>
      </p:pic>
    </p:spTree>
    <p:extLst>
      <p:ext uri="{BB962C8B-B14F-4D97-AF65-F5344CB8AC3E}">
        <p14:creationId xmlns:p14="http://schemas.microsoft.com/office/powerpoint/2010/main" val="758402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XP Closing thoughts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In practice, the application of Extreme Programming as originally proposed has proved to be more difficult than anticipated</a:t>
            </a:r>
          </a:p>
          <a:p>
            <a:r>
              <a:rPr lang="en-US" dirty="0">
                <a:ea typeface="+mn-lt"/>
                <a:cs typeface="+mn-lt"/>
              </a:rPr>
              <a:t>It cannot be readily integrated with the management practices and culture of most businesses. Therefore, companies adopting agile methods pick and choose those XP practices that are most appropriate for their way of working</a:t>
            </a:r>
          </a:p>
          <a:p>
            <a:r>
              <a:rPr lang="en-US" dirty="0">
                <a:ea typeface="+mn-lt"/>
                <a:cs typeface="+mn-lt"/>
              </a:rPr>
              <a:t>Sometimes these are incorporated into their own development processes but, more commonly, they are used in conjunction with a </a:t>
            </a:r>
            <a:r>
              <a:rPr lang="en-US" b="1" dirty="0">
                <a:highlight>
                  <a:srgbClr val="FFFF00"/>
                </a:highlight>
                <a:ea typeface="+mn-lt"/>
                <a:cs typeface="+mn-lt"/>
              </a:rPr>
              <a:t>management focused agile method</a:t>
            </a:r>
            <a:r>
              <a:rPr lang="en-US" dirty="0">
                <a:ea typeface="+mn-lt"/>
                <a:cs typeface="+mn-lt"/>
              </a:rPr>
              <a:t> such as </a:t>
            </a:r>
            <a:r>
              <a:rPr lang="en-US" dirty="0">
                <a:highlight>
                  <a:srgbClr val="FFFF00"/>
                </a:highlight>
                <a:ea typeface="+mn-lt"/>
                <a:cs typeface="+mn-lt"/>
              </a:rPr>
              <a:t>Scrum</a:t>
            </a:r>
            <a:r>
              <a:rPr lang="en-US" dirty="0">
                <a:ea typeface="+mn-lt"/>
                <a:cs typeface="+mn-lt"/>
              </a:rPr>
              <a:t> (Rubin 2013). </a:t>
            </a:r>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91515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12567-B265-D16B-9DF3-8C686CD58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A4418-D69E-DEB3-B85C-BEC95726745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4D7B4C98-B8E0-96D7-51D7-75B971E6654E}"/>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panose="020F0502020204030204"/>
                <a:cs typeface="Calibri"/>
              </a:rPr>
              <a:t>Scrum</a:t>
            </a:r>
            <a:endParaRPr lang="en-US"/>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67917A2C-4FB2-7A25-4BAF-294C8C4D84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E9CB9AD-FC79-9AE9-EDB3-19C80F656550}"/>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3F96EA8B-13B2-0BD3-2BD8-A44023A5293A}"/>
              </a:ext>
            </a:extLst>
          </p:cNvPr>
          <p:cNvSpPr>
            <a:spLocks noGrp="1"/>
          </p:cNvSpPr>
          <p:nvPr>
            <p:ph type="ftr" sz="quarter" idx="11"/>
          </p:nvPr>
        </p:nvSpPr>
        <p:spPr/>
        <p:txBody>
          <a:bodyPr/>
          <a:lstStyle/>
          <a:p>
            <a:r>
              <a:rPr lang="en-US"/>
              <a:t>Software Engineering</a:t>
            </a:r>
          </a:p>
        </p:txBody>
      </p:sp>
      <p:pic>
        <p:nvPicPr>
          <p:cNvPr id="4" name="Picture 3" descr="A group of people in a huddle&#10;&#10;AI-generated content may be incorrect.">
            <a:extLst>
              <a:ext uri="{FF2B5EF4-FFF2-40B4-BE49-F238E27FC236}">
                <a16:creationId xmlns:a16="http://schemas.microsoft.com/office/drawing/2014/main" id="{1FAD5B7D-18F2-43A5-9044-19AFEA424299}"/>
              </a:ext>
            </a:extLst>
          </p:cNvPr>
          <p:cNvPicPr>
            <a:picLocks noChangeAspect="1"/>
          </p:cNvPicPr>
          <p:nvPr/>
        </p:nvPicPr>
        <p:blipFill>
          <a:blip r:embed="rId4"/>
          <a:stretch>
            <a:fillRect/>
          </a:stretch>
        </p:blipFill>
        <p:spPr>
          <a:xfrm>
            <a:off x="4270076" y="903169"/>
            <a:ext cx="7921924" cy="3887098"/>
          </a:xfrm>
          <a:prstGeom prst="rect">
            <a:avLst/>
          </a:prstGeom>
        </p:spPr>
      </p:pic>
    </p:spTree>
    <p:extLst>
      <p:ext uri="{BB962C8B-B14F-4D97-AF65-F5344CB8AC3E}">
        <p14:creationId xmlns:p14="http://schemas.microsoft.com/office/powerpoint/2010/main" val="37545966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Agile Project Management.. Scrum.. Introduction</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704705"/>
            <a:ext cx="10515600" cy="4820079"/>
          </a:xfrm>
        </p:spPr>
        <p:txBody>
          <a:bodyPr vert="horz" lIns="91440" tIns="45720" rIns="91440" bIns="45720" rtlCol="0" anchor="t">
            <a:normAutofit lnSpcReduction="10000"/>
          </a:bodyPr>
          <a:lstStyle/>
          <a:p>
            <a:r>
              <a:rPr lang="en-US" dirty="0">
                <a:ea typeface="+mn-lt"/>
                <a:cs typeface="+mn-lt"/>
              </a:rPr>
              <a:t>In any software business, </a:t>
            </a:r>
            <a:r>
              <a:rPr lang="en-US" dirty="0">
                <a:highlight>
                  <a:srgbClr val="FFFF00"/>
                </a:highlight>
                <a:ea typeface="+mn-lt"/>
                <a:cs typeface="+mn-lt"/>
              </a:rPr>
              <a:t>managers need to know</a:t>
            </a:r>
            <a:r>
              <a:rPr lang="en-US" dirty="0">
                <a:ea typeface="+mn-lt"/>
                <a:cs typeface="+mn-lt"/>
              </a:rPr>
              <a:t> what is going on and whether a project is likely to meet its objectives (and deliver the project on time)</a:t>
            </a:r>
          </a:p>
          <a:p>
            <a:r>
              <a:rPr lang="en-US" sz="2600" dirty="0">
                <a:ea typeface="+mn-lt"/>
                <a:cs typeface="+mn-lt"/>
              </a:rPr>
              <a:t>Plan-driven approaches to software development evolved to meet this need</a:t>
            </a:r>
            <a:endParaRPr lang="en-US" dirty="0">
              <a:ea typeface="+mn-lt"/>
              <a:cs typeface="+mn-lt"/>
            </a:endParaRPr>
          </a:p>
          <a:p>
            <a:r>
              <a:rPr lang="en-US" dirty="0">
                <a:ea typeface="+mn-lt"/>
                <a:cs typeface="+mn-lt"/>
              </a:rPr>
              <a:t>XP based approaches do not cater to the point above</a:t>
            </a:r>
          </a:p>
          <a:p>
            <a:r>
              <a:rPr lang="en-US" dirty="0">
                <a:ea typeface="+mn-lt"/>
                <a:cs typeface="+mn-lt"/>
              </a:rPr>
              <a:t>A </a:t>
            </a:r>
            <a:r>
              <a:rPr lang="en-US" dirty="0">
                <a:highlight>
                  <a:srgbClr val="FFFF00"/>
                </a:highlight>
                <a:ea typeface="+mn-lt"/>
                <a:cs typeface="+mn-lt"/>
              </a:rPr>
              <a:t>plan-based approach</a:t>
            </a:r>
            <a:r>
              <a:rPr lang="en-US" dirty="0">
                <a:ea typeface="+mn-lt"/>
                <a:cs typeface="+mn-lt"/>
              </a:rPr>
              <a:t> requires a </a:t>
            </a:r>
            <a:r>
              <a:rPr lang="en-US" dirty="0">
                <a:highlight>
                  <a:srgbClr val="FFFF00"/>
                </a:highlight>
                <a:ea typeface="+mn-lt"/>
                <a:cs typeface="+mn-lt"/>
              </a:rPr>
              <a:t>manager</a:t>
            </a:r>
            <a:r>
              <a:rPr lang="en-US" dirty="0">
                <a:ea typeface="+mn-lt"/>
                <a:cs typeface="+mn-lt"/>
              </a:rPr>
              <a:t> to have a </a:t>
            </a:r>
            <a:r>
              <a:rPr lang="en-US" dirty="0">
                <a:highlight>
                  <a:srgbClr val="FFFF00"/>
                </a:highlight>
                <a:ea typeface="+mn-lt"/>
                <a:cs typeface="+mn-lt"/>
              </a:rPr>
              <a:t>stable view of everything</a:t>
            </a:r>
            <a:r>
              <a:rPr lang="en-US" dirty="0">
                <a:ea typeface="+mn-lt"/>
                <a:cs typeface="+mn-lt"/>
              </a:rPr>
              <a:t> that must be developed and the development processes</a:t>
            </a:r>
            <a:endParaRPr lang="en-US" dirty="0">
              <a:ea typeface="Calibri" panose="020F0502020204030204"/>
              <a:cs typeface="Calibri"/>
            </a:endParaRPr>
          </a:p>
          <a:p>
            <a:r>
              <a:rPr lang="en-US" dirty="0">
                <a:ea typeface="Calibri" panose="020F0502020204030204"/>
                <a:cs typeface="Calibri"/>
              </a:rPr>
              <a:t>The </a:t>
            </a:r>
            <a:r>
              <a:rPr lang="en-US" dirty="0">
                <a:highlight>
                  <a:srgbClr val="FFFF00"/>
                </a:highlight>
                <a:ea typeface="Calibri" panose="020F0502020204030204"/>
                <a:cs typeface="Calibri"/>
              </a:rPr>
              <a:t>informal nature</a:t>
            </a:r>
            <a:r>
              <a:rPr lang="en-US" dirty="0">
                <a:ea typeface="Calibri" panose="020F0502020204030204"/>
                <a:cs typeface="Calibri"/>
              </a:rPr>
              <a:t> of </a:t>
            </a:r>
            <a:r>
              <a:rPr lang="en-US" dirty="0">
                <a:highlight>
                  <a:srgbClr val="FFFF00"/>
                </a:highlight>
                <a:ea typeface="Calibri" panose="020F0502020204030204"/>
                <a:cs typeface="Calibri"/>
              </a:rPr>
              <a:t>early agile</a:t>
            </a:r>
            <a:r>
              <a:rPr lang="en-US" dirty="0">
                <a:ea typeface="Calibri" panose="020F0502020204030204"/>
                <a:cs typeface="Calibri"/>
              </a:rPr>
              <a:t> methods </a:t>
            </a:r>
            <a:r>
              <a:rPr lang="en-US" dirty="0">
                <a:highlight>
                  <a:srgbClr val="FFFF00"/>
                </a:highlight>
                <a:ea typeface="Calibri" panose="020F0502020204030204"/>
                <a:cs typeface="Calibri"/>
              </a:rPr>
              <a:t>clashed</a:t>
            </a:r>
            <a:r>
              <a:rPr lang="en-US" dirty="0">
                <a:ea typeface="Calibri" panose="020F0502020204030204"/>
                <a:cs typeface="Calibri"/>
              </a:rPr>
              <a:t> with the business </a:t>
            </a:r>
            <a:r>
              <a:rPr lang="en-US" dirty="0">
                <a:highlight>
                  <a:srgbClr val="FFFF00"/>
                </a:highlight>
                <a:ea typeface="Calibri" panose="020F0502020204030204"/>
                <a:cs typeface="Calibri"/>
              </a:rPr>
              <a:t>requirement for visibility</a:t>
            </a:r>
          </a:p>
          <a:p>
            <a:r>
              <a:rPr lang="en-US" dirty="0">
                <a:ea typeface="Calibri" panose="020F0502020204030204"/>
                <a:cs typeface="Calibri"/>
              </a:rPr>
              <a:t>While this can and does work for small companies developing software, it is inappropriate for larger companies</a:t>
            </a: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539996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D0AB-EC0F-0C53-B93B-AAA205C27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1D55E-D19E-C29B-19BA-47E65C13687B}"/>
              </a:ext>
            </a:extLst>
          </p:cNvPr>
          <p:cNvSpPr>
            <a:spLocks noGrp="1"/>
          </p:cNvSpPr>
          <p:nvPr>
            <p:ph type="title"/>
          </p:nvPr>
        </p:nvSpPr>
        <p:spPr/>
        <p:txBody>
          <a:bodyPr/>
          <a:lstStyle/>
          <a:p>
            <a:r>
              <a:rPr lang="en-GB">
                <a:cs typeface="Calibri Light"/>
              </a:rPr>
              <a:t>Agile Project Management.. Scrum.. Introduction</a:t>
            </a:r>
            <a:endParaRPr lang="en-US"/>
          </a:p>
        </p:txBody>
      </p:sp>
      <p:sp>
        <p:nvSpPr>
          <p:cNvPr id="3" name="Content Placeholder 2">
            <a:extLst>
              <a:ext uri="{FF2B5EF4-FFF2-40B4-BE49-F238E27FC236}">
                <a16:creationId xmlns:a16="http://schemas.microsoft.com/office/drawing/2014/main" id="{1EF3B05F-54EC-CE82-B963-C034D7AFA9B8}"/>
              </a:ext>
            </a:extLst>
          </p:cNvPr>
          <p:cNvSpPr>
            <a:spLocks noGrp="1"/>
          </p:cNvSpPr>
          <p:nvPr>
            <p:ph idx="1"/>
          </p:nvPr>
        </p:nvSpPr>
        <p:spPr>
          <a:xfrm>
            <a:off x="838200" y="1704705"/>
            <a:ext cx="10515600" cy="4820079"/>
          </a:xfrm>
        </p:spPr>
        <p:txBody>
          <a:bodyPr vert="horz" lIns="91440" tIns="45720" rIns="91440" bIns="45720" rtlCol="0" anchor="t">
            <a:normAutofit fontScale="92500" lnSpcReduction="10000"/>
          </a:bodyPr>
          <a:lstStyle/>
          <a:p>
            <a:r>
              <a:rPr lang="en-US" dirty="0">
                <a:ea typeface="+mn-lt"/>
                <a:cs typeface="+mn-lt"/>
              </a:rPr>
              <a:t>To address the issues mentioned in the previous slide(s), Scrum agile method was developed</a:t>
            </a:r>
            <a:endParaRPr lang="en-US" dirty="0"/>
          </a:p>
          <a:p>
            <a:r>
              <a:rPr lang="en-US" dirty="0">
                <a:ea typeface="Calibri" panose="020F0502020204030204"/>
                <a:cs typeface="Calibri"/>
              </a:rPr>
              <a:t>Scrum developed to </a:t>
            </a:r>
            <a:r>
              <a:rPr lang="en-US" i="1" dirty="0">
                <a:ea typeface="Calibri" panose="020F0502020204030204"/>
                <a:cs typeface="Calibri"/>
              </a:rPr>
              <a:t>"</a:t>
            </a:r>
            <a:r>
              <a:rPr lang="en-US" i="1" dirty="0">
                <a:ea typeface="+mn-lt"/>
                <a:cs typeface="+mn-lt"/>
              </a:rPr>
              <a:t>provide a </a:t>
            </a:r>
            <a:r>
              <a:rPr lang="en-US" i="1" u="sng" dirty="0">
                <a:highlight>
                  <a:srgbClr val="FFFF00"/>
                </a:highlight>
                <a:ea typeface="+mn-lt"/>
                <a:cs typeface="+mn-lt"/>
              </a:rPr>
              <a:t>framework for organizing</a:t>
            </a:r>
            <a:r>
              <a:rPr lang="en-US" i="1" dirty="0">
                <a:highlight>
                  <a:srgbClr val="FFFF00"/>
                </a:highlight>
                <a:ea typeface="+mn-lt"/>
                <a:cs typeface="+mn-lt"/>
              </a:rPr>
              <a:t> agile projects</a:t>
            </a:r>
            <a:r>
              <a:rPr lang="en-US" i="1" dirty="0">
                <a:ea typeface="+mn-lt"/>
                <a:cs typeface="+mn-lt"/>
              </a:rPr>
              <a:t> and, to some extent at least, </a:t>
            </a:r>
            <a:r>
              <a:rPr lang="en-US" i="1" dirty="0">
                <a:highlight>
                  <a:srgbClr val="FFFF00"/>
                </a:highlight>
                <a:ea typeface="+mn-lt"/>
                <a:cs typeface="+mn-lt"/>
              </a:rPr>
              <a:t>provide external visibility</a:t>
            </a:r>
            <a:r>
              <a:rPr lang="en-US" i="1" dirty="0">
                <a:ea typeface="+mn-lt"/>
                <a:cs typeface="+mn-lt"/>
              </a:rPr>
              <a:t> of what is going on</a:t>
            </a:r>
            <a:r>
              <a:rPr lang="en-US" i="1" dirty="0">
                <a:ea typeface="Calibri" panose="020F0502020204030204"/>
                <a:cs typeface="Calibri"/>
              </a:rPr>
              <a:t>"</a:t>
            </a:r>
            <a:endParaRPr lang="en-US" i="1">
              <a:ea typeface="Calibri" panose="020F0502020204030204"/>
              <a:cs typeface="Calibri"/>
            </a:endParaRPr>
          </a:p>
          <a:p>
            <a:r>
              <a:rPr lang="en-US" dirty="0">
                <a:ea typeface="Calibri" panose="020F0502020204030204"/>
                <a:cs typeface="Calibri"/>
              </a:rPr>
              <a:t>Therefore, it is called a </a:t>
            </a:r>
            <a:r>
              <a:rPr lang="en-US" dirty="0">
                <a:highlight>
                  <a:srgbClr val="FFFF00"/>
                </a:highlight>
                <a:ea typeface="Calibri" panose="020F0502020204030204"/>
                <a:cs typeface="Calibri"/>
              </a:rPr>
              <a:t>plan-based agile</a:t>
            </a:r>
            <a:r>
              <a:rPr lang="en-US" dirty="0">
                <a:ea typeface="Calibri" panose="020F0502020204030204"/>
                <a:cs typeface="Calibri"/>
              </a:rPr>
              <a:t> approach</a:t>
            </a:r>
          </a:p>
          <a:p>
            <a:r>
              <a:rPr lang="en-US" dirty="0">
                <a:ea typeface="Calibri" panose="020F0502020204030204"/>
                <a:cs typeface="Calibri"/>
              </a:rPr>
              <a:t>Developers of scrum wished to make it clear that is not a method for project management in the conventional sense, therefore, you have new terminology (which you will see in due course)</a:t>
            </a:r>
          </a:p>
          <a:p>
            <a:r>
              <a:rPr lang="en-US" dirty="0">
                <a:ea typeface="Calibri" panose="020F0502020204030204"/>
                <a:cs typeface="Calibri"/>
              </a:rPr>
              <a:t>Scrum </a:t>
            </a:r>
            <a:r>
              <a:rPr lang="en-US" dirty="0">
                <a:highlight>
                  <a:srgbClr val="FFFF00"/>
                </a:highlight>
                <a:ea typeface="Calibri" panose="020F0502020204030204"/>
                <a:cs typeface="Calibri"/>
              </a:rPr>
              <a:t>follows</a:t>
            </a:r>
            <a:r>
              <a:rPr lang="en-US" dirty="0">
                <a:ea typeface="Calibri" panose="020F0502020204030204"/>
                <a:cs typeface="Calibri"/>
              </a:rPr>
              <a:t> the </a:t>
            </a:r>
            <a:r>
              <a:rPr lang="en-US" dirty="0">
                <a:highlight>
                  <a:srgbClr val="FFFF00"/>
                </a:highlight>
                <a:ea typeface="Calibri" panose="020F0502020204030204"/>
                <a:cs typeface="Calibri"/>
              </a:rPr>
              <a:t>principles of Agile development</a:t>
            </a:r>
            <a:r>
              <a:rPr lang="en-US" dirty="0">
                <a:ea typeface="Calibri" panose="020F0502020204030204"/>
                <a:cs typeface="Calibri"/>
              </a:rPr>
              <a:t>, however,</a:t>
            </a:r>
          </a:p>
          <a:p>
            <a:r>
              <a:rPr lang="en-US" dirty="0">
                <a:ea typeface="Calibri" panose="020F0502020204030204"/>
                <a:cs typeface="Calibri"/>
              </a:rPr>
              <a:t>It provides a framework for Agile Project Organization, and </a:t>
            </a:r>
            <a:r>
              <a:rPr lang="en-US" dirty="0">
                <a:highlight>
                  <a:srgbClr val="FFFF00"/>
                </a:highlight>
                <a:ea typeface="Calibri" panose="020F0502020204030204"/>
                <a:cs typeface="Calibri"/>
              </a:rPr>
              <a:t>does not mandate specific practices</a:t>
            </a:r>
            <a:r>
              <a:rPr lang="en-US" dirty="0">
                <a:ea typeface="Calibri" panose="020F0502020204030204"/>
                <a:cs typeface="Calibri"/>
              </a:rPr>
              <a:t> (like pair programming, for instance) - meaning, </a:t>
            </a:r>
            <a:r>
              <a:rPr lang="en-US" dirty="0">
                <a:highlight>
                  <a:srgbClr val="FFFF00"/>
                </a:highlight>
                <a:ea typeface="Calibri" panose="020F0502020204030204"/>
                <a:cs typeface="Calibri"/>
              </a:rPr>
              <a:t>can be integrated more easily</a:t>
            </a:r>
            <a:r>
              <a:rPr lang="en-US" dirty="0">
                <a:ea typeface="Calibri" panose="020F0502020204030204"/>
                <a:cs typeface="Calibri"/>
              </a:rPr>
              <a:t> with </a:t>
            </a:r>
            <a:r>
              <a:rPr lang="en-US" dirty="0">
                <a:highlight>
                  <a:srgbClr val="FFFF00"/>
                </a:highlight>
                <a:ea typeface="Calibri" panose="020F0502020204030204"/>
                <a:cs typeface="Calibri"/>
              </a:rPr>
              <a:t>existing company policies</a:t>
            </a:r>
          </a:p>
          <a:p>
            <a:endParaRPr lang="en-US" dirty="0">
              <a:highlight>
                <a:srgbClr val="FFFF00"/>
              </a:highlight>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8D95C38F-FBAA-D74B-31FA-DD9B164F9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7FD167C-9617-F281-C479-CEEBD50EFB1C}"/>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E3C50D5F-911B-0AD7-AEF0-395D54CEA3A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54758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19747-BB48-C542-A175-F7A29F335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83768-DB87-FE68-6DDE-5719469924C2}"/>
              </a:ext>
            </a:extLst>
          </p:cNvPr>
          <p:cNvSpPr>
            <a:spLocks noGrp="1"/>
          </p:cNvSpPr>
          <p:nvPr>
            <p:ph type="title"/>
          </p:nvPr>
        </p:nvSpPr>
        <p:spPr>
          <a:xfrm>
            <a:off x="838200" y="494521"/>
            <a:ext cx="10515600" cy="1325563"/>
          </a:xfrm>
        </p:spPr>
        <p:txBody>
          <a:bodyPr>
            <a:normAutofit/>
          </a:bodyPr>
          <a:lstStyle/>
          <a:p>
            <a:r>
              <a:rPr lang="en-GB" dirty="0">
                <a:cs typeface="Calibri Light"/>
              </a:rPr>
              <a:t>SCRUMptious? Whet your appetite up to </a:t>
            </a:r>
            <a:r>
              <a:rPr lang="en-GB">
                <a:cs typeface="Calibri Light"/>
              </a:rPr>
              <a:t>some study? </a:t>
            </a:r>
            <a:endParaRPr lang="en-GB" dirty="0">
              <a:cs typeface="Calibri Light"/>
            </a:endParaRPr>
          </a:p>
        </p:txBody>
      </p:sp>
      <p:sp>
        <p:nvSpPr>
          <p:cNvPr id="3" name="Content Placeholder 2">
            <a:extLst>
              <a:ext uri="{FF2B5EF4-FFF2-40B4-BE49-F238E27FC236}">
                <a16:creationId xmlns:a16="http://schemas.microsoft.com/office/drawing/2014/main" id="{8277541F-54E4-9572-3016-BFE23F73526D}"/>
              </a:ext>
            </a:extLst>
          </p:cNvPr>
          <p:cNvSpPr>
            <a:spLocks noGrp="1"/>
          </p:cNvSpPr>
          <p:nvPr>
            <p:ph idx="1"/>
          </p:nvPr>
        </p:nvSpPr>
        <p:spPr>
          <a:xfrm>
            <a:off x="838200" y="1920365"/>
            <a:ext cx="10515600" cy="4820079"/>
          </a:xfrm>
        </p:spPr>
        <p:txBody>
          <a:bodyPr vert="horz" lIns="91440" tIns="45720" rIns="91440" bIns="45720" rtlCol="0" anchor="t">
            <a:normAutofit/>
          </a:bodyPr>
          <a:lstStyle/>
          <a:p>
            <a:r>
              <a:rPr lang="en-US" dirty="0">
                <a:ea typeface="+mn-lt"/>
                <a:cs typeface="+mn-lt"/>
              </a:rPr>
              <a:t>Where do we start? Let's start at the very beginning... In the beginning, there was a need to eat... food... it started simple enough, foraging for small animals, plants... Hit Fast Forward 2 million years... priorities have changed, we start with the '</a:t>
            </a:r>
            <a:r>
              <a:rPr lang="en-US" b="1" dirty="0">
                <a:ea typeface="+mn-lt"/>
                <a:cs typeface="+mn-lt"/>
              </a:rPr>
              <a:t>Product Backlog</a:t>
            </a:r>
            <a:r>
              <a:rPr lang="en-US" dirty="0">
                <a:ea typeface="+mn-lt"/>
                <a:cs typeface="+mn-lt"/>
              </a:rPr>
              <a:t>'</a:t>
            </a:r>
            <a:endParaRPr lang="en-US" dirty="0"/>
          </a:p>
          <a:p>
            <a:r>
              <a:rPr lang="en-US" dirty="0">
                <a:ea typeface="+mn-lt"/>
                <a:cs typeface="+mn-lt"/>
              </a:rPr>
              <a:t>'Product backlog' - The input to the scrum process </a:t>
            </a:r>
            <a:endParaRPr lang="en-US" dirty="0"/>
          </a:p>
          <a:p>
            <a:r>
              <a:rPr lang="en-US" dirty="0">
                <a:ea typeface="Calibri" panose="020F0502020204030204"/>
                <a:cs typeface="Calibri"/>
              </a:rPr>
              <a:t>Product backlog is a list of to-do items that are needed for the product</a:t>
            </a:r>
          </a:p>
          <a:p>
            <a:pPr marL="0" indent="0">
              <a:buNone/>
            </a:pPr>
            <a:endParaRPr lang="en-US" dirty="0">
              <a:ea typeface="Calibri" panose="020F0502020204030204"/>
              <a:cs typeface="Calibri"/>
            </a:endParaRPr>
          </a:p>
          <a:p>
            <a:r>
              <a:rPr lang="en-US" dirty="0">
                <a:ea typeface="Calibri" panose="020F0502020204030204"/>
                <a:cs typeface="Calibri"/>
              </a:rPr>
              <a:t>Okay, this is not working, let me try another approach – let's look at an image explaining the overall scrum ideology</a:t>
            </a:r>
          </a:p>
          <a:p>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D67AD1F-A47B-FB9E-A9FD-308F194924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A6042B9-85A7-21EC-1B25-85FC8F7BDF74}"/>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015F13C4-5A08-6E5D-B987-75F1E94B654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6513030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FD1AC-15A6-90AE-3B18-B7EC48B8F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705F12-B5C4-E17E-DB60-C4862BDA50FB}"/>
              </a:ext>
            </a:extLst>
          </p:cNvPr>
          <p:cNvSpPr>
            <a:spLocks noGrp="1"/>
          </p:cNvSpPr>
          <p:nvPr>
            <p:ph type="title"/>
          </p:nvPr>
        </p:nvSpPr>
        <p:spPr/>
        <p:txBody>
          <a:bodyPr/>
          <a:lstStyle/>
          <a:p>
            <a:r>
              <a:rPr lang="en-GB" dirty="0">
                <a:cs typeface="Calibri Light"/>
              </a:rPr>
              <a:t>Scrum process flow (Pressman, pg. 78)</a:t>
            </a:r>
            <a:endParaRPr lang="en-US" dirty="0"/>
          </a:p>
        </p:txBody>
      </p:sp>
      <p:pic>
        <p:nvPicPr>
          <p:cNvPr id="6" name="Picture 5" descr="A black and white logo&#10;&#10;Description automatically generated">
            <a:extLst>
              <a:ext uri="{FF2B5EF4-FFF2-40B4-BE49-F238E27FC236}">
                <a16:creationId xmlns:a16="http://schemas.microsoft.com/office/drawing/2014/main" id="{ED34AA60-E417-2574-2CF2-C51684611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5BBE561-223D-88C2-3ADF-C9D75A396048}"/>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31B01345-CDCE-8170-2DF9-E0AE1AA9D816}"/>
              </a:ext>
            </a:extLst>
          </p:cNvPr>
          <p:cNvSpPr>
            <a:spLocks noGrp="1"/>
          </p:cNvSpPr>
          <p:nvPr>
            <p:ph type="ftr" sz="quarter" idx="11"/>
          </p:nvPr>
        </p:nvSpPr>
        <p:spPr/>
        <p:txBody>
          <a:bodyPr/>
          <a:lstStyle/>
          <a:p>
            <a:r>
              <a:rPr lang="en-US"/>
              <a:t>Software Engineering</a:t>
            </a:r>
          </a:p>
        </p:txBody>
      </p:sp>
      <p:pic>
        <p:nvPicPr>
          <p:cNvPr id="3" name="Picture 2" descr="A diagram of a product backlog&#10;&#10;AI-generated content may be incorrect.">
            <a:extLst>
              <a:ext uri="{FF2B5EF4-FFF2-40B4-BE49-F238E27FC236}">
                <a16:creationId xmlns:a16="http://schemas.microsoft.com/office/drawing/2014/main" id="{AE39545E-45A9-0428-5DC8-C670D9475A18}"/>
              </a:ext>
            </a:extLst>
          </p:cNvPr>
          <p:cNvPicPr>
            <a:picLocks noChangeAspect="1"/>
          </p:cNvPicPr>
          <p:nvPr/>
        </p:nvPicPr>
        <p:blipFill>
          <a:blip r:embed="rId4"/>
          <a:stretch>
            <a:fillRect/>
          </a:stretch>
        </p:blipFill>
        <p:spPr>
          <a:xfrm>
            <a:off x="2048774" y="1357852"/>
            <a:ext cx="8741433" cy="5493768"/>
          </a:xfrm>
          <a:prstGeom prst="rect">
            <a:avLst/>
          </a:prstGeom>
        </p:spPr>
      </p:pic>
    </p:spTree>
    <p:extLst>
      <p:ext uri="{BB962C8B-B14F-4D97-AF65-F5344CB8AC3E}">
        <p14:creationId xmlns:p14="http://schemas.microsoft.com/office/powerpoint/2010/main" val="1676810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4D81-8F15-8A8C-8591-ADF36828D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40C29-225E-9AE5-73E7-EA348BB69072}"/>
              </a:ext>
            </a:extLst>
          </p:cNvPr>
          <p:cNvSpPr>
            <a:spLocks noGrp="1"/>
          </p:cNvSpPr>
          <p:nvPr>
            <p:ph type="title"/>
          </p:nvPr>
        </p:nvSpPr>
        <p:spPr/>
        <p:txBody>
          <a:bodyPr/>
          <a:lstStyle/>
          <a:p>
            <a:r>
              <a:rPr lang="en-GB">
                <a:cs typeface="Calibri Light"/>
              </a:rPr>
              <a:t>SCRUM – Setting the environment</a:t>
            </a:r>
            <a:endParaRPr lang="en-GB">
              <a:ea typeface="Calibri Light"/>
              <a:cs typeface="Calibri Light"/>
            </a:endParaRPr>
          </a:p>
        </p:txBody>
      </p:sp>
      <p:sp>
        <p:nvSpPr>
          <p:cNvPr id="3" name="Content Placeholder 2">
            <a:extLst>
              <a:ext uri="{FF2B5EF4-FFF2-40B4-BE49-F238E27FC236}">
                <a16:creationId xmlns:a16="http://schemas.microsoft.com/office/drawing/2014/main" id="{F50A31C5-2462-D107-C762-6BAEA8D4E55C}"/>
              </a:ext>
            </a:extLst>
          </p:cNvPr>
          <p:cNvSpPr>
            <a:spLocks noGrp="1"/>
          </p:cNvSpPr>
          <p:nvPr>
            <p:ph idx="1"/>
          </p:nvPr>
        </p:nvSpPr>
        <p:spPr>
          <a:xfrm>
            <a:off x="838200" y="1704705"/>
            <a:ext cx="10515600" cy="4820079"/>
          </a:xfrm>
        </p:spPr>
        <p:txBody>
          <a:bodyPr vert="horz" lIns="91440" tIns="45720" rIns="91440" bIns="45720" rtlCol="0" anchor="t">
            <a:normAutofit/>
          </a:bodyPr>
          <a:lstStyle/>
          <a:p>
            <a:r>
              <a:rPr lang="en-US">
                <a:ea typeface="Calibri" panose="020F0502020204030204"/>
                <a:cs typeface="Calibri"/>
              </a:rPr>
              <a:t>Roles – Product owner, Scrum Master, Team</a:t>
            </a:r>
            <a:endParaRPr lang="en-US" dirty="0">
              <a:ea typeface="Calibri" panose="020F0502020204030204"/>
              <a:cs typeface="Calibri"/>
            </a:endParaRPr>
          </a:p>
          <a:p>
            <a:endParaRPr lang="en-US" dirty="0">
              <a:ea typeface="Calibri" panose="020F0502020204030204"/>
              <a:cs typeface="Calibri"/>
            </a:endParaRPr>
          </a:p>
          <a:p>
            <a:r>
              <a:rPr lang="en-US">
                <a:ea typeface="Calibri" panose="020F0502020204030204"/>
                <a:cs typeface="Calibri"/>
              </a:rPr>
              <a:t>Ceremonies – Sprint planning, Sprint review, Sprint retrospective, Daily Scrum meeting</a:t>
            </a:r>
            <a:endParaRPr lang="en-US" dirty="0">
              <a:ea typeface="Calibri" panose="020F0502020204030204"/>
              <a:cs typeface="Calibri"/>
            </a:endParaRPr>
          </a:p>
          <a:p>
            <a:endParaRPr lang="en-US" dirty="0">
              <a:ea typeface="Calibri" panose="020F0502020204030204"/>
              <a:cs typeface="Calibri"/>
            </a:endParaRPr>
          </a:p>
          <a:p>
            <a:r>
              <a:rPr lang="en-US">
                <a:ea typeface="Calibri" panose="020F0502020204030204"/>
                <a:cs typeface="Calibri"/>
              </a:rPr>
              <a:t>Artifacts – Product backlog, Sprint backlog, Burndown chart</a:t>
            </a:r>
            <a:endParaRPr lang="en-US" dirty="0">
              <a:ea typeface="Calibri" panose="020F0502020204030204"/>
              <a:cs typeface="Calibri"/>
            </a:endParaRPr>
          </a:p>
          <a:p>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DE20B54-33BB-BD3D-D62A-86F138831A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E20E359-8761-F0AD-5FF1-1A0690EBF1A4}"/>
              </a:ext>
            </a:extLst>
          </p:cNvPr>
          <p:cNvSpPr>
            <a:spLocks noGrp="1"/>
          </p:cNvSpPr>
          <p:nvPr>
            <p:ph type="sldNum" sz="quarter" idx="12"/>
          </p:nvPr>
        </p:nvSpPr>
        <p:spPr/>
        <p:txBody>
          <a:bodyPr/>
          <a:lstStyle/>
          <a:p>
            <a:fld id="{008559AE-1842-40A5-A2A9-0518F39FD1A9}" type="slidenum">
              <a:rPr lang="en-US" smtClean="0"/>
              <a:t>41</a:t>
            </a:fld>
            <a:endParaRPr lang="en-GB"/>
          </a:p>
        </p:txBody>
      </p:sp>
      <p:sp>
        <p:nvSpPr>
          <p:cNvPr id="7" name="Footer Placeholder 6">
            <a:extLst>
              <a:ext uri="{FF2B5EF4-FFF2-40B4-BE49-F238E27FC236}">
                <a16:creationId xmlns:a16="http://schemas.microsoft.com/office/drawing/2014/main" id="{D4786983-7261-1677-5FB7-006BAAE7B3AF}"/>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B8A552F9-0648-50A3-316F-33B99A9DF752}"/>
              </a:ext>
            </a:extLst>
          </p:cNvPr>
          <p:cNvSpPr txBox="1"/>
          <p:nvPr/>
        </p:nvSpPr>
        <p:spPr>
          <a:xfrm>
            <a:off x="5112" y="5657330"/>
            <a:ext cx="50812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A lot of  sprinting around! Very healthy!</a:t>
            </a:r>
          </a:p>
          <a:p>
            <a:br>
              <a:rPr lang="en-GB" dirty="0">
                <a:ea typeface="Calibri"/>
                <a:cs typeface="Calibri"/>
              </a:rPr>
            </a:br>
            <a:r>
              <a:rPr lang="en-GB" dirty="0">
                <a:ea typeface="Calibri"/>
                <a:cs typeface="Calibri"/>
              </a:rPr>
              <a:t>A sprint is nothing but a period (of time), where some pre-defined tasks are completed.</a:t>
            </a:r>
            <a:endParaRPr lang="en-GB">
              <a:ea typeface="Calibri"/>
              <a:cs typeface="Calibri"/>
            </a:endParaRPr>
          </a:p>
        </p:txBody>
      </p:sp>
      <p:sp>
        <p:nvSpPr>
          <p:cNvPr id="5" name="TextBox 4">
            <a:extLst>
              <a:ext uri="{FF2B5EF4-FFF2-40B4-BE49-F238E27FC236}">
                <a16:creationId xmlns:a16="http://schemas.microsoft.com/office/drawing/2014/main" id="{06669C28-450C-F3A7-8961-52D4D1900140}"/>
              </a:ext>
            </a:extLst>
          </p:cNvPr>
          <p:cNvSpPr txBox="1"/>
          <p:nvPr/>
        </p:nvSpPr>
        <p:spPr>
          <a:xfrm>
            <a:off x="7734059" y="4821206"/>
            <a:ext cx="4487333"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Some people tend to use the term 'Sprint Meeting', however, in reality, there is no 'sprint meeting' and instead sprint planning (what to do in a sprint), sprint review (what did we build) and sprint retrospective (how did we build, how was our process) are various meetings that happen during a sprint.</a:t>
            </a:r>
          </a:p>
        </p:txBody>
      </p:sp>
    </p:spTree>
    <p:extLst>
      <p:ext uri="{BB962C8B-B14F-4D97-AF65-F5344CB8AC3E}">
        <p14:creationId xmlns:p14="http://schemas.microsoft.com/office/powerpoint/2010/main" val="7974378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CB0DB-B1E9-7194-2A45-268C7AC73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705EB8-53A8-9BFA-E86E-08C947C45B02}"/>
              </a:ext>
            </a:extLst>
          </p:cNvPr>
          <p:cNvSpPr>
            <a:spLocks noGrp="1"/>
          </p:cNvSpPr>
          <p:nvPr>
            <p:ph type="title"/>
          </p:nvPr>
        </p:nvSpPr>
        <p:spPr/>
        <p:txBody>
          <a:bodyPr/>
          <a:lstStyle/>
          <a:p>
            <a:r>
              <a:rPr lang="en-GB">
                <a:cs typeface="Calibri Light"/>
              </a:rPr>
              <a:t>SCRUM – Roles</a:t>
            </a:r>
            <a:endParaRPr lang="en-GB">
              <a:ea typeface="Calibri Light"/>
              <a:cs typeface="Calibri Light"/>
            </a:endParaRPr>
          </a:p>
        </p:txBody>
      </p:sp>
      <p:sp>
        <p:nvSpPr>
          <p:cNvPr id="3" name="Content Placeholder 2">
            <a:extLst>
              <a:ext uri="{FF2B5EF4-FFF2-40B4-BE49-F238E27FC236}">
                <a16:creationId xmlns:a16="http://schemas.microsoft.com/office/drawing/2014/main" id="{92B08754-CB2F-1371-C199-43B827089422}"/>
              </a:ext>
            </a:extLst>
          </p:cNvPr>
          <p:cNvSpPr>
            <a:spLocks noGrp="1"/>
          </p:cNvSpPr>
          <p:nvPr>
            <p:ph idx="1"/>
          </p:nvPr>
        </p:nvSpPr>
        <p:spPr>
          <a:xfrm>
            <a:off x="838200" y="1704705"/>
            <a:ext cx="10515600" cy="4820079"/>
          </a:xfrm>
        </p:spPr>
        <p:txBody>
          <a:bodyPr vert="horz" lIns="91440" tIns="45720" rIns="91440" bIns="45720" rtlCol="0" anchor="t">
            <a:normAutofit/>
          </a:bodyPr>
          <a:lstStyle/>
          <a:p>
            <a:r>
              <a:rPr lang="en-US" dirty="0">
                <a:ea typeface="Calibri" panose="020F0502020204030204"/>
                <a:cs typeface="Calibri"/>
              </a:rPr>
              <a:t>Product Owner:</a:t>
            </a:r>
            <a:endParaRPr lang="en-US" dirty="0"/>
          </a:p>
          <a:p>
            <a:pPr lvl="2"/>
            <a:r>
              <a:rPr lang="en-US" dirty="0">
                <a:ea typeface="Calibri" panose="020F0502020204030204"/>
                <a:cs typeface="Calibri"/>
              </a:rPr>
              <a:t>Defines product features, release date and content, responsible for profitability of product (ROI), prioritize features, create product backlog</a:t>
            </a:r>
          </a:p>
          <a:p>
            <a:pPr lvl="2"/>
            <a:r>
              <a:rPr lang="en-US" dirty="0">
                <a:ea typeface="Calibri" panose="020F0502020204030204"/>
                <a:cs typeface="Calibri"/>
              </a:rPr>
              <a:t>Primary Point of Contact with the customer (and represents the customer)</a:t>
            </a:r>
          </a:p>
          <a:p>
            <a:r>
              <a:rPr lang="en-US" dirty="0">
                <a:ea typeface="Calibri" panose="020F0502020204030204"/>
                <a:cs typeface="Calibri"/>
              </a:rPr>
              <a:t>Scrum Master:</a:t>
            </a:r>
          </a:p>
          <a:p>
            <a:pPr lvl="2"/>
            <a:r>
              <a:rPr lang="en-US" dirty="0">
                <a:ea typeface="Calibri" panose="020F0502020204030204"/>
                <a:cs typeface="Calibri"/>
              </a:rPr>
              <a:t>Represents management side (and what do managers do – ensure productivity, following of practices, coordination and cooperation)</a:t>
            </a:r>
          </a:p>
          <a:p>
            <a:r>
              <a:rPr lang="en-US" dirty="0">
                <a:ea typeface="Calibri" panose="020F0502020204030204"/>
                <a:cs typeface="Calibri"/>
              </a:rPr>
              <a:t>Scrum Team:</a:t>
            </a:r>
          </a:p>
          <a:p>
            <a:pPr lvl="2"/>
            <a:r>
              <a:rPr lang="en-US" dirty="0">
                <a:ea typeface="Calibri" panose="020F0502020204030204"/>
                <a:cs typeface="Calibri"/>
              </a:rPr>
              <a:t>5 - 10 people (typically), Cross functional (Each member provides a variety of skills - QA, Programmers, UI designers, etc.), Members should be full time (usually), highly collaborative, empowered (team members have the authority to make decisions), transparent (work in the open and understood across all in the team)</a:t>
            </a:r>
          </a:p>
        </p:txBody>
      </p:sp>
      <p:pic>
        <p:nvPicPr>
          <p:cNvPr id="6" name="Picture 5" descr="A black and white logo&#10;&#10;Description automatically generated">
            <a:extLst>
              <a:ext uri="{FF2B5EF4-FFF2-40B4-BE49-F238E27FC236}">
                <a16:creationId xmlns:a16="http://schemas.microsoft.com/office/drawing/2014/main" id="{6BB548E8-58A4-6A70-A201-24AEB707D4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1C68C54-6215-AD5F-1604-37FD01437981}"/>
              </a:ext>
            </a:extLst>
          </p:cNvPr>
          <p:cNvSpPr>
            <a:spLocks noGrp="1"/>
          </p:cNvSpPr>
          <p:nvPr>
            <p:ph type="sldNum" sz="quarter" idx="12"/>
          </p:nvPr>
        </p:nvSpPr>
        <p:spPr/>
        <p:txBody>
          <a:bodyPr/>
          <a:lstStyle/>
          <a:p>
            <a:fld id="{008559AE-1842-40A5-A2A9-0518F39FD1A9}" type="slidenum">
              <a:rPr lang="en-US" smtClean="0"/>
              <a:t>42</a:t>
            </a:fld>
            <a:endParaRPr lang="en-GB"/>
          </a:p>
        </p:txBody>
      </p:sp>
      <p:sp>
        <p:nvSpPr>
          <p:cNvPr id="7" name="Footer Placeholder 6">
            <a:extLst>
              <a:ext uri="{FF2B5EF4-FFF2-40B4-BE49-F238E27FC236}">
                <a16:creationId xmlns:a16="http://schemas.microsoft.com/office/drawing/2014/main" id="{0434B42F-4293-1A20-B5BC-138569C43259}"/>
              </a:ext>
            </a:extLst>
          </p:cNvPr>
          <p:cNvSpPr>
            <a:spLocks noGrp="1"/>
          </p:cNvSpPr>
          <p:nvPr>
            <p:ph type="ftr" sz="quarter" idx="11"/>
          </p:nvPr>
        </p:nvSpPr>
        <p:spPr/>
        <p:txBody>
          <a:bodyPr/>
          <a:lstStyle/>
          <a:p>
            <a:r>
              <a:rPr lang="en-US"/>
              <a:t>Software Engineering</a:t>
            </a:r>
          </a:p>
        </p:txBody>
      </p:sp>
      <p:sp>
        <p:nvSpPr>
          <p:cNvPr id="5" name="TextBox 4">
            <a:extLst>
              <a:ext uri="{FF2B5EF4-FFF2-40B4-BE49-F238E27FC236}">
                <a16:creationId xmlns:a16="http://schemas.microsoft.com/office/drawing/2014/main" id="{5CD7DFAE-970B-042F-D58F-D87CFF248A5F}"/>
              </a:ext>
            </a:extLst>
          </p:cNvPr>
          <p:cNvSpPr txBox="1"/>
          <p:nvPr/>
        </p:nvSpPr>
        <p:spPr>
          <a:xfrm>
            <a:off x="6628601" y="1231341"/>
            <a:ext cx="55033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For more on Product Owner and Scrum Master, refer</a:t>
            </a:r>
          </a:p>
          <a:p>
            <a:r>
              <a:rPr lang="en-GB" dirty="0">
                <a:ea typeface="Calibri"/>
                <a:cs typeface="Calibri"/>
                <a:hlinkClick r:id="rId4"/>
              </a:rPr>
              <a:t>What is a scrum master and their responsibilities?</a:t>
            </a:r>
            <a:endParaRPr lang="en-GB" dirty="0">
              <a:ea typeface="Calibri"/>
              <a:cs typeface="Calibri"/>
            </a:endParaRPr>
          </a:p>
        </p:txBody>
      </p:sp>
    </p:spTree>
    <p:extLst>
      <p:ext uri="{BB962C8B-B14F-4D97-AF65-F5344CB8AC3E}">
        <p14:creationId xmlns:p14="http://schemas.microsoft.com/office/powerpoint/2010/main" val="3490620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C4B8B-7F7E-9F6D-10A9-4C71DB3DC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D62DE-3F5D-CD4F-56FD-C3B89D6E123E}"/>
              </a:ext>
            </a:extLst>
          </p:cNvPr>
          <p:cNvSpPr>
            <a:spLocks noGrp="1"/>
          </p:cNvSpPr>
          <p:nvPr>
            <p:ph type="title"/>
          </p:nvPr>
        </p:nvSpPr>
        <p:spPr/>
        <p:txBody>
          <a:bodyPr/>
          <a:lstStyle/>
          <a:p>
            <a:r>
              <a:rPr lang="en-GB">
                <a:cs typeface="Calibri Light"/>
              </a:rPr>
              <a:t>SCRUM – Artifacts</a:t>
            </a:r>
            <a:endParaRPr lang="en-GB">
              <a:ea typeface="Calibri Light"/>
              <a:cs typeface="Calibri Light"/>
            </a:endParaRPr>
          </a:p>
        </p:txBody>
      </p:sp>
      <p:sp>
        <p:nvSpPr>
          <p:cNvPr id="3" name="Content Placeholder 2">
            <a:extLst>
              <a:ext uri="{FF2B5EF4-FFF2-40B4-BE49-F238E27FC236}">
                <a16:creationId xmlns:a16="http://schemas.microsoft.com/office/drawing/2014/main" id="{2EAFD3EE-7466-CD62-CA5C-9CEFADAE6FAD}"/>
              </a:ext>
            </a:extLst>
          </p:cNvPr>
          <p:cNvSpPr>
            <a:spLocks noGrp="1"/>
          </p:cNvSpPr>
          <p:nvPr>
            <p:ph idx="1"/>
          </p:nvPr>
        </p:nvSpPr>
        <p:spPr>
          <a:xfrm>
            <a:off x="838200" y="1546554"/>
            <a:ext cx="10515600" cy="4820079"/>
          </a:xfrm>
        </p:spPr>
        <p:txBody>
          <a:bodyPr vert="horz" lIns="91440" tIns="45720" rIns="91440" bIns="45720" rtlCol="0" anchor="t">
            <a:normAutofit/>
          </a:bodyPr>
          <a:lstStyle/>
          <a:p>
            <a:r>
              <a:rPr lang="en-US" dirty="0">
                <a:ea typeface="Calibri" panose="020F0502020204030204"/>
                <a:cs typeface="Calibri"/>
              </a:rPr>
              <a:t>Product Backlog:</a:t>
            </a:r>
          </a:p>
          <a:p>
            <a:pPr lvl="1"/>
            <a:r>
              <a:rPr lang="en-US" dirty="0">
                <a:ea typeface="Calibri" panose="020F0502020204030204"/>
                <a:cs typeface="Calibri"/>
              </a:rPr>
              <a:t>"</a:t>
            </a:r>
            <a:r>
              <a:rPr lang="en-US" dirty="0">
                <a:ea typeface="+mn-lt"/>
                <a:cs typeface="+mn-lt"/>
              </a:rPr>
              <a:t>The product backlog is a </a:t>
            </a:r>
            <a:r>
              <a:rPr lang="en-US" dirty="0">
                <a:highlight>
                  <a:srgbClr val="FFFF00"/>
                </a:highlight>
                <a:ea typeface="+mn-lt"/>
                <a:cs typeface="+mn-lt"/>
              </a:rPr>
              <a:t>dynamic, prioritized list of all the features, functions, requirements, enhancements, and fixes</a:t>
            </a:r>
            <a:r>
              <a:rPr lang="en-US" dirty="0">
                <a:ea typeface="+mn-lt"/>
                <a:cs typeface="+mn-lt"/>
              </a:rPr>
              <a:t> necessary for a project.</a:t>
            </a:r>
            <a:r>
              <a:rPr lang="en-US" dirty="0">
                <a:ea typeface="Calibri" panose="020F0502020204030204"/>
                <a:cs typeface="Calibri"/>
              </a:rPr>
              <a:t>"</a:t>
            </a:r>
          </a:p>
          <a:p>
            <a:pPr lvl="1"/>
            <a:r>
              <a:rPr lang="en-US" dirty="0">
                <a:ea typeface="Calibri" panose="020F0502020204030204"/>
                <a:cs typeface="Calibri"/>
              </a:rPr>
              <a:t>"</a:t>
            </a:r>
            <a:r>
              <a:rPr lang="en-US" dirty="0">
                <a:ea typeface="+mn-lt"/>
                <a:cs typeface="+mn-lt"/>
              </a:rPr>
              <a:t>product backlog helps prioritize and organize project requirements</a:t>
            </a:r>
            <a:r>
              <a:rPr lang="en-US" dirty="0">
                <a:ea typeface="Calibri" panose="020F0502020204030204"/>
                <a:cs typeface="Calibri"/>
              </a:rPr>
              <a:t>"</a:t>
            </a:r>
          </a:p>
          <a:p>
            <a:pPr lvl="1"/>
            <a:r>
              <a:rPr lang="en-US" dirty="0">
                <a:ea typeface="Calibri" panose="020F0502020204030204"/>
                <a:cs typeface="Calibri"/>
              </a:rPr>
              <a:t>The list is prioritized by Product Owner</a:t>
            </a:r>
          </a:p>
          <a:p>
            <a:pPr lvl="1"/>
            <a:r>
              <a:rPr lang="en-US" dirty="0">
                <a:ea typeface="Calibri" panose="020F0502020204030204"/>
                <a:cs typeface="Calibri"/>
              </a:rPr>
              <a:t>Usually the list consists of story-based work ("let the user search") and task-based work ("we should handle exceptions")</a:t>
            </a:r>
          </a:p>
          <a:p>
            <a:pPr lvl="1"/>
            <a:r>
              <a:rPr lang="en-US" dirty="0">
                <a:ea typeface="Calibri" panose="020F0502020204030204"/>
                <a:cs typeface="Calibri"/>
              </a:rPr>
              <a:t>Usually created before the 'Sprint planning' meeting</a:t>
            </a:r>
          </a:p>
          <a:p>
            <a:pPr lvl="1"/>
            <a:r>
              <a:rPr lang="en-US" dirty="0">
                <a:ea typeface="Calibri" panose="020F0502020204030204"/>
                <a:cs typeface="Calibri"/>
              </a:rPr>
              <a:t>Can be changed and re-prioritized before each Sprint Planning</a:t>
            </a:r>
          </a:p>
          <a:p>
            <a:pPr lvl="1"/>
            <a:endParaRPr lang="en-US" dirty="0">
              <a:ea typeface="Calibri" panose="020F0502020204030204"/>
              <a:cs typeface="Calibri"/>
            </a:endParaRPr>
          </a:p>
          <a:p>
            <a:pPr lvl="1"/>
            <a:r>
              <a:rPr lang="en-US" dirty="0">
                <a:ea typeface="Calibri" panose="020F0502020204030204"/>
                <a:cs typeface="Calibri"/>
              </a:rPr>
              <a:t>More can be found here: </a:t>
            </a:r>
            <a:r>
              <a:rPr lang="en-US" dirty="0">
                <a:ea typeface="Calibri" panose="020F0502020204030204"/>
                <a:cs typeface="Calibri"/>
                <a:hlinkClick r:id="rId3"/>
              </a:rPr>
              <a:t>Product and Sprint Backlog</a:t>
            </a:r>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3F0B7F9-08C2-24B7-3209-BAAF76FA50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39B2594-572C-56D0-1ACA-25F7FA49378C}"/>
              </a:ext>
            </a:extLst>
          </p:cNvPr>
          <p:cNvSpPr>
            <a:spLocks noGrp="1"/>
          </p:cNvSpPr>
          <p:nvPr>
            <p:ph type="sldNum" sz="quarter" idx="12"/>
          </p:nvPr>
        </p:nvSpPr>
        <p:spPr/>
        <p:txBody>
          <a:bodyPr/>
          <a:lstStyle/>
          <a:p>
            <a:fld id="{008559AE-1842-40A5-A2A9-0518F39FD1A9}" type="slidenum">
              <a:rPr lang="en-US" smtClean="0"/>
              <a:t>43</a:t>
            </a:fld>
            <a:endParaRPr lang="en-GB"/>
          </a:p>
        </p:txBody>
      </p:sp>
      <p:sp>
        <p:nvSpPr>
          <p:cNvPr id="7" name="Footer Placeholder 6">
            <a:extLst>
              <a:ext uri="{FF2B5EF4-FFF2-40B4-BE49-F238E27FC236}">
                <a16:creationId xmlns:a16="http://schemas.microsoft.com/office/drawing/2014/main" id="{DF0D6FF1-108C-307E-11D1-E7F83053B30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706956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6D051-71DD-0038-FE8E-22D0BD65C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DFF82-8108-C540-5E4A-E7FC5E8A64EE}"/>
              </a:ext>
            </a:extLst>
          </p:cNvPr>
          <p:cNvSpPr>
            <a:spLocks noGrp="1"/>
          </p:cNvSpPr>
          <p:nvPr>
            <p:ph type="title"/>
          </p:nvPr>
        </p:nvSpPr>
        <p:spPr/>
        <p:txBody>
          <a:bodyPr/>
          <a:lstStyle/>
          <a:p>
            <a:r>
              <a:rPr lang="en-GB">
                <a:cs typeface="Calibri Light"/>
              </a:rPr>
              <a:t>SCRUM – Artifacts</a:t>
            </a:r>
            <a:endParaRPr lang="en-GB">
              <a:ea typeface="Calibri Light"/>
              <a:cs typeface="Calibri Light"/>
            </a:endParaRPr>
          </a:p>
        </p:txBody>
      </p:sp>
      <p:sp>
        <p:nvSpPr>
          <p:cNvPr id="3" name="Content Placeholder 2">
            <a:extLst>
              <a:ext uri="{FF2B5EF4-FFF2-40B4-BE49-F238E27FC236}">
                <a16:creationId xmlns:a16="http://schemas.microsoft.com/office/drawing/2014/main" id="{4FAB4FD6-0E19-3065-0954-433C715AEAB7}"/>
              </a:ext>
            </a:extLst>
          </p:cNvPr>
          <p:cNvSpPr>
            <a:spLocks noGrp="1"/>
          </p:cNvSpPr>
          <p:nvPr>
            <p:ph idx="1"/>
          </p:nvPr>
        </p:nvSpPr>
        <p:spPr>
          <a:xfrm>
            <a:off x="838200" y="1546554"/>
            <a:ext cx="10515600" cy="4820079"/>
          </a:xfrm>
        </p:spPr>
        <p:txBody>
          <a:bodyPr vert="horz" lIns="91440" tIns="45720" rIns="91440" bIns="45720" rtlCol="0" anchor="t">
            <a:normAutofit/>
          </a:bodyPr>
          <a:lstStyle/>
          <a:p>
            <a:r>
              <a:rPr lang="en-US" dirty="0">
                <a:ea typeface="Calibri" panose="020F0502020204030204"/>
                <a:cs typeface="Calibri"/>
              </a:rPr>
              <a:t>Sprint Backlog:</a:t>
            </a:r>
          </a:p>
          <a:p>
            <a:pPr lvl="1"/>
            <a:r>
              <a:rPr lang="en-US" dirty="0">
                <a:ea typeface="+mn-lt"/>
                <a:cs typeface="+mn-lt"/>
              </a:rPr>
              <a:t>It is a </a:t>
            </a:r>
            <a:r>
              <a:rPr lang="en-US" dirty="0">
                <a:highlight>
                  <a:srgbClr val="FFFF00"/>
                </a:highlight>
                <a:ea typeface="+mn-lt"/>
                <a:cs typeface="+mn-lt"/>
              </a:rPr>
              <a:t>curated list of items</a:t>
            </a:r>
            <a:r>
              <a:rPr lang="en-US" dirty="0">
                <a:ea typeface="+mn-lt"/>
                <a:cs typeface="+mn-lt"/>
              </a:rPr>
              <a:t> the development team </a:t>
            </a:r>
            <a:r>
              <a:rPr lang="en-US" dirty="0">
                <a:highlight>
                  <a:srgbClr val="FFFF00"/>
                </a:highlight>
                <a:ea typeface="+mn-lt"/>
                <a:cs typeface="+mn-lt"/>
              </a:rPr>
              <a:t>commits to completing during a sprint</a:t>
            </a:r>
          </a:p>
          <a:p>
            <a:pPr lvl="1"/>
            <a:r>
              <a:rPr lang="en-US" dirty="0">
                <a:ea typeface="Calibri" panose="020F0502020204030204"/>
                <a:cs typeface="Calibri"/>
              </a:rPr>
              <a:t>Breaks down the selected product backlog into actionable tasks that can be taken in a sprint</a:t>
            </a:r>
          </a:p>
          <a:p>
            <a:pPr lvl="1"/>
            <a:r>
              <a:rPr lang="en-US" dirty="0">
                <a:ea typeface="Calibri" panose="020F0502020204030204"/>
                <a:cs typeface="Calibri"/>
              </a:rPr>
              <a:t>Also helps provide a clear sprint plan</a:t>
            </a:r>
          </a:p>
          <a:p>
            <a:pPr lvl="1"/>
            <a:r>
              <a:rPr lang="en-US" dirty="0">
                <a:ea typeface="Calibri" panose="020F0502020204030204"/>
                <a:cs typeface="Calibri"/>
              </a:rPr>
              <a:t>Sprint backlog is usually created during the 'Sprint Planning' meeting</a:t>
            </a:r>
          </a:p>
          <a:p>
            <a:pPr lvl="1"/>
            <a:r>
              <a:rPr lang="en-US" dirty="0">
                <a:ea typeface="Calibri" panose="020F0502020204030204"/>
                <a:cs typeface="Calibri"/>
              </a:rPr>
              <a:t>Is flexible and allows change – can add new tasks to meet goals, remove unnecessary tasks</a:t>
            </a:r>
          </a:p>
          <a:p>
            <a:pPr lvl="1"/>
            <a:r>
              <a:rPr lang="en-US" dirty="0">
                <a:ea typeface="Calibri" panose="020F0502020204030204"/>
                <a:cs typeface="Calibri"/>
              </a:rPr>
              <a:t>Can be updated only by the scrum team</a:t>
            </a:r>
          </a:p>
          <a:p>
            <a:pPr lvl="1"/>
            <a:endParaRPr lang="en-US" dirty="0">
              <a:ea typeface="Calibri" panose="020F0502020204030204"/>
              <a:cs typeface="Calibri"/>
            </a:endParaRPr>
          </a:p>
          <a:p>
            <a:pPr lvl="1"/>
            <a:r>
              <a:rPr lang="en-US" dirty="0">
                <a:ea typeface="Calibri" panose="020F0502020204030204"/>
                <a:cs typeface="Calibri"/>
              </a:rPr>
              <a:t>More can be found here: </a:t>
            </a:r>
            <a:r>
              <a:rPr lang="en-US" dirty="0">
                <a:ea typeface="Calibri" panose="020F0502020204030204"/>
                <a:cs typeface="Calibri"/>
                <a:hlinkClick r:id="rId3"/>
              </a:rPr>
              <a:t>Product and Sprint Backlog</a:t>
            </a:r>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A2B66251-8CE8-E5C4-5CE3-6869D198F7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665CC89-9F6D-841A-054F-7EC72E665667}"/>
              </a:ext>
            </a:extLst>
          </p:cNvPr>
          <p:cNvSpPr>
            <a:spLocks noGrp="1"/>
          </p:cNvSpPr>
          <p:nvPr>
            <p:ph type="sldNum" sz="quarter" idx="12"/>
          </p:nvPr>
        </p:nvSpPr>
        <p:spPr/>
        <p:txBody>
          <a:bodyPr/>
          <a:lstStyle/>
          <a:p>
            <a:fld id="{008559AE-1842-40A5-A2A9-0518F39FD1A9}" type="slidenum">
              <a:rPr lang="en-US" smtClean="0"/>
              <a:t>44</a:t>
            </a:fld>
            <a:endParaRPr lang="en-GB"/>
          </a:p>
        </p:txBody>
      </p:sp>
      <p:sp>
        <p:nvSpPr>
          <p:cNvPr id="7" name="Footer Placeholder 6">
            <a:extLst>
              <a:ext uri="{FF2B5EF4-FFF2-40B4-BE49-F238E27FC236}">
                <a16:creationId xmlns:a16="http://schemas.microsoft.com/office/drawing/2014/main" id="{5C02EAA6-1E4B-3F8E-F018-4A4B47E5853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63286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B2A6-1156-339E-C182-DEF706945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68D12-DA00-E8E8-9503-2D6FED184172}"/>
              </a:ext>
            </a:extLst>
          </p:cNvPr>
          <p:cNvSpPr>
            <a:spLocks noGrp="1"/>
          </p:cNvSpPr>
          <p:nvPr>
            <p:ph type="title"/>
          </p:nvPr>
        </p:nvSpPr>
        <p:spPr/>
        <p:txBody>
          <a:bodyPr/>
          <a:lstStyle/>
          <a:p>
            <a:r>
              <a:rPr lang="en-GB">
                <a:cs typeface="Calibri Light"/>
              </a:rPr>
              <a:t>SCRUM – Artifacts</a:t>
            </a:r>
            <a:endParaRPr lang="en-GB">
              <a:ea typeface="Calibri Light"/>
              <a:cs typeface="Calibri Light"/>
            </a:endParaRPr>
          </a:p>
        </p:txBody>
      </p:sp>
      <p:sp>
        <p:nvSpPr>
          <p:cNvPr id="3" name="Content Placeholder 2">
            <a:extLst>
              <a:ext uri="{FF2B5EF4-FFF2-40B4-BE49-F238E27FC236}">
                <a16:creationId xmlns:a16="http://schemas.microsoft.com/office/drawing/2014/main" id="{05A0ACC7-6129-6485-AE0D-8AFAF3B4B52B}"/>
              </a:ext>
            </a:extLst>
          </p:cNvPr>
          <p:cNvSpPr>
            <a:spLocks noGrp="1"/>
          </p:cNvSpPr>
          <p:nvPr>
            <p:ph idx="1"/>
          </p:nvPr>
        </p:nvSpPr>
        <p:spPr>
          <a:xfrm>
            <a:off x="838200" y="1546554"/>
            <a:ext cx="10515600" cy="4820079"/>
          </a:xfrm>
        </p:spPr>
        <p:txBody>
          <a:bodyPr vert="horz" lIns="91440" tIns="45720" rIns="91440" bIns="45720" rtlCol="0" anchor="t">
            <a:normAutofit/>
          </a:bodyPr>
          <a:lstStyle/>
          <a:p>
            <a:r>
              <a:rPr lang="en-US" dirty="0">
                <a:ea typeface="Calibri" panose="020F0502020204030204"/>
                <a:cs typeface="Calibri"/>
              </a:rPr>
              <a:t>An example of Product backlog and Sprint backlog (the tasks under a product backlog):</a:t>
            </a:r>
          </a:p>
          <a:p>
            <a:pPr marL="0" indent="0">
              <a:buNone/>
            </a:pPr>
            <a:endParaRPr lang="en-US" dirty="0">
              <a:ea typeface="+mn-lt"/>
              <a:cs typeface="+mn-lt"/>
            </a:endParaRPr>
          </a:p>
          <a:p>
            <a:r>
              <a:rPr lang="en-US" b="1" dirty="0">
                <a:ea typeface="+mn-lt"/>
                <a:cs typeface="+mn-lt"/>
              </a:rPr>
              <a:t>1. Redesign the checkout page (Product backlog)</a:t>
            </a:r>
            <a:endParaRPr lang="en-US" dirty="0">
              <a:ea typeface="Calibri" panose="020F0502020204030204"/>
              <a:cs typeface="Calibri"/>
            </a:endParaRPr>
          </a:p>
          <a:p>
            <a:pPr lvl="1"/>
            <a:r>
              <a:rPr lang="en-US" dirty="0">
                <a:ea typeface="+mn-lt"/>
                <a:cs typeface="+mn-lt"/>
              </a:rPr>
              <a:t>Task 1.1: Conduct user research to identify pain points (Assigned: User experience researcher, eight hours)</a:t>
            </a:r>
            <a:endParaRPr lang="en-US" dirty="0">
              <a:ea typeface="Calibri"/>
              <a:cs typeface="Calibri"/>
            </a:endParaRPr>
          </a:p>
          <a:p>
            <a:pPr lvl="1"/>
            <a:r>
              <a:rPr lang="en-US" dirty="0">
                <a:ea typeface="+mn-lt"/>
                <a:cs typeface="+mn-lt"/>
              </a:rPr>
              <a:t>Task 1.2: Create wireframes (Assigned: UI designer, 16 hours)</a:t>
            </a:r>
            <a:endParaRPr lang="en-US" dirty="0">
              <a:ea typeface="Calibri" panose="020F0502020204030204"/>
              <a:cs typeface="Calibri" panose="020F0502020204030204"/>
            </a:endParaRPr>
          </a:p>
          <a:p>
            <a:pPr lvl="1"/>
            <a:r>
              <a:rPr lang="en-US" dirty="0">
                <a:ea typeface="+mn-lt"/>
                <a:cs typeface="+mn-lt"/>
              </a:rPr>
              <a:t>Task 1.3: Develop frontend code (Assigned: Frontend developer, 24 hours)</a:t>
            </a:r>
            <a:endParaRPr lang="en-US" dirty="0">
              <a:ea typeface="Calibri" panose="020F0502020204030204"/>
              <a:cs typeface="Calibri" panose="020F0502020204030204"/>
            </a:endParaRPr>
          </a:p>
          <a:p>
            <a:pPr lvl="1"/>
            <a:r>
              <a:rPr lang="en-US" dirty="0">
                <a:ea typeface="+mn-lt"/>
                <a:cs typeface="+mn-lt"/>
              </a:rPr>
              <a:t>Task 1.4: Integrate with backend (Assigned: Backend developer, 16 hours)</a:t>
            </a:r>
            <a:endParaRPr lang="en-US" dirty="0">
              <a:ea typeface="Calibri" panose="020F0502020204030204"/>
              <a:cs typeface="Calibri" panose="020F0502020204030204"/>
            </a:endParaRPr>
          </a:p>
          <a:p>
            <a:pPr lvl="1"/>
            <a:r>
              <a:rPr lang="en-US" dirty="0">
                <a:ea typeface="+mn-lt"/>
                <a:cs typeface="+mn-lt"/>
              </a:rPr>
              <a:t>Task 1.5: Conduct usability testing (Assigned: QA engineer, eight hours)</a:t>
            </a:r>
            <a:endParaRPr lang="en-US" dirty="0">
              <a:ea typeface="Calibri" panose="020F0502020204030204"/>
              <a:cs typeface="Calibri"/>
            </a:endParaRPr>
          </a:p>
          <a:p>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A39FEFF-2990-B2C8-B620-335291997A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1292385-32CC-2666-5204-74D8B57CB958}"/>
              </a:ext>
            </a:extLst>
          </p:cNvPr>
          <p:cNvSpPr>
            <a:spLocks noGrp="1"/>
          </p:cNvSpPr>
          <p:nvPr>
            <p:ph type="sldNum" sz="quarter" idx="12"/>
          </p:nvPr>
        </p:nvSpPr>
        <p:spPr/>
        <p:txBody>
          <a:bodyPr/>
          <a:lstStyle/>
          <a:p>
            <a:fld id="{008559AE-1842-40A5-A2A9-0518F39FD1A9}" type="slidenum">
              <a:rPr lang="en-US" smtClean="0"/>
              <a:t>45</a:t>
            </a:fld>
            <a:endParaRPr lang="en-GB"/>
          </a:p>
        </p:txBody>
      </p:sp>
      <p:sp>
        <p:nvSpPr>
          <p:cNvPr id="7" name="Footer Placeholder 6">
            <a:extLst>
              <a:ext uri="{FF2B5EF4-FFF2-40B4-BE49-F238E27FC236}">
                <a16:creationId xmlns:a16="http://schemas.microsoft.com/office/drawing/2014/main" id="{9BB1C46A-3A6A-776D-74D1-BB9891FA345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68204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D7BED-95A3-1D54-451B-4348C4EB0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B145F-F6D3-1E47-3D94-C866620424E4}"/>
              </a:ext>
            </a:extLst>
          </p:cNvPr>
          <p:cNvSpPr>
            <a:spLocks noGrp="1"/>
          </p:cNvSpPr>
          <p:nvPr>
            <p:ph type="title"/>
          </p:nvPr>
        </p:nvSpPr>
        <p:spPr/>
        <p:txBody>
          <a:bodyPr/>
          <a:lstStyle/>
          <a:p>
            <a:r>
              <a:rPr lang="en-GB">
                <a:cs typeface="Calibri Light"/>
              </a:rPr>
              <a:t>SCRUM – Artifacts</a:t>
            </a:r>
            <a:endParaRPr lang="en-GB">
              <a:ea typeface="Calibri Light"/>
              <a:cs typeface="Calibri Light"/>
            </a:endParaRPr>
          </a:p>
        </p:txBody>
      </p:sp>
      <p:sp>
        <p:nvSpPr>
          <p:cNvPr id="3" name="Content Placeholder 2">
            <a:extLst>
              <a:ext uri="{FF2B5EF4-FFF2-40B4-BE49-F238E27FC236}">
                <a16:creationId xmlns:a16="http://schemas.microsoft.com/office/drawing/2014/main" id="{1BC44E7B-B392-E0E3-8B76-C04844F512CA}"/>
              </a:ext>
            </a:extLst>
          </p:cNvPr>
          <p:cNvSpPr>
            <a:spLocks noGrp="1"/>
          </p:cNvSpPr>
          <p:nvPr>
            <p:ph idx="1"/>
          </p:nvPr>
        </p:nvSpPr>
        <p:spPr>
          <a:xfrm>
            <a:off x="838200" y="1546554"/>
            <a:ext cx="10515600" cy="4820079"/>
          </a:xfrm>
        </p:spPr>
        <p:txBody>
          <a:bodyPr vert="horz" lIns="91440" tIns="45720" rIns="91440" bIns="45720" rtlCol="0" anchor="t">
            <a:normAutofit/>
          </a:bodyPr>
          <a:lstStyle/>
          <a:p>
            <a:r>
              <a:rPr lang="en-US">
                <a:ea typeface="Calibri" panose="020F0502020204030204"/>
                <a:cs typeface="Calibri"/>
              </a:rPr>
              <a:t>Differences between product and sprint backlogs</a:t>
            </a:r>
            <a:endParaRPr lang="en-US"/>
          </a:p>
          <a:p>
            <a:pPr marL="0" indent="0">
              <a:buNone/>
            </a:pPr>
            <a:endParaRPr lang="en-US" dirty="0">
              <a:ea typeface="+mn-lt"/>
              <a:cs typeface="+mn-lt"/>
            </a:endParaRPr>
          </a:p>
          <a:p>
            <a:pPr marL="0" indent="0">
              <a:buNone/>
            </a:pPr>
            <a:endParaRPr lang="en-US" dirty="0">
              <a:ea typeface="Calibri"/>
              <a:cs typeface="Calibri"/>
            </a:endParaRPr>
          </a:p>
          <a:p>
            <a:pPr lvl="1">
              <a:buFont typeface="Courier New" panose="020B0604020202020204" pitchFamily="34" charset="0"/>
              <a:buChar char="o"/>
            </a:pPr>
            <a:endParaRPr lang="en-US">
              <a:ea typeface="Calibri"/>
              <a:cs typeface="Calibri"/>
            </a:endParaRPr>
          </a:p>
          <a:p>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C543A89-2C85-36F0-3F13-D8B1317BA5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C61214D-1210-10BE-EF29-8FA3C8DF890C}"/>
              </a:ext>
            </a:extLst>
          </p:cNvPr>
          <p:cNvSpPr>
            <a:spLocks noGrp="1"/>
          </p:cNvSpPr>
          <p:nvPr>
            <p:ph type="sldNum" sz="quarter" idx="12"/>
          </p:nvPr>
        </p:nvSpPr>
        <p:spPr/>
        <p:txBody>
          <a:bodyPr/>
          <a:lstStyle/>
          <a:p>
            <a:fld id="{008559AE-1842-40A5-A2A9-0518F39FD1A9}" type="slidenum">
              <a:rPr lang="en-US" smtClean="0"/>
              <a:t>46</a:t>
            </a:fld>
            <a:endParaRPr lang="en-GB"/>
          </a:p>
        </p:txBody>
      </p:sp>
      <p:sp>
        <p:nvSpPr>
          <p:cNvPr id="7" name="Footer Placeholder 6">
            <a:extLst>
              <a:ext uri="{FF2B5EF4-FFF2-40B4-BE49-F238E27FC236}">
                <a16:creationId xmlns:a16="http://schemas.microsoft.com/office/drawing/2014/main" id="{9A840248-DCC4-6DB0-4981-9D3C1493993F}"/>
              </a:ext>
            </a:extLst>
          </p:cNvPr>
          <p:cNvSpPr>
            <a:spLocks noGrp="1"/>
          </p:cNvSpPr>
          <p:nvPr>
            <p:ph type="ftr" sz="quarter" idx="11"/>
          </p:nvPr>
        </p:nvSpPr>
        <p:spPr/>
        <p:txBody>
          <a:bodyPr/>
          <a:lstStyle/>
          <a:p>
            <a:r>
              <a:rPr lang="en-US"/>
              <a:t>Software Engineering</a:t>
            </a:r>
          </a:p>
        </p:txBody>
      </p:sp>
      <p:graphicFrame>
        <p:nvGraphicFramePr>
          <p:cNvPr id="5" name="Table 4">
            <a:extLst>
              <a:ext uri="{FF2B5EF4-FFF2-40B4-BE49-F238E27FC236}">
                <a16:creationId xmlns:a16="http://schemas.microsoft.com/office/drawing/2014/main" id="{D294E899-AF40-C57B-2F58-55B254AA6E5B}"/>
              </a:ext>
            </a:extLst>
          </p:cNvPr>
          <p:cNvGraphicFramePr>
            <a:graphicFrameLocks noGrp="1"/>
          </p:cNvGraphicFramePr>
          <p:nvPr>
            <p:extLst>
              <p:ext uri="{D42A27DB-BD31-4B8C-83A1-F6EECF244321}">
                <p14:modId xmlns:p14="http://schemas.microsoft.com/office/powerpoint/2010/main" val="3288966924"/>
              </p:ext>
            </p:extLst>
          </p:nvPr>
        </p:nvGraphicFramePr>
        <p:xfrm>
          <a:off x="1869056" y="2242867"/>
          <a:ext cx="8437599" cy="4149062"/>
        </p:xfrm>
        <a:graphic>
          <a:graphicData uri="http://schemas.openxmlformats.org/drawingml/2006/table">
            <a:tbl>
              <a:tblPr firstRow="1" bandRow="1">
                <a:tableStyleId>{5940675A-B579-460E-94D1-54222C63F5DA}</a:tableStyleId>
              </a:tblPr>
              <a:tblGrid>
                <a:gridCol w="2812533">
                  <a:extLst>
                    <a:ext uri="{9D8B030D-6E8A-4147-A177-3AD203B41FA5}">
                      <a16:colId xmlns:a16="http://schemas.microsoft.com/office/drawing/2014/main" val="2753759619"/>
                    </a:ext>
                  </a:extLst>
                </a:gridCol>
                <a:gridCol w="2812533">
                  <a:extLst>
                    <a:ext uri="{9D8B030D-6E8A-4147-A177-3AD203B41FA5}">
                      <a16:colId xmlns:a16="http://schemas.microsoft.com/office/drawing/2014/main" val="1495169442"/>
                    </a:ext>
                  </a:extLst>
                </a:gridCol>
                <a:gridCol w="2812533">
                  <a:extLst>
                    <a:ext uri="{9D8B030D-6E8A-4147-A177-3AD203B41FA5}">
                      <a16:colId xmlns:a16="http://schemas.microsoft.com/office/drawing/2014/main" val="1237997836"/>
                    </a:ext>
                  </a:extLst>
                </a:gridCol>
              </a:tblGrid>
              <a:tr h="403411">
                <a:tc>
                  <a:txBody>
                    <a:bodyPr/>
                    <a:lstStyle/>
                    <a:p>
                      <a:endParaRPr lang="en-GB"/>
                    </a:p>
                  </a:txBody>
                  <a:tcPr/>
                </a:tc>
                <a:tc>
                  <a:txBody>
                    <a:bodyPr/>
                    <a:lstStyle/>
                    <a:p>
                      <a:r>
                        <a:rPr lang="en-GB"/>
                        <a:t>Product Backlog</a:t>
                      </a:r>
                    </a:p>
                  </a:txBody>
                  <a:tcPr/>
                </a:tc>
                <a:tc>
                  <a:txBody>
                    <a:bodyPr/>
                    <a:lstStyle/>
                    <a:p>
                      <a:r>
                        <a:rPr lang="en-GB"/>
                        <a:t>Sprint Backlog</a:t>
                      </a:r>
                    </a:p>
                  </a:txBody>
                  <a:tcPr/>
                </a:tc>
                <a:extLst>
                  <a:ext uri="{0D108BD9-81ED-4DB2-BD59-A6C34878D82A}">
                    <a16:rowId xmlns:a16="http://schemas.microsoft.com/office/drawing/2014/main" val="3829594417"/>
                  </a:ext>
                </a:extLst>
              </a:tr>
              <a:tr h="1141558">
                <a:tc>
                  <a:txBody>
                    <a:bodyPr/>
                    <a:lstStyle/>
                    <a:p>
                      <a:r>
                        <a:rPr lang="en-GB"/>
                        <a:t>Scope and Purpose</a:t>
                      </a:r>
                    </a:p>
                  </a:txBody>
                  <a:tcPr/>
                </a:tc>
                <a:tc>
                  <a:txBody>
                    <a:bodyPr/>
                    <a:lstStyle/>
                    <a:p>
                      <a:pPr lvl="0">
                        <a:buNone/>
                      </a:pPr>
                      <a:r>
                        <a:rPr lang="en-GB" sz="1800" b="0" i="0" u="none" strike="noStrike" noProof="0">
                          <a:latin typeface="Calibri"/>
                        </a:rPr>
                        <a:t>long-term, prioritized list of all features, enhancements, and fixes necessary for the product</a:t>
                      </a:r>
                      <a:endParaRPr lang="en-US"/>
                    </a:p>
                  </a:txBody>
                  <a:tcPr/>
                </a:tc>
                <a:tc>
                  <a:txBody>
                    <a:bodyPr/>
                    <a:lstStyle/>
                    <a:p>
                      <a:pPr lvl="0">
                        <a:buNone/>
                      </a:pPr>
                      <a:r>
                        <a:rPr lang="en-GB" sz="1800" b="0" i="0" u="none" strike="noStrike" noProof="0">
                          <a:latin typeface="Calibri"/>
                        </a:rPr>
                        <a:t>subset of the product backlog. It focuses on the tasks and goals necessary to complete within a single sprint and provides a detailed, short-term plan</a:t>
                      </a:r>
                      <a:endParaRPr lang="en-US"/>
                    </a:p>
                  </a:txBody>
                  <a:tcPr/>
                </a:tc>
                <a:extLst>
                  <a:ext uri="{0D108BD9-81ED-4DB2-BD59-A6C34878D82A}">
                    <a16:rowId xmlns:a16="http://schemas.microsoft.com/office/drawing/2014/main" val="3713069023"/>
                  </a:ext>
                </a:extLst>
              </a:tr>
              <a:tr h="795866">
                <a:tc>
                  <a:txBody>
                    <a:bodyPr/>
                    <a:lstStyle/>
                    <a:p>
                      <a:r>
                        <a:rPr lang="en-GB"/>
                        <a:t>Ownership and Responsibility</a:t>
                      </a:r>
                    </a:p>
                  </a:txBody>
                  <a:tcPr/>
                </a:tc>
                <a:tc>
                  <a:txBody>
                    <a:bodyPr/>
                    <a:lstStyle/>
                    <a:p>
                      <a:pPr lvl="0">
                        <a:buNone/>
                      </a:pPr>
                      <a:r>
                        <a:rPr lang="en-GB" sz="1600" b="0" i="0" u="none" strike="noStrike" baseline="0" noProof="0">
                          <a:solidFill>
                            <a:schemeClr val="tx1"/>
                          </a:solidFill>
                          <a:latin typeface="Calibri"/>
                        </a:rPr>
                        <a:t>product owner owns and manages the product backlog</a:t>
                      </a:r>
                      <a:endParaRPr lang="en-US" baseline="0">
                        <a:solidFill>
                          <a:schemeClr val="tx1"/>
                        </a:solidFill>
                        <a:latin typeface="Calibri"/>
                      </a:endParaRPr>
                    </a:p>
                  </a:txBody>
                  <a:tcPr/>
                </a:tc>
                <a:tc>
                  <a:txBody>
                    <a:bodyPr/>
                    <a:lstStyle/>
                    <a:p>
                      <a:pPr lvl="0">
                        <a:buNone/>
                      </a:pPr>
                      <a:r>
                        <a:rPr lang="en-GB" sz="1600" b="0" i="0" u="none" strike="noStrike" noProof="0">
                          <a:solidFill>
                            <a:srgbClr val="091E42"/>
                          </a:solidFill>
                        </a:rPr>
                        <a:t>development team owns the sprint backlog and handles the task breakdown and execution</a:t>
                      </a:r>
                      <a:endParaRPr lang="en-US"/>
                    </a:p>
                  </a:txBody>
                  <a:tcPr/>
                </a:tc>
                <a:extLst>
                  <a:ext uri="{0D108BD9-81ED-4DB2-BD59-A6C34878D82A}">
                    <a16:rowId xmlns:a16="http://schemas.microsoft.com/office/drawing/2014/main" val="289176576"/>
                  </a:ext>
                </a:extLst>
              </a:tr>
              <a:tr h="592666">
                <a:tc>
                  <a:txBody>
                    <a:bodyPr/>
                    <a:lstStyle/>
                    <a:p>
                      <a:pPr lvl="0">
                        <a:buNone/>
                      </a:pPr>
                      <a:r>
                        <a:rPr lang="en-GB"/>
                        <a:t>Level of Detail</a:t>
                      </a:r>
                      <a:endParaRPr lang="en-GB" dirty="0"/>
                    </a:p>
                  </a:txBody>
                  <a:tcPr/>
                </a:tc>
                <a:tc>
                  <a:txBody>
                    <a:bodyPr/>
                    <a:lstStyle/>
                    <a:p>
                      <a:pPr lvl="0">
                        <a:buNone/>
                      </a:pPr>
                      <a:r>
                        <a:rPr lang="en-GB" sz="1600" b="0" i="0" u="none" strike="noStrike" baseline="0" noProof="0">
                          <a:solidFill>
                            <a:schemeClr val="tx1"/>
                          </a:solidFill>
                          <a:latin typeface="Calibri"/>
                        </a:rPr>
                        <a:t>Less granular</a:t>
                      </a:r>
                      <a:endParaRPr lang="en-GB" sz="1600" b="0" i="0" u="none" strike="noStrike" baseline="0" noProof="0" dirty="0">
                        <a:solidFill>
                          <a:schemeClr val="tx1"/>
                        </a:solidFill>
                        <a:latin typeface="Calibri"/>
                      </a:endParaRPr>
                    </a:p>
                  </a:txBody>
                  <a:tcPr/>
                </a:tc>
                <a:tc>
                  <a:txBody>
                    <a:bodyPr/>
                    <a:lstStyle/>
                    <a:p>
                      <a:pPr lvl="0">
                        <a:buNone/>
                      </a:pPr>
                      <a:r>
                        <a:rPr lang="en-GB" sz="1600" b="0" i="0" u="none" strike="noStrike" noProof="0">
                          <a:solidFill>
                            <a:srgbClr val="091E42"/>
                          </a:solidFill>
                        </a:rPr>
                        <a:t>More granular</a:t>
                      </a:r>
                      <a:endParaRPr lang="en-GB" sz="1600" b="0" i="0" u="none" strike="noStrike" noProof="0" dirty="0">
                        <a:solidFill>
                          <a:srgbClr val="091E42"/>
                        </a:solidFill>
                      </a:endParaRPr>
                    </a:p>
                  </a:txBody>
                  <a:tcPr/>
                </a:tc>
                <a:extLst>
                  <a:ext uri="{0D108BD9-81ED-4DB2-BD59-A6C34878D82A}">
                    <a16:rowId xmlns:a16="http://schemas.microsoft.com/office/drawing/2014/main" val="3813481521"/>
                  </a:ext>
                </a:extLst>
              </a:tr>
              <a:tr h="592665">
                <a:tc>
                  <a:txBody>
                    <a:bodyPr/>
                    <a:lstStyle/>
                    <a:p>
                      <a:pPr lvl="0">
                        <a:buNone/>
                      </a:pPr>
                      <a:r>
                        <a:rPr lang="en-GB"/>
                        <a:t>Flexibility</a:t>
                      </a:r>
                      <a:endParaRPr lang="en-GB" dirty="0"/>
                    </a:p>
                  </a:txBody>
                  <a:tcPr/>
                </a:tc>
                <a:tc>
                  <a:txBody>
                    <a:bodyPr/>
                    <a:lstStyle/>
                    <a:p>
                      <a:pPr lvl="0">
                        <a:buNone/>
                      </a:pPr>
                      <a:r>
                        <a:rPr lang="en-GB" sz="1600" b="0" i="0" u="none" strike="noStrike" baseline="0" noProof="0">
                          <a:solidFill>
                            <a:schemeClr val="tx1"/>
                          </a:solidFill>
                          <a:latin typeface="Calibri"/>
                        </a:rPr>
                        <a:t>More flexible</a:t>
                      </a:r>
                      <a:endParaRPr lang="en-GB" sz="1600" b="0" i="0" u="none" strike="noStrike" baseline="0" noProof="0" dirty="0">
                        <a:solidFill>
                          <a:schemeClr val="tx1"/>
                        </a:solidFill>
                        <a:latin typeface="Calibri"/>
                      </a:endParaRPr>
                    </a:p>
                  </a:txBody>
                  <a:tcPr/>
                </a:tc>
                <a:tc>
                  <a:txBody>
                    <a:bodyPr/>
                    <a:lstStyle/>
                    <a:p>
                      <a:pPr lvl="0">
                        <a:buNone/>
                      </a:pPr>
                      <a:r>
                        <a:rPr lang="en-GB" sz="1600" b="0" i="0" u="none" strike="noStrike" noProof="0">
                          <a:solidFill>
                            <a:srgbClr val="091E42"/>
                          </a:solidFill>
                        </a:rPr>
                        <a:t>Less flexible</a:t>
                      </a:r>
                      <a:endParaRPr lang="en-GB" sz="1600" b="0" i="0" u="none" strike="noStrike" noProof="0" dirty="0">
                        <a:solidFill>
                          <a:srgbClr val="091E42"/>
                        </a:solidFill>
                      </a:endParaRPr>
                    </a:p>
                  </a:txBody>
                  <a:tcPr/>
                </a:tc>
                <a:extLst>
                  <a:ext uri="{0D108BD9-81ED-4DB2-BD59-A6C34878D82A}">
                    <a16:rowId xmlns:a16="http://schemas.microsoft.com/office/drawing/2014/main" val="195616133"/>
                  </a:ext>
                </a:extLst>
              </a:tr>
            </a:tbl>
          </a:graphicData>
        </a:graphic>
      </p:graphicFrame>
    </p:spTree>
    <p:extLst>
      <p:ext uri="{BB962C8B-B14F-4D97-AF65-F5344CB8AC3E}">
        <p14:creationId xmlns:p14="http://schemas.microsoft.com/office/powerpoint/2010/main" val="36265629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68235-22E3-2402-FEF0-AAF101BD4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F5738-22E8-858F-9961-5E09C8102F64}"/>
              </a:ext>
            </a:extLst>
          </p:cNvPr>
          <p:cNvSpPr>
            <a:spLocks noGrp="1"/>
          </p:cNvSpPr>
          <p:nvPr>
            <p:ph type="title"/>
          </p:nvPr>
        </p:nvSpPr>
        <p:spPr/>
        <p:txBody>
          <a:bodyPr/>
          <a:lstStyle/>
          <a:p>
            <a:r>
              <a:rPr lang="en-GB">
                <a:cs typeface="Calibri Light"/>
              </a:rPr>
              <a:t>SCRUM – Artifacts</a:t>
            </a:r>
            <a:endParaRPr lang="en-GB">
              <a:ea typeface="Calibri Light"/>
              <a:cs typeface="Calibri Light"/>
            </a:endParaRPr>
          </a:p>
        </p:txBody>
      </p:sp>
      <p:sp>
        <p:nvSpPr>
          <p:cNvPr id="3" name="Content Placeholder 2">
            <a:extLst>
              <a:ext uri="{FF2B5EF4-FFF2-40B4-BE49-F238E27FC236}">
                <a16:creationId xmlns:a16="http://schemas.microsoft.com/office/drawing/2014/main" id="{EA0F8861-ABDE-E805-D79F-1FF0EB163AB9}"/>
              </a:ext>
            </a:extLst>
          </p:cNvPr>
          <p:cNvSpPr>
            <a:spLocks noGrp="1"/>
          </p:cNvSpPr>
          <p:nvPr>
            <p:ph idx="1"/>
          </p:nvPr>
        </p:nvSpPr>
        <p:spPr>
          <a:xfrm>
            <a:off x="838200" y="1546554"/>
            <a:ext cx="4419600" cy="4820079"/>
          </a:xfrm>
        </p:spPr>
        <p:txBody>
          <a:bodyPr vert="horz" lIns="91440" tIns="45720" rIns="91440" bIns="45720" rtlCol="0" anchor="t">
            <a:normAutofit/>
          </a:bodyPr>
          <a:lstStyle/>
          <a:p>
            <a:r>
              <a:rPr lang="en-US" dirty="0">
                <a:ea typeface="Calibri" panose="020F0502020204030204"/>
                <a:cs typeface="Calibri"/>
              </a:rPr>
              <a:t>Sprint burn down chart</a:t>
            </a:r>
          </a:p>
          <a:p>
            <a:pPr marL="0" indent="0">
              <a:buNone/>
            </a:pPr>
            <a:endParaRPr lang="en-US" dirty="0">
              <a:ea typeface="+mn-lt"/>
              <a:cs typeface="+mn-lt"/>
            </a:endParaRPr>
          </a:p>
          <a:p>
            <a:pPr lvl="1"/>
            <a:r>
              <a:rPr lang="en-US">
                <a:ea typeface="+mn-lt"/>
                <a:cs typeface="+mn-lt"/>
              </a:rPr>
              <a:t>Depicts the total Sprint Backlog hours remaining per day</a:t>
            </a:r>
            <a:endParaRPr lang="en-US">
              <a:ea typeface="Calibri" panose="020F0502020204030204"/>
              <a:cs typeface="Calibri" panose="020F0502020204030204"/>
            </a:endParaRPr>
          </a:p>
          <a:p>
            <a:pPr lvl="1"/>
            <a:r>
              <a:rPr lang="en-US">
                <a:ea typeface="+mn-lt"/>
                <a:cs typeface="+mn-lt"/>
              </a:rPr>
              <a:t>Shows the estimated amount of time to release</a:t>
            </a:r>
            <a:endParaRPr lang="en-US">
              <a:ea typeface="Calibri" panose="020F0502020204030204"/>
              <a:cs typeface="Calibri" panose="020F0502020204030204"/>
            </a:endParaRPr>
          </a:p>
          <a:p>
            <a:pPr lvl="1"/>
            <a:r>
              <a:rPr lang="en-US">
                <a:ea typeface="+mn-lt"/>
                <a:cs typeface="+mn-lt"/>
              </a:rPr>
              <a:t>Ideally should burn down to zero to the end of the Sprint</a:t>
            </a:r>
          </a:p>
          <a:p>
            <a:pPr lvl="1"/>
            <a:r>
              <a:rPr lang="en-US">
                <a:ea typeface="+mn-lt"/>
                <a:cs typeface="+mn-lt"/>
              </a:rPr>
              <a:t>Is usually not a straight line</a:t>
            </a:r>
            <a:endParaRPr lang="en-US">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6804443A-E878-259A-E0E7-5171477DE3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49B8AF6-A77D-AA3D-88BE-3C72207F20C2}"/>
              </a:ext>
            </a:extLst>
          </p:cNvPr>
          <p:cNvSpPr>
            <a:spLocks noGrp="1"/>
          </p:cNvSpPr>
          <p:nvPr>
            <p:ph type="sldNum" sz="quarter" idx="12"/>
          </p:nvPr>
        </p:nvSpPr>
        <p:spPr/>
        <p:txBody>
          <a:bodyPr/>
          <a:lstStyle/>
          <a:p>
            <a:fld id="{008559AE-1842-40A5-A2A9-0518F39FD1A9}" type="slidenum">
              <a:rPr lang="en-US" smtClean="0"/>
              <a:t>47</a:t>
            </a:fld>
            <a:endParaRPr lang="en-GB"/>
          </a:p>
        </p:txBody>
      </p:sp>
      <p:sp>
        <p:nvSpPr>
          <p:cNvPr id="7" name="Footer Placeholder 6">
            <a:extLst>
              <a:ext uri="{FF2B5EF4-FFF2-40B4-BE49-F238E27FC236}">
                <a16:creationId xmlns:a16="http://schemas.microsoft.com/office/drawing/2014/main" id="{6E0F31B3-6C3F-4064-FBB1-263E2837536C}"/>
              </a:ext>
            </a:extLst>
          </p:cNvPr>
          <p:cNvSpPr>
            <a:spLocks noGrp="1"/>
          </p:cNvSpPr>
          <p:nvPr>
            <p:ph type="ftr" sz="quarter" idx="11"/>
          </p:nvPr>
        </p:nvSpPr>
        <p:spPr/>
        <p:txBody>
          <a:bodyPr/>
          <a:lstStyle/>
          <a:p>
            <a:r>
              <a:rPr lang="en-US"/>
              <a:t>Software Engineering</a:t>
            </a:r>
          </a:p>
        </p:txBody>
      </p:sp>
      <p:pic>
        <p:nvPicPr>
          <p:cNvPr id="4" name="Picture 3" descr="A graph with numbers and a line&#10;&#10;AI-generated content may be incorrect.">
            <a:extLst>
              <a:ext uri="{FF2B5EF4-FFF2-40B4-BE49-F238E27FC236}">
                <a16:creationId xmlns:a16="http://schemas.microsoft.com/office/drawing/2014/main" id="{68D7ACCF-93E4-82DB-8782-6DC7EB39A4BD}"/>
              </a:ext>
            </a:extLst>
          </p:cNvPr>
          <p:cNvPicPr>
            <a:picLocks noChangeAspect="1"/>
          </p:cNvPicPr>
          <p:nvPr/>
        </p:nvPicPr>
        <p:blipFill>
          <a:blip r:embed="rId4"/>
          <a:stretch>
            <a:fillRect/>
          </a:stretch>
        </p:blipFill>
        <p:spPr>
          <a:xfrm>
            <a:off x="5271909" y="1694013"/>
            <a:ext cx="6924674" cy="5037107"/>
          </a:xfrm>
          <a:prstGeom prst="rect">
            <a:avLst/>
          </a:prstGeom>
        </p:spPr>
      </p:pic>
    </p:spTree>
    <p:extLst>
      <p:ext uri="{BB962C8B-B14F-4D97-AF65-F5344CB8AC3E}">
        <p14:creationId xmlns:p14="http://schemas.microsoft.com/office/powerpoint/2010/main" val="30598694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9865F-415B-78AA-95C3-B5A0FF01D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92B52-95A5-45D4-80C5-CDDE064E4340}"/>
              </a:ext>
            </a:extLst>
          </p:cNvPr>
          <p:cNvSpPr>
            <a:spLocks noGrp="1"/>
          </p:cNvSpPr>
          <p:nvPr>
            <p:ph type="title"/>
          </p:nvPr>
        </p:nvSpPr>
        <p:spPr/>
        <p:txBody>
          <a:bodyPr/>
          <a:lstStyle/>
          <a:p>
            <a:r>
              <a:rPr lang="en-GB">
                <a:cs typeface="Calibri Light"/>
              </a:rPr>
              <a:t>SCRUM – Ceremonies</a:t>
            </a:r>
            <a:endParaRPr lang="en-GB">
              <a:ea typeface="Calibri Light"/>
              <a:cs typeface="Calibri Light"/>
            </a:endParaRPr>
          </a:p>
        </p:txBody>
      </p:sp>
      <p:sp>
        <p:nvSpPr>
          <p:cNvPr id="3" name="Content Placeholder 2">
            <a:extLst>
              <a:ext uri="{FF2B5EF4-FFF2-40B4-BE49-F238E27FC236}">
                <a16:creationId xmlns:a16="http://schemas.microsoft.com/office/drawing/2014/main" id="{3BF28369-18FE-4C41-407B-09BB9DCD5575}"/>
              </a:ext>
            </a:extLst>
          </p:cNvPr>
          <p:cNvSpPr>
            <a:spLocks noGrp="1"/>
          </p:cNvSpPr>
          <p:nvPr>
            <p:ph idx="1"/>
          </p:nvPr>
        </p:nvSpPr>
        <p:spPr>
          <a:xfrm>
            <a:off x="838200" y="1546554"/>
            <a:ext cx="10515600" cy="4820079"/>
          </a:xfrm>
        </p:spPr>
        <p:txBody>
          <a:bodyPr vert="horz" lIns="91440" tIns="45720" rIns="91440" bIns="45720" rtlCol="0" anchor="t">
            <a:normAutofit fontScale="92500" lnSpcReduction="10000"/>
          </a:bodyPr>
          <a:lstStyle/>
          <a:p>
            <a:r>
              <a:rPr lang="en-US" dirty="0">
                <a:ea typeface="Calibri" panose="020F0502020204030204"/>
                <a:cs typeface="Calibri"/>
              </a:rPr>
              <a:t>Sprint Planning:</a:t>
            </a:r>
          </a:p>
          <a:p>
            <a:pPr lvl="1">
              <a:buFont typeface="Courier New" panose="020B0604020202020204" pitchFamily="34" charset="0"/>
              <a:buChar char="o"/>
            </a:pPr>
            <a:r>
              <a:rPr lang="en-US" dirty="0">
                <a:ea typeface="+mn-lt"/>
                <a:cs typeface="+mn-lt"/>
              </a:rPr>
              <a:t>1st Part:</a:t>
            </a:r>
          </a:p>
          <a:p>
            <a:pPr lvl="2"/>
            <a:r>
              <a:rPr lang="en-US" dirty="0">
                <a:ea typeface="+mn-lt"/>
                <a:cs typeface="+mn-lt"/>
              </a:rPr>
              <a:t>Participants: Product Owner, Scrum Master, Scrum Team</a:t>
            </a:r>
          </a:p>
          <a:p>
            <a:pPr lvl="2"/>
            <a:r>
              <a:rPr lang="en-US" dirty="0">
                <a:ea typeface="+mn-lt"/>
                <a:cs typeface="+mn-lt"/>
              </a:rPr>
              <a:t>Creating Product Backlog </a:t>
            </a:r>
          </a:p>
          <a:p>
            <a:pPr lvl="2"/>
            <a:r>
              <a:rPr lang="en-US" dirty="0">
                <a:ea typeface="+mn-lt"/>
                <a:cs typeface="+mn-lt"/>
              </a:rPr>
              <a:t>Determining the Sprint Goal </a:t>
            </a:r>
            <a:endParaRPr lang="en-US" dirty="0">
              <a:ea typeface="Calibri"/>
              <a:cs typeface="Calibri"/>
            </a:endParaRPr>
          </a:p>
          <a:p>
            <a:pPr lvl="1">
              <a:buFont typeface="Courier New" panose="020B0604020202020204" pitchFamily="34" charset="0"/>
              <a:buChar char="o"/>
            </a:pPr>
            <a:r>
              <a:rPr lang="en-US" dirty="0">
                <a:ea typeface="+mn-lt"/>
                <a:cs typeface="+mn-lt"/>
              </a:rPr>
              <a:t>2nd Part:</a:t>
            </a:r>
          </a:p>
          <a:p>
            <a:pPr lvl="2"/>
            <a:r>
              <a:rPr lang="en-US" dirty="0">
                <a:ea typeface="+mn-lt"/>
                <a:cs typeface="+mn-lt"/>
              </a:rPr>
              <a:t>Participants: Scrum Master, Scrum Team</a:t>
            </a:r>
          </a:p>
          <a:p>
            <a:pPr lvl="2"/>
            <a:r>
              <a:rPr lang="en-US" dirty="0">
                <a:ea typeface="+mn-lt"/>
                <a:cs typeface="+mn-lt"/>
              </a:rPr>
              <a:t>Creating Sprint Backlog</a:t>
            </a:r>
          </a:p>
          <a:p>
            <a:endParaRPr lang="en-US" dirty="0">
              <a:ea typeface="Calibri"/>
              <a:cs typeface="Calibri"/>
            </a:endParaRPr>
          </a:p>
          <a:p>
            <a:r>
              <a:rPr lang="en-US" sz="2400" dirty="0">
                <a:ea typeface="Calibri"/>
                <a:cs typeface="Calibri"/>
              </a:rPr>
              <a:t>The whole team is involved in selecting which of the highest priority items they believe can be completed</a:t>
            </a:r>
          </a:p>
          <a:p>
            <a:r>
              <a:rPr lang="en-US" sz="2400" dirty="0">
                <a:ea typeface="Calibri"/>
                <a:cs typeface="Calibri"/>
              </a:rPr>
              <a:t>To make these estimates, they use the velocity attained in previous sprints, that is, how much of the backlog could be covered in a single sprint</a:t>
            </a:r>
          </a:p>
          <a:p>
            <a:r>
              <a:rPr lang="en-US" sz="2400" dirty="0">
                <a:ea typeface="Calibri"/>
                <a:cs typeface="Calibri"/>
              </a:rPr>
              <a:t>This leads to the creation of a sprint backlog—the work to be done during that sprint</a:t>
            </a:r>
            <a:endParaRPr lang="en-US" sz="2400" dirty="0"/>
          </a:p>
        </p:txBody>
      </p:sp>
      <p:pic>
        <p:nvPicPr>
          <p:cNvPr id="6" name="Picture 5" descr="A black and white logo&#10;&#10;Description automatically generated">
            <a:extLst>
              <a:ext uri="{FF2B5EF4-FFF2-40B4-BE49-F238E27FC236}">
                <a16:creationId xmlns:a16="http://schemas.microsoft.com/office/drawing/2014/main" id="{6E7EB500-68F7-49E2-32FB-6F0E2A4A6B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421F6C7-F95F-63D3-5DAA-3790BBCD093A}"/>
              </a:ext>
            </a:extLst>
          </p:cNvPr>
          <p:cNvSpPr>
            <a:spLocks noGrp="1"/>
          </p:cNvSpPr>
          <p:nvPr>
            <p:ph type="sldNum" sz="quarter" idx="12"/>
          </p:nvPr>
        </p:nvSpPr>
        <p:spPr/>
        <p:txBody>
          <a:bodyPr/>
          <a:lstStyle/>
          <a:p>
            <a:fld id="{008559AE-1842-40A5-A2A9-0518F39FD1A9}" type="slidenum">
              <a:rPr lang="en-US" smtClean="0"/>
              <a:t>48</a:t>
            </a:fld>
            <a:endParaRPr lang="en-GB"/>
          </a:p>
        </p:txBody>
      </p:sp>
      <p:sp>
        <p:nvSpPr>
          <p:cNvPr id="7" name="Footer Placeholder 6">
            <a:extLst>
              <a:ext uri="{FF2B5EF4-FFF2-40B4-BE49-F238E27FC236}">
                <a16:creationId xmlns:a16="http://schemas.microsoft.com/office/drawing/2014/main" id="{64802536-568F-B9BC-2CF8-6A2F2C04B30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502904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ABA5-C66C-72DE-5C05-C316DBB2A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529A6-57CA-D028-369D-257DE7EA1E36}"/>
              </a:ext>
            </a:extLst>
          </p:cNvPr>
          <p:cNvSpPr>
            <a:spLocks noGrp="1"/>
          </p:cNvSpPr>
          <p:nvPr>
            <p:ph type="title"/>
          </p:nvPr>
        </p:nvSpPr>
        <p:spPr/>
        <p:txBody>
          <a:bodyPr/>
          <a:lstStyle/>
          <a:p>
            <a:r>
              <a:rPr lang="en-GB">
                <a:cs typeface="Calibri Light"/>
              </a:rPr>
              <a:t>SCRUM – Ceremonies</a:t>
            </a:r>
            <a:endParaRPr lang="en-GB">
              <a:ea typeface="Calibri Light"/>
              <a:cs typeface="Calibri Light"/>
            </a:endParaRPr>
          </a:p>
        </p:txBody>
      </p:sp>
      <p:sp>
        <p:nvSpPr>
          <p:cNvPr id="3" name="Content Placeholder 2">
            <a:extLst>
              <a:ext uri="{FF2B5EF4-FFF2-40B4-BE49-F238E27FC236}">
                <a16:creationId xmlns:a16="http://schemas.microsoft.com/office/drawing/2014/main" id="{B0F5B46A-8CE5-4D69-217C-BD84A6C31F0F}"/>
              </a:ext>
            </a:extLst>
          </p:cNvPr>
          <p:cNvSpPr>
            <a:spLocks noGrp="1"/>
          </p:cNvSpPr>
          <p:nvPr>
            <p:ph idx="1"/>
          </p:nvPr>
        </p:nvSpPr>
        <p:spPr>
          <a:xfrm>
            <a:off x="838200" y="1546554"/>
            <a:ext cx="10515600" cy="4820079"/>
          </a:xfrm>
        </p:spPr>
        <p:txBody>
          <a:bodyPr vert="horz" lIns="91440" tIns="45720" rIns="91440" bIns="45720" rtlCol="0" anchor="t">
            <a:normAutofit/>
          </a:bodyPr>
          <a:lstStyle/>
          <a:p>
            <a:r>
              <a:rPr lang="en-US">
                <a:ea typeface="Calibri" panose="020F0502020204030204"/>
                <a:cs typeface="Calibri"/>
              </a:rPr>
              <a:t>Sprint:</a:t>
            </a:r>
          </a:p>
          <a:p>
            <a:pPr lvl="1">
              <a:buFont typeface="Courier New" panose="020B0604020202020204" pitchFamily="34" charset="0"/>
              <a:buChar char="o"/>
            </a:pPr>
            <a:r>
              <a:rPr lang="en-US">
                <a:ea typeface="+mn-lt"/>
                <a:cs typeface="+mn-lt"/>
              </a:rPr>
              <a:t>A month-long iteration, during which is a product functionality is implemented (SOM. says 2-4 weeks)</a:t>
            </a:r>
          </a:p>
          <a:p>
            <a:pPr lvl="1">
              <a:buFont typeface="Courier New" panose="020B0604020202020204" pitchFamily="34" charset="0"/>
              <a:buChar char="o"/>
            </a:pPr>
            <a:r>
              <a:rPr lang="en-US">
                <a:ea typeface="+mn-lt"/>
                <a:cs typeface="+mn-lt"/>
              </a:rPr>
              <a:t>NO outside influence can interfere with the Scrum team during the Sprint</a:t>
            </a:r>
          </a:p>
          <a:p>
            <a:pPr lvl="1">
              <a:buFont typeface="Courier New" panose="020B0604020202020204" pitchFamily="34" charset="0"/>
              <a:buChar char="o"/>
            </a:pPr>
            <a:r>
              <a:rPr lang="en-US">
                <a:ea typeface="+mn-lt"/>
                <a:cs typeface="+mn-lt"/>
              </a:rPr>
              <a:t>Each Sprint begins with the Daily Scrum Meeting (which then happens every day)</a:t>
            </a:r>
          </a:p>
          <a:p>
            <a:pPr lvl="1">
              <a:buFont typeface="Courier New" panose="020B0604020202020204" pitchFamily="34" charset="0"/>
              <a:buChar char="o"/>
            </a:pPr>
            <a:endParaRPr lang="en-US" dirty="0">
              <a:ea typeface="Calibri" panose="020F0502020204030204"/>
              <a:cs typeface="Calibri" panose="020F0502020204030204"/>
            </a:endParaRPr>
          </a:p>
          <a:p>
            <a:pPr lvl="1"/>
            <a:r>
              <a:rPr lang="en-US">
                <a:ea typeface="Calibri" panose="020F0502020204030204"/>
                <a:cs typeface="Calibri" panose="020F0502020204030204"/>
              </a:rPr>
              <a:t>Note: </a:t>
            </a:r>
            <a:r>
              <a:rPr lang="en-US" b="1">
                <a:ea typeface="Calibri" panose="020F0502020204030204"/>
                <a:cs typeface="Calibri" panose="020F0502020204030204"/>
              </a:rPr>
              <a:t>Sprints are never extended to take account of unfinished work</a:t>
            </a:r>
          </a:p>
          <a:p>
            <a:pPr lvl="1"/>
            <a:r>
              <a:rPr lang="en-US" sz="2400">
                <a:ea typeface="Calibri" panose="020F0502020204030204"/>
                <a:cs typeface="Calibri" panose="020F0502020204030204"/>
              </a:rPr>
              <a:t>Items that cannot be completed are returned to the product backlog</a:t>
            </a:r>
            <a:endParaRPr lang="en-US">
              <a:ea typeface="Calibri" panose="020F0502020204030204"/>
              <a:cs typeface="Calibri" panose="020F0502020204030204"/>
            </a:endParaRPr>
          </a:p>
          <a:p>
            <a:pPr lvl="1"/>
            <a:endParaRPr lang="en-US" sz="2800" dirty="0">
              <a:ea typeface="Calibri" panose="020F0502020204030204"/>
              <a:cs typeface="Calibri" panose="020F0502020204030204"/>
            </a:endParaRPr>
          </a:p>
          <a:p>
            <a:pPr lvl="1"/>
            <a:endParaRPr lang="en-US" sz="2800" b="1" dirty="0">
              <a:ea typeface="Calibri" panose="020F0502020204030204"/>
              <a:cs typeface="Calibri" panose="020F0502020204030204"/>
            </a:endParaRPr>
          </a:p>
          <a:p>
            <a:pPr lvl="1">
              <a:buFont typeface="Courier New" panose="020B0604020202020204" pitchFamily="34" charset="0"/>
              <a:buChar char="o"/>
            </a:pPr>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7347546D-3CFA-12CC-5959-8BEBA16F7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4CBC8D2-0BAE-4E9F-77D9-B38244A2C085}"/>
              </a:ext>
            </a:extLst>
          </p:cNvPr>
          <p:cNvSpPr>
            <a:spLocks noGrp="1"/>
          </p:cNvSpPr>
          <p:nvPr>
            <p:ph type="sldNum" sz="quarter" idx="12"/>
          </p:nvPr>
        </p:nvSpPr>
        <p:spPr/>
        <p:txBody>
          <a:bodyPr/>
          <a:lstStyle/>
          <a:p>
            <a:fld id="{008559AE-1842-40A5-A2A9-0518F39FD1A9}" type="slidenum">
              <a:rPr lang="en-US" smtClean="0"/>
              <a:t>49</a:t>
            </a:fld>
            <a:endParaRPr lang="en-GB"/>
          </a:p>
        </p:txBody>
      </p:sp>
      <p:sp>
        <p:nvSpPr>
          <p:cNvPr id="7" name="Footer Placeholder 6">
            <a:extLst>
              <a:ext uri="{FF2B5EF4-FFF2-40B4-BE49-F238E27FC236}">
                <a16:creationId xmlns:a16="http://schemas.microsoft.com/office/drawing/2014/main" id="{1D61BEEC-74E1-5BFB-0D08-E54925B043C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96642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8F17C-3EB9-27C4-33B6-6A687DF7E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9C61B-E50C-AE6C-28BB-9A44CD13A93B}"/>
              </a:ext>
            </a:extLst>
          </p:cNvPr>
          <p:cNvSpPr>
            <a:spLocks noGrp="1"/>
          </p:cNvSpPr>
          <p:nvPr>
            <p:ph type="title"/>
          </p:nvPr>
        </p:nvSpPr>
        <p:spPr/>
        <p:txBody>
          <a:bodyPr/>
          <a:lstStyle/>
          <a:p>
            <a:r>
              <a:rPr lang="en-GB">
                <a:cs typeface="Calibri Light"/>
              </a:rPr>
              <a:t>SCRUM – Ceremonies</a:t>
            </a:r>
            <a:endParaRPr lang="en-GB">
              <a:ea typeface="Calibri Light"/>
              <a:cs typeface="Calibri Light"/>
            </a:endParaRPr>
          </a:p>
        </p:txBody>
      </p:sp>
      <p:sp>
        <p:nvSpPr>
          <p:cNvPr id="3" name="Content Placeholder 2">
            <a:extLst>
              <a:ext uri="{FF2B5EF4-FFF2-40B4-BE49-F238E27FC236}">
                <a16:creationId xmlns:a16="http://schemas.microsoft.com/office/drawing/2014/main" id="{5A95DC9A-8F24-30C4-B256-D2E358635405}"/>
              </a:ext>
            </a:extLst>
          </p:cNvPr>
          <p:cNvSpPr>
            <a:spLocks noGrp="1"/>
          </p:cNvSpPr>
          <p:nvPr>
            <p:ph idx="1"/>
          </p:nvPr>
        </p:nvSpPr>
        <p:spPr>
          <a:xfrm>
            <a:off x="838200" y="1546554"/>
            <a:ext cx="10515600" cy="4820079"/>
          </a:xfrm>
        </p:spPr>
        <p:txBody>
          <a:bodyPr vert="horz" lIns="91440" tIns="45720" rIns="91440" bIns="45720" rtlCol="0" anchor="t">
            <a:normAutofit lnSpcReduction="10000"/>
          </a:bodyPr>
          <a:lstStyle/>
          <a:p>
            <a:r>
              <a:rPr lang="en-US" dirty="0">
                <a:ea typeface="Calibri" panose="020F0502020204030204"/>
                <a:cs typeface="Calibri"/>
              </a:rPr>
              <a:t>Daily Scrum Meeting:</a:t>
            </a:r>
          </a:p>
          <a:p>
            <a:pPr lvl="1">
              <a:buFont typeface="Courier New" panose="020B0604020202020204" pitchFamily="34" charset="0"/>
              <a:buChar char="o"/>
            </a:pPr>
            <a:r>
              <a:rPr lang="en-US" dirty="0">
                <a:ea typeface="+mn-lt"/>
                <a:cs typeface="+mn-lt"/>
              </a:rPr>
              <a:t>Parameters – Daily, 15-minutes, Stand-up (also called a Huddle), Not for problem solving</a:t>
            </a:r>
          </a:p>
          <a:p>
            <a:pPr lvl="1">
              <a:buFont typeface="Courier New" panose="020B0604020202020204" pitchFamily="34" charset="0"/>
              <a:buChar char="o"/>
            </a:pPr>
            <a:r>
              <a:rPr lang="en-US" dirty="0">
                <a:ea typeface="+mn-lt"/>
                <a:cs typeface="+mn-lt"/>
              </a:rPr>
              <a:t>Three questions:</a:t>
            </a:r>
          </a:p>
          <a:p>
            <a:pPr lvl="2"/>
            <a:r>
              <a:rPr lang="en-US">
                <a:ea typeface="+mn-lt"/>
                <a:cs typeface="+mn-lt"/>
              </a:rPr>
              <a:t>What did you do yesterday?</a:t>
            </a:r>
          </a:p>
          <a:p>
            <a:pPr lvl="2"/>
            <a:r>
              <a:rPr lang="en-US">
                <a:ea typeface="+mn-lt"/>
                <a:cs typeface="+mn-lt"/>
              </a:rPr>
              <a:t>What will you do today?</a:t>
            </a:r>
          </a:p>
          <a:p>
            <a:pPr lvl="2"/>
            <a:r>
              <a:rPr lang="en-US">
                <a:ea typeface="+mn-lt"/>
                <a:cs typeface="+mn-lt"/>
              </a:rPr>
              <a:t>What obstacles are in your way?</a:t>
            </a:r>
          </a:p>
          <a:p>
            <a:pPr lvl="1">
              <a:buFont typeface="Courier New" panose="020B0604020202020204" pitchFamily="34" charset="0"/>
              <a:buChar char="o"/>
            </a:pPr>
            <a:r>
              <a:rPr lang="en-US" dirty="0">
                <a:ea typeface="+mn-lt"/>
                <a:cs typeface="+mn-lt"/>
              </a:rPr>
              <a:t>Is NOT:</a:t>
            </a:r>
          </a:p>
          <a:p>
            <a:pPr lvl="2"/>
            <a:r>
              <a:rPr lang="en-US">
                <a:ea typeface="+mn-lt"/>
                <a:cs typeface="+mn-lt"/>
              </a:rPr>
              <a:t>a problem-solving session (though sometimes discussions on problems do happen)</a:t>
            </a:r>
          </a:p>
          <a:p>
            <a:pPr lvl="2"/>
            <a:r>
              <a:rPr lang="en-US">
                <a:ea typeface="+mn-lt"/>
                <a:cs typeface="+mn-lt"/>
              </a:rPr>
              <a:t>a way to collect information about WHO is behind the schedule</a:t>
            </a:r>
          </a:p>
          <a:p>
            <a:pPr lvl="1">
              <a:buFont typeface="Courier New" panose="020B0604020202020204" pitchFamily="34" charset="0"/>
              <a:buChar char="o"/>
            </a:pPr>
            <a:r>
              <a:rPr lang="en-US" dirty="0">
                <a:ea typeface="Calibri" panose="020F0502020204030204"/>
                <a:cs typeface="Calibri" panose="020F0502020204030204"/>
              </a:rPr>
              <a:t>Is:</a:t>
            </a:r>
            <a:endParaRPr lang="en-US" dirty="0">
              <a:ea typeface="+mn-lt"/>
              <a:cs typeface="+mn-lt"/>
            </a:endParaRPr>
          </a:p>
          <a:p>
            <a:pPr lvl="2"/>
            <a:r>
              <a:rPr lang="en-US">
                <a:ea typeface="+mn-lt"/>
                <a:cs typeface="+mn-lt"/>
              </a:rPr>
              <a:t>meeting in which team members make  commitments to each other and to the Scrum Master</a:t>
            </a:r>
          </a:p>
          <a:p>
            <a:pPr lvl="2"/>
            <a:r>
              <a:rPr lang="en-US">
                <a:ea typeface="Calibri" panose="020F0502020204030204"/>
                <a:cs typeface="Calibri" panose="020F0502020204030204"/>
              </a:rPr>
              <a:t>a good way for a scrum master to keep track of the work going on</a:t>
            </a:r>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47587DE9-442F-E882-9C80-BE06DF0A5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60A5416-18DB-83F9-86B8-4DD5C16B0289}"/>
              </a:ext>
            </a:extLst>
          </p:cNvPr>
          <p:cNvSpPr>
            <a:spLocks noGrp="1"/>
          </p:cNvSpPr>
          <p:nvPr>
            <p:ph type="sldNum" sz="quarter" idx="12"/>
          </p:nvPr>
        </p:nvSpPr>
        <p:spPr/>
        <p:txBody>
          <a:bodyPr/>
          <a:lstStyle/>
          <a:p>
            <a:fld id="{008559AE-1842-40A5-A2A9-0518F39FD1A9}" type="slidenum">
              <a:rPr lang="en-US" smtClean="0"/>
              <a:t>50</a:t>
            </a:fld>
            <a:endParaRPr lang="en-GB"/>
          </a:p>
        </p:txBody>
      </p:sp>
      <p:sp>
        <p:nvSpPr>
          <p:cNvPr id="7" name="Footer Placeholder 6">
            <a:extLst>
              <a:ext uri="{FF2B5EF4-FFF2-40B4-BE49-F238E27FC236}">
                <a16:creationId xmlns:a16="http://schemas.microsoft.com/office/drawing/2014/main" id="{735B7B6B-213C-885E-98C8-B01EF67BF46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631432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E74BA-DE4F-6385-E717-DC28DD3FF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0EEE2-E4B1-E2AC-4F07-503648CCD385}"/>
              </a:ext>
            </a:extLst>
          </p:cNvPr>
          <p:cNvSpPr>
            <a:spLocks noGrp="1"/>
          </p:cNvSpPr>
          <p:nvPr>
            <p:ph type="title"/>
          </p:nvPr>
        </p:nvSpPr>
        <p:spPr/>
        <p:txBody>
          <a:bodyPr/>
          <a:lstStyle/>
          <a:p>
            <a:r>
              <a:rPr lang="en-GB">
                <a:cs typeface="Calibri Light"/>
              </a:rPr>
              <a:t>SCRUM – Ceremonies</a:t>
            </a:r>
            <a:endParaRPr lang="en-GB">
              <a:ea typeface="Calibri Light"/>
              <a:cs typeface="Calibri Light"/>
            </a:endParaRPr>
          </a:p>
        </p:txBody>
      </p:sp>
      <p:sp>
        <p:nvSpPr>
          <p:cNvPr id="3" name="Content Placeholder 2">
            <a:extLst>
              <a:ext uri="{FF2B5EF4-FFF2-40B4-BE49-F238E27FC236}">
                <a16:creationId xmlns:a16="http://schemas.microsoft.com/office/drawing/2014/main" id="{9CD53FE5-292C-4600-11AA-C8B5A7A38534}"/>
              </a:ext>
            </a:extLst>
          </p:cNvPr>
          <p:cNvSpPr>
            <a:spLocks noGrp="1"/>
          </p:cNvSpPr>
          <p:nvPr>
            <p:ph idx="1"/>
          </p:nvPr>
        </p:nvSpPr>
        <p:spPr>
          <a:xfrm>
            <a:off x="838200" y="1546554"/>
            <a:ext cx="10515600" cy="4820079"/>
          </a:xfrm>
        </p:spPr>
        <p:txBody>
          <a:bodyPr vert="horz" lIns="91440" tIns="45720" rIns="91440" bIns="45720" rtlCol="0" anchor="t">
            <a:normAutofit/>
          </a:bodyPr>
          <a:lstStyle/>
          <a:p>
            <a:r>
              <a:rPr lang="en-US" dirty="0">
                <a:ea typeface="Calibri" panose="020F0502020204030204"/>
                <a:cs typeface="Calibri" panose="020F0502020204030204"/>
              </a:rPr>
              <a:t>Sprint Review:</a:t>
            </a:r>
          </a:p>
          <a:p>
            <a:pPr lvl="1">
              <a:buFont typeface="Courier New" panose="020B0604020202020204" pitchFamily="34" charset="0"/>
              <a:buChar char="o"/>
            </a:pPr>
            <a:r>
              <a:rPr lang="en-US" dirty="0">
                <a:ea typeface="+mn-lt"/>
                <a:cs typeface="+mn-lt"/>
              </a:rPr>
              <a:t>Team presents what it accomplished during the sprint</a:t>
            </a:r>
          </a:p>
          <a:p>
            <a:pPr lvl="1">
              <a:buFont typeface="Courier New" panose="020B0604020202020204" pitchFamily="34" charset="0"/>
              <a:buChar char="o"/>
            </a:pPr>
            <a:r>
              <a:rPr lang="en-US" dirty="0">
                <a:ea typeface="+mn-lt"/>
                <a:cs typeface="+mn-lt"/>
              </a:rPr>
              <a:t>Typically takes the form of a demo of new features or underlying architecture</a:t>
            </a:r>
          </a:p>
          <a:p>
            <a:pPr lvl="1">
              <a:buFont typeface="Courier New" panose="020B0604020202020204" pitchFamily="34" charset="0"/>
              <a:buChar char="o"/>
            </a:pPr>
            <a:r>
              <a:rPr lang="en-US" dirty="0">
                <a:ea typeface="+mn-lt"/>
                <a:cs typeface="+mn-lt"/>
              </a:rPr>
              <a:t>Informal: 2-hour prep time rule</a:t>
            </a:r>
          </a:p>
          <a:p>
            <a:pPr lvl="1">
              <a:buFont typeface="Courier New" panose="020B0604020202020204" pitchFamily="34" charset="0"/>
              <a:buChar char="o"/>
            </a:pPr>
            <a:r>
              <a:rPr lang="en-US" dirty="0">
                <a:ea typeface="+mn-lt"/>
                <a:cs typeface="+mn-lt"/>
              </a:rPr>
              <a:t>Participants:</a:t>
            </a:r>
          </a:p>
          <a:p>
            <a:pPr lvl="2"/>
            <a:r>
              <a:rPr lang="en-US">
                <a:ea typeface="+mn-lt"/>
                <a:cs typeface="+mn-lt"/>
              </a:rPr>
              <a:t>Customers</a:t>
            </a:r>
          </a:p>
          <a:p>
            <a:pPr lvl="2"/>
            <a:r>
              <a:rPr lang="en-US">
                <a:ea typeface="+mn-lt"/>
                <a:cs typeface="+mn-lt"/>
              </a:rPr>
              <a:t>Management</a:t>
            </a:r>
            <a:endParaRPr lang="en-US">
              <a:ea typeface="Calibri" panose="020F0502020204030204"/>
              <a:cs typeface="Calibri" panose="020F0502020204030204"/>
            </a:endParaRPr>
          </a:p>
          <a:p>
            <a:pPr lvl="2"/>
            <a:r>
              <a:rPr lang="en-US">
                <a:ea typeface="+mn-lt"/>
                <a:cs typeface="+mn-lt"/>
              </a:rPr>
              <a:t>Product Owner</a:t>
            </a:r>
            <a:endParaRPr lang="en-US">
              <a:ea typeface="Calibri" panose="020F0502020204030204"/>
              <a:cs typeface="Calibri" panose="020F0502020204030204"/>
            </a:endParaRPr>
          </a:p>
          <a:p>
            <a:pPr lvl="2"/>
            <a:r>
              <a:rPr lang="en-US">
                <a:ea typeface="+mn-lt"/>
                <a:cs typeface="+mn-lt"/>
              </a:rPr>
              <a:t>Other engineers</a:t>
            </a:r>
            <a:endParaRPr lang="en-US">
              <a:ea typeface="Calibri" panose="020F0502020204030204"/>
              <a:cs typeface="Calibri" panose="020F0502020204030204"/>
            </a:endParaRPr>
          </a:p>
          <a:p>
            <a:r>
              <a:rPr lang="en-US" dirty="0">
                <a:ea typeface="Calibri" panose="020F0502020204030204"/>
                <a:cs typeface="Calibri" panose="020F0502020204030204"/>
              </a:rPr>
              <a:t>Sprint Retrospective Meetings:</a:t>
            </a:r>
          </a:p>
          <a:p>
            <a:pPr lvl="1">
              <a:buFont typeface="Courier New" panose="020B0604020202020204" pitchFamily="34" charset="0"/>
              <a:buChar char="o"/>
            </a:pPr>
            <a:r>
              <a:rPr lang="en-US" dirty="0">
                <a:ea typeface="Calibri" panose="020F0502020204030204"/>
                <a:cs typeface="Calibri" panose="020F0502020204030204"/>
              </a:rPr>
              <a:t>Scrum team only</a:t>
            </a:r>
          </a:p>
          <a:p>
            <a:pPr lvl="1">
              <a:buFont typeface="Courier New" panose="020B0604020202020204" pitchFamily="34" charset="0"/>
              <a:buChar char="o"/>
            </a:pPr>
            <a:r>
              <a:rPr lang="en-US" dirty="0">
                <a:ea typeface="Calibri" panose="020F0502020204030204"/>
                <a:cs typeface="Calibri" panose="020F0502020204030204"/>
              </a:rPr>
              <a:t>Feedback meeting (Start, stop, continue)</a:t>
            </a:r>
          </a:p>
          <a:p>
            <a:pPr lvl="1">
              <a:buFont typeface="Courier New" panose="020B0604020202020204" pitchFamily="34" charset="0"/>
              <a:buChar char="o"/>
            </a:pPr>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8ACB013C-A4CA-59EB-F3A8-646CDDE6FE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24D5C22-327D-F378-62BA-8992412B4C6F}"/>
              </a:ext>
            </a:extLst>
          </p:cNvPr>
          <p:cNvSpPr>
            <a:spLocks noGrp="1"/>
          </p:cNvSpPr>
          <p:nvPr>
            <p:ph type="sldNum" sz="quarter" idx="12"/>
          </p:nvPr>
        </p:nvSpPr>
        <p:spPr/>
        <p:txBody>
          <a:bodyPr/>
          <a:lstStyle/>
          <a:p>
            <a:fld id="{008559AE-1842-40A5-A2A9-0518F39FD1A9}" type="slidenum">
              <a:rPr lang="en-US" smtClean="0"/>
              <a:t>51</a:t>
            </a:fld>
            <a:endParaRPr lang="en-GB"/>
          </a:p>
        </p:txBody>
      </p:sp>
      <p:sp>
        <p:nvSpPr>
          <p:cNvPr id="7" name="Footer Placeholder 6">
            <a:extLst>
              <a:ext uri="{FF2B5EF4-FFF2-40B4-BE49-F238E27FC236}">
                <a16:creationId xmlns:a16="http://schemas.microsoft.com/office/drawing/2014/main" id="{485A69E7-E6CB-F5AB-1948-8F249A831DF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608449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5E4C-FDB7-FC55-D291-33A5CEBD8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96ADA-7CB1-E2BD-C061-C14D08011BB8}"/>
              </a:ext>
            </a:extLst>
          </p:cNvPr>
          <p:cNvSpPr>
            <a:spLocks noGrp="1"/>
          </p:cNvSpPr>
          <p:nvPr>
            <p:ph type="title"/>
          </p:nvPr>
        </p:nvSpPr>
        <p:spPr/>
        <p:txBody>
          <a:bodyPr/>
          <a:lstStyle/>
          <a:p>
            <a:r>
              <a:rPr lang="en-GB">
                <a:cs typeface="Calibri Light"/>
              </a:rPr>
              <a:t>Scrum sprint cycle (SOM., pg. 86)</a:t>
            </a:r>
            <a:endParaRPr lang="en-US"/>
          </a:p>
        </p:txBody>
      </p:sp>
      <p:pic>
        <p:nvPicPr>
          <p:cNvPr id="6" name="Picture 5" descr="A black and white logo&#10;&#10;Description automatically generated">
            <a:extLst>
              <a:ext uri="{FF2B5EF4-FFF2-40B4-BE49-F238E27FC236}">
                <a16:creationId xmlns:a16="http://schemas.microsoft.com/office/drawing/2014/main" id="{11461D23-3016-82DB-7599-EEBFAD46F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E3A74FA-FFEC-3AE2-30DC-1E371A28C796}"/>
              </a:ext>
            </a:extLst>
          </p:cNvPr>
          <p:cNvSpPr>
            <a:spLocks noGrp="1"/>
          </p:cNvSpPr>
          <p:nvPr>
            <p:ph type="sldNum" sz="quarter" idx="12"/>
          </p:nvPr>
        </p:nvSpPr>
        <p:spPr/>
        <p:txBody>
          <a:bodyPr/>
          <a:lstStyle/>
          <a:p>
            <a:fld id="{008559AE-1842-40A5-A2A9-0518F39FD1A9}" type="slidenum">
              <a:rPr lang="en-US" smtClean="0"/>
              <a:t>52</a:t>
            </a:fld>
            <a:endParaRPr lang="en-GB"/>
          </a:p>
        </p:txBody>
      </p:sp>
      <p:sp>
        <p:nvSpPr>
          <p:cNvPr id="7" name="Footer Placeholder 6">
            <a:extLst>
              <a:ext uri="{FF2B5EF4-FFF2-40B4-BE49-F238E27FC236}">
                <a16:creationId xmlns:a16="http://schemas.microsoft.com/office/drawing/2014/main" id="{47994F9A-2E05-6D8B-19F1-CDA8C0FC445E}"/>
              </a:ext>
            </a:extLst>
          </p:cNvPr>
          <p:cNvSpPr>
            <a:spLocks noGrp="1"/>
          </p:cNvSpPr>
          <p:nvPr>
            <p:ph type="ftr" sz="quarter" idx="11"/>
          </p:nvPr>
        </p:nvSpPr>
        <p:spPr/>
        <p:txBody>
          <a:bodyPr/>
          <a:lstStyle/>
          <a:p>
            <a:r>
              <a:rPr lang="en-US"/>
              <a:t>Software Engineering</a:t>
            </a:r>
          </a:p>
        </p:txBody>
      </p:sp>
      <p:pic>
        <p:nvPicPr>
          <p:cNvPr id="4" name="Picture 3" descr="A diagram of a scrum&#10;&#10;AI-generated content may be incorrect.">
            <a:extLst>
              <a:ext uri="{FF2B5EF4-FFF2-40B4-BE49-F238E27FC236}">
                <a16:creationId xmlns:a16="http://schemas.microsoft.com/office/drawing/2014/main" id="{46D3750F-F31C-5BA3-29FA-E363E140BDE5}"/>
              </a:ext>
            </a:extLst>
          </p:cNvPr>
          <p:cNvPicPr>
            <a:picLocks noChangeAspect="1"/>
          </p:cNvPicPr>
          <p:nvPr/>
        </p:nvPicPr>
        <p:blipFill>
          <a:blip r:embed="rId4"/>
          <a:stretch>
            <a:fillRect/>
          </a:stretch>
        </p:blipFill>
        <p:spPr>
          <a:xfrm>
            <a:off x="966338" y="1703357"/>
            <a:ext cx="10244946" cy="4285171"/>
          </a:xfrm>
          <a:prstGeom prst="rect">
            <a:avLst/>
          </a:prstGeom>
        </p:spPr>
      </p:pic>
    </p:spTree>
    <p:extLst>
      <p:ext uri="{BB962C8B-B14F-4D97-AF65-F5344CB8AC3E}">
        <p14:creationId xmlns:p14="http://schemas.microsoft.com/office/powerpoint/2010/main" val="1331974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61537-40AB-B9B8-ED77-41C542F80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EF573-1941-5CF0-BDFA-400F280689B2}"/>
              </a:ext>
            </a:extLst>
          </p:cNvPr>
          <p:cNvSpPr>
            <a:spLocks noGrp="1"/>
          </p:cNvSpPr>
          <p:nvPr>
            <p:ph type="title"/>
          </p:nvPr>
        </p:nvSpPr>
        <p:spPr/>
        <p:txBody>
          <a:bodyPr/>
          <a:lstStyle/>
          <a:p>
            <a:r>
              <a:rPr lang="en-GB">
                <a:ea typeface="Calibri Light"/>
                <a:cs typeface="Calibri Light"/>
              </a:rPr>
              <a:t>What people like about scrum? (SOM., pg. 87)</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46419D5A-3B8F-9710-BD8E-55C191E9D6B4}"/>
              </a:ext>
            </a:extLst>
          </p:cNvPr>
          <p:cNvSpPr>
            <a:spLocks noGrp="1"/>
          </p:cNvSpPr>
          <p:nvPr>
            <p:ph idx="1"/>
          </p:nvPr>
        </p:nvSpPr>
        <p:spPr>
          <a:xfrm>
            <a:off x="838200" y="1704705"/>
            <a:ext cx="10515600" cy="4820079"/>
          </a:xfrm>
        </p:spPr>
        <p:txBody>
          <a:bodyPr vert="horz" lIns="91440" tIns="45720" rIns="91440" bIns="45720" rtlCol="0" anchor="t">
            <a:normAutofit/>
          </a:bodyPr>
          <a:lstStyle/>
          <a:p>
            <a:r>
              <a:rPr lang="en-US" dirty="0">
                <a:ea typeface="+mn-lt"/>
                <a:cs typeface="+mn-lt"/>
              </a:rPr>
              <a:t>The </a:t>
            </a:r>
            <a:r>
              <a:rPr lang="en-US" dirty="0">
                <a:highlight>
                  <a:srgbClr val="FFFF00"/>
                </a:highlight>
                <a:ea typeface="+mn-lt"/>
                <a:cs typeface="+mn-lt"/>
              </a:rPr>
              <a:t>product is broken down</a:t>
            </a:r>
            <a:r>
              <a:rPr lang="en-US" dirty="0">
                <a:ea typeface="+mn-lt"/>
                <a:cs typeface="+mn-lt"/>
              </a:rPr>
              <a:t> into a </a:t>
            </a:r>
            <a:r>
              <a:rPr lang="en-US" dirty="0">
                <a:highlight>
                  <a:srgbClr val="FFFF00"/>
                </a:highlight>
                <a:ea typeface="+mn-lt"/>
                <a:cs typeface="+mn-lt"/>
              </a:rPr>
              <a:t>set of manageable</a:t>
            </a:r>
            <a:r>
              <a:rPr lang="en-US" dirty="0">
                <a:ea typeface="+mn-lt"/>
                <a:cs typeface="+mn-lt"/>
              </a:rPr>
              <a:t> and </a:t>
            </a:r>
            <a:r>
              <a:rPr lang="en-US" dirty="0">
                <a:highlight>
                  <a:srgbClr val="FFFF00"/>
                </a:highlight>
                <a:ea typeface="+mn-lt"/>
                <a:cs typeface="+mn-lt"/>
              </a:rPr>
              <a:t>understandable chunks</a:t>
            </a:r>
          </a:p>
          <a:p>
            <a:r>
              <a:rPr lang="en-US" dirty="0">
                <a:highlight>
                  <a:srgbClr val="FFFF00"/>
                </a:highlight>
                <a:ea typeface="+mn-lt"/>
                <a:cs typeface="+mn-lt"/>
              </a:rPr>
              <a:t>Unstable requirements</a:t>
            </a:r>
            <a:r>
              <a:rPr lang="en-US" dirty="0">
                <a:ea typeface="+mn-lt"/>
                <a:cs typeface="+mn-lt"/>
              </a:rPr>
              <a:t> do </a:t>
            </a:r>
            <a:r>
              <a:rPr lang="en-US" dirty="0">
                <a:highlight>
                  <a:srgbClr val="FFFF00"/>
                </a:highlight>
                <a:ea typeface="+mn-lt"/>
                <a:cs typeface="+mn-lt"/>
              </a:rPr>
              <a:t>not hold up progress</a:t>
            </a:r>
            <a:endParaRPr lang="en-US" dirty="0">
              <a:highlight>
                <a:srgbClr val="FFFF00"/>
              </a:highlight>
              <a:ea typeface="Calibri" panose="020F0502020204030204"/>
              <a:cs typeface="Calibri"/>
            </a:endParaRPr>
          </a:p>
          <a:p>
            <a:r>
              <a:rPr lang="en-US" dirty="0">
                <a:ea typeface="+mn-lt"/>
                <a:cs typeface="+mn-lt"/>
              </a:rPr>
              <a:t>The whole team has </a:t>
            </a:r>
            <a:r>
              <a:rPr lang="en-US" dirty="0">
                <a:highlight>
                  <a:srgbClr val="FFFF00"/>
                </a:highlight>
                <a:ea typeface="+mn-lt"/>
                <a:cs typeface="+mn-lt"/>
              </a:rPr>
              <a:t>visibility</a:t>
            </a:r>
            <a:r>
              <a:rPr lang="en-US" dirty="0">
                <a:ea typeface="+mn-lt"/>
                <a:cs typeface="+mn-lt"/>
              </a:rPr>
              <a:t> of everything</a:t>
            </a:r>
            <a:endParaRPr lang="en-US" dirty="0">
              <a:ea typeface="Calibri" panose="020F0502020204030204"/>
              <a:cs typeface="Calibri"/>
            </a:endParaRPr>
          </a:p>
          <a:p>
            <a:r>
              <a:rPr lang="en-US" dirty="0">
                <a:ea typeface="+mn-lt"/>
                <a:cs typeface="+mn-lt"/>
              </a:rPr>
              <a:t>Customers see </a:t>
            </a:r>
            <a:r>
              <a:rPr lang="en-US" dirty="0">
                <a:highlight>
                  <a:srgbClr val="FFFF00"/>
                </a:highlight>
                <a:ea typeface="+mn-lt"/>
                <a:cs typeface="+mn-lt"/>
              </a:rPr>
              <a:t>on-time delivery of increments</a:t>
            </a:r>
            <a:r>
              <a:rPr lang="en-US" dirty="0">
                <a:ea typeface="+mn-lt"/>
                <a:cs typeface="+mn-lt"/>
              </a:rPr>
              <a:t> and </a:t>
            </a:r>
            <a:r>
              <a:rPr lang="en-US" dirty="0">
                <a:highlight>
                  <a:srgbClr val="FFFF00"/>
                </a:highlight>
                <a:ea typeface="+mn-lt"/>
                <a:cs typeface="+mn-lt"/>
              </a:rPr>
              <a:t>gain feedback</a:t>
            </a:r>
            <a:r>
              <a:rPr lang="en-US" dirty="0">
                <a:ea typeface="+mn-lt"/>
                <a:cs typeface="+mn-lt"/>
              </a:rPr>
              <a:t> on how the product works</a:t>
            </a:r>
          </a:p>
          <a:p>
            <a:r>
              <a:rPr lang="en-US" dirty="0">
                <a:highlight>
                  <a:srgbClr val="FFFF00"/>
                </a:highlight>
                <a:ea typeface="+mn-lt"/>
                <a:cs typeface="+mn-lt"/>
              </a:rPr>
              <a:t>Trust</a:t>
            </a:r>
            <a:r>
              <a:rPr lang="en-US" dirty="0">
                <a:ea typeface="+mn-lt"/>
                <a:cs typeface="+mn-lt"/>
              </a:rPr>
              <a:t> between customers and developers is established</a:t>
            </a:r>
            <a:endParaRPr lang="en-US"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33E5C7A-491E-243C-1CEE-CDBDA66F1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BA4AE31-C53E-1BF3-CB87-E8C36CE245B6}"/>
              </a:ext>
            </a:extLst>
          </p:cNvPr>
          <p:cNvSpPr>
            <a:spLocks noGrp="1"/>
          </p:cNvSpPr>
          <p:nvPr>
            <p:ph type="sldNum" sz="quarter" idx="12"/>
          </p:nvPr>
        </p:nvSpPr>
        <p:spPr/>
        <p:txBody>
          <a:bodyPr/>
          <a:lstStyle/>
          <a:p>
            <a:fld id="{008559AE-1842-40A5-A2A9-0518F39FD1A9}" type="slidenum">
              <a:rPr lang="en-US" smtClean="0"/>
              <a:t>53</a:t>
            </a:fld>
            <a:endParaRPr lang="en-GB"/>
          </a:p>
        </p:txBody>
      </p:sp>
      <p:sp>
        <p:nvSpPr>
          <p:cNvPr id="7" name="Footer Placeholder 6">
            <a:extLst>
              <a:ext uri="{FF2B5EF4-FFF2-40B4-BE49-F238E27FC236}">
                <a16:creationId xmlns:a16="http://schemas.microsoft.com/office/drawing/2014/main" id="{BE01DBE6-B8E8-6D3D-3801-34DA5966CE3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842215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ea typeface="Calibri Light"/>
                <a:cs typeface="Calibri Light"/>
              </a:rPr>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543790"/>
            <a:ext cx="10515600" cy="4633173"/>
          </a:xfrm>
        </p:spPr>
        <p:txBody>
          <a:bodyPr vert="horz" lIns="91440" tIns="45720" rIns="91440" bIns="45720" rtlCol="0" anchor="t">
            <a:normAutofit/>
          </a:bodyPr>
          <a:lstStyle/>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endParaRPr lang="en-US">
              <a:ea typeface="Calibri" panose="020F0502020204030204"/>
              <a:cs typeface="Calibri" panose="020F0502020204030204"/>
            </a:endParaRPr>
          </a:p>
          <a:p>
            <a:pPr marL="0" indent="0">
              <a:buNone/>
            </a:pPr>
            <a:r>
              <a:rPr lang="en-US" sz="5400">
                <a:ea typeface="Calibri" panose="020F0502020204030204"/>
                <a:cs typeface="Calibri" panose="020F0502020204030204"/>
              </a:rPr>
              <a:t>Thank you!</a:t>
            </a: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399442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54</Slides>
  <Notes>53</Notes>
  <HiddenSlides>0</HiddenSlide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Software Engineering (CS3201) Agile Methodologies </vt:lpstr>
      <vt:lpstr>Some artefacts (for course project)</vt:lpstr>
      <vt:lpstr> </vt:lpstr>
      <vt:lpstr>Agile Software Development (Process)</vt:lpstr>
      <vt:lpstr>Introduction</vt:lpstr>
      <vt:lpstr>Introduction</vt:lpstr>
      <vt:lpstr>Agile Method characteristics</vt:lpstr>
      <vt:lpstr>Agile Methods</vt:lpstr>
      <vt:lpstr>Agile Method vs. Plan based methods</vt:lpstr>
      <vt:lpstr>Agile Methods vs. Plan based methods</vt:lpstr>
      <vt:lpstr>Change costs as a function of time: Agile vs. Plan based</vt:lpstr>
      <vt:lpstr>Principles of Agile Methods (Som., pg. 76)</vt:lpstr>
      <vt:lpstr>Agile Methods: Usage</vt:lpstr>
      <vt:lpstr>Agile Manifesto</vt:lpstr>
      <vt:lpstr>Agile Methods</vt:lpstr>
      <vt:lpstr>Extreme Programming (XP)</vt:lpstr>
      <vt:lpstr>Extreme Programming (XP)</vt:lpstr>
      <vt:lpstr>XP Process</vt:lpstr>
      <vt:lpstr>XP Process</vt:lpstr>
      <vt:lpstr>XP Process</vt:lpstr>
      <vt:lpstr>XP Components Story</vt:lpstr>
      <vt:lpstr>XP Components: Story</vt:lpstr>
      <vt:lpstr>XP Components Task cards</vt:lpstr>
      <vt:lpstr>XP Process Components – Task cards</vt:lpstr>
      <vt:lpstr>Example: Sustainable Shopping Assistant App</vt:lpstr>
      <vt:lpstr>XP Process Components – Velocity</vt:lpstr>
      <vt:lpstr>XP Process Components – Velocity example</vt:lpstr>
      <vt:lpstr>XP Process Components – CRC cards</vt:lpstr>
      <vt:lpstr>XP Process Components – Pair Programming</vt:lpstr>
      <vt:lpstr>XP Process Components – Test case description</vt:lpstr>
      <vt:lpstr>XP Components: Test case description</vt:lpstr>
      <vt:lpstr>XP Release Cycle</vt:lpstr>
      <vt:lpstr>XP Practices</vt:lpstr>
      <vt:lpstr>XP Practices</vt:lpstr>
      <vt:lpstr>XP Closing thoughts</vt:lpstr>
      <vt:lpstr> </vt:lpstr>
      <vt:lpstr>Agile Project Management.. Scrum.. Introduction</vt:lpstr>
      <vt:lpstr>Agile Project Management.. Scrum.. Introduction</vt:lpstr>
      <vt:lpstr>SCRUMptious? Whet your appetite up to some study? </vt:lpstr>
      <vt:lpstr>Scrum process flow (Pressman, pg. 78)</vt:lpstr>
      <vt:lpstr>SCRUM – Setting the environment</vt:lpstr>
      <vt:lpstr>SCRUM – Roles</vt:lpstr>
      <vt:lpstr>SCRUM – Artifacts</vt:lpstr>
      <vt:lpstr>SCRUM – Artifacts</vt:lpstr>
      <vt:lpstr>SCRUM – Artifacts</vt:lpstr>
      <vt:lpstr>SCRUM – Artifacts</vt:lpstr>
      <vt:lpstr>SCRUM – Artifacts</vt:lpstr>
      <vt:lpstr>SCRUM – Ceremonies</vt:lpstr>
      <vt:lpstr>SCRUM – Ceremonies</vt:lpstr>
      <vt:lpstr>SCRUM – Ceremonies</vt:lpstr>
      <vt:lpstr>SCRUM – Ceremonies</vt:lpstr>
      <vt:lpstr>Scrum sprint cycle (SOM., pg. 86)</vt:lpstr>
      <vt:lpstr>What people like about scrum? (SOM., pg. 87)</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1346</cp:revision>
  <dcterms:created xsi:type="dcterms:W3CDTF">2022-08-02T06:42:39Z</dcterms:created>
  <dcterms:modified xsi:type="dcterms:W3CDTF">2026-02-07T19:14:47Z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