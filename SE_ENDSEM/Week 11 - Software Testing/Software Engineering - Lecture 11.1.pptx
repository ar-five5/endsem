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53"/>
  </p:notesMasterIdLst>
  <p:sldIdLst>
    <p:sldId id="256" r:id="rId5"/>
    <p:sldId id="505" r:id="rId6"/>
    <p:sldId id="603" r:id="rId7"/>
    <p:sldId id="604" r:id="rId8"/>
    <p:sldId id="605" r:id="rId9"/>
    <p:sldId id="606" r:id="rId10"/>
    <p:sldId id="607" r:id="rId11"/>
    <p:sldId id="608" r:id="rId12"/>
    <p:sldId id="508" r:id="rId13"/>
    <p:sldId id="590" r:id="rId14"/>
    <p:sldId id="610" r:id="rId15"/>
    <p:sldId id="611" r:id="rId16"/>
    <p:sldId id="612" r:id="rId17"/>
    <p:sldId id="644" r:id="rId18"/>
    <p:sldId id="613" r:id="rId19"/>
    <p:sldId id="614" r:id="rId20"/>
    <p:sldId id="615" r:id="rId21"/>
    <p:sldId id="616" r:id="rId22"/>
    <p:sldId id="617" r:id="rId23"/>
    <p:sldId id="618" r:id="rId24"/>
    <p:sldId id="619" r:id="rId25"/>
    <p:sldId id="620" r:id="rId26"/>
    <p:sldId id="621" r:id="rId27"/>
    <p:sldId id="622" r:id="rId28"/>
    <p:sldId id="623" r:id="rId29"/>
    <p:sldId id="624" r:id="rId30"/>
    <p:sldId id="625" r:id="rId31"/>
    <p:sldId id="626" r:id="rId32"/>
    <p:sldId id="627" r:id="rId33"/>
    <p:sldId id="628" r:id="rId34"/>
    <p:sldId id="629" r:id="rId35"/>
    <p:sldId id="642" r:id="rId36"/>
    <p:sldId id="633" r:id="rId37"/>
    <p:sldId id="634" r:id="rId38"/>
    <p:sldId id="645" r:id="rId39"/>
    <p:sldId id="646" r:id="rId40"/>
    <p:sldId id="635" r:id="rId41"/>
    <p:sldId id="636" r:id="rId42"/>
    <p:sldId id="637" r:id="rId43"/>
    <p:sldId id="638" r:id="rId44"/>
    <p:sldId id="643" r:id="rId45"/>
    <p:sldId id="640" r:id="rId46"/>
    <p:sldId id="641" r:id="rId47"/>
    <p:sldId id="591" r:id="rId48"/>
    <p:sldId id="630" r:id="rId49"/>
    <p:sldId id="631" r:id="rId50"/>
    <p:sldId id="632" r:id="rId51"/>
    <p:sldId id="609"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559997D-68AD-1D40-AE15-44E6848E6541}" v="1223" dt="2026-04-07T15:28:49.927"/>
    <p1510:client id="{AFEE274A-664F-FDF6-981A-CD7191B256BC}" v="58" dt="2026-04-07T19:07:27.2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7" d="100"/>
          <a:sy n="67" d="100"/>
        </p:scale>
        <p:origin x="8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notesMaster" Target="notesMasters/notesMaster1.xml"/><Relationship Id="rId58" Type="http://schemas.microsoft.com/office/2016/11/relationships/changesInfo" Target="changesInfos/changesInfo1.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theme" Target="theme/theme1.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tableStyles" Target="tableStyle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AFEE274A-664F-FDF6-981A-CD7191B256BC}"/>
    <pc:docChg chg="modSld">
      <pc:chgData name="Avinash Arun Chauhan" userId="S::avinash.chauhan@mahindrauniversity.edu.in::241b5f3e-36f4-4c61-9553-90e6a1c1b8a6" providerId="AD" clId="Web-{AFEE274A-664F-FDF6-981A-CD7191B256BC}" dt="2026-04-07T19:07:27.294" v="60" actId="20577"/>
      <pc:docMkLst>
        <pc:docMk/>
      </pc:docMkLst>
      <pc:sldChg chg="modSp">
        <pc:chgData name="Avinash Arun Chauhan" userId="S::avinash.chauhan@mahindrauniversity.edu.in::241b5f3e-36f4-4c61-9553-90e6a1c1b8a6" providerId="AD" clId="Web-{AFEE274A-664F-FDF6-981A-CD7191B256BC}" dt="2026-04-07T19:07:27.294" v="60" actId="20577"/>
        <pc:sldMkLst>
          <pc:docMk/>
          <pc:sldMk cId="598258798" sldId="634"/>
        </pc:sldMkLst>
        <pc:spChg chg="mod">
          <ac:chgData name="Avinash Arun Chauhan" userId="S::avinash.chauhan@mahindrauniversity.edu.in::241b5f3e-36f4-4c61-9553-90e6a1c1b8a6" providerId="AD" clId="Web-{AFEE274A-664F-FDF6-981A-CD7191B256BC}" dt="2026-04-07T19:07:27.294" v="60" actId="20577"/>
          <ac:spMkLst>
            <pc:docMk/>
            <pc:sldMk cId="598258798" sldId="634"/>
            <ac:spMk id="3" creationId="{DB79F640-2D8B-F04A-0F22-0BEFF88F3C5D}"/>
          </ac:spMkLst>
        </pc:spChg>
      </pc:sldChg>
    </pc:docChg>
  </pc:docChgLst>
  <pc:docChgLst>
    <pc:chgData name="Avinash Arun Chauhan" userId="S::avinash.chauhan@mahindrauniversity.edu.in::241b5f3e-36f4-4c61-9553-90e6a1c1b8a6" providerId="AD" clId="Web-{6559997D-68AD-1D40-AE15-44E6848E6541}"/>
    <pc:docChg chg="addSld delSld modSld sldOrd">
      <pc:chgData name="Avinash Arun Chauhan" userId="S::avinash.chauhan@mahindrauniversity.edu.in::241b5f3e-36f4-4c61-9553-90e6a1c1b8a6" providerId="AD" clId="Web-{6559997D-68AD-1D40-AE15-44E6848E6541}" dt="2026-04-07T15:28:49.927" v="998" actId="20577"/>
      <pc:docMkLst>
        <pc:docMk/>
      </pc:docMkLst>
      <pc:sldChg chg="modSp add del">
        <pc:chgData name="Avinash Arun Chauhan" userId="S::avinash.chauhan@mahindrauniversity.edu.in::241b5f3e-36f4-4c61-9553-90e6a1c1b8a6" providerId="AD" clId="Web-{6559997D-68AD-1D40-AE15-44E6848E6541}" dt="2026-04-07T15:24:10.635" v="620"/>
        <pc:sldMkLst>
          <pc:docMk/>
          <pc:sldMk cId="237678753" sldId="633"/>
        </pc:sldMkLst>
        <pc:spChg chg="mod">
          <ac:chgData name="Avinash Arun Chauhan" userId="S::avinash.chauhan@mahindrauniversity.edu.in::241b5f3e-36f4-4c61-9553-90e6a1c1b8a6" providerId="AD" clId="Web-{6559997D-68AD-1D40-AE15-44E6848E6541}" dt="2026-04-07T14:54:08.254" v="4" actId="20577"/>
          <ac:spMkLst>
            <pc:docMk/>
            <pc:sldMk cId="237678753" sldId="633"/>
            <ac:spMk id="3" creationId="{DC5B6CB3-74C0-5F73-14BA-A04054426AD5}"/>
          </ac:spMkLst>
        </pc:spChg>
      </pc:sldChg>
      <pc:sldChg chg="modSp modNotes">
        <pc:chgData name="Avinash Arun Chauhan" userId="S::avinash.chauhan@mahindrauniversity.edu.in::241b5f3e-36f4-4c61-9553-90e6a1c1b8a6" providerId="AD" clId="Web-{6559997D-68AD-1D40-AE15-44E6848E6541}" dt="2026-04-07T15:23:24.695" v="618" actId="20577"/>
        <pc:sldMkLst>
          <pc:docMk/>
          <pc:sldMk cId="598258798" sldId="634"/>
        </pc:sldMkLst>
        <pc:spChg chg="mod">
          <ac:chgData name="Avinash Arun Chauhan" userId="S::avinash.chauhan@mahindrauniversity.edu.in::241b5f3e-36f4-4c61-9553-90e6a1c1b8a6" providerId="AD" clId="Web-{6559997D-68AD-1D40-AE15-44E6848E6541}" dt="2026-04-07T15:23:24.695" v="618" actId="20577"/>
          <ac:spMkLst>
            <pc:docMk/>
            <pc:sldMk cId="598258798" sldId="634"/>
            <ac:spMk id="3" creationId="{DB79F640-2D8B-F04A-0F22-0BEFF88F3C5D}"/>
          </ac:spMkLst>
        </pc:spChg>
      </pc:sldChg>
      <pc:sldChg chg="modNotes">
        <pc:chgData name="Avinash Arun Chauhan" userId="S::avinash.chauhan@mahindrauniversity.edu.in::241b5f3e-36f4-4c61-9553-90e6a1c1b8a6" providerId="AD" clId="Web-{6559997D-68AD-1D40-AE15-44E6848E6541}" dt="2026-04-07T15:07:10.628" v="47"/>
        <pc:sldMkLst>
          <pc:docMk/>
          <pc:sldMk cId="932002562" sldId="641"/>
        </pc:sldMkLst>
      </pc:sldChg>
      <pc:sldChg chg="addSp delSp modSp add replId">
        <pc:chgData name="Avinash Arun Chauhan" userId="S::avinash.chauhan@mahindrauniversity.edu.in::241b5f3e-36f4-4c61-9553-90e6a1c1b8a6" providerId="AD" clId="Web-{6559997D-68AD-1D40-AE15-44E6848E6541}" dt="2026-04-07T15:21:43.250" v="611" actId="20577"/>
        <pc:sldMkLst>
          <pc:docMk/>
          <pc:sldMk cId="3280554538" sldId="645"/>
        </pc:sldMkLst>
        <pc:spChg chg="mod">
          <ac:chgData name="Avinash Arun Chauhan" userId="S::avinash.chauhan@mahindrauniversity.edu.in::241b5f3e-36f4-4c61-9553-90e6a1c1b8a6" providerId="AD" clId="Web-{6559997D-68AD-1D40-AE15-44E6848E6541}" dt="2026-04-07T15:16:42.128" v="316" actId="20577"/>
          <ac:spMkLst>
            <pc:docMk/>
            <pc:sldMk cId="3280554538" sldId="645"/>
            <ac:spMk id="2" creationId="{827159BD-AB34-1B64-4B6B-0D72FF2D74F8}"/>
          </ac:spMkLst>
        </pc:spChg>
        <pc:spChg chg="del mod">
          <ac:chgData name="Avinash Arun Chauhan" userId="S::avinash.chauhan@mahindrauniversity.edu.in::241b5f3e-36f4-4c61-9553-90e6a1c1b8a6" providerId="AD" clId="Web-{6559997D-68AD-1D40-AE15-44E6848E6541}" dt="2026-04-07T15:16:56.128" v="321"/>
          <ac:spMkLst>
            <pc:docMk/>
            <pc:sldMk cId="3280554538" sldId="645"/>
            <ac:spMk id="3" creationId="{EE98EEC1-BEDC-14B5-0548-86951CB320A5}"/>
          </ac:spMkLst>
        </pc:spChg>
        <pc:spChg chg="add del mod">
          <ac:chgData name="Avinash Arun Chauhan" userId="S::avinash.chauhan@mahindrauniversity.edu.in::241b5f3e-36f4-4c61-9553-90e6a1c1b8a6" providerId="AD" clId="Web-{6559997D-68AD-1D40-AE15-44E6848E6541}" dt="2026-04-07T15:17:00.487" v="322"/>
          <ac:spMkLst>
            <pc:docMk/>
            <pc:sldMk cId="3280554538" sldId="645"/>
            <ac:spMk id="5" creationId="{501ABCD3-3B4E-758A-4F1C-9EF170F3C335}"/>
          </ac:spMkLst>
        </pc:spChg>
        <pc:spChg chg="add mod">
          <ac:chgData name="Avinash Arun Chauhan" userId="S::avinash.chauhan@mahindrauniversity.edu.in::241b5f3e-36f4-4c61-9553-90e6a1c1b8a6" providerId="AD" clId="Web-{6559997D-68AD-1D40-AE15-44E6848E6541}" dt="2026-04-07T15:18:14.192" v="401" actId="20577"/>
          <ac:spMkLst>
            <pc:docMk/>
            <pc:sldMk cId="3280554538" sldId="645"/>
            <ac:spMk id="9" creationId="{91C2D076-77AC-FB6F-1A92-F4293A542554}"/>
          </ac:spMkLst>
        </pc:spChg>
        <pc:spChg chg="add mod">
          <ac:chgData name="Avinash Arun Chauhan" userId="S::avinash.chauhan@mahindrauniversity.edu.in::241b5f3e-36f4-4c61-9553-90e6a1c1b8a6" providerId="AD" clId="Web-{6559997D-68AD-1D40-AE15-44E6848E6541}" dt="2026-04-07T15:19:55.349" v="501" actId="1076"/>
          <ac:spMkLst>
            <pc:docMk/>
            <pc:sldMk cId="3280554538" sldId="645"/>
            <ac:spMk id="10" creationId="{F268ED79-452B-734F-A69B-0B778AB603FA}"/>
          </ac:spMkLst>
        </pc:spChg>
        <pc:spChg chg="add mod">
          <ac:chgData name="Avinash Arun Chauhan" userId="S::avinash.chauhan@mahindrauniversity.edu.in::241b5f3e-36f4-4c61-9553-90e6a1c1b8a6" providerId="AD" clId="Web-{6559997D-68AD-1D40-AE15-44E6848E6541}" dt="2026-04-07T15:21:43.250" v="611" actId="20577"/>
          <ac:spMkLst>
            <pc:docMk/>
            <pc:sldMk cId="3280554538" sldId="645"/>
            <ac:spMk id="11" creationId="{62CD3F77-FC15-9202-0550-90D730E89415}"/>
          </ac:spMkLst>
        </pc:spChg>
      </pc:sldChg>
      <pc:sldChg chg="modSp add ord replId">
        <pc:chgData name="Avinash Arun Chauhan" userId="S::avinash.chauhan@mahindrauniversity.edu.in::241b5f3e-36f4-4c61-9553-90e6a1c1b8a6" providerId="AD" clId="Web-{6559997D-68AD-1D40-AE15-44E6848E6541}" dt="2026-04-07T15:28:49.927" v="998" actId="20577"/>
        <pc:sldMkLst>
          <pc:docMk/>
          <pc:sldMk cId="2959032809" sldId="646"/>
        </pc:sldMkLst>
        <pc:spChg chg="mod">
          <ac:chgData name="Avinash Arun Chauhan" userId="S::avinash.chauhan@mahindrauniversity.edu.in::241b5f3e-36f4-4c61-9553-90e6a1c1b8a6" providerId="AD" clId="Web-{6559997D-68AD-1D40-AE15-44E6848E6541}" dt="2026-04-07T15:26:29.563" v="866" actId="20577"/>
          <ac:spMkLst>
            <pc:docMk/>
            <pc:sldMk cId="2959032809" sldId="646"/>
            <ac:spMk id="2" creationId="{1475EC12-9E75-900E-50C1-ECE095E8F44F}"/>
          </ac:spMkLst>
        </pc:spChg>
        <pc:spChg chg="mod">
          <ac:chgData name="Avinash Arun Chauhan" userId="S::avinash.chauhan@mahindrauniversity.edu.in::241b5f3e-36f4-4c61-9553-90e6a1c1b8a6" providerId="AD" clId="Web-{6559997D-68AD-1D40-AE15-44E6848E6541}" dt="2026-04-07T15:28:49.927" v="998" actId="20577"/>
          <ac:spMkLst>
            <pc:docMk/>
            <pc:sldMk cId="2959032809" sldId="646"/>
            <ac:spMk id="3" creationId="{4314E913-9156-68B8-19D6-25B663714E9D}"/>
          </ac:spMkLst>
        </pc:spChg>
      </pc:sldChg>
    </pc:docChg>
  </pc:docChgLst>
  <pc:docChgLst>
    <pc:chgData name="Avinash Arun Chauhan" userId="S::avinash.chauhan@mahindrauniversity.edu.in::241b5f3e-36f4-4c61-9553-90e6a1c1b8a6" providerId="AD" clId="Web-{CBA95803-9BD0-BC12-C115-8A038CB08916}"/>
    <pc:docChg chg="modSld">
      <pc:chgData name="Avinash Arun Chauhan" userId="S::avinash.chauhan@mahindrauniversity.edu.in::241b5f3e-36f4-4c61-9553-90e6a1c1b8a6" providerId="AD" clId="Web-{CBA95803-9BD0-BC12-C115-8A038CB08916}" dt="2026-04-03T11:07:20.605" v="101" actId="20577"/>
      <pc:docMkLst>
        <pc:docMk/>
      </pc:docMkLst>
      <pc:sldChg chg="modSp">
        <pc:chgData name="Avinash Arun Chauhan" userId="S::avinash.chauhan@mahindrauniversity.edu.in::241b5f3e-36f4-4c61-9553-90e6a1c1b8a6" providerId="AD" clId="Web-{CBA95803-9BD0-BC12-C115-8A038CB08916}" dt="2026-04-03T10:57:16.416" v="61" actId="20577"/>
        <pc:sldMkLst>
          <pc:docMk/>
          <pc:sldMk cId="2512549991" sldId="603"/>
        </pc:sldMkLst>
        <pc:spChg chg="mod">
          <ac:chgData name="Avinash Arun Chauhan" userId="S::avinash.chauhan@mahindrauniversity.edu.in::241b5f3e-36f4-4c61-9553-90e6a1c1b8a6" providerId="AD" clId="Web-{CBA95803-9BD0-BC12-C115-8A038CB08916}" dt="2026-04-03T10:57:16.416" v="61" actId="20577"/>
          <ac:spMkLst>
            <pc:docMk/>
            <pc:sldMk cId="2512549991" sldId="603"/>
            <ac:spMk id="3" creationId="{7CB8A221-ECFB-2EE5-82CA-C8D1830A2EAF}"/>
          </ac:spMkLst>
        </pc:spChg>
      </pc:sldChg>
      <pc:sldChg chg="modSp">
        <pc:chgData name="Avinash Arun Chauhan" userId="S::avinash.chauhan@mahindrauniversity.edu.in::241b5f3e-36f4-4c61-9553-90e6a1c1b8a6" providerId="AD" clId="Web-{CBA95803-9BD0-BC12-C115-8A038CB08916}" dt="2026-04-03T10:58:04.074" v="67" actId="20577"/>
        <pc:sldMkLst>
          <pc:docMk/>
          <pc:sldMk cId="1114753389" sldId="605"/>
        </pc:sldMkLst>
        <pc:spChg chg="mod">
          <ac:chgData name="Avinash Arun Chauhan" userId="S::avinash.chauhan@mahindrauniversity.edu.in::241b5f3e-36f4-4c61-9553-90e6a1c1b8a6" providerId="AD" clId="Web-{CBA95803-9BD0-BC12-C115-8A038CB08916}" dt="2026-04-03T10:58:04.074" v="67" actId="20577"/>
          <ac:spMkLst>
            <pc:docMk/>
            <pc:sldMk cId="1114753389" sldId="605"/>
            <ac:spMk id="3" creationId="{6315B9F7-9B25-CD8D-ABE5-A505900692B8}"/>
          </ac:spMkLst>
        </pc:spChg>
      </pc:sldChg>
      <pc:sldChg chg="modSp">
        <pc:chgData name="Avinash Arun Chauhan" userId="S::avinash.chauhan@mahindrauniversity.edu.in::241b5f3e-36f4-4c61-9553-90e6a1c1b8a6" providerId="AD" clId="Web-{CBA95803-9BD0-BC12-C115-8A038CB08916}" dt="2026-04-03T10:58:27.325" v="68" actId="20577"/>
        <pc:sldMkLst>
          <pc:docMk/>
          <pc:sldMk cId="790881746" sldId="607"/>
        </pc:sldMkLst>
        <pc:spChg chg="mod">
          <ac:chgData name="Avinash Arun Chauhan" userId="S::avinash.chauhan@mahindrauniversity.edu.in::241b5f3e-36f4-4c61-9553-90e6a1c1b8a6" providerId="AD" clId="Web-{CBA95803-9BD0-BC12-C115-8A038CB08916}" dt="2026-04-03T10:58:27.325" v="68" actId="20577"/>
          <ac:spMkLst>
            <pc:docMk/>
            <pc:sldMk cId="790881746" sldId="607"/>
            <ac:spMk id="3" creationId="{65140743-53C4-06CF-0126-576E29672686}"/>
          </ac:spMkLst>
        </pc:spChg>
      </pc:sldChg>
      <pc:sldChg chg="modSp">
        <pc:chgData name="Avinash Arun Chauhan" userId="S::avinash.chauhan@mahindrauniversity.edu.in::241b5f3e-36f4-4c61-9553-90e6a1c1b8a6" providerId="AD" clId="Web-{CBA95803-9BD0-BC12-C115-8A038CB08916}" dt="2026-04-03T10:59:38.014" v="72" actId="20577"/>
        <pc:sldMkLst>
          <pc:docMk/>
          <pc:sldMk cId="3694732558" sldId="610"/>
        </pc:sldMkLst>
        <pc:spChg chg="mod">
          <ac:chgData name="Avinash Arun Chauhan" userId="S::avinash.chauhan@mahindrauniversity.edu.in::241b5f3e-36f4-4c61-9553-90e6a1c1b8a6" providerId="AD" clId="Web-{CBA95803-9BD0-BC12-C115-8A038CB08916}" dt="2026-04-03T10:59:38.014" v="72" actId="20577"/>
          <ac:spMkLst>
            <pc:docMk/>
            <pc:sldMk cId="3694732558" sldId="610"/>
            <ac:spMk id="3" creationId="{C67B74D5-59C6-1301-8850-F6625DE08BAF}"/>
          </ac:spMkLst>
        </pc:spChg>
      </pc:sldChg>
      <pc:sldChg chg="modSp">
        <pc:chgData name="Avinash Arun Chauhan" userId="S::avinash.chauhan@mahindrauniversity.edu.in::241b5f3e-36f4-4c61-9553-90e6a1c1b8a6" providerId="AD" clId="Web-{CBA95803-9BD0-BC12-C115-8A038CB08916}" dt="2026-04-03T10:59:57.968" v="73" actId="20577"/>
        <pc:sldMkLst>
          <pc:docMk/>
          <pc:sldMk cId="1915110001" sldId="613"/>
        </pc:sldMkLst>
        <pc:spChg chg="mod">
          <ac:chgData name="Avinash Arun Chauhan" userId="S::avinash.chauhan@mahindrauniversity.edu.in::241b5f3e-36f4-4c61-9553-90e6a1c1b8a6" providerId="AD" clId="Web-{CBA95803-9BD0-BC12-C115-8A038CB08916}" dt="2026-04-03T10:59:57.968" v="73" actId="20577"/>
          <ac:spMkLst>
            <pc:docMk/>
            <pc:sldMk cId="1915110001" sldId="613"/>
            <ac:spMk id="3" creationId="{9B443DFC-9AB1-23E4-AAEF-2FA512FF3D1E}"/>
          </ac:spMkLst>
        </pc:spChg>
      </pc:sldChg>
      <pc:sldChg chg="modSp">
        <pc:chgData name="Avinash Arun Chauhan" userId="S::avinash.chauhan@mahindrauniversity.edu.in::241b5f3e-36f4-4c61-9553-90e6a1c1b8a6" providerId="AD" clId="Web-{CBA95803-9BD0-BC12-C115-8A038CB08916}" dt="2026-04-03T11:00:40.813" v="76" actId="20577"/>
        <pc:sldMkLst>
          <pc:docMk/>
          <pc:sldMk cId="1578040482" sldId="614"/>
        </pc:sldMkLst>
        <pc:spChg chg="mod">
          <ac:chgData name="Avinash Arun Chauhan" userId="S::avinash.chauhan@mahindrauniversity.edu.in::241b5f3e-36f4-4c61-9553-90e6a1c1b8a6" providerId="AD" clId="Web-{CBA95803-9BD0-BC12-C115-8A038CB08916}" dt="2026-04-03T11:00:40.813" v="76" actId="20577"/>
          <ac:spMkLst>
            <pc:docMk/>
            <pc:sldMk cId="1578040482" sldId="614"/>
            <ac:spMk id="3" creationId="{C50D559D-448D-E9F5-79A2-270E35FDADF8}"/>
          </ac:spMkLst>
        </pc:spChg>
      </pc:sldChg>
      <pc:sldChg chg="modSp">
        <pc:chgData name="Avinash Arun Chauhan" userId="S::avinash.chauhan@mahindrauniversity.edu.in::241b5f3e-36f4-4c61-9553-90e6a1c1b8a6" providerId="AD" clId="Web-{CBA95803-9BD0-BC12-C115-8A038CB08916}" dt="2026-04-03T11:01:42.252" v="79" actId="20577"/>
        <pc:sldMkLst>
          <pc:docMk/>
          <pc:sldMk cId="3850057708" sldId="617"/>
        </pc:sldMkLst>
        <pc:spChg chg="mod">
          <ac:chgData name="Avinash Arun Chauhan" userId="S::avinash.chauhan@mahindrauniversity.edu.in::241b5f3e-36f4-4c61-9553-90e6a1c1b8a6" providerId="AD" clId="Web-{CBA95803-9BD0-BC12-C115-8A038CB08916}" dt="2026-04-03T11:01:42.252" v="79" actId="20577"/>
          <ac:spMkLst>
            <pc:docMk/>
            <pc:sldMk cId="3850057708" sldId="617"/>
            <ac:spMk id="3" creationId="{5E2D333A-994C-1763-B288-C594D2711F82}"/>
          </ac:spMkLst>
        </pc:spChg>
      </pc:sldChg>
      <pc:sldChg chg="modSp">
        <pc:chgData name="Avinash Arun Chauhan" userId="S::avinash.chauhan@mahindrauniversity.edu.in::241b5f3e-36f4-4c61-9553-90e6a1c1b8a6" providerId="AD" clId="Web-{CBA95803-9BD0-BC12-C115-8A038CB08916}" dt="2026-04-03T11:02:26.612" v="82" actId="20577"/>
        <pc:sldMkLst>
          <pc:docMk/>
          <pc:sldMk cId="4214548198" sldId="619"/>
        </pc:sldMkLst>
        <pc:spChg chg="mod">
          <ac:chgData name="Avinash Arun Chauhan" userId="S::avinash.chauhan@mahindrauniversity.edu.in::241b5f3e-36f4-4c61-9553-90e6a1c1b8a6" providerId="AD" clId="Web-{CBA95803-9BD0-BC12-C115-8A038CB08916}" dt="2026-04-03T11:02:26.612" v="82" actId="20577"/>
          <ac:spMkLst>
            <pc:docMk/>
            <pc:sldMk cId="4214548198" sldId="619"/>
            <ac:spMk id="3" creationId="{5D18AFEB-8583-6BBA-A52E-DCC43CBAA93A}"/>
          </ac:spMkLst>
        </pc:spChg>
      </pc:sldChg>
      <pc:sldChg chg="modSp">
        <pc:chgData name="Avinash Arun Chauhan" userId="S::avinash.chauhan@mahindrauniversity.edu.in::241b5f3e-36f4-4c61-9553-90e6a1c1b8a6" providerId="AD" clId="Web-{CBA95803-9BD0-BC12-C115-8A038CB08916}" dt="2026-04-03T11:04:08.365" v="87" actId="20577"/>
        <pc:sldMkLst>
          <pc:docMk/>
          <pc:sldMk cId="345356329" sldId="623"/>
        </pc:sldMkLst>
        <pc:spChg chg="mod">
          <ac:chgData name="Avinash Arun Chauhan" userId="S::avinash.chauhan@mahindrauniversity.edu.in::241b5f3e-36f4-4c61-9553-90e6a1c1b8a6" providerId="AD" clId="Web-{CBA95803-9BD0-BC12-C115-8A038CB08916}" dt="2026-04-03T11:04:08.365" v="87" actId="20577"/>
          <ac:spMkLst>
            <pc:docMk/>
            <pc:sldMk cId="345356329" sldId="623"/>
            <ac:spMk id="3" creationId="{5F538D14-D454-5CC8-5B14-0BE36211A194}"/>
          </ac:spMkLst>
        </pc:spChg>
      </pc:sldChg>
      <pc:sldChg chg="modSp">
        <pc:chgData name="Avinash Arun Chauhan" userId="S::avinash.chauhan@mahindrauniversity.edu.in::241b5f3e-36f4-4c61-9553-90e6a1c1b8a6" providerId="AD" clId="Web-{CBA95803-9BD0-BC12-C115-8A038CB08916}" dt="2026-04-03T11:04:58.413" v="91" actId="20577"/>
        <pc:sldMkLst>
          <pc:docMk/>
          <pc:sldMk cId="337004084" sldId="624"/>
        </pc:sldMkLst>
        <pc:spChg chg="mod">
          <ac:chgData name="Avinash Arun Chauhan" userId="S::avinash.chauhan@mahindrauniversity.edu.in::241b5f3e-36f4-4c61-9553-90e6a1c1b8a6" providerId="AD" clId="Web-{CBA95803-9BD0-BC12-C115-8A038CB08916}" dt="2026-04-03T11:04:58.413" v="91" actId="20577"/>
          <ac:spMkLst>
            <pc:docMk/>
            <pc:sldMk cId="337004084" sldId="624"/>
            <ac:spMk id="3" creationId="{0A4F7D2A-919F-2FA9-A330-EA410C6158E4}"/>
          </ac:spMkLst>
        </pc:spChg>
      </pc:sldChg>
      <pc:sldChg chg="modSp">
        <pc:chgData name="Avinash Arun Chauhan" userId="S::avinash.chauhan@mahindrauniversity.edu.in::241b5f3e-36f4-4c61-9553-90e6a1c1b8a6" providerId="AD" clId="Web-{CBA95803-9BD0-BC12-C115-8A038CB08916}" dt="2026-04-03T11:05:21.898" v="92" actId="20577"/>
        <pc:sldMkLst>
          <pc:docMk/>
          <pc:sldMk cId="102247038" sldId="625"/>
        </pc:sldMkLst>
        <pc:spChg chg="mod">
          <ac:chgData name="Avinash Arun Chauhan" userId="S::avinash.chauhan@mahindrauniversity.edu.in::241b5f3e-36f4-4c61-9553-90e6a1c1b8a6" providerId="AD" clId="Web-{CBA95803-9BD0-BC12-C115-8A038CB08916}" dt="2026-04-03T11:05:21.898" v="92" actId="20577"/>
          <ac:spMkLst>
            <pc:docMk/>
            <pc:sldMk cId="102247038" sldId="625"/>
            <ac:spMk id="3" creationId="{07B0C85A-4BF1-EE6D-3AF5-D4364E24D29C}"/>
          </ac:spMkLst>
        </pc:spChg>
      </pc:sldChg>
      <pc:sldChg chg="modSp">
        <pc:chgData name="Avinash Arun Chauhan" userId="S::avinash.chauhan@mahindrauniversity.edu.in::241b5f3e-36f4-4c61-9553-90e6a1c1b8a6" providerId="AD" clId="Web-{CBA95803-9BD0-BC12-C115-8A038CB08916}" dt="2026-04-03T11:06:04.463" v="95" actId="20577"/>
        <pc:sldMkLst>
          <pc:docMk/>
          <pc:sldMk cId="3287327110" sldId="626"/>
        </pc:sldMkLst>
        <pc:spChg chg="mod">
          <ac:chgData name="Avinash Arun Chauhan" userId="S::avinash.chauhan@mahindrauniversity.edu.in::241b5f3e-36f4-4c61-9553-90e6a1c1b8a6" providerId="AD" clId="Web-{CBA95803-9BD0-BC12-C115-8A038CB08916}" dt="2026-04-03T11:06:04.463" v="95" actId="20577"/>
          <ac:spMkLst>
            <pc:docMk/>
            <pc:sldMk cId="3287327110" sldId="626"/>
            <ac:spMk id="3" creationId="{14C7A5F3-9037-4C9F-47C6-0BBEEEFD8FC7}"/>
          </ac:spMkLst>
        </pc:spChg>
      </pc:sldChg>
      <pc:sldChg chg="modSp">
        <pc:chgData name="Avinash Arun Chauhan" userId="S::avinash.chauhan@mahindrauniversity.edu.in::241b5f3e-36f4-4c61-9553-90e6a1c1b8a6" providerId="AD" clId="Web-{CBA95803-9BD0-BC12-C115-8A038CB08916}" dt="2026-04-03T11:06:40.307" v="99" actId="20577"/>
        <pc:sldMkLst>
          <pc:docMk/>
          <pc:sldMk cId="740290052" sldId="627"/>
        </pc:sldMkLst>
        <pc:spChg chg="mod">
          <ac:chgData name="Avinash Arun Chauhan" userId="S::avinash.chauhan@mahindrauniversity.edu.in::241b5f3e-36f4-4c61-9553-90e6a1c1b8a6" providerId="AD" clId="Web-{CBA95803-9BD0-BC12-C115-8A038CB08916}" dt="2026-04-03T11:06:40.307" v="99" actId="20577"/>
          <ac:spMkLst>
            <pc:docMk/>
            <pc:sldMk cId="740290052" sldId="627"/>
            <ac:spMk id="3" creationId="{B31959C1-A2D1-1C92-68B3-D6996EE96F45}"/>
          </ac:spMkLst>
        </pc:spChg>
      </pc:sldChg>
      <pc:sldChg chg="modSp">
        <pc:chgData name="Avinash Arun Chauhan" userId="S::avinash.chauhan@mahindrauniversity.edu.in::241b5f3e-36f4-4c61-9553-90e6a1c1b8a6" providerId="AD" clId="Web-{CBA95803-9BD0-BC12-C115-8A038CB08916}" dt="2026-04-03T11:06:59.542" v="100" actId="20577"/>
        <pc:sldMkLst>
          <pc:docMk/>
          <pc:sldMk cId="3961141305" sldId="629"/>
        </pc:sldMkLst>
        <pc:spChg chg="mod">
          <ac:chgData name="Avinash Arun Chauhan" userId="S::avinash.chauhan@mahindrauniversity.edu.in::241b5f3e-36f4-4c61-9553-90e6a1c1b8a6" providerId="AD" clId="Web-{CBA95803-9BD0-BC12-C115-8A038CB08916}" dt="2026-04-03T11:06:59.542" v="100" actId="20577"/>
          <ac:spMkLst>
            <pc:docMk/>
            <pc:sldMk cId="3961141305" sldId="629"/>
            <ac:spMk id="3" creationId="{04AC6EC7-8912-7EAC-78CA-A20E856655B7}"/>
          </ac:spMkLst>
        </pc:spChg>
      </pc:sldChg>
      <pc:sldChg chg="modSp">
        <pc:chgData name="Avinash Arun Chauhan" userId="S::avinash.chauhan@mahindrauniversity.edu.in::241b5f3e-36f4-4c61-9553-90e6a1c1b8a6" providerId="AD" clId="Web-{CBA95803-9BD0-BC12-C115-8A038CB08916}" dt="2026-04-03T11:07:20.605" v="101" actId="20577"/>
        <pc:sldMkLst>
          <pc:docMk/>
          <pc:sldMk cId="3290006088" sldId="642"/>
        </pc:sldMkLst>
        <pc:spChg chg="mod">
          <ac:chgData name="Avinash Arun Chauhan" userId="S::avinash.chauhan@mahindrauniversity.edu.in::241b5f3e-36f4-4c61-9553-90e6a1c1b8a6" providerId="AD" clId="Web-{CBA95803-9BD0-BC12-C115-8A038CB08916}" dt="2026-04-03T11:07:20.605" v="101" actId="20577"/>
          <ac:spMkLst>
            <pc:docMk/>
            <pc:sldMk cId="3290006088" sldId="642"/>
            <ac:spMk id="3" creationId="{AFFC4DF8-A905-6C30-AEE4-579374B5A22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4/7/2026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CE37-4634-B3BF-E0F9-59144EF80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6487F-0E4A-3B99-88FD-7BE6A5D9F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48EE2-3BD7-1BF8-25A6-2B888F0E2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2D5C3C-57AB-3F5A-ADA4-18E50C4965D1}"/>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32098196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78B35C-D1CB-C463-589E-63018B2AFA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481F84-09FE-8668-12C8-E4B1C0A116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59C6D9-D3A3-3B26-3692-C142BDF6D7D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4F652D3-3278-90CE-F069-67FD594912BF}"/>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2750545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57173-6B8B-3F78-D533-A89B15A272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67D72-72F0-DDA4-E2D7-7304DF3BEF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85B168-1C8E-E93C-3493-EDBE1B58DBF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DB72559-B488-9106-FFCC-998559FF8AD1}"/>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2885198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976DE-10FA-2F90-F282-3D0AB85F35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75A6CA-0D01-EF78-3DA7-F3B699BC6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DA1A5A-5AC8-F4A2-FA88-DBC79550BF0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D9B689A-3EE3-C578-9003-89CB5C9133DA}"/>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16706009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C8F93-1E4C-C5F1-0C9C-07C4FA8902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27816-7C57-6C58-24E5-BEC1889824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69273-B9E1-CEBD-65C5-C143C6BB06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8D3B56-606A-4A3E-65DD-C1AB3CD3014F}"/>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39871104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E3AAA-2BF1-CD78-4313-492F01DBC5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51CEE1-298B-188B-0325-45E8C7402F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6F26C4-8E9E-BB32-8199-9C19079DE69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BA0445A-4FEF-321B-229A-B51AF834D111}"/>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9868090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D06A40-5EE2-F105-BF51-57079E881C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7A7035-5707-E924-BBED-54614B3F22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3C652B-0E3A-36D4-7957-641758F2BF9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815D4E3-4CE5-AD28-23E4-4BA7F972E927}"/>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6602176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9418-856A-7904-74AD-CC826E042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3295-A536-683F-3A8D-91BFC3A85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FA3A7-515B-40A7-7E56-F869D000FA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147153-92B1-5A41-F2B9-761E48FCA4F6}"/>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896040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44D9-152C-AB69-A126-338C840C51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C1B245-F9EE-6E4D-74C2-FB190B441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653EF-5566-D56F-4FDA-57B4630C667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C1ED8E-1C6B-3F17-6407-C977AE1B8E94}"/>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1895394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93040-A616-0033-673A-67BF74BF7A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D9D23-A355-8C7E-3EE4-5411F37945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B168F-7433-A886-2C79-DEFB926BB8C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77AA1F2-9EFF-230F-0706-3ABB9079FDE1}"/>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11678084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B819F-DBA0-A1A8-37D5-63F142602D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A85B78-BB37-C765-5D43-A99EB56168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14FFC1-A919-A2ED-1378-FD02B4B96F0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BF8BAE-A4B3-6153-9272-516E52983895}"/>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27513677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661D9-B515-20F4-25D5-C70A19FADA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F01897-8C28-FC11-95EB-A42B2BCCA1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D6120E-3AE2-3522-F446-613B766716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E347266-B3A4-DD92-3D11-6A053215952D}"/>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3833735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54ABC-E5D7-1A3D-A115-E52A48D4BC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D28066-2EB5-A39A-B9B6-445F4794FB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AC494-39C5-CD0D-B5F5-1B1564FA63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1F82774-FE59-C43F-4326-36F45BFC655C}"/>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21716613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3669-125E-4399-1A8D-9FFDE441E6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9676E5-3C5F-BB1F-FAB8-CBBB9EC7F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257F61-3FB8-B33F-0023-9B8BA94F5F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C9D6A6C-23DF-B7B7-6E5F-FE805A7CCEE9}"/>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11673524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72236-FB24-A8AA-5217-0774E471FD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F1980-1081-A866-8223-6499C45EA2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9BB-ED8E-8D31-8A04-FE540DB7C0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3133D5-BC46-0DF9-C4A9-8A3EF56E1797}"/>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41417155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D52F68-A408-2646-4AA1-80490DCE5C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C47B2E-2304-A7C6-B142-EAAC0391E9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163ED-989D-C0B4-3031-67067912930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7DF6A07-031E-A799-E8EB-6F2D5A4A5BB7}"/>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10126518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B67BFE-4332-85B2-0E6B-3EB2D26831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0895-FE33-0A7C-6022-21AFDE2DDB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00BB06-F83F-4036-0C66-7DD787B34F3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5D45023-2626-BA6B-DCBF-865850FDE028}"/>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342957988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0EFD6-3E89-0BE1-12C2-C6D42A9875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80A72F-99A8-E6DA-DBA4-C9C7CFC471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F0D943-2041-6F55-87E4-E121EAE7F62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FF2878C-55C6-C04B-5CEB-D40EC74F04C0}"/>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640723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89CEC-831A-18FE-6742-3B477C7F1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731450-0A8B-93DA-CE5D-DD9F967CE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1BB26-CD00-0A9C-B929-610DAAEFAF0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255A76E-6F0A-12FF-2E0F-D65D64A7D472}"/>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76853565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A09C6-903B-7893-8C2A-C72E28DB0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FBD52A-E4D4-9D7E-1BE6-86F2838239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66B21-78E0-C6A8-74E7-0204B17CA61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9C5CA5-93F8-D8CF-DC65-213CEF0C1FDD}"/>
              </a:ext>
            </a:extLst>
          </p:cNvPr>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35414509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B9D39-05FD-C355-D811-ABF8354ADB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A49B20-0364-CA75-3E66-3ACEAC888F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67A7A-B0D9-F6C1-229D-AC993C6AC8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53AA334-921D-B603-3968-09671BB0C9AA}"/>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31495435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F00C6-A305-EC0F-F085-8DE56E406F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D9583C-9EC8-45EA-680E-A574B49A9B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0F37F-DF44-EBBA-8968-347EBD5F3D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84FBB37-79CC-910E-84E6-F37D1F0C5258}"/>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1267364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21186-DCA6-FE8E-6FCE-AA54FABE8F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CC1C2B-CB20-1BA9-7F55-12125D07D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F82C80-A081-D008-E20E-9DB40693817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D57985-9434-50EF-7890-4A735F646A35}"/>
              </a:ext>
            </a:extLst>
          </p:cNvPr>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170334997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7BEC7-5600-6FE8-AF1C-BD5B8E334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A53D76-3EA3-AF90-BEAA-6D15EC5C4D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5C79F9-6C0F-393E-5D39-EEE29FF9DE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E9E312A-54CE-EFE1-F904-C1326C993D7E}"/>
              </a:ext>
            </a:extLst>
          </p:cNvPr>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12052324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1AB0E-791C-2AA5-53EB-A03635D80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29C964-4D41-1253-2F6A-00C80C67AE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61D773-5F99-F2C5-04E0-E5344501692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B202C4-1E6B-D432-45EC-B6C6F64D11ED}"/>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128192166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71186-9258-A612-67BA-F756BE1DBC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1BE0A7-4862-B7A9-DEFE-03527CF22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F0E21B-99B7-1023-0863-392B730E0CD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DE31702-FCBD-EEDA-9621-11D392747BB6}"/>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27379361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D8083B-5C12-5034-41F0-EC02C87D9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DA1EEB-5D3D-D190-63A9-17FA09F73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33B59-F094-3955-1D3D-3C48A708B90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E1A012-C095-DB00-8916-6E6B1D4AD2D8}"/>
              </a:ext>
            </a:extLst>
          </p:cNvPr>
          <p:cNvSpPr>
            <a:spLocks noGrp="1"/>
          </p:cNvSpPr>
          <p:nvPr>
            <p:ph type="sldNum" sz="quarter" idx="5"/>
          </p:nvPr>
        </p:nvSpPr>
        <p:spPr/>
        <p:txBody>
          <a:bodyPr/>
          <a:lstStyle/>
          <a:p>
            <a:fld id="{2E5A36BE-6307-4311-8670-04B167AD63B7}" type="slidenum">
              <a:rPr lang="en-US" smtClean="0"/>
              <a:t>28</a:t>
            </a:fld>
            <a:endParaRPr lang="en-US"/>
          </a:p>
        </p:txBody>
      </p:sp>
    </p:spTree>
    <p:extLst>
      <p:ext uri="{BB962C8B-B14F-4D97-AF65-F5344CB8AC3E}">
        <p14:creationId xmlns:p14="http://schemas.microsoft.com/office/powerpoint/2010/main" val="31139176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87450-E939-C6C9-EB6C-BA809259F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C7DE18-3795-95B7-1BDA-EDD57E5E76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B0431-6598-FAA2-E07A-8E15D9E7C03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205F1F-D1EA-9C78-EC64-FED94BD1F93A}"/>
              </a:ext>
            </a:extLst>
          </p:cNvPr>
          <p:cNvSpPr>
            <a:spLocks noGrp="1"/>
          </p:cNvSpPr>
          <p:nvPr>
            <p:ph type="sldNum" sz="quarter" idx="5"/>
          </p:nvPr>
        </p:nvSpPr>
        <p:spPr/>
        <p:txBody>
          <a:bodyPr/>
          <a:lstStyle/>
          <a:p>
            <a:fld id="{2E5A36BE-6307-4311-8670-04B167AD63B7}" type="slidenum">
              <a:rPr lang="en-US" smtClean="0"/>
              <a:t>29</a:t>
            </a:fld>
            <a:endParaRPr lang="en-US"/>
          </a:p>
        </p:txBody>
      </p:sp>
    </p:spTree>
    <p:extLst>
      <p:ext uri="{BB962C8B-B14F-4D97-AF65-F5344CB8AC3E}">
        <p14:creationId xmlns:p14="http://schemas.microsoft.com/office/powerpoint/2010/main" val="37788835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8619C5-597B-2424-2B85-5EA5F9E63D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CCC378-FFC0-73C2-3543-D39765EAE1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D3D534-7B1F-BCCE-C090-3CD2D70D764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E7F2A6C-4583-13D3-D374-6A66062DB768}"/>
              </a:ext>
            </a:extLst>
          </p:cNvPr>
          <p:cNvSpPr>
            <a:spLocks noGrp="1"/>
          </p:cNvSpPr>
          <p:nvPr>
            <p:ph type="sldNum" sz="quarter" idx="5"/>
          </p:nvPr>
        </p:nvSpPr>
        <p:spPr/>
        <p:txBody>
          <a:bodyPr/>
          <a:lstStyle/>
          <a:p>
            <a:fld id="{2E5A36BE-6307-4311-8670-04B167AD63B7}" type="slidenum">
              <a:rPr lang="en-US" smtClean="0"/>
              <a:t>30</a:t>
            </a:fld>
            <a:endParaRPr lang="en-US"/>
          </a:p>
        </p:txBody>
      </p:sp>
    </p:spTree>
    <p:extLst>
      <p:ext uri="{BB962C8B-B14F-4D97-AF65-F5344CB8AC3E}">
        <p14:creationId xmlns:p14="http://schemas.microsoft.com/office/powerpoint/2010/main" val="72268894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47044-9287-CF28-7811-A8917A43E6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B3FE0-CC29-8979-CE7C-19642F11F9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12235-255D-7C77-CF65-FCBABF8F4E0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CD205B7-7AF6-57FD-8E4C-1DDDB8B22696}"/>
              </a:ext>
            </a:extLst>
          </p:cNvPr>
          <p:cNvSpPr>
            <a:spLocks noGrp="1"/>
          </p:cNvSpPr>
          <p:nvPr>
            <p:ph type="sldNum" sz="quarter" idx="5"/>
          </p:nvPr>
        </p:nvSpPr>
        <p:spPr/>
        <p:txBody>
          <a:bodyPr/>
          <a:lstStyle/>
          <a:p>
            <a:fld id="{2E5A36BE-6307-4311-8670-04B167AD63B7}" type="slidenum">
              <a:rPr lang="en-US" smtClean="0"/>
              <a:t>31</a:t>
            </a:fld>
            <a:endParaRPr lang="en-US"/>
          </a:p>
        </p:txBody>
      </p:sp>
    </p:spTree>
    <p:extLst>
      <p:ext uri="{BB962C8B-B14F-4D97-AF65-F5344CB8AC3E}">
        <p14:creationId xmlns:p14="http://schemas.microsoft.com/office/powerpoint/2010/main" val="38242112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257B0-F4A5-6A9E-0BCC-11D4D428D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40FDAE-1A68-6EB3-ED25-A96646728D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D34616-7FDE-75DA-93CA-3E92D0D5AB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6C085A-B48D-5782-379D-6E1685817603}"/>
              </a:ext>
            </a:extLst>
          </p:cNvPr>
          <p:cNvSpPr>
            <a:spLocks noGrp="1"/>
          </p:cNvSpPr>
          <p:nvPr>
            <p:ph type="sldNum" sz="quarter" idx="5"/>
          </p:nvPr>
        </p:nvSpPr>
        <p:spPr/>
        <p:txBody>
          <a:bodyPr/>
          <a:lstStyle/>
          <a:p>
            <a:fld id="{2E5A36BE-6307-4311-8670-04B167AD63B7}" type="slidenum">
              <a:rPr lang="en-US" smtClean="0"/>
              <a:t>32</a:t>
            </a:fld>
            <a:endParaRPr lang="en-US"/>
          </a:p>
        </p:txBody>
      </p:sp>
    </p:spTree>
    <p:extLst>
      <p:ext uri="{BB962C8B-B14F-4D97-AF65-F5344CB8AC3E}">
        <p14:creationId xmlns:p14="http://schemas.microsoft.com/office/powerpoint/2010/main" val="79263098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37190-97F0-FDC1-4F8D-1404580738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E787C1-4433-6A95-D4FF-FA9A11F378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9A21D4-3EF3-4E32-FBCD-76AB7F36E6E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7CAEC29-1AEF-E0B7-3974-544A88C2E6F4}"/>
              </a:ext>
            </a:extLst>
          </p:cNvPr>
          <p:cNvSpPr>
            <a:spLocks noGrp="1"/>
          </p:cNvSpPr>
          <p:nvPr>
            <p:ph type="sldNum" sz="quarter" idx="5"/>
          </p:nvPr>
        </p:nvSpPr>
        <p:spPr/>
        <p:txBody>
          <a:bodyPr/>
          <a:lstStyle/>
          <a:p>
            <a:fld id="{2E5A36BE-6307-4311-8670-04B167AD63B7}" type="slidenum">
              <a:rPr lang="en-US" smtClean="0"/>
              <a:t>33</a:t>
            </a:fld>
            <a:endParaRPr lang="en-US"/>
          </a:p>
        </p:txBody>
      </p:sp>
    </p:spTree>
    <p:extLst>
      <p:ext uri="{BB962C8B-B14F-4D97-AF65-F5344CB8AC3E}">
        <p14:creationId xmlns:p14="http://schemas.microsoft.com/office/powerpoint/2010/main" val="6558775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D1314-94F0-1960-8979-51762EB9DB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FAA72D-FC51-B9E6-8C70-4817A8BC03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5EBCD-4F62-C782-CFEC-9250518B44F6}"/>
              </a:ext>
            </a:extLst>
          </p:cNvPr>
          <p:cNvSpPr>
            <a:spLocks noGrp="1"/>
          </p:cNvSpPr>
          <p:nvPr>
            <p:ph type="body" idx="1"/>
          </p:nvPr>
        </p:nvSpPr>
        <p:spPr/>
        <p:txBody>
          <a:bodyPr/>
          <a:lstStyle/>
          <a:p>
            <a:r>
              <a:rPr lang="en-US" dirty="0">
                <a:ea typeface="Calibri"/>
                <a:cs typeface="Calibri"/>
              </a:rPr>
              <a:t>Example to highlight branch versus path </a:t>
            </a:r>
            <a:r>
              <a:rPr lang="en-US">
                <a:ea typeface="Calibri"/>
                <a:cs typeface="Calibri"/>
              </a:rPr>
              <a:t>testing</a:t>
            </a:r>
            <a:r>
              <a:rPr lang="en-US" dirty="0">
                <a:ea typeface="Calibri"/>
                <a:cs typeface="Calibri"/>
              </a:rPr>
              <a:t>:</a:t>
            </a:r>
          </a:p>
          <a:p>
            <a:r>
              <a:rPr lang="en-US"/>
              <a:t>if (x &gt; 0)</a:t>
            </a:r>
          </a:p>
          <a:p>
            <a:r>
              <a:rPr lang="en-US" dirty="0"/>
              <a:t>    </a:t>
            </a:r>
            <a:r>
              <a:rPr lang="en-US" dirty="0" err="1"/>
              <a:t>printf</a:t>
            </a:r>
            <a:r>
              <a:rPr lang="en-US" dirty="0"/>
              <a:t>("A");</a:t>
            </a:r>
            <a:endParaRPr lang="en-US" dirty="0">
              <a:ea typeface="Calibri"/>
              <a:cs typeface="Calibri"/>
            </a:endParaRPr>
          </a:p>
          <a:p>
            <a:r>
              <a:rPr lang="en-US"/>
              <a:t>if (y &gt; 0)</a:t>
            </a:r>
          </a:p>
          <a:p>
            <a:r>
              <a:rPr lang="en-US" dirty="0"/>
              <a:t>    </a:t>
            </a:r>
            <a:r>
              <a:rPr lang="en-US" dirty="0" err="1"/>
              <a:t>printf</a:t>
            </a:r>
            <a:r>
              <a:rPr lang="en-US" dirty="0"/>
              <a:t>("B");</a:t>
            </a:r>
            <a:endParaRPr lang="en-US" dirty="0">
              <a:ea typeface="Calibri"/>
              <a:cs typeface="Calibri"/>
            </a:endParaRPr>
          </a:p>
        </p:txBody>
      </p:sp>
      <p:sp>
        <p:nvSpPr>
          <p:cNvPr id="4" name="Slide Number Placeholder 3">
            <a:extLst>
              <a:ext uri="{FF2B5EF4-FFF2-40B4-BE49-F238E27FC236}">
                <a16:creationId xmlns:a16="http://schemas.microsoft.com/office/drawing/2014/main" id="{22AAA27F-1C28-D2E8-D23D-F84B103041F3}"/>
              </a:ext>
            </a:extLst>
          </p:cNvPr>
          <p:cNvSpPr>
            <a:spLocks noGrp="1"/>
          </p:cNvSpPr>
          <p:nvPr>
            <p:ph type="sldNum" sz="quarter" idx="5"/>
          </p:nvPr>
        </p:nvSpPr>
        <p:spPr/>
        <p:txBody>
          <a:bodyPr/>
          <a:lstStyle/>
          <a:p>
            <a:fld id="{2E5A36BE-6307-4311-8670-04B167AD63B7}" type="slidenum">
              <a:rPr lang="en-US" smtClean="0"/>
              <a:t>34</a:t>
            </a:fld>
            <a:endParaRPr lang="en-US"/>
          </a:p>
        </p:txBody>
      </p:sp>
    </p:spTree>
    <p:extLst>
      <p:ext uri="{BB962C8B-B14F-4D97-AF65-F5344CB8AC3E}">
        <p14:creationId xmlns:p14="http://schemas.microsoft.com/office/powerpoint/2010/main" val="16155035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1DE57-4A36-3BF5-B492-E8F1B9C727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5BE8A2-5ABA-0AA3-3AEB-0F489D940E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B6C5C2-502D-8456-FA79-2999D77B0F7F}"/>
              </a:ext>
            </a:extLst>
          </p:cNvPr>
          <p:cNvSpPr>
            <a:spLocks noGrp="1"/>
          </p:cNvSpPr>
          <p:nvPr>
            <p:ph type="body" idx="1"/>
          </p:nvPr>
        </p:nvSpPr>
        <p:spPr/>
        <p:txBody>
          <a:bodyPr/>
          <a:lstStyle/>
          <a:p>
            <a:r>
              <a:rPr lang="en-US" dirty="0">
                <a:ea typeface="Calibri"/>
                <a:cs typeface="Calibri"/>
              </a:rPr>
              <a:t>Example to highlight branch versus path </a:t>
            </a:r>
            <a:r>
              <a:rPr lang="en-US">
                <a:ea typeface="Calibri"/>
                <a:cs typeface="Calibri"/>
              </a:rPr>
              <a:t>testing</a:t>
            </a:r>
            <a:r>
              <a:rPr lang="en-US" dirty="0">
                <a:ea typeface="Calibri"/>
                <a:cs typeface="Calibri"/>
              </a:rPr>
              <a:t>:</a:t>
            </a:r>
          </a:p>
          <a:p>
            <a:r>
              <a:rPr lang="en-US"/>
              <a:t>if (x &gt; 0)</a:t>
            </a:r>
          </a:p>
          <a:p>
            <a:r>
              <a:rPr lang="en-US" dirty="0"/>
              <a:t>    </a:t>
            </a:r>
            <a:r>
              <a:rPr lang="en-US" dirty="0" err="1"/>
              <a:t>printf</a:t>
            </a:r>
            <a:r>
              <a:rPr lang="en-US" dirty="0"/>
              <a:t>("A");</a:t>
            </a:r>
            <a:endParaRPr lang="en-US" dirty="0">
              <a:ea typeface="Calibri"/>
              <a:cs typeface="Calibri"/>
            </a:endParaRPr>
          </a:p>
          <a:p>
            <a:r>
              <a:rPr lang="en-US"/>
              <a:t>if (y &gt; 0)</a:t>
            </a:r>
          </a:p>
          <a:p>
            <a:r>
              <a:rPr lang="en-US" dirty="0"/>
              <a:t>    </a:t>
            </a:r>
            <a:r>
              <a:rPr lang="en-US" dirty="0" err="1"/>
              <a:t>printf</a:t>
            </a:r>
            <a:r>
              <a:rPr lang="en-US" dirty="0"/>
              <a:t>("B");</a:t>
            </a:r>
            <a:endParaRPr lang="en-US" dirty="0">
              <a:ea typeface="Calibri"/>
              <a:cs typeface="Calibri"/>
            </a:endParaRPr>
          </a:p>
        </p:txBody>
      </p:sp>
      <p:sp>
        <p:nvSpPr>
          <p:cNvPr id="4" name="Slide Number Placeholder 3">
            <a:extLst>
              <a:ext uri="{FF2B5EF4-FFF2-40B4-BE49-F238E27FC236}">
                <a16:creationId xmlns:a16="http://schemas.microsoft.com/office/drawing/2014/main" id="{A93A4A40-8D3C-23F9-CFEF-3075A5A4A991}"/>
              </a:ext>
            </a:extLst>
          </p:cNvPr>
          <p:cNvSpPr>
            <a:spLocks noGrp="1"/>
          </p:cNvSpPr>
          <p:nvPr>
            <p:ph type="sldNum" sz="quarter" idx="5"/>
          </p:nvPr>
        </p:nvSpPr>
        <p:spPr/>
        <p:txBody>
          <a:bodyPr/>
          <a:lstStyle/>
          <a:p>
            <a:fld id="{2E5A36BE-6307-4311-8670-04B167AD63B7}" type="slidenum">
              <a:rPr lang="en-US" smtClean="0"/>
              <a:t>35</a:t>
            </a:fld>
            <a:endParaRPr lang="en-US"/>
          </a:p>
        </p:txBody>
      </p:sp>
    </p:spTree>
    <p:extLst>
      <p:ext uri="{BB962C8B-B14F-4D97-AF65-F5344CB8AC3E}">
        <p14:creationId xmlns:p14="http://schemas.microsoft.com/office/powerpoint/2010/main" val="420621514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C7639-EC47-19F2-68F9-95D593F88F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F75D4F-FAB9-AFC3-AFFE-F90D9E2B67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5E09A-CC59-DFDF-8219-853F5AF4EE65}"/>
              </a:ext>
            </a:extLst>
          </p:cNvPr>
          <p:cNvSpPr>
            <a:spLocks noGrp="1"/>
          </p:cNvSpPr>
          <p:nvPr>
            <p:ph type="body" idx="1"/>
          </p:nvPr>
        </p:nvSpPr>
        <p:spPr/>
        <p:txBody>
          <a:bodyPr/>
          <a:lstStyle/>
          <a:p>
            <a:r>
              <a:rPr lang="en-US" dirty="0">
                <a:ea typeface="Calibri"/>
                <a:cs typeface="Calibri"/>
              </a:rPr>
              <a:t>Example to highlight branch versus path </a:t>
            </a:r>
            <a:r>
              <a:rPr lang="en-US">
                <a:ea typeface="Calibri"/>
                <a:cs typeface="Calibri"/>
              </a:rPr>
              <a:t>testing</a:t>
            </a:r>
            <a:r>
              <a:rPr lang="en-US" dirty="0">
                <a:ea typeface="Calibri"/>
                <a:cs typeface="Calibri"/>
              </a:rPr>
              <a:t>:</a:t>
            </a:r>
          </a:p>
          <a:p>
            <a:r>
              <a:rPr lang="en-US"/>
              <a:t>if (x &gt; 0)</a:t>
            </a:r>
          </a:p>
          <a:p>
            <a:r>
              <a:rPr lang="en-US" dirty="0"/>
              <a:t>    </a:t>
            </a:r>
            <a:r>
              <a:rPr lang="en-US" dirty="0" err="1"/>
              <a:t>printf</a:t>
            </a:r>
            <a:r>
              <a:rPr lang="en-US" dirty="0"/>
              <a:t>("A");</a:t>
            </a:r>
            <a:endParaRPr lang="en-US" dirty="0">
              <a:ea typeface="Calibri"/>
              <a:cs typeface="Calibri"/>
            </a:endParaRPr>
          </a:p>
          <a:p>
            <a:r>
              <a:rPr lang="en-US"/>
              <a:t>if (y &gt; 0)</a:t>
            </a:r>
          </a:p>
          <a:p>
            <a:r>
              <a:rPr lang="en-US" dirty="0"/>
              <a:t>    </a:t>
            </a:r>
            <a:r>
              <a:rPr lang="en-US" dirty="0" err="1"/>
              <a:t>printf</a:t>
            </a:r>
            <a:r>
              <a:rPr lang="en-US" dirty="0"/>
              <a:t>("B");</a:t>
            </a:r>
            <a:endParaRPr lang="en-US" dirty="0">
              <a:ea typeface="Calibri"/>
              <a:cs typeface="Calibri"/>
            </a:endParaRPr>
          </a:p>
        </p:txBody>
      </p:sp>
      <p:sp>
        <p:nvSpPr>
          <p:cNvPr id="4" name="Slide Number Placeholder 3">
            <a:extLst>
              <a:ext uri="{FF2B5EF4-FFF2-40B4-BE49-F238E27FC236}">
                <a16:creationId xmlns:a16="http://schemas.microsoft.com/office/drawing/2014/main" id="{11DAE1DA-0395-EB49-C697-1E3DECEE813E}"/>
              </a:ext>
            </a:extLst>
          </p:cNvPr>
          <p:cNvSpPr>
            <a:spLocks noGrp="1"/>
          </p:cNvSpPr>
          <p:nvPr>
            <p:ph type="sldNum" sz="quarter" idx="5"/>
          </p:nvPr>
        </p:nvSpPr>
        <p:spPr/>
        <p:txBody>
          <a:bodyPr/>
          <a:lstStyle/>
          <a:p>
            <a:fld id="{2E5A36BE-6307-4311-8670-04B167AD63B7}" type="slidenum">
              <a:rPr lang="en-US" smtClean="0"/>
              <a:t>36</a:t>
            </a:fld>
            <a:endParaRPr lang="en-US"/>
          </a:p>
        </p:txBody>
      </p:sp>
    </p:spTree>
    <p:extLst>
      <p:ext uri="{BB962C8B-B14F-4D97-AF65-F5344CB8AC3E}">
        <p14:creationId xmlns:p14="http://schemas.microsoft.com/office/powerpoint/2010/main" val="281197715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4A46-6BC6-A666-04BD-0539F402F5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29F65F-0BFC-C7B7-A8AF-3F4484838C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5923F6-13C4-C266-FF72-E4D0902A926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F2ABF59-44E1-5B4F-22D7-8F3C09F8E2E4}"/>
              </a:ext>
            </a:extLst>
          </p:cNvPr>
          <p:cNvSpPr>
            <a:spLocks noGrp="1"/>
          </p:cNvSpPr>
          <p:nvPr>
            <p:ph type="sldNum" sz="quarter" idx="5"/>
          </p:nvPr>
        </p:nvSpPr>
        <p:spPr/>
        <p:txBody>
          <a:bodyPr/>
          <a:lstStyle/>
          <a:p>
            <a:fld id="{2E5A36BE-6307-4311-8670-04B167AD63B7}" type="slidenum">
              <a:rPr lang="en-US" smtClean="0"/>
              <a:t>37</a:t>
            </a:fld>
            <a:endParaRPr lang="en-US"/>
          </a:p>
        </p:txBody>
      </p:sp>
    </p:spTree>
    <p:extLst>
      <p:ext uri="{BB962C8B-B14F-4D97-AF65-F5344CB8AC3E}">
        <p14:creationId xmlns:p14="http://schemas.microsoft.com/office/powerpoint/2010/main" val="137592123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2242A-3F73-FCFA-6F24-B74D7CE77A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B8045-A855-6C36-3FE9-154992AAA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AFC85C-8499-0392-1704-A7C78C2E6F6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2A9E26E-2C5E-0668-CB51-2900B1E2B58F}"/>
              </a:ext>
            </a:extLst>
          </p:cNvPr>
          <p:cNvSpPr>
            <a:spLocks noGrp="1"/>
          </p:cNvSpPr>
          <p:nvPr>
            <p:ph type="sldNum" sz="quarter" idx="5"/>
          </p:nvPr>
        </p:nvSpPr>
        <p:spPr/>
        <p:txBody>
          <a:bodyPr/>
          <a:lstStyle/>
          <a:p>
            <a:fld id="{2E5A36BE-6307-4311-8670-04B167AD63B7}" type="slidenum">
              <a:rPr lang="en-US" smtClean="0"/>
              <a:t>38</a:t>
            </a:fld>
            <a:endParaRPr lang="en-US"/>
          </a:p>
        </p:txBody>
      </p:sp>
    </p:spTree>
    <p:extLst>
      <p:ext uri="{BB962C8B-B14F-4D97-AF65-F5344CB8AC3E}">
        <p14:creationId xmlns:p14="http://schemas.microsoft.com/office/powerpoint/2010/main" val="293977205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009B8-AF07-CE63-1372-DA54D4A163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7D7509-BD4C-A8E5-74C3-5E477EA041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31F1A-C6F2-E7BC-CB3B-573FCE96F5D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D22D26A-AEFB-8957-416F-E1D7F4FFFA88}"/>
              </a:ext>
            </a:extLst>
          </p:cNvPr>
          <p:cNvSpPr>
            <a:spLocks noGrp="1"/>
          </p:cNvSpPr>
          <p:nvPr>
            <p:ph type="sldNum" sz="quarter" idx="5"/>
          </p:nvPr>
        </p:nvSpPr>
        <p:spPr/>
        <p:txBody>
          <a:bodyPr/>
          <a:lstStyle/>
          <a:p>
            <a:fld id="{2E5A36BE-6307-4311-8670-04B167AD63B7}" type="slidenum">
              <a:rPr lang="en-US" smtClean="0"/>
              <a:t>39</a:t>
            </a:fld>
            <a:endParaRPr lang="en-US"/>
          </a:p>
        </p:txBody>
      </p:sp>
    </p:spTree>
    <p:extLst>
      <p:ext uri="{BB962C8B-B14F-4D97-AF65-F5344CB8AC3E}">
        <p14:creationId xmlns:p14="http://schemas.microsoft.com/office/powerpoint/2010/main" val="25397768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1DC6E-B004-9558-902B-4C3DE749E2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117E7B-EABA-60A3-1EE4-66B5E86828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0A11EF-8826-B2E8-99D4-3DD482BDA20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6ECD6F7-64D7-DEC7-B4AC-3D092BF8C660}"/>
              </a:ext>
            </a:extLst>
          </p:cNvPr>
          <p:cNvSpPr>
            <a:spLocks noGrp="1"/>
          </p:cNvSpPr>
          <p:nvPr>
            <p:ph type="sldNum" sz="quarter" idx="5"/>
          </p:nvPr>
        </p:nvSpPr>
        <p:spPr/>
        <p:txBody>
          <a:bodyPr/>
          <a:lstStyle/>
          <a:p>
            <a:fld id="{2E5A36BE-6307-4311-8670-04B167AD63B7}" type="slidenum">
              <a:rPr lang="en-US" smtClean="0"/>
              <a:t>40</a:t>
            </a:fld>
            <a:endParaRPr lang="en-US"/>
          </a:p>
        </p:txBody>
      </p:sp>
    </p:spTree>
    <p:extLst>
      <p:ext uri="{BB962C8B-B14F-4D97-AF65-F5344CB8AC3E}">
        <p14:creationId xmlns:p14="http://schemas.microsoft.com/office/powerpoint/2010/main" val="203417835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5063E-2CDB-9F7F-F3B6-85FB257339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A3ABD-3BF0-7B87-E06F-0D31F41DD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90B8C1-5F5E-29A8-F4BB-4B6F0098D1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E3D46CE-AAE3-13B3-0994-F0CAE73165F1}"/>
              </a:ext>
            </a:extLst>
          </p:cNvPr>
          <p:cNvSpPr>
            <a:spLocks noGrp="1"/>
          </p:cNvSpPr>
          <p:nvPr>
            <p:ph type="sldNum" sz="quarter" idx="5"/>
          </p:nvPr>
        </p:nvSpPr>
        <p:spPr/>
        <p:txBody>
          <a:bodyPr/>
          <a:lstStyle/>
          <a:p>
            <a:fld id="{2E5A36BE-6307-4311-8670-04B167AD63B7}" type="slidenum">
              <a:rPr lang="en-US" smtClean="0"/>
              <a:t>41</a:t>
            </a:fld>
            <a:endParaRPr lang="en-US"/>
          </a:p>
        </p:txBody>
      </p:sp>
    </p:spTree>
    <p:extLst>
      <p:ext uri="{BB962C8B-B14F-4D97-AF65-F5344CB8AC3E}">
        <p14:creationId xmlns:p14="http://schemas.microsoft.com/office/powerpoint/2010/main" val="35289140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4F094E-F44A-E0AF-B27C-CA4E986023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3732E0-F016-40CF-825C-71B85FB266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27FF2-37D8-CE9A-7173-A12E68DA99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F8162D0-B3BC-8530-45B7-DC8B177A9E91}"/>
              </a:ext>
            </a:extLst>
          </p:cNvPr>
          <p:cNvSpPr>
            <a:spLocks noGrp="1"/>
          </p:cNvSpPr>
          <p:nvPr>
            <p:ph type="sldNum" sz="quarter" idx="5"/>
          </p:nvPr>
        </p:nvSpPr>
        <p:spPr/>
        <p:txBody>
          <a:bodyPr/>
          <a:lstStyle/>
          <a:p>
            <a:fld id="{2E5A36BE-6307-4311-8670-04B167AD63B7}" type="slidenum">
              <a:rPr lang="en-US" smtClean="0"/>
              <a:t>42</a:t>
            </a:fld>
            <a:endParaRPr lang="en-US"/>
          </a:p>
        </p:txBody>
      </p:sp>
    </p:spTree>
    <p:extLst>
      <p:ext uri="{BB962C8B-B14F-4D97-AF65-F5344CB8AC3E}">
        <p14:creationId xmlns:p14="http://schemas.microsoft.com/office/powerpoint/2010/main" val="7447384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6832C-CCFE-6BFE-8595-D2376FF9C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F46ADB-B4F6-5F82-242C-943964C3A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18142C-07CA-A8A0-BE6D-C3E296C53B1C}"/>
              </a:ext>
            </a:extLst>
          </p:cNvPr>
          <p:cNvSpPr>
            <a:spLocks noGrp="1"/>
          </p:cNvSpPr>
          <p:nvPr>
            <p:ph type="body" idx="1"/>
          </p:nvPr>
        </p:nvSpPr>
        <p:spPr/>
        <p:txBody>
          <a:bodyPr/>
          <a:lstStyle/>
          <a:p>
            <a:pPr marL="171450" indent="-171450">
              <a:buFont typeface="Arial"/>
              <a:buChar char="•"/>
            </a:pPr>
            <a:endParaRPr lang="en-US" dirty="0">
              <a:ea typeface="Calibri"/>
              <a:cs typeface="Calibri"/>
            </a:endParaRPr>
          </a:p>
        </p:txBody>
      </p:sp>
      <p:sp>
        <p:nvSpPr>
          <p:cNvPr id="4" name="Slide Number Placeholder 3">
            <a:extLst>
              <a:ext uri="{FF2B5EF4-FFF2-40B4-BE49-F238E27FC236}">
                <a16:creationId xmlns:a16="http://schemas.microsoft.com/office/drawing/2014/main" id="{0D9D748E-5289-731D-8C66-5BD9796C3D72}"/>
              </a:ext>
            </a:extLst>
          </p:cNvPr>
          <p:cNvSpPr>
            <a:spLocks noGrp="1"/>
          </p:cNvSpPr>
          <p:nvPr>
            <p:ph type="sldNum" sz="quarter" idx="5"/>
          </p:nvPr>
        </p:nvSpPr>
        <p:spPr/>
        <p:txBody>
          <a:bodyPr/>
          <a:lstStyle/>
          <a:p>
            <a:fld id="{2E5A36BE-6307-4311-8670-04B167AD63B7}" type="slidenum">
              <a:rPr lang="en-US" smtClean="0"/>
              <a:t>43</a:t>
            </a:fld>
            <a:endParaRPr lang="en-US"/>
          </a:p>
        </p:txBody>
      </p:sp>
    </p:spTree>
    <p:extLst>
      <p:ext uri="{BB962C8B-B14F-4D97-AF65-F5344CB8AC3E}">
        <p14:creationId xmlns:p14="http://schemas.microsoft.com/office/powerpoint/2010/main" val="19859258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AA5F-B71B-8AA6-8ED2-DD1EC7929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02CB72-EBFC-5F2F-C09E-A448D86E0B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8D4FA5F-973C-4032-1E3B-8E5B70F1EEB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BEF9353-9E27-0102-A21A-5960E989E801}"/>
              </a:ext>
            </a:extLst>
          </p:cNvPr>
          <p:cNvSpPr>
            <a:spLocks noGrp="1"/>
          </p:cNvSpPr>
          <p:nvPr>
            <p:ph type="sldNum" sz="quarter" idx="5"/>
          </p:nvPr>
        </p:nvSpPr>
        <p:spPr/>
        <p:txBody>
          <a:bodyPr/>
          <a:lstStyle/>
          <a:p>
            <a:fld id="{2E5A36BE-6307-4311-8670-04B167AD63B7}" type="slidenum">
              <a:rPr lang="en-US" smtClean="0"/>
              <a:t>44</a:t>
            </a:fld>
            <a:endParaRPr lang="en-US"/>
          </a:p>
        </p:txBody>
      </p:sp>
    </p:spTree>
    <p:extLst>
      <p:ext uri="{BB962C8B-B14F-4D97-AF65-F5344CB8AC3E}">
        <p14:creationId xmlns:p14="http://schemas.microsoft.com/office/powerpoint/2010/main" val="74947160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0E0A6-64E4-13E9-9174-93F6A19BBA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47618-9840-D530-A302-61D89F07F5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33E1-DB13-4316-E26A-CC08E68860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B349B3C-481C-171D-1A2B-320A4A75AA31}"/>
              </a:ext>
            </a:extLst>
          </p:cNvPr>
          <p:cNvSpPr>
            <a:spLocks noGrp="1"/>
          </p:cNvSpPr>
          <p:nvPr>
            <p:ph type="sldNum" sz="quarter" idx="5"/>
          </p:nvPr>
        </p:nvSpPr>
        <p:spPr/>
        <p:txBody>
          <a:bodyPr/>
          <a:lstStyle/>
          <a:p>
            <a:fld id="{2E5A36BE-6307-4311-8670-04B167AD63B7}" type="slidenum">
              <a:rPr lang="en-US" smtClean="0"/>
              <a:t>45</a:t>
            </a:fld>
            <a:endParaRPr lang="en-US"/>
          </a:p>
        </p:txBody>
      </p:sp>
    </p:spTree>
    <p:extLst>
      <p:ext uri="{BB962C8B-B14F-4D97-AF65-F5344CB8AC3E}">
        <p14:creationId xmlns:p14="http://schemas.microsoft.com/office/powerpoint/2010/main" val="33567435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7BD1E-46B9-4DA5-7ECD-B06FDC7839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10EB9-F494-7D02-4988-49446BF2F2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E600B6-D700-2D59-ADC8-6F4F51627A7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82FF9DE-ADAD-764D-E5EF-F1B86F00034B}"/>
              </a:ext>
            </a:extLst>
          </p:cNvPr>
          <p:cNvSpPr>
            <a:spLocks noGrp="1"/>
          </p:cNvSpPr>
          <p:nvPr>
            <p:ph type="sldNum" sz="quarter" idx="5"/>
          </p:nvPr>
        </p:nvSpPr>
        <p:spPr/>
        <p:txBody>
          <a:bodyPr/>
          <a:lstStyle/>
          <a:p>
            <a:fld id="{2E5A36BE-6307-4311-8670-04B167AD63B7}" type="slidenum">
              <a:rPr lang="en-US" smtClean="0"/>
              <a:t>46</a:t>
            </a:fld>
            <a:endParaRPr lang="en-US"/>
          </a:p>
        </p:txBody>
      </p:sp>
    </p:spTree>
    <p:extLst>
      <p:ext uri="{BB962C8B-B14F-4D97-AF65-F5344CB8AC3E}">
        <p14:creationId xmlns:p14="http://schemas.microsoft.com/office/powerpoint/2010/main" val="20088812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CEEB1-1DE9-FD04-C563-D82E681B6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3E651D-F3A6-B3B4-C93F-24D8362958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2CB18E-3CF7-427D-C30B-5CF3B7284CA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1674ACF-40E6-D8DF-1D50-28F3CF8BB555}"/>
              </a:ext>
            </a:extLst>
          </p:cNvPr>
          <p:cNvSpPr>
            <a:spLocks noGrp="1"/>
          </p:cNvSpPr>
          <p:nvPr>
            <p:ph type="sldNum" sz="quarter" idx="5"/>
          </p:nvPr>
        </p:nvSpPr>
        <p:spPr/>
        <p:txBody>
          <a:bodyPr/>
          <a:lstStyle/>
          <a:p>
            <a:fld id="{2E5A36BE-6307-4311-8670-04B167AD63B7}" type="slidenum">
              <a:rPr lang="en-US" smtClean="0"/>
              <a:t>47</a:t>
            </a:fld>
            <a:endParaRPr lang="en-US"/>
          </a:p>
        </p:txBody>
      </p:sp>
    </p:spTree>
    <p:extLst>
      <p:ext uri="{BB962C8B-B14F-4D97-AF65-F5344CB8AC3E}">
        <p14:creationId xmlns:p14="http://schemas.microsoft.com/office/powerpoint/2010/main" val="10032882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9DD53D-E37D-DF57-DBB3-3A1E9E658F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A3E3E-82AA-AD90-F7E5-9174EB3E9B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74AE5-E68D-9FF7-9AA4-988C93BF40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A19F6AF-533F-1AE7-3637-0CC352F74286}"/>
              </a:ext>
            </a:extLst>
          </p:cNvPr>
          <p:cNvSpPr>
            <a:spLocks noGrp="1"/>
          </p:cNvSpPr>
          <p:nvPr>
            <p:ph type="sldNum" sz="quarter" idx="5"/>
          </p:nvPr>
        </p:nvSpPr>
        <p:spPr/>
        <p:txBody>
          <a:bodyPr/>
          <a:lstStyle/>
          <a:p>
            <a:fld id="{2E5A36BE-6307-4311-8670-04B167AD63B7}" type="slidenum">
              <a:rPr lang="en-US" smtClean="0"/>
              <a:t>48</a:t>
            </a:fld>
            <a:endParaRPr lang="en-US"/>
          </a:p>
        </p:txBody>
      </p:sp>
    </p:spTree>
    <p:extLst>
      <p:ext uri="{BB962C8B-B14F-4D97-AF65-F5344CB8AC3E}">
        <p14:creationId xmlns:p14="http://schemas.microsoft.com/office/powerpoint/2010/main" val="396637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4/7/2026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4/7/2026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4/7/2026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4/7/2026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4/7/2026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4/7/2026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4/7/2026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4/7/2026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4/7/2026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4/7/2026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4/7/2026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4/7/2026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fontScale="90000"/>
          </a:bodyPr>
          <a:lstStyle/>
          <a:p>
            <a:r>
              <a:rPr lang="en-US" dirty="0"/>
              <a:t>Software Engineering</a:t>
            </a:r>
            <a:br>
              <a:rPr lang="en-US" dirty="0"/>
            </a:br>
            <a:r>
              <a:rPr lang="en-US" sz="4000" dirty="0"/>
              <a:t>(CS3201)</a:t>
            </a:r>
            <a:br>
              <a:rPr lang="en-US" sz="4000" dirty="0">
                <a:ea typeface="Calibri Light"/>
                <a:cs typeface="Calibri Light"/>
              </a:rPr>
            </a:br>
            <a:r>
              <a:rPr lang="en-US" sz="4000" dirty="0">
                <a:ea typeface="Calibri Light"/>
                <a:cs typeface="Calibri Light"/>
              </a:rPr>
              <a:t>Software Testing</a:t>
            </a:r>
            <a:br>
              <a:rPr lang="en-US" dirty="0"/>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44F7-BDCB-95FE-E590-28879ABE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248E-235C-2C9F-86E6-FFE7D5586919}"/>
              </a:ext>
            </a:extLst>
          </p:cNvPr>
          <p:cNvSpPr>
            <a:spLocks noGrp="1"/>
          </p:cNvSpPr>
          <p:nvPr>
            <p:ph type="title"/>
          </p:nvPr>
        </p:nvSpPr>
        <p:spPr/>
        <p:txBody>
          <a:bodyPr/>
          <a:lstStyle/>
          <a:p>
            <a:r>
              <a:rPr lang="en-GB" dirty="0">
                <a:ea typeface="Calibri Light"/>
                <a:cs typeface="Calibri Light"/>
              </a:rPr>
              <a:t>Objectives</a:t>
            </a:r>
            <a:endParaRPr lang="en-US" dirty="0"/>
          </a:p>
        </p:txBody>
      </p:sp>
      <p:sp>
        <p:nvSpPr>
          <p:cNvPr id="3" name="Content Placeholder 2">
            <a:extLst>
              <a:ext uri="{FF2B5EF4-FFF2-40B4-BE49-F238E27FC236}">
                <a16:creationId xmlns:a16="http://schemas.microsoft.com/office/drawing/2014/main" id="{29BD426B-01FE-6A79-FB41-404DC71E5937}"/>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mn-lt"/>
                <a:cs typeface="+mn-lt"/>
              </a:rPr>
              <a:t>Understand the different stages of testing from 'testing during development' to 'acceptance testing by system customers'</a:t>
            </a:r>
            <a:endParaRPr lang="en-US" dirty="0">
              <a:ea typeface="Calibri" panose="020F0502020204030204"/>
              <a:cs typeface="Calibri"/>
            </a:endParaRPr>
          </a:p>
          <a:p>
            <a:r>
              <a:rPr lang="en-US" dirty="0">
                <a:ea typeface="Calibri" panose="020F0502020204030204"/>
                <a:cs typeface="Calibri"/>
              </a:rPr>
              <a:t>Understand techniques to help choose test cases</a:t>
            </a:r>
          </a:p>
          <a:p>
            <a:r>
              <a:rPr lang="en-US" dirty="0">
                <a:ea typeface="Calibri" panose="020F0502020204030204"/>
                <a:cs typeface="Calibri"/>
              </a:rPr>
              <a:t>Understand 'Test First Development'</a:t>
            </a:r>
          </a:p>
          <a:p>
            <a:r>
              <a:rPr lang="en-US" dirty="0">
                <a:ea typeface="Calibri" panose="020F0502020204030204"/>
                <a:cs typeface="Calibri"/>
              </a:rPr>
              <a:t>Understand Component testing, System testing and Release testing</a:t>
            </a:r>
          </a:p>
        </p:txBody>
      </p:sp>
      <p:pic>
        <p:nvPicPr>
          <p:cNvPr id="6" name="Picture 5" descr="A black and white logo&#10;&#10;Description automatically generated">
            <a:extLst>
              <a:ext uri="{FF2B5EF4-FFF2-40B4-BE49-F238E27FC236}">
                <a16:creationId xmlns:a16="http://schemas.microsoft.com/office/drawing/2014/main" id="{BB3DAC13-0D16-2DB1-080D-657CDE2AA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580A80-2CDB-8E1D-57C4-DC8463447B7C}"/>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0F69DF3E-4B37-1F1C-A5C7-C91D3B04D31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839001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CF5DF-DAD1-090D-8F35-EAE2746FF3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138EF-7446-BEAE-0EAA-06EA31162732}"/>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7CB8A221-ECFB-2EE5-82CA-C8D1830A2EAF}"/>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panose="020F0502020204030204"/>
                <a:cs typeface="Calibri"/>
              </a:rPr>
              <a:t>Intention of testing – </a:t>
            </a:r>
            <a:r>
              <a:rPr lang="en-US" dirty="0">
                <a:highlight>
                  <a:srgbClr val="FFFF00"/>
                </a:highlight>
                <a:ea typeface="Calibri" panose="020F0502020204030204"/>
                <a:cs typeface="Calibri"/>
              </a:rPr>
              <a:t>show that program does what it is supposed to do</a:t>
            </a:r>
            <a:r>
              <a:rPr lang="en-US" dirty="0">
                <a:ea typeface="Calibri" panose="020F0502020204030204"/>
                <a:cs typeface="Calibri"/>
              </a:rPr>
              <a:t>, and </a:t>
            </a:r>
            <a:r>
              <a:rPr lang="en-US" dirty="0">
                <a:highlight>
                  <a:srgbClr val="FFFF00"/>
                </a:highlight>
                <a:ea typeface="Calibri" panose="020F0502020204030204"/>
                <a:cs typeface="Calibri"/>
              </a:rPr>
              <a:t>discover program defects</a:t>
            </a:r>
          </a:p>
          <a:p>
            <a:r>
              <a:rPr lang="en-US">
                <a:ea typeface="Calibri" panose="020F0502020204030204"/>
                <a:cs typeface="Calibri"/>
              </a:rPr>
              <a:t>When you test software, you execute program using artificial data</a:t>
            </a:r>
            <a:endParaRPr lang="en-US" dirty="0">
              <a:ea typeface="Calibri" panose="020F0502020204030204"/>
              <a:cs typeface="Calibri"/>
            </a:endParaRPr>
          </a:p>
          <a:p>
            <a:r>
              <a:rPr lang="en-US" dirty="0">
                <a:ea typeface="Calibri" panose="020F0502020204030204"/>
                <a:cs typeface="Calibri"/>
              </a:rPr>
              <a:t>When you test software, you are trying to do two things:</a:t>
            </a:r>
          </a:p>
          <a:p>
            <a:pPr lvl="1"/>
            <a:r>
              <a:rPr lang="en-US" dirty="0">
                <a:ea typeface="Calibri" panose="020F0502020204030204"/>
                <a:cs typeface="Calibri"/>
              </a:rPr>
              <a:t>Demonstrate to developer and customer that the </a:t>
            </a:r>
            <a:r>
              <a:rPr lang="en-US" dirty="0">
                <a:highlight>
                  <a:srgbClr val="FFFF00"/>
                </a:highlight>
                <a:ea typeface="Calibri" panose="020F0502020204030204"/>
                <a:cs typeface="Calibri"/>
              </a:rPr>
              <a:t>software meets its requirements</a:t>
            </a:r>
            <a:r>
              <a:rPr lang="en-US" dirty="0">
                <a:ea typeface="Calibri" panose="020F0502020204030204"/>
                <a:cs typeface="Calibri"/>
              </a:rPr>
              <a:t> (called validation testing)</a:t>
            </a:r>
          </a:p>
          <a:p>
            <a:pPr lvl="1"/>
            <a:r>
              <a:rPr lang="en-US" dirty="0">
                <a:highlight>
                  <a:srgbClr val="FFFF00"/>
                </a:highlight>
                <a:ea typeface="+mn-lt"/>
                <a:cs typeface="+mn-lt"/>
              </a:rPr>
              <a:t>Find inputs or input sequences where the behavior of the software is incorrect</a:t>
            </a:r>
            <a:r>
              <a:rPr lang="en-US" dirty="0">
                <a:ea typeface="+mn-lt"/>
                <a:cs typeface="+mn-lt"/>
              </a:rPr>
              <a:t>, undesirable, or </a:t>
            </a:r>
            <a:r>
              <a:rPr lang="en-US" dirty="0">
                <a:highlight>
                  <a:srgbClr val="FFFF00"/>
                </a:highlight>
                <a:ea typeface="+mn-lt"/>
                <a:cs typeface="+mn-lt"/>
              </a:rPr>
              <a:t>does not conform to its specification</a:t>
            </a:r>
            <a:r>
              <a:rPr lang="en-US" dirty="0">
                <a:ea typeface="+mn-lt"/>
                <a:cs typeface="+mn-lt"/>
              </a:rPr>
              <a:t> (called defect testing)</a:t>
            </a:r>
            <a:endParaRPr lang="en-US" dirty="0">
              <a:ea typeface="Calibri" panose="020F0502020204030204"/>
              <a:cs typeface="Calibri"/>
            </a:endParaRPr>
          </a:p>
          <a:p>
            <a:endParaRPr lang="en-US" dirty="0">
              <a:ea typeface="Calibri" panose="020F0502020204030204"/>
              <a:cs typeface="Calibri"/>
            </a:endParaRPr>
          </a:p>
          <a:p>
            <a:r>
              <a:rPr lang="en-US" dirty="0">
                <a:ea typeface="Calibri" panose="020F0502020204030204"/>
                <a:cs typeface="Calibri"/>
              </a:rPr>
              <a:t>Edgar Dijkstra: "</a:t>
            </a:r>
            <a:r>
              <a:rPr lang="en-US" i="1" dirty="0">
                <a:ea typeface="+mn-lt"/>
                <a:cs typeface="+mn-lt"/>
              </a:rPr>
              <a:t>Testing can only show the presence of errors, not their absence</a:t>
            </a:r>
            <a:r>
              <a:rPr lang="en-US" dirty="0">
                <a:ea typeface="Calibri" panose="020F0502020204030204"/>
                <a:cs typeface="Calibri"/>
              </a:rPr>
              <a:t>"</a:t>
            </a: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8211D77-B42F-6FE7-16EA-B44E91C832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CFF1682-42C9-40AA-4E63-4CA6B4B75599}"/>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F2622980-5097-E806-756E-1F8D6338EA1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125499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98C5-42D5-24E7-A8FA-5D62DC3F27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E2A82-87B9-99DF-FDF3-72BDE7C43CF5}"/>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74C8229E-4659-3A25-3409-D667C478FD14}"/>
              </a:ext>
            </a:extLst>
          </p:cNvPr>
          <p:cNvSpPr>
            <a:spLocks noGrp="1"/>
          </p:cNvSpPr>
          <p:nvPr>
            <p:ph idx="1"/>
          </p:nvPr>
        </p:nvSpPr>
        <p:spPr>
          <a:xfrm>
            <a:off x="838200" y="1510219"/>
            <a:ext cx="10501746" cy="5211256"/>
          </a:xfrm>
        </p:spPr>
        <p:txBody>
          <a:bodyPr vert="horz" lIns="91440" tIns="45720" rIns="91440" bIns="45720" rtlCol="0" anchor="t">
            <a:normAutofit/>
          </a:bodyPr>
          <a:lstStyle/>
          <a:p>
            <a:pPr marL="0" indent="0">
              <a:buNone/>
            </a:pPr>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4942787-84E7-54FD-6590-75C93DCFE0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96B33E2-25AD-D9EC-F81C-36735AC7CD7E}"/>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A36B02B9-D14C-1D15-54FA-71E5B3C77F66}"/>
              </a:ext>
            </a:extLst>
          </p:cNvPr>
          <p:cNvSpPr>
            <a:spLocks noGrp="1"/>
          </p:cNvSpPr>
          <p:nvPr>
            <p:ph type="ftr" sz="quarter" idx="11"/>
          </p:nvPr>
        </p:nvSpPr>
        <p:spPr/>
        <p:txBody>
          <a:bodyPr/>
          <a:lstStyle/>
          <a:p>
            <a:r>
              <a:rPr lang="en-US"/>
              <a:t>Software Engineering</a:t>
            </a:r>
          </a:p>
        </p:txBody>
      </p:sp>
      <p:pic>
        <p:nvPicPr>
          <p:cNvPr id="4" name="Picture 3" descr="Diagram of a diagram of a system&#10;&#10;AI-generated content may be incorrect.">
            <a:extLst>
              <a:ext uri="{FF2B5EF4-FFF2-40B4-BE49-F238E27FC236}">
                <a16:creationId xmlns:a16="http://schemas.microsoft.com/office/drawing/2014/main" id="{F365F7B8-9611-E42C-6D78-69847D17B7C8}"/>
              </a:ext>
            </a:extLst>
          </p:cNvPr>
          <p:cNvPicPr>
            <a:picLocks noChangeAspect="1"/>
          </p:cNvPicPr>
          <p:nvPr/>
        </p:nvPicPr>
        <p:blipFill>
          <a:blip r:embed="rId4"/>
          <a:stretch>
            <a:fillRect/>
          </a:stretch>
        </p:blipFill>
        <p:spPr>
          <a:xfrm>
            <a:off x="2583162" y="1488057"/>
            <a:ext cx="6810015" cy="4557622"/>
          </a:xfrm>
          <a:prstGeom prst="rect">
            <a:avLst/>
          </a:prstGeom>
        </p:spPr>
      </p:pic>
      <p:sp>
        <p:nvSpPr>
          <p:cNvPr id="5" name="TextBox 4">
            <a:extLst>
              <a:ext uri="{FF2B5EF4-FFF2-40B4-BE49-F238E27FC236}">
                <a16:creationId xmlns:a16="http://schemas.microsoft.com/office/drawing/2014/main" id="{510FD4A4-3D9E-B56A-50CC-A291B38DA5B1}"/>
              </a:ext>
            </a:extLst>
          </p:cNvPr>
          <p:cNvSpPr txBox="1"/>
          <p:nvPr/>
        </p:nvSpPr>
        <p:spPr>
          <a:xfrm>
            <a:off x="9723248" y="1443168"/>
            <a:ext cx="241507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ea typeface="+mn-lt"/>
                <a:cs typeface="+mn-lt"/>
              </a:rPr>
              <a:t>Defect testing</a:t>
            </a:r>
            <a:r>
              <a:rPr lang="en-GB" dirty="0">
                <a:ea typeface="+mn-lt"/>
                <a:cs typeface="+mn-lt"/>
              </a:rPr>
              <a:t> is not about seeing if the system </a:t>
            </a:r>
            <a:r>
              <a:rPr lang="en-GB" i="1" dirty="0">
                <a:ea typeface="+mn-lt"/>
                <a:cs typeface="+mn-lt"/>
              </a:rPr>
              <a:t>works</a:t>
            </a:r>
            <a:r>
              <a:rPr lang="en-GB" dirty="0">
                <a:ea typeface="+mn-lt"/>
                <a:cs typeface="+mn-lt"/>
              </a:rPr>
              <a:t> with bad input. It's about checking if the system </a:t>
            </a:r>
            <a:r>
              <a:rPr lang="en-GB" b="1" dirty="0">
                <a:ea typeface="+mn-lt"/>
                <a:cs typeface="+mn-lt"/>
              </a:rPr>
              <a:t>handles bad input correctly without breaking</a:t>
            </a:r>
            <a:endParaRPr lang="en-GB" dirty="0">
              <a:ea typeface="Calibri"/>
              <a:cs typeface="Calibri"/>
            </a:endParaRPr>
          </a:p>
        </p:txBody>
      </p:sp>
    </p:spTree>
    <p:extLst>
      <p:ext uri="{BB962C8B-B14F-4D97-AF65-F5344CB8AC3E}">
        <p14:creationId xmlns:p14="http://schemas.microsoft.com/office/powerpoint/2010/main" val="3472337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D5C80-7DBA-3C2A-B981-16278E2E0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2793A-5DC5-39EE-B066-0115F991D838}"/>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6315B9F7-9B25-CD8D-ABE5-A505900692B8}"/>
              </a:ext>
            </a:extLst>
          </p:cNvPr>
          <p:cNvSpPr>
            <a:spLocks noGrp="1"/>
          </p:cNvSpPr>
          <p:nvPr>
            <p:ph idx="1"/>
          </p:nvPr>
        </p:nvSpPr>
        <p:spPr>
          <a:xfrm>
            <a:off x="838200" y="1510219"/>
            <a:ext cx="10501746" cy="5211256"/>
          </a:xfrm>
        </p:spPr>
        <p:txBody>
          <a:bodyPr vert="horz" lIns="91440" tIns="45720" rIns="91440" bIns="45720" rtlCol="0" anchor="t">
            <a:normAutofit lnSpcReduction="10000"/>
          </a:bodyPr>
          <a:lstStyle/>
          <a:p>
            <a:r>
              <a:rPr lang="en-US" dirty="0">
                <a:ea typeface="Calibri" panose="020F0502020204030204"/>
                <a:cs typeface="Calibri"/>
              </a:rPr>
              <a:t>Verification vs. Validation:</a:t>
            </a:r>
          </a:p>
          <a:p>
            <a:pPr lvl="1"/>
            <a:r>
              <a:rPr lang="en-US" dirty="0">
                <a:ea typeface="Calibri" panose="020F0502020204030204"/>
                <a:cs typeface="Calibri"/>
              </a:rPr>
              <a:t>Validation – are we building the right product?</a:t>
            </a:r>
          </a:p>
          <a:p>
            <a:pPr lvl="1"/>
            <a:r>
              <a:rPr lang="en-US" dirty="0">
                <a:ea typeface="Calibri" panose="020F0502020204030204"/>
                <a:cs typeface="Calibri"/>
              </a:rPr>
              <a:t>Verification – are we building the product right?</a:t>
            </a:r>
          </a:p>
          <a:p>
            <a:pPr lvl="1"/>
            <a:endParaRPr lang="en-US" dirty="0">
              <a:ea typeface="Calibri" panose="020F0502020204030204"/>
              <a:cs typeface="Calibri"/>
            </a:endParaRPr>
          </a:p>
          <a:p>
            <a:pPr lvl="1"/>
            <a:r>
              <a:rPr lang="en-US" dirty="0">
                <a:ea typeface="+mn-lt"/>
                <a:cs typeface="+mn-lt"/>
              </a:rPr>
              <a:t>Software verification is the process of checking that the software is built correctly, according to specification, </a:t>
            </a:r>
            <a:r>
              <a:rPr lang="en-US" dirty="0">
                <a:highlight>
                  <a:srgbClr val="FFFF00"/>
                </a:highlight>
                <a:ea typeface="+mn-lt"/>
                <a:cs typeface="+mn-lt"/>
              </a:rPr>
              <a:t>following the right steps</a:t>
            </a:r>
            <a:endParaRPr lang="en-US" dirty="0">
              <a:highlight>
                <a:srgbClr val="FFFF00"/>
              </a:highlight>
              <a:ea typeface="Calibri" panose="020F0502020204030204"/>
              <a:cs typeface="Calibri"/>
            </a:endParaRPr>
          </a:p>
          <a:p>
            <a:pPr lvl="1"/>
            <a:r>
              <a:rPr lang="en-US" dirty="0">
                <a:ea typeface="+mn-lt"/>
                <a:cs typeface="+mn-lt"/>
              </a:rPr>
              <a:t>Software validation is the process of </a:t>
            </a:r>
            <a:r>
              <a:rPr lang="en-US" dirty="0">
                <a:highlight>
                  <a:srgbClr val="FFFF00"/>
                </a:highlight>
                <a:ea typeface="+mn-lt"/>
                <a:cs typeface="+mn-lt"/>
              </a:rPr>
              <a:t>ensuring that the software meets the customer’s expectations</a:t>
            </a:r>
            <a:r>
              <a:rPr lang="en-US" dirty="0">
                <a:ea typeface="+mn-lt"/>
                <a:cs typeface="+mn-lt"/>
              </a:rPr>
              <a:t>. It goes beyond checking conformance with the specification</a:t>
            </a:r>
            <a:endParaRPr lang="en-US" dirty="0">
              <a:ea typeface="Calibri" panose="020F0502020204030204"/>
              <a:cs typeface="Calibri"/>
            </a:endParaRPr>
          </a:p>
          <a:p>
            <a:pPr lvl="1"/>
            <a:r>
              <a:rPr lang="en-US" dirty="0">
                <a:ea typeface="Calibri" panose="020F0502020204030204"/>
                <a:cs typeface="Calibri"/>
              </a:rPr>
              <a:t>Verification is checking if we follow all steps in the software recipe, validation is tasting the food for goodness (yum) once it is prepared</a:t>
            </a:r>
          </a:p>
          <a:p>
            <a:pPr lvl="1"/>
            <a:endParaRPr lang="en-US" dirty="0">
              <a:ea typeface="Calibri" panose="020F0502020204030204"/>
              <a:cs typeface="Calibri"/>
            </a:endParaRPr>
          </a:p>
          <a:p>
            <a:r>
              <a:rPr lang="en-US" dirty="0">
                <a:ea typeface="Calibri" panose="020F0502020204030204"/>
                <a:cs typeface="Calibri"/>
              </a:rPr>
              <a:t>V&amp;V help establish a confidence in the software, that it is "fit for purpose"</a:t>
            </a:r>
          </a:p>
          <a:p>
            <a:pPr lvl="1"/>
            <a:endParaRPr lang="en-US" dirty="0">
              <a:ea typeface="Calibri" panose="020F0502020204030204"/>
              <a:cs typeface="Calibri"/>
            </a:endParaRPr>
          </a:p>
          <a:p>
            <a:pPr lvl="1"/>
            <a:endParaRPr lang="en-GB" dirty="0">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D8EC22B-FE17-2006-C741-C46D2351B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0D8B68A-1D8B-05ED-0AE6-8993837965ED}"/>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EF0E5D87-7D96-C4B8-DBC5-0BF6CC56149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1147533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C2CF0-77C1-341A-23F7-951914B3C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79D200-6A60-C76D-1020-719B70B23306}"/>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A6096046-A9F6-A0A3-654B-AFFCA1B21E27}"/>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panose="020F0502020204030204"/>
                <a:cs typeface="Calibri"/>
              </a:rPr>
              <a:t>What determines amount of confidence in a system? (how confident you need to be about a software before releasing it)</a:t>
            </a:r>
          </a:p>
          <a:p>
            <a:pPr lvl="1"/>
            <a:r>
              <a:rPr lang="en-US" dirty="0">
                <a:ea typeface="Calibri" panose="020F0502020204030204"/>
                <a:cs typeface="Calibri"/>
              </a:rPr>
              <a:t>Software purpose: More critical the software, more important the reliability, higher the confidence needed</a:t>
            </a:r>
          </a:p>
          <a:p>
            <a:pPr lvl="1"/>
            <a:r>
              <a:rPr lang="en-US" dirty="0">
                <a:ea typeface="Calibri" panose="020F0502020204030204"/>
                <a:cs typeface="Calibri"/>
              </a:rPr>
              <a:t>User expectations: Prior experiences with older versions of software, or similar software, can set up user expectations in current software, and greater the expectations, greater is the confidence needed</a:t>
            </a:r>
          </a:p>
          <a:p>
            <a:pPr lvl="1"/>
            <a:r>
              <a:rPr lang="en-US" dirty="0">
                <a:ea typeface="Calibri" panose="020F0502020204030204"/>
                <a:cs typeface="Calibri"/>
              </a:rPr>
              <a:t>Marketing environment: Environmental factors, for instance, how quickly you want to release the software to market, the price the customer is willing to pay for a product, etc.</a:t>
            </a:r>
          </a:p>
          <a:p>
            <a:pPr marL="0" indent="0">
              <a:buNone/>
            </a:pPr>
            <a:endParaRPr lang="en-US" dirty="0">
              <a:ea typeface="Calibri" panose="020F0502020204030204"/>
              <a:cs typeface="Calibri"/>
            </a:endParaRPr>
          </a:p>
          <a:p>
            <a:pPr lvl="1"/>
            <a:endParaRPr lang="en-US" dirty="0">
              <a:ea typeface="Calibri" panose="020F0502020204030204"/>
              <a:cs typeface="Calibri"/>
            </a:endParaRPr>
          </a:p>
          <a:p>
            <a:pPr lvl="1"/>
            <a:endParaRPr lang="en-US" dirty="0">
              <a:ea typeface="Calibri" panose="020F0502020204030204"/>
              <a:cs typeface="Calibri"/>
            </a:endParaRP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606A8E1-06CB-B5A5-EF19-B8CDB63627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44D19D1-7D17-32F9-5841-1D238EC1166B}"/>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4203011F-BA91-3645-0F91-C1B4583538D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959526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4FCC5-FB64-0438-FFAC-5A49B23E1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CEB351-3380-4C15-E76B-05B7F8A74F25}"/>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65140743-53C4-06CF-0126-576E29672686}"/>
              </a:ext>
            </a:extLst>
          </p:cNvPr>
          <p:cNvSpPr>
            <a:spLocks noGrp="1"/>
          </p:cNvSpPr>
          <p:nvPr>
            <p:ph idx="1"/>
          </p:nvPr>
        </p:nvSpPr>
        <p:spPr>
          <a:xfrm>
            <a:off x="838200" y="1510219"/>
            <a:ext cx="10501746" cy="5211256"/>
          </a:xfrm>
        </p:spPr>
        <p:txBody>
          <a:bodyPr vert="horz" lIns="91440" tIns="45720" rIns="91440" bIns="45720" rtlCol="0" anchor="t">
            <a:normAutofit lnSpcReduction="10000"/>
          </a:bodyPr>
          <a:lstStyle/>
          <a:p>
            <a:r>
              <a:rPr lang="en-US">
                <a:ea typeface="Calibri" panose="020F0502020204030204"/>
                <a:cs typeface="Calibri"/>
              </a:rPr>
              <a:t>As well as software testing, V&amp;V </a:t>
            </a:r>
            <a:r>
              <a:rPr lang="en-US">
                <a:highlight>
                  <a:srgbClr val="FFFF00"/>
                </a:highlight>
                <a:ea typeface="Calibri" panose="020F0502020204030204"/>
                <a:cs typeface="Calibri"/>
              </a:rPr>
              <a:t>may involve software inspections and reviews</a:t>
            </a:r>
          </a:p>
          <a:p>
            <a:r>
              <a:rPr lang="en-US" dirty="0">
                <a:ea typeface="Calibri" panose="020F0502020204030204"/>
                <a:cs typeface="Calibri"/>
              </a:rPr>
              <a:t>These are "static" V&amp;V techniques, no need to execute the system</a:t>
            </a:r>
          </a:p>
          <a:p>
            <a:r>
              <a:rPr lang="en-US" dirty="0">
                <a:ea typeface="Calibri" panose="020F0502020204030204"/>
                <a:cs typeface="Calibri"/>
              </a:rPr>
              <a:t>Inspections mostly focus on software code, </a:t>
            </a:r>
            <a:r>
              <a:rPr lang="en-US">
                <a:ea typeface="Calibri" panose="020F0502020204030204"/>
                <a:cs typeface="Calibri"/>
              </a:rPr>
              <a:t>and on other </a:t>
            </a:r>
            <a:r>
              <a:rPr lang="en-US" dirty="0">
                <a:ea typeface="Calibri" panose="020F0502020204030204"/>
                <a:cs typeface="Calibri"/>
              </a:rPr>
              <a:t>readable representations of the software – requirements specification or design models</a:t>
            </a:r>
          </a:p>
          <a:p>
            <a:r>
              <a:rPr lang="en-US" dirty="0">
                <a:ea typeface="Calibri" panose="020F0502020204030204"/>
                <a:cs typeface="Calibri"/>
              </a:rPr>
              <a:t>Advantages of inspection and reviews:</a:t>
            </a:r>
          </a:p>
          <a:p>
            <a:pPr lvl="1"/>
            <a:r>
              <a:rPr lang="en-US" dirty="0">
                <a:ea typeface="Calibri" panose="020F0502020204030204"/>
                <a:cs typeface="Calibri"/>
              </a:rPr>
              <a:t>Testing can mask or hide errors (especially side effects) which reviews catch</a:t>
            </a:r>
          </a:p>
          <a:p>
            <a:pPr lvl="1"/>
            <a:r>
              <a:rPr lang="en-US" dirty="0">
                <a:ea typeface="Calibri" panose="020F0502020204030204"/>
                <a:cs typeface="Calibri"/>
              </a:rPr>
              <a:t>Incomplete versions of the system can be inspected without additional costs</a:t>
            </a:r>
          </a:p>
          <a:p>
            <a:pPr lvl="1"/>
            <a:r>
              <a:rPr lang="en-US" dirty="0">
                <a:ea typeface="Calibri" panose="020F0502020204030204"/>
                <a:cs typeface="Calibri"/>
              </a:rPr>
              <a:t>Broader qualities of the software can be tested – standards, portability, maintainability</a:t>
            </a:r>
          </a:p>
          <a:p>
            <a:r>
              <a:rPr lang="en-US" dirty="0">
                <a:ea typeface="Calibri" panose="020F0502020204030204"/>
                <a:cs typeface="Calibri"/>
              </a:rPr>
              <a:t>Fagan (1976) reported that 60% defects can be caught in reviews, </a:t>
            </a:r>
            <a:r>
              <a:rPr lang="en-US" dirty="0" err="1">
                <a:ea typeface="Calibri" panose="020F0502020204030204"/>
                <a:cs typeface="Calibri"/>
              </a:rPr>
              <a:t>CleanRoom</a:t>
            </a:r>
            <a:r>
              <a:rPr lang="en-US" dirty="0">
                <a:ea typeface="Calibri" panose="020F0502020204030204"/>
                <a:cs typeface="Calibri"/>
              </a:rPr>
              <a:t> process (Prowell et.al 1999) claimed 90% can be caught</a:t>
            </a: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4547B45-3760-18D9-7F89-788E0E3506B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5B8F4D1-FF9F-63C2-8DA0-C4AD414BEFDF}"/>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C10E68FB-FEAA-B109-E944-0EFAAE2E4DF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908817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3D102-DD0A-F890-AE31-1E4CA926D3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24DBFD-388D-B133-CE66-71C98ABD1EBB}"/>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EAC26F11-480C-028B-93DC-7CE4411D1AEC}"/>
              </a:ext>
            </a:extLst>
          </p:cNvPr>
          <p:cNvSpPr>
            <a:spLocks noGrp="1"/>
          </p:cNvSpPr>
          <p:nvPr>
            <p:ph idx="1"/>
          </p:nvPr>
        </p:nvSpPr>
        <p:spPr>
          <a:xfrm>
            <a:off x="838200" y="1510219"/>
            <a:ext cx="10501746" cy="5211256"/>
          </a:xfrm>
        </p:spPr>
        <p:txBody>
          <a:bodyPr vert="horz" lIns="91440" tIns="45720" rIns="91440" bIns="45720" rtlCol="0" anchor="t">
            <a:normAutofit/>
          </a:bodyPr>
          <a:lstStyle/>
          <a:p>
            <a:r>
              <a:rPr lang="en-US" dirty="0">
                <a:ea typeface="Calibri" panose="020F0502020204030204"/>
                <a:cs typeface="Calibri"/>
              </a:rPr>
              <a:t>Typically, commercial software systems go through three stages of testing:</a:t>
            </a:r>
          </a:p>
          <a:p>
            <a:pPr lvl="1"/>
            <a:r>
              <a:rPr lang="en-US" dirty="0">
                <a:ea typeface="Calibri" panose="020F0502020204030204"/>
                <a:cs typeface="Calibri"/>
              </a:rPr>
              <a:t>Development testing: Testing during development to discover bugs and defects</a:t>
            </a:r>
          </a:p>
          <a:p>
            <a:pPr lvl="1"/>
            <a:r>
              <a:rPr lang="en-US" dirty="0">
                <a:ea typeface="Calibri" panose="020F0502020204030204"/>
                <a:cs typeface="Calibri"/>
              </a:rPr>
              <a:t>Release testing: Separate testing team tests the complete version of the system before it is released to users</a:t>
            </a:r>
          </a:p>
          <a:p>
            <a:pPr lvl="1"/>
            <a:r>
              <a:rPr lang="en-US" dirty="0">
                <a:ea typeface="Calibri" panose="020F0502020204030204"/>
                <a:cs typeface="Calibri"/>
              </a:rPr>
              <a:t>User testing: Users or potential users test the system in their own environment (Acceptance testing is one type of formal user testing)</a:t>
            </a:r>
          </a:p>
          <a:p>
            <a:pPr lvl="1"/>
            <a:endParaRPr lang="en-US" dirty="0">
              <a:ea typeface="Calibri" panose="020F0502020204030204"/>
              <a:cs typeface="Calibri"/>
            </a:endParaRPr>
          </a:p>
          <a:p>
            <a:r>
              <a:rPr lang="en-US" dirty="0">
                <a:ea typeface="Calibri" panose="020F0502020204030204"/>
                <a:cs typeface="Calibri"/>
              </a:rPr>
              <a:t>In practice, testing also involves a combination of manual and automated testing</a:t>
            </a:r>
          </a:p>
          <a:p>
            <a:pPr lvl="1"/>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1A56F08-D345-185F-20C8-20EE775EE3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E669FED-F279-BC95-7ABF-B86110939421}"/>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00D5A746-C1AA-56DF-BFDA-DCD5F0BD7E46}"/>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4501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CA91A-26FF-7479-9D95-ABFD5F4DD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432CB-8EEB-212A-37CE-13EEEEAD8DAF}"/>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96E9C779-DF31-3741-3B77-D003BD44266C}"/>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panose="020F0502020204030204"/>
                <a:cs typeface="Calibri"/>
              </a:rPr>
              <a:t>Development Testing</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E5B61B7-1E3A-26A3-8BAF-21276D72B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51A60A3-6232-A32F-85ED-8C6CFAADF69A}"/>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495DC561-4971-43EF-A66B-151AC6DF05B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12470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AFE41-F3A6-A665-E73A-A9F9B786DF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9AD2A8-9986-CFEA-ABCD-D4731C470283}"/>
              </a:ext>
            </a:extLst>
          </p:cNvPr>
          <p:cNvSpPr>
            <a:spLocks noGrp="1"/>
          </p:cNvSpPr>
          <p:nvPr>
            <p:ph type="title"/>
          </p:nvPr>
        </p:nvSpPr>
        <p:spPr/>
        <p:txBody>
          <a:bodyPr/>
          <a:lstStyle/>
          <a:p>
            <a:r>
              <a:rPr lang="en-GB" dirty="0">
                <a:ea typeface="Calibri Light"/>
                <a:cs typeface="Calibri Light"/>
              </a:rPr>
              <a:t>Development testing</a:t>
            </a:r>
            <a:endParaRPr lang="en-US" dirty="0"/>
          </a:p>
        </p:txBody>
      </p:sp>
      <p:sp>
        <p:nvSpPr>
          <p:cNvPr id="3" name="Content Placeholder 2">
            <a:extLst>
              <a:ext uri="{FF2B5EF4-FFF2-40B4-BE49-F238E27FC236}">
                <a16:creationId xmlns:a16="http://schemas.microsoft.com/office/drawing/2014/main" id="{AAF291D0-0B66-9B72-E375-37FAAFD0A785}"/>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Testing activities carried out by the team developing the system</a:t>
            </a:r>
          </a:p>
          <a:p>
            <a:r>
              <a:rPr lang="en-US" dirty="0">
                <a:ea typeface="Calibri"/>
                <a:cs typeface="Calibri"/>
              </a:rPr>
              <a:t>Three stages:</a:t>
            </a:r>
          </a:p>
          <a:p>
            <a:pPr lvl="1"/>
            <a:r>
              <a:rPr lang="en-US" b="1" dirty="0">
                <a:ea typeface="Calibri"/>
                <a:cs typeface="Calibri"/>
              </a:rPr>
              <a:t>Unit testing:</a:t>
            </a:r>
            <a:r>
              <a:rPr lang="en-US" dirty="0">
                <a:ea typeface="Calibri"/>
                <a:cs typeface="Calibri"/>
              </a:rPr>
              <a:t> Wher</a:t>
            </a:r>
            <a:r>
              <a:rPr lang="en-US" dirty="0">
                <a:ea typeface="+mn-lt"/>
                <a:cs typeface="+mn-lt"/>
              </a:rPr>
              <a:t>e individual program units or object classes are tested</a:t>
            </a:r>
            <a:endParaRPr lang="en-US" dirty="0">
              <a:ea typeface="Calibri"/>
              <a:cs typeface="Calibri"/>
            </a:endParaRPr>
          </a:p>
          <a:p>
            <a:pPr lvl="1"/>
            <a:r>
              <a:rPr lang="en-US" b="1" dirty="0">
                <a:ea typeface="Calibri"/>
                <a:cs typeface="Calibri"/>
              </a:rPr>
              <a:t>Component testing:</a:t>
            </a:r>
            <a:r>
              <a:rPr lang="en-US" dirty="0">
                <a:ea typeface="Calibri"/>
                <a:cs typeface="Calibri"/>
              </a:rPr>
              <a:t> Individual units integrated to form components. </a:t>
            </a:r>
            <a:r>
              <a:rPr lang="en-US" dirty="0">
                <a:ea typeface="+mn-lt"/>
                <a:cs typeface="+mn-lt"/>
              </a:rPr>
              <a:t>Component testing should focus on testing the component interfaces that provide access to the component functions</a:t>
            </a:r>
            <a:endParaRPr lang="en-US" dirty="0">
              <a:ea typeface="Calibri"/>
              <a:cs typeface="Calibri"/>
            </a:endParaRPr>
          </a:p>
          <a:p>
            <a:pPr lvl="1"/>
            <a:r>
              <a:rPr lang="en-US" b="1" dirty="0">
                <a:ea typeface="Calibri"/>
                <a:cs typeface="Calibri"/>
              </a:rPr>
              <a:t>System testing:</a:t>
            </a:r>
            <a:r>
              <a:rPr lang="en-US" dirty="0">
                <a:ea typeface="Calibri"/>
                <a:cs typeface="Calibri"/>
              </a:rPr>
              <a:t> </a:t>
            </a:r>
            <a:r>
              <a:rPr lang="en-US" dirty="0">
                <a:ea typeface="+mn-lt"/>
                <a:cs typeface="+mn-lt"/>
              </a:rPr>
              <a:t>Some or all of the components in a system are integrated and the system is tested as a whole</a:t>
            </a:r>
            <a:endParaRPr lang="en-US" dirty="0">
              <a:ea typeface="Calibri"/>
              <a:cs typeface="Calibri"/>
            </a:endParaRPr>
          </a:p>
          <a:p>
            <a:pPr marL="0" indent="0">
              <a:buNone/>
            </a:pPr>
            <a:endParaRPr lang="en-US" dirty="0">
              <a:ea typeface="Calibri"/>
              <a:cs typeface="Calibri"/>
            </a:endParaRPr>
          </a:p>
          <a:p>
            <a:r>
              <a:rPr lang="en-US" dirty="0">
                <a:ea typeface="Calibri"/>
                <a:cs typeface="Calibri"/>
              </a:rPr>
              <a:t>Development testing is primarily defect testing where the aim is to discover bugs in the system (therefore, sometimes interleaved with debugging)</a:t>
            </a:r>
          </a:p>
        </p:txBody>
      </p:sp>
      <p:pic>
        <p:nvPicPr>
          <p:cNvPr id="6" name="Picture 5" descr="A black and white logo&#10;&#10;Description automatically generated">
            <a:extLst>
              <a:ext uri="{FF2B5EF4-FFF2-40B4-BE49-F238E27FC236}">
                <a16:creationId xmlns:a16="http://schemas.microsoft.com/office/drawing/2014/main" id="{7791792B-A1B3-DBC4-8014-45944C00FA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5AE6D77-96DB-E129-2BF0-E95069844143}"/>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87871300-C6CE-8C2F-F0A9-6F5F83020A7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448653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2B1E3-9511-1A24-97B4-EE019BB19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5B294-B43F-BA0C-D449-28310D60CDA9}"/>
              </a:ext>
            </a:extLst>
          </p:cNvPr>
          <p:cNvSpPr>
            <a:spLocks noGrp="1"/>
          </p:cNvSpPr>
          <p:nvPr>
            <p:ph type="title"/>
          </p:nvPr>
        </p:nvSpPr>
        <p:spPr/>
        <p:txBody>
          <a:bodyPr/>
          <a:lstStyle/>
          <a:p>
            <a:r>
              <a:rPr lang="en-GB" dirty="0">
                <a:ea typeface="Calibri Light"/>
                <a:cs typeface="Calibri Light"/>
              </a:rPr>
              <a:t>Unit testing</a:t>
            </a:r>
          </a:p>
        </p:txBody>
      </p:sp>
      <p:sp>
        <p:nvSpPr>
          <p:cNvPr id="3" name="Content Placeholder 2">
            <a:extLst>
              <a:ext uri="{FF2B5EF4-FFF2-40B4-BE49-F238E27FC236}">
                <a16:creationId xmlns:a16="http://schemas.microsoft.com/office/drawing/2014/main" id="{C67B74D5-59C6-1301-8850-F6625DE08BAF}"/>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Testing individual units – like methods or object classes</a:t>
            </a:r>
          </a:p>
          <a:p>
            <a:r>
              <a:rPr lang="en-US" dirty="0">
                <a:ea typeface="Calibri"/>
                <a:cs typeface="Calibri"/>
              </a:rPr>
              <a:t>Methods or functions are the simplest kinds of units</a:t>
            </a:r>
          </a:p>
          <a:p>
            <a:r>
              <a:rPr lang="en-US" dirty="0">
                <a:highlight>
                  <a:srgbClr val="FFFF00"/>
                </a:highlight>
                <a:ea typeface="Calibri"/>
                <a:cs typeface="Calibri"/>
              </a:rPr>
              <a:t>Call methods with all possible parameters</a:t>
            </a:r>
          </a:p>
          <a:p>
            <a:r>
              <a:rPr lang="en-US" dirty="0">
                <a:ea typeface="+mn-lt"/>
                <a:cs typeface="+mn-lt"/>
              </a:rPr>
              <a:t>In object testing, </a:t>
            </a:r>
            <a:r>
              <a:rPr lang="en-US" dirty="0">
                <a:highlight>
                  <a:srgbClr val="FFFF00"/>
                </a:highlight>
                <a:ea typeface="+mn-lt"/>
                <a:cs typeface="+mn-lt"/>
              </a:rPr>
              <a:t>test all operations associated with the object</a:t>
            </a:r>
            <a:r>
              <a:rPr lang="en-US" dirty="0">
                <a:ea typeface="+mn-lt"/>
                <a:cs typeface="+mn-lt"/>
              </a:rPr>
              <a:t>; </a:t>
            </a:r>
            <a:r>
              <a:rPr lang="en-US" dirty="0">
                <a:highlight>
                  <a:srgbClr val="FFFF00"/>
                </a:highlight>
                <a:ea typeface="+mn-lt"/>
                <a:cs typeface="+mn-lt"/>
              </a:rPr>
              <a:t>set and check the value of all attributes</a:t>
            </a:r>
            <a:r>
              <a:rPr lang="en-US" dirty="0">
                <a:ea typeface="+mn-lt"/>
                <a:cs typeface="+mn-lt"/>
              </a:rPr>
              <a:t> associated with the object; and </a:t>
            </a:r>
            <a:r>
              <a:rPr lang="en-US" dirty="0">
                <a:highlight>
                  <a:srgbClr val="FFFF00"/>
                </a:highlight>
                <a:ea typeface="+mn-lt"/>
                <a:cs typeface="+mn-lt"/>
              </a:rPr>
              <a:t>put the object into all possible states</a:t>
            </a:r>
            <a:r>
              <a:rPr lang="en-US" dirty="0">
                <a:ea typeface="+mn-lt"/>
                <a:cs typeface="+mn-lt"/>
              </a:rPr>
              <a:t>. This means that you should simulate all events that cause a state change</a:t>
            </a:r>
          </a:p>
          <a:p>
            <a:pPr lvl="1"/>
            <a:r>
              <a:rPr lang="en-US" dirty="0">
                <a:ea typeface="Calibri"/>
                <a:cs typeface="Calibri"/>
              </a:rPr>
              <a:t>Example: In the weather station application, consider 'Weather Station' object; for this object, you can check if it goes through all states of the state chart diagram: Configure -&gt; Running -&gt; Collecting -&gt; Running -&gt; Summarizing</a:t>
            </a:r>
          </a:p>
          <a:p>
            <a:pPr lvl="1"/>
            <a:r>
              <a:rPr lang="en-US" dirty="0">
                <a:ea typeface="Calibri"/>
                <a:cs typeface="Calibri"/>
              </a:rPr>
              <a:t>Each state is nothing but a certain value(s) an attribute(s) of an object holds at some point (another way of seeing testing of all possible states)</a:t>
            </a:r>
          </a:p>
        </p:txBody>
      </p:sp>
      <p:pic>
        <p:nvPicPr>
          <p:cNvPr id="6" name="Picture 5" descr="A black and white logo&#10;&#10;Description automatically generated">
            <a:extLst>
              <a:ext uri="{FF2B5EF4-FFF2-40B4-BE49-F238E27FC236}">
                <a16:creationId xmlns:a16="http://schemas.microsoft.com/office/drawing/2014/main" id="{AA042A6E-0AE4-594C-A41D-3C2D4F558E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122A55E-B180-2279-0078-09B8FD1C9ACC}"/>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06C07087-5F8C-2132-BEEA-F121675BCE3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694732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297CE-472D-9477-F513-621910AD5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CFEB43-8AF9-D3F1-5F05-A32FE23E2042}"/>
              </a:ext>
            </a:extLst>
          </p:cNvPr>
          <p:cNvSpPr>
            <a:spLocks noGrp="1"/>
          </p:cNvSpPr>
          <p:nvPr>
            <p:ph type="title"/>
          </p:nvPr>
        </p:nvSpPr>
        <p:spPr/>
        <p:txBody>
          <a:bodyPr/>
          <a:lstStyle/>
          <a:p>
            <a:r>
              <a:rPr lang="en-GB" dirty="0">
                <a:ea typeface="Calibri Light"/>
                <a:cs typeface="Calibri Light"/>
              </a:rPr>
              <a:t>Unit testing</a:t>
            </a:r>
          </a:p>
        </p:txBody>
      </p:sp>
      <p:sp>
        <p:nvSpPr>
          <p:cNvPr id="3" name="Content Placeholder 2">
            <a:extLst>
              <a:ext uri="{FF2B5EF4-FFF2-40B4-BE49-F238E27FC236}">
                <a16:creationId xmlns:a16="http://schemas.microsoft.com/office/drawing/2014/main" id="{9F949BE8-5BCA-B2B4-F339-A00B3C447C89}"/>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Calibri"/>
                <a:cs typeface="Calibri"/>
              </a:rPr>
              <a:t>How will you write test cases to unit test the following object class?</a:t>
            </a: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r>
              <a:rPr lang="en-US" dirty="0">
                <a:ea typeface="Calibri"/>
                <a:cs typeface="Calibri"/>
              </a:rPr>
              <a:t>Note: Generally, you test methods in isolation, but sometimes, methods need to be tested in sequence (to test reconfigure(), you will have to call shutdown() first)</a:t>
            </a:r>
          </a:p>
        </p:txBody>
      </p:sp>
      <p:pic>
        <p:nvPicPr>
          <p:cNvPr id="6" name="Picture 5" descr="A black and white logo&#10;&#10;Description automatically generated">
            <a:extLst>
              <a:ext uri="{FF2B5EF4-FFF2-40B4-BE49-F238E27FC236}">
                <a16:creationId xmlns:a16="http://schemas.microsoft.com/office/drawing/2014/main" id="{5461A251-8C43-3FEA-6046-050B4FD8CF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76421D9-0F76-78B1-500E-F11BE1C31696}"/>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EF1609A3-89BE-44E6-F74B-6AB385663C18}"/>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2A999490-88A3-594E-3DF4-A0F387CC5483}"/>
              </a:ext>
            </a:extLst>
          </p:cNvPr>
          <p:cNvPicPr>
            <a:picLocks noChangeAspect="1"/>
          </p:cNvPicPr>
          <p:nvPr/>
        </p:nvPicPr>
        <p:blipFill>
          <a:blip r:embed="rId4"/>
          <a:stretch>
            <a:fillRect/>
          </a:stretch>
        </p:blipFill>
        <p:spPr>
          <a:xfrm>
            <a:off x="4473965" y="2070610"/>
            <a:ext cx="2927770" cy="3004329"/>
          </a:xfrm>
          <a:prstGeom prst="rect">
            <a:avLst/>
          </a:prstGeom>
        </p:spPr>
      </p:pic>
    </p:spTree>
    <p:extLst>
      <p:ext uri="{BB962C8B-B14F-4D97-AF65-F5344CB8AC3E}">
        <p14:creationId xmlns:p14="http://schemas.microsoft.com/office/powerpoint/2010/main" val="3809715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1FCFA-F7EC-108A-3AE1-63145AC556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DBE21-2089-1C7B-5771-161577E5D965}"/>
              </a:ext>
            </a:extLst>
          </p:cNvPr>
          <p:cNvSpPr>
            <a:spLocks noGrp="1"/>
          </p:cNvSpPr>
          <p:nvPr>
            <p:ph type="title"/>
          </p:nvPr>
        </p:nvSpPr>
        <p:spPr/>
        <p:txBody>
          <a:bodyPr/>
          <a:lstStyle/>
          <a:p>
            <a:r>
              <a:rPr lang="en-GB" dirty="0">
                <a:ea typeface="Calibri Light"/>
                <a:cs typeface="Calibri Light"/>
              </a:rPr>
              <a:t>Unit testing - Automated</a:t>
            </a:r>
          </a:p>
        </p:txBody>
      </p:sp>
      <p:sp>
        <p:nvSpPr>
          <p:cNvPr id="3" name="Content Placeholder 2">
            <a:extLst>
              <a:ext uri="{FF2B5EF4-FFF2-40B4-BE49-F238E27FC236}">
                <a16:creationId xmlns:a16="http://schemas.microsoft.com/office/drawing/2014/main" id="{D2E05C1A-D5A9-86E5-EFBF-63F4D014C234}"/>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Unit testing can be automated, and should be automated, wherever possible</a:t>
            </a:r>
          </a:p>
          <a:p>
            <a:r>
              <a:rPr lang="en-US" dirty="0">
                <a:ea typeface="Calibri"/>
                <a:cs typeface="Calibri"/>
              </a:rPr>
              <a:t>An automated test (generally) has three parts:</a:t>
            </a:r>
          </a:p>
          <a:p>
            <a:pPr lvl="1"/>
            <a:r>
              <a:rPr lang="en-US" dirty="0">
                <a:ea typeface="+mn-lt"/>
                <a:cs typeface="+mn-lt"/>
              </a:rPr>
              <a:t>A </a:t>
            </a:r>
            <a:r>
              <a:rPr lang="en-US" b="1" dirty="0">
                <a:ea typeface="+mn-lt"/>
                <a:cs typeface="+mn-lt"/>
              </a:rPr>
              <a:t>setup part</a:t>
            </a:r>
            <a:r>
              <a:rPr lang="en-US" dirty="0">
                <a:ea typeface="+mn-lt"/>
                <a:cs typeface="+mn-lt"/>
              </a:rPr>
              <a:t>, where you initialize the system with the test case, namely, the inputs and expected outputs</a:t>
            </a:r>
          </a:p>
          <a:p>
            <a:pPr lvl="1"/>
            <a:r>
              <a:rPr lang="en-US" dirty="0">
                <a:ea typeface="+mn-lt"/>
                <a:cs typeface="+mn-lt"/>
              </a:rPr>
              <a:t>A </a:t>
            </a:r>
            <a:r>
              <a:rPr lang="en-US" b="1" dirty="0">
                <a:ea typeface="+mn-lt"/>
                <a:cs typeface="+mn-lt"/>
              </a:rPr>
              <a:t>call part</a:t>
            </a:r>
            <a:r>
              <a:rPr lang="en-US" dirty="0">
                <a:ea typeface="+mn-lt"/>
                <a:cs typeface="+mn-lt"/>
              </a:rPr>
              <a:t>, where you call the object or method to be tested</a:t>
            </a:r>
          </a:p>
          <a:p>
            <a:pPr lvl="1"/>
            <a:r>
              <a:rPr lang="en-US" dirty="0">
                <a:ea typeface="+mn-lt"/>
                <a:cs typeface="+mn-lt"/>
              </a:rPr>
              <a:t>An </a:t>
            </a:r>
            <a:r>
              <a:rPr lang="en-US" b="1" dirty="0">
                <a:ea typeface="+mn-lt"/>
                <a:cs typeface="+mn-lt"/>
              </a:rPr>
              <a:t>assertion part</a:t>
            </a:r>
            <a:r>
              <a:rPr lang="en-US" dirty="0">
                <a:ea typeface="+mn-lt"/>
                <a:cs typeface="+mn-lt"/>
              </a:rPr>
              <a:t>, where you compare the result of the call with the expected result. If the assertion evaluates to true, the test has been successful; if false, then it has failed</a:t>
            </a:r>
          </a:p>
          <a:p>
            <a:r>
              <a:rPr lang="en-US" dirty="0">
                <a:ea typeface="Calibri"/>
                <a:cs typeface="Calibri"/>
              </a:rPr>
              <a:t>Example: JUnit framework in Java</a:t>
            </a:r>
          </a:p>
        </p:txBody>
      </p:sp>
      <p:pic>
        <p:nvPicPr>
          <p:cNvPr id="6" name="Picture 5" descr="A black and white logo&#10;&#10;Description automatically generated">
            <a:extLst>
              <a:ext uri="{FF2B5EF4-FFF2-40B4-BE49-F238E27FC236}">
                <a16:creationId xmlns:a16="http://schemas.microsoft.com/office/drawing/2014/main" id="{56142A45-BD3E-AE05-8EA0-4C5A768280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4ED5E9A-66B6-18A4-0FA5-B9192633C4D6}"/>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227DF8CD-9AF5-D98B-D1F6-19A5615DA74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678172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9B6C8F-DBF9-EEBD-2631-1B3F534DEB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91788D-8DA6-4851-8893-6B2EBDCF19A8}"/>
              </a:ext>
            </a:extLst>
          </p:cNvPr>
          <p:cNvSpPr>
            <a:spLocks noGrp="1"/>
          </p:cNvSpPr>
          <p:nvPr>
            <p:ph type="title"/>
          </p:nvPr>
        </p:nvSpPr>
        <p:spPr/>
        <p:txBody>
          <a:bodyPr/>
          <a:lstStyle/>
          <a:p>
            <a:r>
              <a:rPr lang="en-GB" dirty="0">
                <a:ea typeface="Calibri Light"/>
                <a:cs typeface="Calibri Light"/>
              </a:rPr>
              <a:t>Unit testing – Automated Example using JUnit</a:t>
            </a:r>
          </a:p>
        </p:txBody>
      </p:sp>
      <p:pic>
        <p:nvPicPr>
          <p:cNvPr id="6" name="Picture 5" descr="A black and white logo&#10;&#10;Description automatically generated">
            <a:extLst>
              <a:ext uri="{FF2B5EF4-FFF2-40B4-BE49-F238E27FC236}">
                <a16:creationId xmlns:a16="http://schemas.microsoft.com/office/drawing/2014/main" id="{CCCBE950-B8E0-962B-0166-4B1C460336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E935A18-BF54-408F-E344-2CF0911B5EB3}"/>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6A737181-507C-90B2-604D-892EBA4316A2}"/>
              </a:ext>
            </a:extLst>
          </p:cNvPr>
          <p:cNvSpPr>
            <a:spLocks noGrp="1"/>
          </p:cNvSpPr>
          <p:nvPr>
            <p:ph type="ftr" sz="quarter" idx="11"/>
          </p:nvPr>
        </p:nvSpPr>
        <p:spPr/>
        <p:txBody>
          <a:bodyPr/>
          <a:lstStyle/>
          <a:p>
            <a:r>
              <a:rPr lang="en-US"/>
              <a:t>Software Engineering</a:t>
            </a:r>
          </a:p>
        </p:txBody>
      </p:sp>
      <p:sp>
        <p:nvSpPr>
          <p:cNvPr id="10" name="TextBox 9">
            <a:extLst>
              <a:ext uri="{FF2B5EF4-FFF2-40B4-BE49-F238E27FC236}">
                <a16:creationId xmlns:a16="http://schemas.microsoft.com/office/drawing/2014/main" id="{FC50923B-FB3A-4B1E-0270-5034BE17C42C}"/>
              </a:ext>
            </a:extLst>
          </p:cNvPr>
          <p:cNvSpPr txBox="1"/>
          <p:nvPr/>
        </p:nvSpPr>
        <p:spPr>
          <a:xfrm>
            <a:off x="1974172" y="1393645"/>
            <a:ext cx="8337588" cy="1477328"/>
          </a:xfrm>
          <a:prstGeom prst="rect">
            <a:avLst/>
          </a:prstGeom>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public class Calculator {</a:t>
            </a:r>
            <a:endParaRPr lang="en-US" dirty="0"/>
          </a:p>
          <a:p>
            <a:r>
              <a:rPr lang="en-GB" dirty="0">
                <a:ea typeface="+mn-lt"/>
                <a:cs typeface="+mn-lt"/>
              </a:rPr>
              <a:t>    public int add(int a, int b) {</a:t>
            </a:r>
            <a:endParaRPr lang="en-GB" dirty="0"/>
          </a:p>
          <a:p>
            <a:r>
              <a:rPr lang="en-GB" dirty="0">
                <a:ea typeface="+mn-lt"/>
                <a:cs typeface="+mn-lt"/>
              </a:rPr>
              <a:t>        return a + b;</a:t>
            </a:r>
            <a:endParaRPr lang="en-GB" dirty="0"/>
          </a:p>
          <a:p>
            <a:r>
              <a:rPr lang="en-GB" dirty="0">
                <a:ea typeface="+mn-lt"/>
                <a:cs typeface="+mn-lt"/>
              </a:rPr>
              <a:t>    }</a:t>
            </a:r>
            <a:endParaRPr lang="en-GB" dirty="0"/>
          </a:p>
          <a:p>
            <a:r>
              <a:rPr lang="en-GB" dirty="0">
                <a:ea typeface="+mn-lt"/>
                <a:cs typeface="+mn-lt"/>
              </a:rPr>
              <a:t>}</a:t>
            </a:r>
            <a:endParaRPr lang="en-GB" dirty="0"/>
          </a:p>
        </p:txBody>
      </p:sp>
      <p:sp>
        <p:nvSpPr>
          <p:cNvPr id="12" name="TextBox 11">
            <a:extLst>
              <a:ext uri="{FF2B5EF4-FFF2-40B4-BE49-F238E27FC236}">
                <a16:creationId xmlns:a16="http://schemas.microsoft.com/office/drawing/2014/main" id="{7E08F966-3BC0-D4C5-81FA-D758E3C573D1}"/>
              </a:ext>
            </a:extLst>
          </p:cNvPr>
          <p:cNvSpPr txBox="1"/>
          <p:nvPr/>
        </p:nvSpPr>
        <p:spPr>
          <a:xfrm>
            <a:off x="1974172" y="3305834"/>
            <a:ext cx="8337589" cy="3416320"/>
          </a:xfrm>
          <a:prstGeom prst="rect">
            <a:avLst/>
          </a:prstGeom>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ea typeface="+mn-lt"/>
                <a:cs typeface="+mn-lt"/>
              </a:rPr>
              <a:t>import static </a:t>
            </a:r>
            <a:r>
              <a:rPr lang="en-GB" err="1">
                <a:ea typeface="+mn-lt"/>
                <a:cs typeface="+mn-lt"/>
              </a:rPr>
              <a:t>org.junit.jupiter.api.Assertions.assertEquals</a:t>
            </a:r>
            <a:r>
              <a:rPr lang="en-GB">
                <a:ea typeface="+mn-lt"/>
                <a:cs typeface="+mn-lt"/>
              </a:rPr>
              <a:t>;</a:t>
            </a:r>
            <a:endParaRPr lang="en-US"/>
          </a:p>
          <a:p>
            <a:r>
              <a:rPr lang="en-GB">
                <a:ea typeface="+mn-lt"/>
                <a:cs typeface="+mn-lt"/>
              </a:rPr>
              <a:t>import </a:t>
            </a:r>
            <a:r>
              <a:rPr lang="en-GB" err="1">
                <a:ea typeface="+mn-lt"/>
                <a:cs typeface="+mn-lt"/>
              </a:rPr>
              <a:t>org.junit.jupiter.api.Test</a:t>
            </a:r>
            <a:r>
              <a:rPr lang="en-GB">
                <a:ea typeface="+mn-lt"/>
                <a:cs typeface="+mn-lt"/>
              </a:rPr>
              <a:t>;</a:t>
            </a:r>
            <a:endParaRPr lang="en-GB"/>
          </a:p>
          <a:p>
            <a:endParaRPr lang="en-GB"/>
          </a:p>
          <a:p>
            <a:r>
              <a:rPr lang="en-GB" dirty="0">
                <a:ea typeface="+mn-lt"/>
                <a:cs typeface="+mn-lt"/>
              </a:rPr>
              <a:t>public class </a:t>
            </a:r>
            <a:r>
              <a:rPr lang="en-GB" dirty="0" err="1">
                <a:ea typeface="+mn-lt"/>
                <a:cs typeface="+mn-lt"/>
              </a:rPr>
              <a:t>CalculatorTest</a:t>
            </a:r>
            <a:r>
              <a:rPr lang="en-GB" dirty="0">
                <a:ea typeface="+mn-lt"/>
                <a:cs typeface="+mn-lt"/>
              </a:rPr>
              <a:t> {</a:t>
            </a:r>
            <a:endParaRPr lang="en-GB" dirty="0"/>
          </a:p>
          <a:p>
            <a:endParaRPr lang="en-GB"/>
          </a:p>
          <a:p>
            <a:r>
              <a:rPr lang="en-GB" dirty="0">
                <a:ea typeface="+mn-lt"/>
                <a:cs typeface="+mn-lt"/>
              </a:rPr>
              <a:t>    @Test</a:t>
            </a:r>
            <a:endParaRPr lang="en-GB" dirty="0"/>
          </a:p>
          <a:p>
            <a:r>
              <a:rPr lang="en-GB" dirty="0">
                <a:ea typeface="+mn-lt"/>
                <a:cs typeface="+mn-lt"/>
              </a:rPr>
              <a:t>    public void </a:t>
            </a:r>
            <a:r>
              <a:rPr lang="en-GB" dirty="0" err="1">
                <a:ea typeface="+mn-lt"/>
                <a:cs typeface="+mn-lt"/>
              </a:rPr>
              <a:t>testAddition</a:t>
            </a:r>
            <a:r>
              <a:rPr lang="en-GB" dirty="0">
                <a:ea typeface="+mn-lt"/>
                <a:cs typeface="+mn-lt"/>
              </a:rPr>
              <a:t>() {</a:t>
            </a:r>
            <a:endParaRPr lang="en-GB" dirty="0"/>
          </a:p>
          <a:p>
            <a:r>
              <a:rPr lang="en-GB" dirty="0">
                <a:ea typeface="+mn-lt"/>
                <a:cs typeface="+mn-lt"/>
              </a:rPr>
              <a:t>        Calculator calc = new Calculator();</a:t>
            </a:r>
            <a:endParaRPr lang="en-US" dirty="0"/>
          </a:p>
          <a:p>
            <a:r>
              <a:rPr lang="en-GB" dirty="0">
                <a:ea typeface="+mn-lt"/>
                <a:cs typeface="+mn-lt"/>
              </a:rPr>
              <a:t>        int result = </a:t>
            </a:r>
            <a:r>
              <a:rPr lang="en-GB" dirty="0" err="1">
                <a:ea typeface="+mn-lt"/>
                <a:cs typeface="+mn-lt"/>
              </a:rPr>
              <a:t>calc.add</a:t>
            </a:r>
            <a:r>
              <a:rPr lang="en-GB" dirty="0">
                <a:ea typeface="+mn-lt"/>
                <a:cs typeface="+mn-lt"/>
              </a:rPr>
              <a:t>(2, 3);</a:t>
            </a:r>
          </a:p>
          <a:p>
            <a:r>
              <a:rPr lang="en-GB" dirty="0">
                <a:ea typeface="+mn-lt"/>
                <a:cs typeface="+mn-lt"/>
              </a:rPr>
              <a:t>        </a:t>
            </a:r>
            <a:r>
              <a:rPr lang="en-GB" dirty="0" err="1">
                <a:ea typeface="+mn-lt"/>
                <a:cs typeface="+mn-lt"/>
              </a:rPr>
              <a:t>assertEquals</a:t>
            </a:r>
            <a:r>
              <a:rPr lang="en-GB" dirty="0">
                <a:ea typeface="+mn-lt"/>
                <a:cs typeface="+mn-lt"/>
              </a:rPr>
              <a:t>(5, result);  // Assertion: Expected 5</a:t>
            </a:r>
            <a:endParaRPr lang="en-GB" dirty="0"/>
          </a:p>
          <a:p>
            <a:r>
              <a:rPr lang="en-GB" dirty="0">
                <a:ea typeface="+mn-lt"/>
                <a:cs typeface="+mn-lt"/>
              </a:rPr>
              <a:t>    }</a:t>
            </a:r>
            <a:endParaRPr lang="en-GB" dirty="0"/>
          </a:p>
          <a:p>
            <a:r>
              <a:rPr lang="en-GB" dirty="0">
                <a:ea typeface="+mn-lt"/>
                <a:cs typeface="+mn-lt"/>
              </a:rPr>
              <a:t>}</a:t>
            </a:r>
            <a:endParaRPr lang="en-GB" dirty="0"/>
          </a:p>
        </p:txBody>
      </p:sp>
    </p:spTree>
    <p:extLst>
      <p:ext uri="{BB962C8B-B14F-4D97-AF65-F5344CB8AC3E}">
        <p14:creationId xmlns:p14="http://schemas.microsoft.com/office/powerpoint/2010/main" val="21851276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D60812-932E-005E-A24E-34F2DF475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2D041-1D75-D430-8356-22F3411DEE8E}"/>
              </a:ext>
            </a:extLst>
          </p:cNvPr>
          <p:cNvSpPr>
            <a:spLocks noGrp="1"/>
          </p:cNvSpPr>
          <p:nvPr>
            <p:ph type="title"/>
          </p:nvPr>
        </p:nvSpPr>
        <p:spPr/>
        <p:txBody>
          <a:bodyPr/>
          <a:lstStyle/>
          <a:p>
            <a:r>
              <a:rPr lang="en-GB" dirty="0">
                <a:ea typeface="Calibri Light"/>
                <a:cs typeface="Calibri Light"/>
              </a:rPr>
              <a:t>Unit testing – Test case objectives</a:t>
            </a:r>
          </a:p>
        </p:txBody>
      </p:sp>
      <p:sp>
        <p:nvSpPr>
          <p:cNvPr id="3" name="Content Placeholder 2">
            <a:extLst>
              <a:ext uri="{FF2B5EF4-FFF2-40B4-BE49-F238E27FC236}">
                <a16:creationId xmlns:a16="http://schemas.microsoft.com/office/drawing/2014/main" id="{9B443DFC-9AB1-23E4-AAEF-2FA512FF3D1E}"/>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Testing is expensive and time consuming, so </a:t>
            </a:r>
            <a:r>
              <a:rPr lang="en-US" dirty="0">
                <a:highlight>
                  <a:srgbClr val="FFFF00"/>
                </a:highlight>
                <a:ea typeface="Calibri"/>
                <a:cs typeface="Calibri"/>
              </a:rPr>
              <a:t>make sure you choose effective unit test cases</a:t>
            </a:r>
          </a:p>
          <a:p>
            <a:r>
              <a:rPr lang="en-US" dirty="0">
                <a:ea typeface="Calibri"/>
                <a:cs typeface="Calibri"/>
              </a:rPr>
              <a:t>Effective unit test cases?</a:t>
            </a:r>
          </a:p>
          <a:p>
            <a:pPr lvl="1"/>
            <a:r>
              <a:rPr lang="en-US" dirty="0">
                <a:ea typeface="Calibri"/>
                <a:cs typeface="Calibri"/>
              </a:rPr>
              <a:t>Should show that, </a:t>
            </a:r>
            <a:r>
              <a:rPr lang="en-US" u="sng" dirty="0">
                <a:ea typeface="Calibri"/>
                <a:cs typeface="Calibri"/>
              </a:rPr>
              <a:t>when used as expected, the component does what it is expected to do</a:t>
            </a:r>
          </a:p>
          <a:p>
            <a:pPr lvl="1"/>
            <a:r>
              <a:rPr lang="en-US" dirty="0">
                <a:ea typeface="Calibri"/>
                <a:cs typeface="Calibri"/>
              </a:rPr>
              <a:t>If there are any </a:t>
            </a:r>
            <a:r>
              <a:rPr lang="en-US" u="sng" dirty="0">
                <a:ea typeface="Calibri"/>
                <a:cs typeface="Calibri"/>
              </a:rPr>
              <a:t>defects</a:t>
            </a:r>
            <a:r>
              <a:rPr lang="en-US" dirty="0">
                <a:ea typeface="Calibri"/>
                <a:cs typeface="Calibri"/>
              </a:rPr>
              <a:t>, they </a:t>
            </a:r>
            <a:r>
              <a:rPr lang="en-US" u="sng" dirty="0">
                <a:ea typeface="Calibri"/>
                <a:cs typeface="Calibri"/>
              </a:rPr>
              <a:t>should be revealed</a:t>
            </a:r>
          </a:p>
          <a:p>
            <a:r>
              <a:rPr lang="en-US" dirty="0">
                <a:ea typeface="Calibri"/>
                <a:cs typeface="Calibri"/>
              </a:rPr>
              <a:t>Therefore, you should design two types of test cases:</a:t>
            </a:r>
          </a:p>
          <a:p>
            <a:pPr lvl="1"/>
            <a:r>
              <a:rPr lang="en-US" dirty="0">
                <a:ea typeface="Calibri"/>
                <a:cs typeface="Calibri"/>
              </a:rPr>
              <a:t>Those having normal/ expected data and reflect normal working</a:t>
            </a:r>
          </a:p>
          <a:p>
            <a:pPr lvl="1"/>
            <a:r>
              <a:rPr lang="en-US" dirty="0">
                <a:ea typeface="Calibri"/>
                <a:cs typeface="Calibri"/>
              </a:rPr>
              <a:t>Testing experiences where common problems arise. You can use abnormal inputs here for testing (to see if they are properly handled and do not crash system)</a:t>
            </a: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AA6D7A2B-3C71-909F-8CAD-8848901E1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88B6542-5464-4B34-EAC0-FA85A8BE248C}"/>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D01A437E-F678-A24A-DC8F-890669E1D2C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9151100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8540-B3AF-7639-E288-7521FEB0F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DAB848-E066-D17F-11DA-B2B11FDB28F7}"/>
              </a:ext>
            </a:extLst>
          </p:cNvPr>
          <p:cNvSpPr>
            <a:spLocks noGrp="1"/>
          </p:cNvSpPr>
          <p:nvPr>
            <p:ph type="title"/>
          </p:nvPr>
        </p:nvSpPr>
        <p:spPr/>
        <p:txBody>
          <a:bodyPr/>
          <a:lstStyle/>
          <a:p>
            <a:r>
              <a:rPr lang="en-GB" dirty="0">
                <a:ea typeface="Calibri Light"/>
                <a:cs typeface="Calibri Light"/>
              </a:rPr>
              <a:t>Unit testing – Strategies to choose test cases</a:t>
            </a:r>
          </a:p>
        </p:txBody>
      </p:sp>
      <p:sp>
        <p:nvSpPr>
          <p:cNvPr id="3" name="Content Placeholder 2">
            <a:extLst>
              <a:ext uri="{FF2B5EF4-FFF2-40B4-BE49-F238E27FC236}">
                <a16:creationId xmlns:a16="http://schemas.microsoft.com/office/drawing/2014/main" id="{C50D559D-448D-E9F5-79A2-270E35FDADF8}"/>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Two strategies for choosing test cases:</a:t>
            </a:r>
            <a:endParaRPr lang="en-US" dirty="0" err="1"/>
          </a:p>
          <a:p>
            <a:pPr lvl="1"/>
            <a:r>
              <a:rPr lang="en-US" dirty="0">
                <a:ea typeface="Calibri"/>
                <a:cs typeface="Calibri"/>
              </a:rPr>
              <a:t>Partition testing: </a:t>
            </a:r>
            <a:r>
              <a:rPr lang="en-US" dirty="0">
                <a:highlight>
                  <a:srgbClr val="FFFF00"/>
                </a:highlight>
                <a:ea typeface="Calibri"/>
                <a:cs typeface="Calibri"/>
              </a:rPr>
              <a:t>Identify groups of inputs that have similar characteristics</a:t>
            </a:r>
            <a:r>
              <a:rPr lang="en-US" dirty="0">
                <a:ea typeface="Calibri"/>
                <a:cs typeface="Calibri"/>
              </a:rPr>
              <a:t> and are processed the same way</a:t>
            </a:r>
          </a:p>
          <a:p>
            <a:pPr lvl="1"/>
            <a:r>
              <a:rPr lang="en-US" dirty="0">
                <a:ea typeface="Calibri"/>
                <a:cs typeface="Calibri"/>
              </a:rPr>
              <a:t>Guideline-based testing: </a:t>
            </a:r>
            <a:r>
              <a:rPr lang="en-US" dirty="0">
                <a:highlight>
                  <a:srgbClr val="FFFF00"/>
                </a:highlight>
                <a:ea typeface="Calibri"/>
                <a:cs typeface="Calibri"/>
              </a:rPr>
              <a:t>Follow guidelines to prepare test cases</a:t>
            </a:r>
            <a:r>
              <a:rPr lang="en-US" dirty="0">
                <a:ea typeface="Calibri"/>
                <a:cs typeface="Calibri"/>
              </a:rPr>
              <a:t>. The guidelines are developed in the basis of prior experience</a:t>
            </a:r>
          </a:p>
          <a:p>
            <a:r>
              <a:rPr lang="en-US" dirty="0">
                <a:ea typeface="Calibri"/>
                <a:cs typeface="Calibri"/>
              </a:rPr>
              <a:t>Equivalence partitioning of test cases – Identify equivalence partitions for the set of possible inputs, then </a:t>
            </a:r>
            <a:r>
              <a:rPr lang="en-US" dirty="0">
                <a:highlight>
                  <a:srgbClr val="FFFF00"/>
                </a:highlight>
                <a:ea typeface="Calibri"/>
                <a:cs typeface="Calibri"/>
              </a:rPr>
              <a:t>for each equivalence partition, represent it by one input test case</a:t>
            </a:r>
            <a:r>
              <a:rPr lang="en-US" dirty="0">
                <a:ea typeface="Calibri"/>
                <a:cs typeface="Calibri"/>
              </a:rPr>
              <a:t> (instead of testing for all possible inputs within an equivalence partition)</a:t>
            </a:r>
          </a:p>
          <a:p>
            <a:r>
              <a:rPr lang="en-US" dirty="0">
                <a:ea typeface="Calibri"/>
                <a:cs typeface="Calibri"/>
              </a:rPr>
              <a:t>There may or may not be a 1:1 mapping between an input and output equivalence partition</a:t>
            </a: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E8F45661-833D-2BB1-F906-56AC32A15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3AF797D-BD75-A071-C474-BEF0A6074CF7}"/>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AC81D8E0-9D51-6EE1-DC6B-897EDE53AC7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578040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033E8-A844-D0CA-F185-FB246D7089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6B767-1040-E4DD-682E-E47E4E9A12FF}"/>
              </a:ext>
            </a:extLst>
          </p:cNvPr>
          <p:cNvSpPr>
            <a:spLocks noGrp="1"/>
          </p:cNvSpPr>
          <p:nvPr>
            <p:ph type="title"/>
          </p:nvPr>
        </p:nvSpPr>
        <p:spPr/>
        <p:txBody>
          <a:bodyPr/>
          <a:lstStyle/>
          <a:p>
            <a:r>
              <a:rPr lang="en-GB" dirty="0">
                <a:ea typeface="Calibri Light"/>
                <a:cs typeface="Calibri Light"/>
              </a:rPr>
              <a:t>Unit testing – Equivalence partitions</a:t>
            </a:r>
          </a:p>
        </p:txBody>
      </p:sp>
      <p:sp>
        <p:nvSpPr>
          <p:cNvPr id="3" name="Content Placeholder 2">
            <a:extLst>
              <a:ext uri="{FF2B5EF4-FFF2-40B4-BE49-F238E27FC236}">
                <a16:creationId xmlns:a16="http://schemas.microsoft.com/office/drawing/2014/main" id="{8E6906F1-AD99-7A66-FC0E-1DB2C3B39270}"/>
              </a:ext>
            </a:extLst>
          </p:cNvPr>
          <p:cNvSpPr>
            <a:spLocks noGrp="1"/>
          </p:cNvSpPr>
          <p:nvPr>
            <p:ph idx="1"/>
          </p:nvPr>
        </p:nvSpPr>
        <p:spPr>
          <a:xfrm>
            <a:off x="838200" y="1510219"/>
            <a:ext cx="10515600" cy="5031147"/>
          </a:xfrm>
        </p:spPr>
        <p:txBody>
          <a:bodyPr vert="horz" lIns="91440" tIns="45720" rIns="91440" bIns="45720" rtlCol="0" anchor="t">
            <a:normAutofit/>
          </a:bodyPr>
          <a:lstStyle/>
          <a:p>
            <a:pPr marL="0" indent="0">
              <a:buNone/>
            </a:pPr>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8BD24C17-9AB6-88EE-4D0E-952C07F8E0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8F8356B-AEB4-4AA3-264F-BD54AAA61F17}"/>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67E55C5A-1989-3C67-F399-A7C00DC72215}"/>
              </a:ext>
            </a:extLst>
          </p:cNvPr>
          <p:cNvSpPr>
            <a:spLocks noGrp="1"/>
          </p:cNvSpPr>
          <p:nvPr>
            <p:ph type="ftr" sz="quarter" idx="11"/>
          </p:nvPr>
        </p:nvSpPr>
        <p:spPr/>
        <p:txBody>
          <a:bodyPr/>
          <a:lstStyle/>
          <a:p>
            <a:r>
              <a:rPr lang="en-US"/>
              <a:t>Software Engineering</a:t>
            </a:r>
          </a:p>
        </p:txBody>
      </p:sp>
      <p:pic>
        <p:nvPicPr>
          <p:cNvPr id="5" name="Picture 4">
            <a:extLst>
              <a:ext uri="{FF2B5EF4-FFF2-40B4-BE49-F238E27FC236}">
                <a16:creationId xmlns:a16="http://schemas.microsoft.com/office/drawing/2014/main" id="{B68F17C2-E8B3-29B0-C664-D9E517950FEC}"/>
              </a:ext>
            </a:extLst>
          </p:cNvPr>
          <p:cNvPicPr>
            <a:picLocks noChangeAspect="1"/>
          </p:cNvPicPr>
          <p:nvPr/>
        </p:nvPicPr>
        <p:blipFill>
          <a:blip r:embed="rId4"/>
          <a:stretch>
            <a:fillRect/>
          </a:stretch>
        </p:blipFill>
        <p:spPr>
          <a:xfrm>
            <a:off x="2737808" y="1513037"/>
            <a:ext cx="6716383" cy="4622679"/>
          </a:xfrm>
          <a:prstGeom prst="rect">
            <a:avLst/>
          </a:prstGeom>
        </p:spPr>
      </p:pic>
      <p:sp>
        <p:nvSpPr>
          <p:cNvPr id="4" name="TextBox 3">
            <a:extLst>
              <a:ext uri="{FF2B5EF4-FFF2-40B4-BE49-F238E27FC236}">
                <a16:creationId xmlns:a16="http://schemas.microsoft.com/office/drawing/2014/main" id="{2A114733-761B-20BE-3275-2D90D81886D1}"/>
              </a:ext>
            </a:extLst>
          </p:cNvPr>
          <p:cNvSpPr txBox="1"/>
          <p:nvPr/>
        </p:nvSpPr>
        <p:spPr>
          <a:xfrm>
            <a:off x="9906000" y="2201333"/>
            <a:ext cx="1981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Calibri"/>
                <a:cs typeface="Calibri"/>
              </a:rPr>
              <a:t>An equivalence partition of data is a set within which all members share similar data characteristics</a:t>
            </a:r>
            <a:endParaRPr lang="en-GB" dirty="0"/>
          </a:p>
        </p:txBody>
      </p:sp>
    </p:spTree>
    <p:extLst>
      <p:ext uri="{BB962C8B-B14F-4D97-AF65-F5344CB8AC3E}">
        <p14:creationId xmlns:p14="http://schemas.microsoft.com/office/powerpoint/2010/main" val="42474935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3D9F84-9B91-295A-C3B8-8E80B91165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D3D81-7CB6-3714-3F92-588155D7641E}"/>
              </a:ext>
            </a:extLst>
          </p:cNvPr>
          <p:cNvSpPr>
            <a:spLocks noGrp="1"/>
          </p:cNvSpPr>
          <p:nvPr>
            <p:ph type="title"/>
          </p:nvPr>
        </p:nvSpPr>
        <p:spPr/>
        <p:txBody>
          <a:bodyPr/>
          <a:lstStyle/>
          <a:p>
            <a:r>
              <a:rPr lang="en-GB" dirty="0">
                <a:ea typeface="Calibri Light"/>
                <a:cs typeface="Calibri Light"/>
              </a:rPr>
              <a:t>Unit testing – Equivalence partitions</a:t>
            </a:r>
          </a:p>
        </p:txBody>
      </p:sp>
      <p:sp>
        <p:nvSpPr>
          <p:cNvPr id="3" name="Content Placeholder 2">
            <a:extLst>
              <a:ext uri="{FF2B5EF4-FFF2-40B4-BE49-F238E27FC236}">
                <a16:creationId xmlns:a16="http://schemas.microsoft.com/office/drawing/2014/main" id="{96EB2E4C-304B-052E-3A75-5B4E5DBE9FF6}"/>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Example:</a:t>
            </a:r>
          </a:p>
          <a:p>
            <a:pPr lvl="1"/>
            <a:r>
              <a:rPr lang="en-US" dirty="0">
                <a:ea typeface="Calibri"/>
                <a:cs typeface="Calibri"/>
              </a:rPr>
              <a:t>Let's say you have a form that accepts ages 18 to 60</a:t>
            </a:r>
          </a:p>
          <a:p>
            <a:pPr lvl="1"/>
            <a:r>
              <a:rPr lang="en-US" dirty="0">
                <a:ea typeface="Calibri"/>
                <a:cs typeface="Calibri"/>
              </a:rPr>
              <a:t>You can divide this into three input equivalent partitions</a:t>
            </a:r>
          </a:p>
          <a:p>
            <a:pPr lvl="2">
              <a:buFont typeface="Wingdings" panose="020B0604020202020204" pitchFamily="34" charset="0"/>
              <a:buChar char="§"/>
            </a:pPr>
            <a:r>
              <a:rPr lang="en-US" dirty="0">
                <a:ea typeface="Calibri"/>
                <a:cs typeface="Calibri"/>
              </a:rPr>
              <a:t>Ages &lt; 18   (members of this partition: 17, 16, 15, …, 12, …)</a:t>
            </a:r>
          </a:p>
          <a:p>
            <a:pPr lvl="2">
              <a:buFont typeface="Wingdings" panose="020B0604020202020204" pitchFamily="34" charset="0"/>
              <a:buChar char="§"/>
            </a:pPr>
            <a:r>
              <a:rPr lang="en-US" dirty="0">
                <a:ea typeface="Calibri"/>
                <a:cs typeface="Calibri"/>
              </a:rPr>
              <a:t>Ages &gt;= 18 &amp;&amp; Ages &lt;= 60 (members of this partition: 30, 25, 28, …., 55, 59, 50, …)</a:t>
            </a:r>
          </a:p>
          <a:p>
            <a:pPr lvl="2">
              <a:buFont typeface="Wingdings" panose="020B0604020202020204" pitchFamily="34" charset="0"/>
              <a:buChar char="§"/>
            </a:pPr>
            <a:r>
              <a:rPr lang="en-US" dirty="0">
                <a:ea typeface="Calibri"/>
                <a:cs typeface="Calibri"/>
              </a:rPr>
              <a:t>Ages &gt; 60 (members of this partition: 65, 70, 63, 72, 80, 90, 92, …)</a:t>
            </a:r>
          </a:p>
          <a:p>
            <a:pPr lvl="1"/>
            <a:r>
              <a:rPr lang="en-US" dirty="0">
                <a:ea typeface="Calibri"/>
                <a:cs typeface="Calibri"/>
              </a:rPr>
              <a:t>The corresponding output equivalence partitions would then be</a:t>
            </a:r>
          </a:p>
          <a:p>
            <a:pPr lvl="2">
              <a:buFont typeface="Wingdings" panose="020B0604020202020204" pitchFamily="34" charset="0"/>
              <a:buChar char="§"/>
            </a:pPr>
            <a:r>
              <a:rPr lang="en-US" dirty="0">
                <a:ea typeface="Calibri"/>
                <a:cs typeface="Calibri"/>
              </a:rPr>
              <a:t>Valid (when age is between 18 and 60)</a:t>
            </a:r>
          </a:p>
          <a:p>
            <a:pPr lvl="2">
              <a:buFont typeface="Wingdings" panose="020B0604020202020204" pitchFamily="34" charset="0"/>
              <a:buChar char="§"/>
            </a:pPr>
            <a:r>
              <a:rPr lang="en-US" dirty="0">
                <a:ea typeface="Calibri"/>
                <a:cs typeface="Calibri"/>
              </a:rPr>
              <a:t>Invalid (when age is greater than 60 or less than 18)</a:t>
            </a: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E76B57B-3F70-BF8F-3B7C-0A6B50BE36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647A1F5-E548-7CBF-3B71-5A2682E8FA60}"/>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6B0BDA10-6E00-0494-2A1B-58D75209B5D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44977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C33D7-FA12-5B42-E8EF-6158C0FB7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F900F7-23DC-D10E-6F52-E6CC23858846}"/>
              </a:ext>
            </a:extLst>
          </p:cNvPr>
          <p:cNvSpPr>
            <a:spLocks noGrp="1"/>
          </p:cNvSpPr>
          <p:nvPr>
            <p:ph type="title"/>
          </p:nvPr>
        </p:nvSpPr>
        <p:spPr/>
        <p:txBody>
          <a:bodyPr/>
          <a:lstStyle/>
          <a:p>
            <a:r>
              <a:rPr lang="en-GB" dirty="0">
                <a:ea typeface="Calibri Light"/>
                <a:cs typeface="Calibri Light"/>
              </a:rPr>
              <a:t>Unit testing – Equivalence partitions</a:t>
            </a:r>
          </a:p>
        </p:txBody>
      </p:sp>
      <p:sp>
        <p:nvSpPr>
          <p:cNvPr id="3" name="Content Placeholder 2">
            <a:extLst>
              <a:ext uri="{FF2B5EF4-FFF2-40B4-BE49-F238E27FC236}">
                <a16:creationId xmlns:a16="http://schemas.microsoft.com/office/drawing/2014/main" id="{5E2D333A-994C-1763-B288-C594D2711F82}"/>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dirty="0">
                <a:ea typeface="+mn-lt"/>
                <a:cs typeface="+mn-lt"/>
              </a:rPr>
              <a:t>Once you have identified a set of partitions, you </a:t>
            </a:r>
            <a:r>
              <a:rPr lang="en-US" u="sng" dirty="0">
                <a:highlight>
                  <a:srgbClr val="FFFF00"/>
                </a:highlight>
                <a:ea typeface="+mn-lt"/>
                <a:cs typeface="+mn-lt"/>
              </a:rPr>
              <a:t>choose test cases from each of these partitions</a:t>
            </a:r>
            <a:endParaRPr lang="en-US" u="sng">
              <a:highlight>
                <a:srgbClr val="FFFF00"/>
              </a:highlight>
              <a:ea typeface="Calibri"/>
              <a:cs typeface="Calibri"/>
            </a:endParaRPr>
          </a:p>
          <a:p>
            <a:r>
              <a:rPr lang="en-US" dirty="0">
                <a:ea typeface="Calibri"/>
                <a:cs typeface="Calibri"/>
              </a:rPr>
              <a:t>A </a:t>
            </a:r>
            <a:r>
              <a:rPr lang="en-US" dirty="0">
                <a:ea typeface="+mn-lt"/>
                <a:cs typeface="+mn-lt"/>
              </a:rPr>
              <a:t>good rule of thumb for test-case selection is to </a:t>
            </a:r>
            <a:r>
              <a:rPr lang="en-US" dirty="0">
                <a:highlight>
                  <a:srgbClr val="FFFF00"/>
                </a:highlight>
                <a:ea typeface="+mn-lt"/>
                <a:cs typeface="+mn-lt"/>
              </a:rPr>
              <a:t>choose test cases on the </a:t>
            </a:r>
            <a:r>
              <a:rPr lang="en-US" u="sng" dirty="0">
                <a:highlight>
                  <a:srgbClr val="FFFF00"/>
                </a:highlight>
                <a:ea typeface="+mn-lt"/>
                <a:cs typeface="+mn-lt"/>
              </a:rPr>
              <a:t>boundaries of the partitions</a:t>
            </a:r>
            <a:r>
              <a:rPr lang="en-US" dirty="0">
                <a:ea typeface="+mn-lt"/>
                <a:cs typeface="+mn-lt"/>
              </a:rPr>
              <a:t>, plus cases close to the </a:t>
            </a:r>
            <a:r>
              <a:rPr lang="en-US" u="sng" dirty="0">
                <a:highlight>
                  <a:srgbClr val="FFFF00"/>
                </a:highlight>
                <a:ea typeface="+mn-lt"/>
                <a:cs typeface="+mn-lt"/>
              </a:rPr>
              <a:t>midpoint of the partition</a:t>
            </a:r>
            <a:endParaRPr lang="en-US" u="sng">
              <a:highlight>
                <a:srgbClr val="FFFF00"/>
              </a:highlight>
              <a:ea typeface="Calibri"/>
              <a:cs typeface="Calibri"/>
            </a:endParaRPr>
          </a:p>
          <a:p>
            <a:r>
              <a:rPr lang="en-US" dirty="0">
                <a:ea typeface="+mn-lt"/>
                <a:cs typeface="+mn-lt"/>
              </a:rPr>
              <a:t>You identify partitions by using the program specification (in previous example, we used program specification) or user documentation and/ or from experience</a:t>
            </a:r>
            <a:endParaRPr lang="en-US" dirty="0">
              <a:ea typeface="Calibri"/>
              <a:cs typeface="Calibri"/>
            </a:endParaRPr>
          </a:p>
          <a:p>
            <a:r>
              <a:rPr lang="en-US" b="1" dirty="0">
                <a:ea typeface="+mn-lt"/>
                <a:cs typeface="+mn-lt"/>
              </a:rPr>
              <a:t>Using specification of a system to identify equivalence partitions is called black-box testing</a:t>
            </a:r>
            <a:endParaRPr lang="en-US" b="1">
              <a:ea typeface="Calibri"/>
              <a:cs typeface="Calibri"/>
            </a:endParaRPr>
          </a:p>
          <a:p>
            <a:r>
              <a:rPr lang="en-US" b="1" dirty="0">
                <a:ea typeface="Calibri"/>
                <a:cs typeface="Calibri"/>
              </a:rPr>
              <a:t>When using code</a:t>
            </a:r>
            <a:r>
              <a:rPr lang="en-US" b="1" dirty="0">
                <a:ea typeface="+mn-lt"/>
                <a:cs typeface="+mn-lt"/>
              </a:rPr>
              <a:t> of the program to find other possible tests, it is called white box testing (refer slide 33 and beyond)</a:t>
            </a:r>
            <a:endParaRPr lang="en-US" b="1"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38E42E11-C1D4-2357-3602-D5673D3E10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608C1CC-62C2-F31A-ECDC-EFF9BE15F3A8}"/>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C474EEA5-50C4-4B0A-1F89-C8CB85EF6E0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850057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05E3A-054A-F320-907C-87AF8CCC32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BBCEF4-0A37-4B0E-79F1-9DB28D305294}"/>
              </a:ext>
            </a:extLst>
          </p:cNvPr>
          <p:cNvSpPr>
            <a:spLocks noGrp="1"/>
          </p:cNvSpPr>
          <p:nvPr>
            <p:ph type="title"/>
          </p:nvPr>
        </p:nvSpPr>
        <p:spPr/>
        <p:txBody>
          <a:bodyPr/>
          <a:lstStyle/>
          <a:p>
            <a:r>
              <a:rPr lang="en-GB" dirty="0">
                <a:ea typeface="Calibri Light"/>
                <a:cs typeface="Calibri Light"/>
              </a:rPr>
              <a:t>Unit testing – Equivalence partitions</a:t>
            </a:r>
          </a:p>
        </p:txBody>
      </p:sp>
      <p:sp>
        <p:nvSpPr>
          <p:cNvPr id="3" name="Content Placeholder 2">
            <a:extLst>
              <a:ext uri="{FF2B5EF4-FFF2-40B4-BE49-F238E27FC236}">
                <a16:creationId xmlns:a16="http://schemas.microsoft.com/office/drawing/2014/main" id="{32100371-BED4-AD26-B519-51C0F2CE25A7}"/>
              </a:ext>
            </a:extLst>
          </p:cNvPr>
          <p:cNvSpPr>
            <a:spLocks noGrp="1"/>
          </p:cNvSpPr>
          <p:nvPr>
            <p:ph idx="1"/>
          </p:nvPr>
        </p:nvSpPr>
        <p:spPr>
          <a:xfrm>
            <a:off x="838200" y="1510219"/>
            <a:ext cx="10515600" cy="5031147"/>
          </a:xfrm>
        </p:spPr>
        <p:txBody>
          <a:bodyPr vert="horz" lIns="91440" tIns="45720" rIns="91440" bIns="45720" rtlCol="0" anchor="t">
            <a:normAutofit/>
          </a:bodyPr>
          <a:lstStyle/>
          <a:p>
            <a:pPr marL="0" indent="0">
              <a:buNone/>
            </a:pPr>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F90B7F8-210E-421E-5CA1-7FD43A236A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7893974-7614-C7DA-D170-A9A6972BADA6}"/>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0CCFB019-0D95-F492-30D2-F346FF6F8B99}"/>
              </a:ext>
            </a:extLst>
          </p:cNvPr>
          <p:cNvSpPr>
            <a:spLocks noGrp="1"/>
          </p:cNvSpPr>
          <p:nvPr>
            <p:ph type="ftr" sz="quarter" idx="11"/>
          </p:nvPr>
        </p:nvSpPr>
        <p:spPr/>
        <p:txBody>
          <a:bodyPr/>
          <a:lstStyle/>
          <a:p>
            <a:r>
              <a:rPr lang="en-US"/>
              <a:t>Software Engineering</a:t>
            </a:r>
          </a:p>
        </p:txBody>
      </p:sp>
      <p:pic>
        <p:nvPicPr>
          <p:cNvPr id="4" name="Picture 3">
            <a:extLst>
              <a:ext uri="{FF2B5EF4-FFF2-40B4-BE49-F238E27FC236}">
                <a16:creationId xmlns:a16="http://schemas.microsoft.com/office/drawing/2014/main" id="{9F0752A3-493D-EC32-62E4-43F72A264812}"/>
              </a:ext>
            </a:extLst>
          </p:cNvPr>
          <p:cNvPicPr>
            <a:picLocks noChangeAspect="1"/>
          </p:cNvPicPr>
          <p:nvPr/>
        </p:nvPicPr>
        <p:blipFill>
          <a:blip r:embed="rId4"/>
          <a:stretch>
            <a:fillRect/>
          </a:stretch>
        </p:blipFill>
        <p:spPr>
          <a:xfrm>
            <a:off x="3824108" y="1628595"/>
            <a:ext cx="8310652" cy="4794130"/>
          </a:xfrm>
          <a:prstGeom prst="rect">
            <a:avLst/>
          </a:prstGeom>
        </p:spPr>
      </p:pic>
      <p:sp>
        <p:nvSpPr>
          <p:cNvPr id="5" name="TextBox 4">
            <a:extLst>
              <a:ext uri="{FF2B5EF4-FFF2-40B4-BE49-F238E27FC236}">
                <a16:creationId xmlns:a16="http://schemas.microsoft.com/office/drawing/2014/main" id="{B4D77E38-E7EA-F785-C1C2-324530552DBA}"/>
              </a:ext>
            </a:extLst>
          </p:cNvPr>
          <p:cNvSpPr txBox="1"/>
          <p:nvPr/>
        </p:nvSpPr>
        <p:spPr>
          <a:xfrm>
            <a:off x="230358" y="2680898"/>
            <a:ext cx="3222764"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400" dirty="0">
                <a:ea typeface="Calibri"/>
                <a:cs typeface="Calibri"/>
              </a:rPr>
              <a:t>Example: </a:t>
            </a:r>
            <a:r>
              <a:rPr lang="en-GB" sz="2400" dirty="0">
                <a:ea typeface="+mn-lt"/>
                <a:cs typeface="+mn-lt"/>
              </a:rPr>
              <a:t>A program specification states that the program accepts four to ten inputs which are five-digit integers greater than 10,000.</a:t>
            </a:r>
            <a:endParaRPr lang="en-GB" sz="2400">
              <a:ea typeface="Calibri"/>
              <a:cs typeface="Calibri"/>
            </a:endParaRPr>
          </a:p>
        </p:txBody>
      </p:sp>
    </p:spTree>
    <p:extLst>
      <p:ext uri="{BB962C8B-B14F-4D97-AF65-F5344CB8AC3E}">
        <p14:creationId xmlns:p14="http://schemas.microsoft.com/office/powerpoint/2010/main" val="6368744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AC048-98B0-7490-34F1-52C8F73480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C14487-5447-8F89-41A5-B940AB47A6D3}"/>
              </a:ext>
            </a:extLst>
          </p:cNvPr>
          <p:cNvSpPr>
            <a:spLocks noGrp="1"/>
          </p:cNvSpPr>
          <p:nvPr>
            <p:ph type="title"/>
          </p:nvPr>
        </p:nvSpPr>
        <p:spPr/>
        <p:txBody>
          <a:bodyPr/>
          <a:lstStyle/>
          <a:p>
            <a:r>
              <a:rPr lang="en-GB" dirty="0">
                <a:ea typeface="Calibri Light"/>
                <a:cs typeface="Calibri Light"/>
              </a:rPr>
              <a:t>Unit testing – Guideline based testing</a:t>
            </a:r>
          </a:p>
        </p:txBody>
      </p:sp>
      <p:sp>
        <p:nvSpPr>
          <p:cNvPr id="3" name="Content Placeholder 2">
            <a:extLst>
              <a:ext uri="{FF2B5EF4-FFF2-40B4-BE49-F238E27FC236}">
                <a16:creationId xmlns:a16="http://schemas.microsoft.com/office/drawing/2014/main" id="{5D18AFEB-8583-6BBA-A52E-DCC43CBAA93A}"/>
              </a:ext>
            </a:extLst>
          </p:cNvPr>
          <p:cNvSpPr>
            <a:spLocks noGrp="1"/>
          </p:cNvSpPr>
          <p:nvPr>
            <p:ph idx="1"/>
          </p:nvPr>
        </p:nvSpPr>
        <p:spPr>
          <a:xfrm>
            <a:off x="838200" y="1510219"/>
            <a:ext cx="10515600" cy="5031147"/>
          </a:xfrm>
        </p:spPr>
        <p:txBody>
          <a:bodyPr vert="horz" lIns="91440" tIns="45720" rIns="91440" bIns="45720" rtlCol="0" anchor="t">
            <a:normAutofit fontScale="92500" lnSpcReduction="10000"/>
          </a:bodyPr>
          <a:lstStyle/>
          <a:p>
            <a:r>
              <a:rPr lang="en-US" dirty="0">
                <a:highlight>
                  <a:srgbClr val="FFFF00"/>
                </a:highlight>
                <a:ea typeface="+mn-lt"/>
                <a:cs typeface="+mn-lt"/>
              </a:rPr>
              <a:t>Guidelines encapsulate knowledge of what kinds of test cases are effective</a:t>
            </a:r>
            <a:r>
              <a:rPr lang="en-US" dirty="0">
                <a:ea typeface="+mn-lt"/>
                <a:cs typeface="+mn-lt"/>
              </a:rPr>
              <a:t> for discovering errors</a:t>
            </a:r>
            <a:endParaRPr lang="en-US" dirty="0">
              <a:ea typeface="Calibri"/>
              <a:cs typeface="Calibri"/>
            </a:endParaRPr>
          </a:p>
          <a:p>
            <a:r>
              <a:rPr lang="en-US" dirty="0">
                <a:ea typeface="Calibri"/>
                <a:cs typeface="Calibri"/>
              </a:rPr>
              <a:t>For example, when</a:t>
            </a:r>
            <a:r>
              <a:rPr lang="en-US" dirty="0">
                <a:ea typeface="+mn-lt"/>
                <a:cs typeface="+mn-lt"/>
              </a:rPr>
              <a:t> you are testing programs with sequences, arrays, or lists, guidelines that could help reveal defects include:</a:t>
            </a:r>
            <a:endParaRPr lang="en-US" dirty="0">
              <a:ea typeface="Calibri"/>
              <a:cs typeface="Calibri"/>
            </a:endParaRPr>
          </a:p>
          <a:p>
            <a:pPr lvl="1"/>
            <a:r>
              <a:rPr lang="en-US" dirty="0">
                <a:ea typeface="+mn-lt"/>
                <a:cs typeface="+mn-lt"/>
              </a:rPr>
              <a:t>Test software with sequences that have only a single value</a:t>
            </a:r>
            <a:endParaRPr lang="en-US" dirty="0">
              <a:ea typeface="Calibri"/>
              <a:cs typeface="Calibri"/>
            </a:endParaRPr>
          </a:p>
          <a:p>
            <a:pPr lvl="1"/>
            <a:r>
              <a:rPr lang="en-US" dirty="0">
                <a:ea typeface="+mn-lt"/>
                <a:cs typeface="+mn-lt"/>
              </a:rPr>
              <a:t>Use different sequences of different sizes in different tests</a:t>
            </a:r>
          </a:p>
          <a:p>
            <a:pPr lvl="1"/>
            <a:r>
              <a:rPr lang="en-US" dirty="0">
                <a:ea typeface="+mn-lt"/>
                <a:cs typeface="+mn-lt"/>
              </a:rPr>
              <a:t>Derive tests so that the first, middle, and last elements of the sequence are accessed. This approach reveals problems at partition boundaries</a:t>
            </a:r>
            <a:endParaRPr lang="en-US" dirty="0">
              <a:ea typeface="Calibri"/>
              <a:cs typeface="Calibri"/>
            </a:endParaRPr>
          </a:p>
          <a:p>
            <a:r>
              <a:rPr lang="en-US" dirty="0">
                <a:ea typeface="Calibri"/>
                <a:cs typeface="Calibri"/>
              </a:rPr>
              <a:t>Whittaker (2009) suggests some general guidelines:</a:t>
            </a:r>
          </a:p>
          <a:p>
            <a:pPr lvl="1"/>
            <a:r>
              <a:rPr lang="en-US" dirty="0">
                <a:ea typeface="+mn-lt"/>
                <a:cs typeface="+mn-lt"/>
              </a:rPr>
              <a:t>Choose inputs that force the system to generate all error messages</a:t>
            </a:r>
          </a:p>
          <a:p>
            <a:pPr lvl="1"/>
            <a:r>
              <a:rPr lang="en-US" dirty="0">
                <a:ea typeface="+mn-lt"/>
                <a:cs typeface="+mn-lt"/>
              </a:rPr>
              <a:t>Design inputs that cause input buffers to overflow</a:t>
            </a:r>
          </a:p>
          <a:p>
            <a:pPr lvl="1"/>
            <a:r>
              <a:rPr lang="en-US" dirty="0">
                <a:ea typeface="+mn-lt"/>
                <a:cs typeface="+mn-lt"/>
              </a:rPr>
              <a:t>Repeat the same input or series of inputs numerous times</a:t>
            </a:r>
          </a:p>
          <a:p>
            <a:pPr lvl="1"/>
            <a:r>
              <a:rPr lang="en-US" dirty="0">
                <a:ea typeface="+mn-lt"/>
                <a:cs typeface="+mn-lt"/>
              </a:rPr>
              <a:t>Force invalid outputs to be generated</a:t>
            </a:r>
          </a:p>
          <a:p>
            <a:pPr lvl="1"/>
            <a:r>
              <a:rPr lang="en-US" dirty="0">
                <a:ea typeface="+mn-lt"/>
                <a:cs typeface="+mn-lt"/>
              </a:rPr>
              <a:t>Force computation results to be too large or too small.</a:t>
            </a:r>
            <a:endParaRPr lang="en-US">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22E8D6E5-5A49-A2E8-863A-1FACB321BE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77AC67C-8351-FC4B-406A-6049F157E285}"/>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1AB235BA-F6AE-5E7E-C05A-6CF69B5445C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214548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E0D3CA-8B2C-6EE5-0D99-9718189EB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D7F81-8D4C-1556-79F4-74DA752C5001}"/>
              </a:ext>
            </a:extLst>
          </p:cNvPr>
          <p:cNvSpPr>
            <a:spLocks noGrp="1"/>
          </p:cNvSpPr>
          <p:nvPr>
            <p:ph type="title"/>
          </p:nvPr>
        </p:nvSpPr>
        <p:spPr/>
        <p:txBody>
          <a:bodyPr/>
          <a:lstStyle/>
          <a:p>
            <a:r>
              <a:rPr lang="en-GB" dirty="0">
                <a:ea typeface="Calibri Light"/>
                <a:cs typeface="Calibri Light"/>
              </a:rPr>
              <a:t>Component Testing</a:t>
            </a:r>
            <a:endParaRPr lang="en-US" dirty="0"/>
          </a:p>
        </p:txBody>
      </p:sp>
      <p:sp>
        <p:nvSpPr>
          <p:cNvPr id="3" name="Content Placeholder 2">
            <a:extLst>
              <a:ext uri="{FF2B5EF4-FFF2-40B4-BE49-F238E27FC236}">
                <a16:creationId xmlns:a16="http://schemas.microsoft.com/office/drawing/2014/main" id="{732FC771-30D6-4F55-3ECA-899C6EDD1ED5}"/>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Components – several interacting objects (through interfaces)</a:t>
            </a:r>
            <a:endParaRPr lang="en-US" dirty="0">
              <a:ea typeface="Calibri"/>
              <a:cs typeface="Calibri"/>
            </a:endParaRPr>
          </a:p>
          <a:p>
            <a:r>
              <a:rPr lang="en-US" dirty="0">
                <a:ea typeface="Calibri"/>
                <a:cs typeface="Calibri"/>
              </a:rPr>
              <a:t>Therefore, focus is on testing whether the interfaces work as per specification</a:t>
            </a:r>
          </a:p>
          <a:p>
            <a:r>
              <a:rPr lang="en-US" dirty="0">
                <a:ea typeface="Calibri"/>
                <a:cs typeface="Calibri"/>
              </a:rPr>
              <a:t>Assume that testing of individual objects is complete</a:t>
            </a: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79820160-4250-3F9E-7D78-E6B9BC0F0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E198F45-92D3-4C6A-A092-ABD36647FAE2}"/>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298373FD-FD93-6109-88B1-C1E0B227CF0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7916752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D6BE2-F8AA-A16B-FEBC-60325DEDA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9A0759-ED54-9BCA-B1C8-642AF089DF55}"/>
              </a:ext>
            </a:extLst>
          </p:cNvPr>
          <p:cNvSpPr>
            <a:spLocks noGrp="1"/>
          </p:cNvSpPr>
          <p:nvPr>
            <p:ph type="title"/>
          </p:nvPr>
        </p:nvSpPr>
        <p:spPr/>
        <p:txBody>
          <a:bodyPr/>
          <a:lstStyle/>
          <a:p>
            <a:r>
              <a:rPr lang="en-GB" dirty="0">
                <a:ea typeface="Calibri Light"/>
                <a:cs typeface="Calibri Light"/>
              </a:rPr>
              <a:t>Component Testing</a:t>
            </a:r>
            <a:endParaRPr lang="en-US" dirty="0"/>
          </a:p>
        </p:txBody>
      </p:sp>
      <p:sp>
        <p:nvSpPr>
          <p:cNvPr id="3" name="Content Placeholder 2">
            <a:extLst>
              <a:ext uri="{FF2B5EF4-FFF2-40B4-BE49-F238E27FC236}">
                <a16:creationId xmlns:a16="http://schemas.microsoft.com/office/drawing/2014/main" id="{DAB71D61-6CD0-921D-9670-FC27BBB574B4}"/>
              </a:ext>
            </a:extLst>
          </p:cNvPr>
          <p:cNvSpPr>
            <a:spLocks noGrp="1"/>
          </p:cNvSpPr>
          <p:nvPr>
            <p:ph idx="1"/>
          </p:nvPr>
        </p:nvSpPr>
        <p:spPr>
          <a:xfrm>
            <a:off x="838200" y="1489343"/>
            <a:ext cx="4419600" cy="5052023"/>
          </a:xfrm>
        </p:spPr>
        <p:txBody>
          <a:bodyPr vert="horz" lIns="91440" tIns="45720" rIns="91440" bIns="45720" rtlCol="0" anchor="t">
            <a:normAutofit/>
          </a:bodyPr>
          <a:lstStyle/>
          <a:p>
            <a:r>
              <a:rPr lang="en-US" dirty="0">
                <a:ea typeface="+mn-lt"/>
                <a:cs typeface="+mn-lt"/>
              </a:rPr>
              <a:t>Assume that components A, B, and C have been integrated to create a larger component or subsystem</a:t>
            </a:r>
            <a:endParaRPr lang="en-US" dirty="0">
              <a:ea typeface="Calibri" panose="020F0502020204030204"/>
              <a:cs typeface="Calibri" panose="020F0502020204030204"/>
            </a:endParaRPr>
          </a:p>
          <a:p>
            <a:r>
              <a:rPr lang="en-US" dirty="0">
                <a:ea typeface="+mn-lt"/>
                <a:cs typeface="+mn-lt"/>
              </a:rPr>
              <a:t>The test cases are not applied to the individual components but rather to the interface of the composite component created by combining these components</a:t>
            </a:r>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EB9A5B8C-D70B-956D-55AA-2D0B212E64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63A70FD-FF27-B3F2-C151-D46C11FBEF1E}"/>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A56BE0CF-EF02-AC6A-E608-E0120344F108}"/>
              </a:ext>
            </a:extLst>
          </p:cNvPr>
          <p:cNvSpPr>
            <a:spLocks noGrp="1"/>
          </p:cNvSpPr>
          <p:nvPr>
            <p:ph type="ftr" sz="quarter" idx="11"/>
          </p:nvPr>
        </p:nvSpPr>
        <p:spPr/>
        <p:txBody>
          <a:bodyPr/>
          <a:lstStyle/>
          <a:p>
            <a:r>
              <a:rPr lang="en-US"/>
              <a:t>Software Engineering</a:t>
            </a:r>
          </a:p>
        </p:txBody>
      </p:sp>
      <p:pic>
        <p:nvPicPr>
          <p:cNvPr id="4" name="Picture 3" descr="A diagram of a test case&#10;&#10;AI-generated content may be incorrect.">
            <a:extLst>
              <a:ext uri="{FF2B5EF4-FFF2-40B4-BE49-F238E27FC236}">
                <a16:creationId xmlns:a16="http://schemas.microsoft.com/office/drawing/2014/main" id="{E4FDDB61-CB99-F95A-38E9-9EAC7A23733F}"/>
              </a:ext>
            </a:extLst>
          </p:cNvPr>
          <p:cNvPicPr>
            <a:picLocks noChangeAspect="1"/>
          </p:cNvPicPr>
          <p:nvPr/>
        </p:nvPicPr>
        <p:blipFill>
          <a:blip r:embed="rId4"/>
          <a:stretch>
            <a:fillRect/>
          </a:stretch>
        </p:blipFill>
        <p:spPr>
          <a:xfrm>
            <a:off x="5724395" y="1487205"/>
            <a:ext cx="6400800" cy="5219700"/>
          </a:xfrm>
          <a:prstGeom prst="rect">
            <a:avLst/>
          </a:prstGeom>
        </p:spPr>
      </p:pic>
    </p:spTree>
    <p:extLst>
      <p:ext uri="{BB962C8B-B14F-4D97-AF65-F5344CB8AC3E}">
        <p14:creationId xmlns:p14="http://schemas.microsoft.com/office/powerpoint/2010/main" val="19117864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19CD44-284F-0882-3300-8C80284D3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746BF-C023-A4FE-66EA-029ED3F125D5}"/>
              </a:ext>
            </a:extLst>
          </p:cNvPr>
          <p:cNvSpPr>
            <a:spLocks noGrp="1"/>
          </p:cNvSpPr>
          <p:nvPr>
            <p:ph type="title"/>
          </p:nvPr>
        </p:nvSpPr>
        <p:spPr/>
        <p:txBody>
          <a:bodyPr/>
          <a:lstStyle/>
          <a:p>
            <a:r>
              <a:rPr lang="en-GB" dirty="0">
                <a:ea typeface="Calibri Light"/>
                <a:cs typeface="Calibri Light"/>
              </a:rPr>
              <a:t>Component Testing</a:t>
            </a:r>
            <a:endParaRPr lang="en-US" dirty="0"/>
          </a:p>
        </p:txBody>
      </p:sp>
      <p:sp>
        <p:nvSpPr>
          <p:cNvPr id="3" name="Content Placeholder 2">
            <a:extLst>
              <a:ext uri="{FF2B5EF4-FFF2-40B4-BE49-F238E27FC236}">
                <a16:creationId xmlns:a16="http://schemas.microsoft.com/office/drawing/2014/main" id="{A58D1C1F-349F-67D6-15DF-AA7B0973EEB3}"/>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There are different types of interfaces between components (and therefore, different type of interface errors may occur):</a:t>
            </a:r>
          </a:p>
          <a:p>
            <a:pPr lvl="1"/>
            <a:r>
              <a:rPr lang="en-US" dirty="0">
                <a:ea typeface="Calibri"/>
                <a:cs typeface="Calibri"/>
              </a:rPr>
              <a:t>Parameter interfaces: Data or function reference passed from one component to another</a:t>
            </a:r>
          </a:p>
          <a:p>
            <a:pPr lvl="1"/>
            <a:r>
              <a:rPr lang="en-US" dirty="0">
                <a:ea typeface="Calibri"/>
                <a:cs typeface="Calibri"/>
              </a:rPr>
              <a:t>Shared Memory interfaces: A block of memory is shared between components</a:t>
            </a:r>
          </a:p>
          <a:p>
            <a:pPr lvl="1"/>
            <a:r>
              <a:rPr lang="en-US" dirty="0">
                <a:ea typeface="Calibri"/>
                <a:cs typeface="Calibri"/>
              </a:rPr>
              <a:t>Procedural interfaces: Set of procedures in one component that can be called by another component</a:t>
            </a:r>
          </a:p>
          <a:p>
            <a:pPr lvl="1"/>
            <a:r>
              <a:rPr lang="en-US" dirty="0">
                <a:ea typeface="Calibri"/>
                <a:cs typeface="Calibri"/>
              </a:rPr>
              <a:t>Message Passing interfaces: Component requests service from another component by passing a message to it</a:t>
            </a: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E32D44AD-DCA7-56D2-0C7F-A628784B8F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F4B09AC-0EFF-265A-DED2-F3A27988100B}"/>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B1067F0C-6438-AA94-5F87-86FA9E29568A}"/>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41FC315D-3734-AD9A-DE4D-02F4A04835AF}"/>
              </a:ext>
            </a:extLst>
          </p:cNvPr>
          <p:cNvSpPr txBox="1"/>
          <p:nvPr/>
        </p:nvSpPr>
        <p:spPr>
          <a:xfrm>
            <a:off x="3124360" y="5246777"/>
            <a:ext cx="5936571" cy="1477328"/>
          </a:xfrm>
          <a:prstGeom prst="rect">
            <a:avLst/>
          </a:prstGeom>
        </p:spPr>
        <p:style>
          <a:lnRef idx="2">
            <a:schemeClr val="dk1">
              <a:shade val="15000"/>
            </a:schemeClr>
          </a:lnRef>
          <a:fillRef idx="1">
            <a:schemeClr val="dk1"/>
          </a:fillRef>
          <a:effectRef idx="0">
            <a:schemeClr val="dk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ea typeface="+mn-lt"/>
                <a:cs typeface="+mn-lt"/>
              </a:rPr>
              <a:t>// Procedural Interface:</a:t>
            </a:r>
            <a:endParaRPr lang="en-US" dirty="0"/>
          </a:p>
          <a:p>
            <a:r>
              <a:rPr lang="en-GB" dirty="0">
                <a:ea typeface="+mn-lt"/>
                <a:cs typeface="+mn-lt"/>
              </a:rPr>
              <a:t>bool </a:t>
            </a:r>
            <a:r>
              <a:rPr lang="en-GB" dirty="0" err="1">
                <a:ea typeface="+mn-lt"/>
                <a:cs typeface="+mn-lt"/>
              </a:rPr>
              <a:t>authenticateUser</a:t>
            </a:r>
            <a:r>
              <a:rPr lang="en-GB" dirty="0">
                <a:ea typeface="+mn-lt"/>
                <a:cs typeface="+mn-lt"/>
              </a:rPr>
              <a:t>(string username, string password);</a:t>
            </a:r>
            <a:endParaRPr lang="en-GB" dirty="0"/>
          </a:p>
          <a:p>
            <a:r>
              <a:rPr lang="en-GB" dirty="0">
                <a:ea typeface="+mn-lt"/>
                <a:cs typeface="+mn-lt"/>
              </a:rPr>
              <a:t>// Parameter Interface:</a:t>
            </a:r>
            <a:endParaRPr lang="en-GB" dirty="0"/>
          </a:p>
          <a:p>
            <a:r>
              <a:rPr lang="en-GB" dirty="0">
                <a:ea typeface="+mn-lt"/>
                <a:cs typeface="+mn-lt"/>
              </a:rPr>
              <a:t>username: must be a non-empty string, 5-20 characters  </a:t>
            </a:r>
            <a:endParaRPr lang="en-GB" dirty="0"/>
          </a:p>
          <a:p>
            <a:r>
              <a:rPr lang="en-GB" dirty="0">
                <a:ea typeface="+mn-lt"/>
                <a:cs typeface="+mn-lt"/>
              </a:rPr>
              <a:t>password: must be a string, minimum 8 characters</a:t>
            </a:r>
            <a:endParaRPr lang="en-GB" dirty="0"/>
          </a:p>
        </p:txBody>
      </p:sp>
    </p:spTree>
    <p:extLst>
      <p:ext uri="{BB962C8B-B14F-4D97-AF65-F5344CB8AC3E}">
        <p14:creationId xmlns:p14="http://schemas.microsoft.com/office/powerpoint/2010/main" val="15205197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5C0F9-9C2F-1364-415B-0B71021F8F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45A9BD-70CC-9021-0E98-25400634D07E}"/>
              </a:ext>
            </a:extLst>
          </p:cNvPr>
          <p:cNvSpPr>
            <a:spLocks noGrp="1"/>
          </p:cNvSpPr>
          <p:nvPr>
            <p:ph type="title"/>
          </p:nvPr>
        </p:nvSpPr>
        <p:spPr/>
        <p:txBody>
          <a:bodyPr/>
          <a:lstStyle/>
          <a:p>
            <a:r>
              <a:rPr lang="en-GB" dirty="0">
                <a:ea typeface="Calibri Light"/>
                <a:cs typeface="Calibri Light"/>
              </a:rPr>
              <a:t>Component Testing – Interface errors</a:t>
            </a:r>
            <a:endParaRPr lang="en-US" dirty="0"/>
          </a:p>
        </p:txBody>
      </p:sp>
      <p:sp>
        <p:nvSpPr>
          <p:cNvPr id="3" name="Content Placeholder 2">
            <a:extLst>
              <a:ext uri="{FF2B5EF4-FFF2-40B4-BE49-F238E27FC236}">
                <a16:creationId xmlns:a16="http://schemas.microsoft.com/office/drawing/2014/main" id="{5F538D14-D454-5CC8-5B14-0BE36211A194}"/>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Interface errors are one of the most common type of errors in complex systems (Lutz 1993)</a:t>
            </a:r>
            <a:endParaRPr lang="en-US" dirty="0"/>
          </a:p>
          <a:p>
            <a:r>
              <a:rPr lang="en-US" dirty="0">
                <a:ea typeface="Calibri"/>
                <a:cs typeface="Calibri"/>
              </a:rPr>
              <a:t>Three class of errors:</a:t>
            </a:r>
          </a:p>
          <a:p>
            <a:pPr lvl="1"/>
            <a:r>
              <a:rPr lang="en-US" dirty="0">
                <a:ea typeface="Calibri"/>
                <a:cs typeface="Calibri"/>
              </a:rPr>
              <a:t>Interface misuse: Error in use of interface, usually in the form of </a:t>
            </a:r>
            <a:r>
              <a:rPr lang="en-US" dirty="0">
                <a:highlight>
                  <a:srgbClr val="FFFF00"/>
                </a:highlight>
                <a:ea typeface="Calibri"/>
                <a:cs typeface="Calibri"/>
              </a:rPr>
              <a:t>wrong parameter passed, incorrect parameter order, incorrect parameter number</a:t>
            </a:r>
          </a:p>
          <a:p>
            <a:pPr lvl="1"/>
            <a:r>
              <a:rPr lang="en-US" dirty="0">
                <a:ea typeface="Calibri"/>
                <a:cs typeface="Calibri"/>
              </a:rPr>
              <a:t>Interface misunderstanding: </a:t>
            </a:r>
            <a:r>
              <a:rPr lang="en-US" dirty="0">
                <a:highlight>
                  <a:srgbClr val="FFFF00"/>
                </a:highlight>
                <a:ea typeface="Calibri"/>
                <a:cs typeface="Calibri"/>
              </a:rPr>
              <a:t>Calling component misunderstands the specification or interface of called component</a:t>
            </a:r>
            <a:r>
              <a:rPr lang="en-US" dirty="0">
                <a:ea typeface="Calibri"/>
                <a:cs typeface="Calibri"/>
              </a:rPr>
              <a:t> (example: binary search method maybe called on an unordered array – because of an assumption that method will first sort before applying binary search)</a:t>
            </a:r>
          </a:p>
          <a:p>
            <a:pPr lvl="1"/>
            <a:r>
              <a:rPr lang="en-US" dirty="0">
                <a:ea typeface="Calibri"/>
                <a:cs typeface="Calibri"/>
              </a:rPr>
              <a:t>Timing errors: Happens in </a:t>
            </a:r>
            <a:r>
              <a:rPr lang="en-US" dirty="0">
                <a:highlight>
                  <a:srgbClr val="FFFF00"/>
                </a:highlight>
                <a:ea typeface="Calibri"/>
                <a:cs typeface="Calibri"/>
              </a:rPr>
              <a:t>real time systems that use shared memory or message passing where the producer and consumer operate at different speeds</a:t>
            </a:r>
            <a:r>
              <a:rPr lang="en-US" dirty="0">
                <a:ea typeface="Calibri"/>
                <a:cs typeface="Calibri"/>
              </a:rPr>
              <a:t> (you saw this in Operating Systems class)</a:t>
            </a: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BCDF7598-2E1F-5392-9D8E-A2C02795E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44B9D1E-1622-833A-3906-040E083472FA}"/>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CB6809CF-8E33-5D5B-5CDF-A97ADECDB7F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453563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2A0F8-6165-70B9-7DE1-E2874CF93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90CA5E-CD96-81F4-F1AF-D750606A9BB6}"/>
              </a:ext>
            </a:extLst>
          </p:cNvPr>
          <p:cNvSpPr>
            <a:spLocks noGrp="1"/>
          </p:cNvSpPr>
          <p:nvPr>
            <p:ph type="title"/>
          </p:nvPr>
        </p:nvSpPr>
        <p:spPr/>
        <p:txBody>
          <a:bodyPr/>
          <a:lstStyle/>
          <a:p>
            <a:r>
              <a:rPr lang="en-GB" dirty="0">
                <a:ea typeface="Calibri Light"/>
                <a:cs typeface="Calibri Light"/>
              </a:rPr>
              <a:t>Component Testing – General guidelines</a:t>
            </a:r>
            <a:endParaRPr lang="en-US" dirty="0"/>
          </a:p>
        </p:txBody>
      </p:sp>
      <p:sp>
        <p:nvSpPr>
          <p:cNvPr id="3" name="Content Placeholder 2">
            <a:extLst>
              <a:ext uri="{FF2B5EF4-FFF2-40B4-BE49-F238E27FC236}">
                <a16:creationId xmlns:a16="http://schemas.microsoft.com/office/drawing/2014/main" id="{0A4F7D2A-919F-2FA9-A330-EA410C6158E4}"/>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Identify calls to external component. Design tests such that </a:t>
            </a:r>
            <a:r>
              <a:rPr lang="en-US" dirty="0">
                <a:highlight>
                  <a:srgbClr val="FFFF00"/>
                </a:highlight>
                <a:ea typeface="Calibri"/>
                <a:cs typeface="Calibri"/>
              </a:rPr>
              <a:t>values of parameters to external components are at extreme ends of ranges</a:t>
            </a:r>
          </a:p>
          <a:p>
            <a:r>
              <a:rPr lang="en-US" dirty="0">
                <a:ea typeface="Calibri"/>
                <a:cs typeface="Calibri"/>
              </a:rPr>
              <a:t>When passing pointers across interfaces, </a:t>
            </a:r>
            <a:r>
              <a:rPr lang="en-US" dirty="0">
                <a:highlight>
                  <a:srgbClr val="FFFF00"/>
                </a:highlight>
                <a:ea typeface="Calibri"/>
                <a:cs typeface="Calibri"/>
              </a:rPr>
              <a:t>test against NULL pointer</a:t>
            </a:r>
          </a:p>
          <a:p>
            <a:r>
              <a:rPr lang="en-US" dirty="0">
                <a:ea typeface="Calibri"/>
                <a:cs typeface="Calibri"/>
              </a:rPr>
              <a:t>When calling a component through procedures, design tests to deliberately fail the component</a:t>
            </a:r>
          </a:p>
          <a:p>
            <a:r>
              <a:rPr lang="en-US" dirty="0">
                <a:ea typeface="Calibri"/>
                <a:cs typeface="Calibri"/>
              </a:rPr>
              <a:t>Use </a:t>
            </a:r>
            <a:r>
              <a:rPr lang="en-US" dirty="0">
                <a:highlight>
                  <a:srgbClr val="FFFF00"/>
                </a:highlight>
                <a:ea typeface="Calibri"/>
                <a:cs typeface="Calibri"/>
              </a:rPr>
              <a:t>stress testing in message passing systems</a:t>
            </a:r>
          </a:p>
          <a:p>
            <a:r>
              <a:rPr lang="en-US" dirty="0">
                <a:ea typeface="Calibri"/>
                <a:cs typeface="Calibri"/>
              </a:rPr>
              <a:t>When components </a:t>
            </a:r>
            <a:r>
              <a:rPr lang="en-US" dirty="0">
                <a:highlight>
                  <a:srgbClr val="FFFF00"/>
                </a:highlight>
                <a:ea typeface="Calibri"/>
                <a:cs typeface="Calibri"/>
              </a:rPr>
              <a:t>interact via shared memory, design tests that vary the order in which the components are activated</a:t>
            </a:r>
            <a:r>
              <a:rPr lang="en-US" dirty="0">
                <a:ea typeface="Calibri"/>
                <a:cs typeface="Calibri"/>
              </a:rPr>
              <a:t> (call consumer component first, then producer component)</a:t>
            </a: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1D305F8B-430C-C4A3-F0D0-25166F0FED3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E38525F-3188-6295-CAA4-DCB6AC479FB5}"/>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337A5CF6-0BD6-D3E9-FE6A-ADE87D789DE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70040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C53C8-012C-37AA-8E5D-152B1B3FA6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C71D28-EBB4-A6CA-8304-19182361EBF6}"/>
              </a:ext>
            </a:extLst>
          </p:cNvPr>
          <p:cNvSpPr>
            <a:spLocks noGrp="1"/>
          </p:cNvSpPr>
          <p:nvPr>
            <p:ph type="title"/>
          </p:nvPr>
        </p:nvSpPr>
        <p:spPr/>
        <p:txBody>
          <a:bodyPr/>
          <a:lstStyle/>
          <a:p>
            <a:r>
              <a:rPr lang="en-GB" dirty="0">
                <a:ea typeface="Calibri Light"/>
                <a:cs typeface="Calibri Light"/>
              </a:rPr>
              <a:t>Component Testing – Closing points</a:t>
            </a:r>
            <a:endParaRPr lang="en-US" dirty="0"/>
          </a:p>
        </p:txBody>
      </p:sp>
      <p:sp>
        <p:nvSpPr>
          <p:cNvPr id="3" name="Content Placeholder 2">
            <a:extLst>
              <a:ext uri="{FF2B5EF4-FFF2-40B4-BE49-F238E27FC236}">
                <a16:creationId xmlns:a16="http://schemas.microsoft.com/office/drawing/2014/main" id="{07B0C85A-4BF1-EE6D-3AF5-D4364E24D29C}"/>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a:cs typeface="Calibri"/>
              </a:rPr>
              <a:t>Testing for interfaces might get tricky because some faults manifest only in unusual conditions (example: Called object implements fixed length queue, whereas calling object assumes infinite length queue). This error can only be caught during queue overflow</a:t>
            </a:r>
          </a:p>
          <a:p>
            <a:r>
              <a:rPr lang="en-US" dirty="0">
                <a:ea typeface="Calibri"/>
                <a:cs typeface="Calibri"/>
              </a:rPr>
              <a:t>Faults in one object may be detected only when some other object behaves in an unexpected way</a:t>
            </a:r>
          </a:p>
          <a:p>
            <a:r>
              <a:rPr lang="en-US" dirty="0">
                <a:ea typeface="Calibri"/>
                <a:cs typeface="Calibri"/>
              </a:rPr>
              <a:t>Sometimes it is </a:t>
            </a:r>
            <a:r>
              <a:rPr lang="en-US" u="sng" dirty="0">
                <a:highlight>
                  <a:srgbClr val="FFFF00"/>
                </a:highlight>
                <a:ea typeface="Calibri"/>
                <a:cs typeface="Calibri"/>
              </a:rPr>
              <a:t>better to use inspections and reviews rather than testing</a:t>
            </a:r>
            <a:r>
              <a:rPr lang="en-US" dirty="0">
                <a:highlight>
                  <a:srgbClr val="FFFF00"/>
                </a:highlight>
                <a:ea typeface="Calibri"/>
                <a:cs typeface="Calibri"/>
              </a:rPr>
              <a:t> to look for interface errors</a:t>
            </a:r>
          </a:p>
          <a:p>
            <a:endParaRPr lang="en-US" dirty="0">
              <a:ea typeface="Calibri"/>
              <a:cs typeface="Calibri"/>
            </a:endParaRPr>
          </a:p>
          <a:p>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CB59D68F-1CB5-2698-9D5B-5E032A687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D0B264F-E7EB-00D3-EE39-BED4C328811E}"/>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5E1E352A-47F9-D939-1456-9704DB0241B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2247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3AABE-5A59-958B-E50F-9F5F252FD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17053-369A-F55D-AD6C-20EC68EA815C}"/>
              </a:ext>
            </a:extLst>
          </p:cNvPr>
          <p:cNvSpPr>
            <a:spLocks noGrp="1"/>
          </p:cNvSpPr>
          <p:nvPr>
            <p:ph type="title"/>
          </p:nvPr>
        </p:nvSpPr>
        <p:spPr/>
        <p:txBody>
          <a:bodyPr/>
          <a:lstStyle/>
          <a:p>
            <a:r>
              <a:rPr lang="en-GB" dirty="0">
                <a:ea typeface="Calibri Light"/>
                <a:cs typeface="Calibri Light"/>
              </a:rPr>
              <a:t>System Testing</a:t>
            </a:r>
            <a:endParaRPr lang="en-US" dirty="0"/>
          </a:p>
        </p:txBody>
      </p:sp>
      <p:sp>
        <p:nvSpPr>
          <p:cNvPr id="3" name="Content Placeholder 2">
            <a:extLst>
              <a:ext uri="{FF2B5EF4-FFF2-40B4-BE49-F238E27FC236}">
                <a16:creationId xmlns:a16="http://schemas.microsoft.com/office/drawing/2014/main" id="{14C7A5F3-9037-4C9F-47C6-0BBEEEFD8FC7}"/>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System testing during development involves integrating components to create a version of the system and then testing the integrated system</a:t>
            </a:r>
            <a:endParaRPr lang="en-US" dirty="0">
              <a:ea typeface="Calibri"/>
              <a:cs typeface="Calibri"/>
            </a:endParaRPr>
          </a:p>
          <a:p>
            <a:r>
              <a:rPr lang="en-US" dirty="0">
                <a:ea typeface="+mn-lt"/>
                <a:cs typeface="+mn-lt"/>
              </a:rPr>
              <a:t>Checks that components are compatible, interact correctly, and transfer the right data at the right time across their interfaces</a:t>
            </a:r>
            <a:endParaRPr lang="en-US" dirty="0">
              <a:ea typeface="Calibri" panose="020F0502020204030204"/>
              <a:cs typeface="Calibri" panose="020F0502020204030204"/>
            </a:endParaRPr>
          </a:p>
          <a:p>
            <a:r>
              <a:rPr lang="en-US" dirty="0">
                <a:ea typeface="Calibri" panose="020F0502020204030204"/>
                <a:cs typeface="Calibri" panose="020F0502020204030204"/>
              </a:rPr>
              <a:t>Overlaps with component testing, but with 2 differences:</a:t>
            </a:r>
          </a:p>
          <a:p>
            <a:pPr lvl="1"/>
            <a:r>
              <a:rPr lang="en-US" u="sng" dirty="0">
                <a:ea typeface="Calibri" panose="020F0502020204030204"/>
                <a:cs typeface="Calibri" panose="020F0502020204030204"/>
              </a:rPr>
              <a:t>Reusable components that have been separately developed, and off-the-shelf systems may be integrated</a:t>
            </a:r>
            <a:r>
              <a:rPr lang="en-US" dirty="0">
                <a:ea typeface="Calibri" panose="020F0502020204030204"/>
                <a:cs typeface="Calibri" panose="020F0502020204030204"/>
              </a:rPr>
              <a:t> with newly developed components. The complete system is then tested</a:t>
            </a:r>
          </a:p>
          <a:p>
            <a:pPr lvl="1"/>
            <a:r>
              <a:rPr lang="en-US" u="sng" dirty="0">
                <a:ea typeface="Calibri" panose="020F0502020204030204"/>
                <a:cs typeface="Calibri" panose="020F0502020204030204"/>
              </a:rPr>
              <a:t>Components developed by different sub teams maybe integrated</a:t>
            </a:r>
            <a:r>
              <a:rPr lang="en-US" dirty="0">
                <a:ea typeface="Calibri" panose="020F0502020204030204"/>
                <a:cs typeface="Calibri" panose="020F0502020204030204"/>
              </a:rPr>
              <a:t> at this stage</a:t>
            </a:r>
          </a:p>
          <a:p>
            <a:r>
              <a:rPr lang="en-US" dirty="0">
                <a:ea typeface="Calibri" panose="020F0502020204030204"/>
                <a:cs typeface="Calibri" panose="020F0502020204030204"/>
              </a:rPr>
              <a:t>Systems have emergent behavior; some functionality becomes evident only after final system has been put together</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4C86A541-7BE3-721E-8DC6-0975E635C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CA8ADD4-1419-9450-E9CD-14B6782F415B}"/>
              </a:ext>
            </a:extLst>
          </p:cNvPr>
          <p:cNvSpPr>
            <a:spLocks noGrp="1"/>
          </p:cNvSpPr>
          <p:nvPr>
            <p:ph type="sldNum" sz="quarter" idx="12"/>
          </p:nvPr>
        </p:nvSpPr>
        <p:spPr/>
        <p:txBody>
          <a:bodyPr/>
          <a:lstStyle/>
          <a:p>
            <a:fld id="{008559AE-1842-40A5-A2A9-0518F39FD1A9}" type="slidenum">
              <a:rPr lang="en-US" smtClean="0"/>
              <a:t>28</a:t>
            </a:fld>
            <a:endParaRPr lang="en-GB"/>
          </a:p>
        </p:txBody>
      </p:sp>
      <p:sp>
        <p:nvSpPr>
          <p:cNvPr id="7" name="Footer Placeholder 6">
            <a:extLst>
              <a:ext uri="{FF2B5EF4-FFF2-40B4-BE49-F238E27FC236}">
                <a16:creationId xmlns:a16="http://schemas.microsoft.com/office/drawing/2014/main" id="{9F5EB21F-F150-035E-AAAA-AB97A4AE8884}"/>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873271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A821D-B3D5-F7A9-F7A6-6C6C894CFA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B3F59E-40A5-D0B9-0767-C1C51EE09B1C}"/>
              </a:ext>
            </a:extLst>
          </p:cNvPr>
          <p:cNvSpPr>
            <a:spLocks noGrp="1"/>
          </p:cNvSpPr>
          <p:nvPr>
            <p:ph type="title"/>
          </p:nvPr>
        </p:nvSpPr>
        <p:spPr/>
        <p:txBody>
          <a:bodyPr/>
          <a:lstStyle/>
          <a:p>
            <a:r>
              <a:rPr lang="en-GB" dirty="0">
                <a:ea typeface="Calibri Light"/>
                <a:cs typeface="Calibri Light"/>
              </a:rPr>
              <a:t>System Testing</a:t>
            </a:r>
            <a:endParaRPr lang="en-US" dirty="0"/>
          </a:p>
        </p:txBody>
      </p:sp>
      <p:sp>
        <p:nvSpPr>
          <p:cNvPr id="3" name="Content Placeholder 2">
            <a:extLst>
              <a:ext uri="{FF2B5EF4-FFF2-40B4-BE49-F238E27FC236}">
                <a16:creationId xmlns:a16="http://schemas.microsoft.com/office/drawing/2014/main" id="{B31959C1-A2D1-1C92-68B3-D6996EE96F45}"/>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Because of its focus on interactions, </a:t>
            </a:r>
            <a:r>
              <a:rPr lang="en-US" dirty="0">
                <a:highlight>
                  <a:srgbClr val="FFFF00"/>
                </a:highlight>
                <a:ea typeface="+mn-lt"/>
                <a:cs typeface="+mn-lt"/>
              </a:rPr>
              <a:t>use case-based testing is an effective approach to system testing</a:t>
            </a:r>
          </a:p>
          <a:p>
            <a:r>
              <a:rPr lang="en-US" dirty="0">
                <a:highlight>
                  <a:srgbClr val="FFFF00"/>
                </a:highlight>
                <a:ea typeface="+mn-lt"/>
                <a:cs typeface="+mn-lt"/>
              </a:rPr>
              <a:t>Several components or objects normally implement each use case</a:t>
            </a:r>
            <a:r>
              <a:rPr lang="en-US" dirty="0">
                <a:ea typeface="+mn-lt"/>
                <a:cs typeface="+mn-lt"/>
              </a:rPr>
              <a:t> in the system</a:t>
            </a:r>
          </a:p>
          <a:p>
            <a:r>
              <a:rPr lang="en-US" dirty="0">
                <a:ea typeface="+mn-lt"/>
                <a:cs typeface="+mn-lt"/>
              </a:rPr>
              <a:t>Testing the use case </a:t>
            </a:r>
            <a:r>
              <a:rPr lang="en-US" dirty="0">
                <a:highlight>
                  <a:srgbClr val="FFFF00"/>
                </a:highlight>
                <a:ea typeface="+mn-lt"/>
                <a:cs typeface="+mn-lt"/>
              </a:rPr>
              <a:t>forces these interactions to occur</a:t>
            </a:r>
          </a:p>
          <a:p>
            <a:r>
              <a:rPr lang="en-US" dirty="0">
                <a:ea typeface="+mn-lt"/>
                <a:cs typeface="+mn-lt"/>
              </a:rPr>
              <a:t>And which diagram shows implementation, or interaction of objects in a use case? </a:t>
            </a:r>
            <a:r>
              <a:rPr lang="en-US" dirty="0">
                <a:highlight>
                  <a:srgbClr val="FFFF00"/>
                </a:highlight>
                <a:ea typeface="+mn-lt"/>
                <a:cs typeface="+mn-lt"/>
              </a:rPr>
              <a:t>A sequence diagram!</a:t>
            </a:r>
          </a:p>
          <a:p>
            <a:r>
              <a:rPr lang="en-US" dirty="0">
                <a:ea typeface="+mn-lt"/>
                <a:cs typeface="+mn-lt"/>
              </a:rPr>
              <a:t>If you have developed a sequence diagram to model the use case implementation, you can see the objects that are involved in the interaction to decide on how to test</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A47822F6-B5FB-7FB9-C473-42DCD98732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68455D7-86E0-1178-F51D-3FDF5980E650}"/>
              </a:ext>
            </a:extLst>
          </p:cNvPr>
          <p:cNvSpPr>
            <a:spLocks noGrp="1"/>
          </p:cNvSpPr>
          <p:nvPr>
            <p:ph type="sldNum" sz="quarter" idx="12"/>
          </p:nvPr>
        </p:nvSpPr>
        <p:spPr/>
        <p:txBody>
          <a:bodyPr/>
          <a:lstStyle/>
          <a:p>
            <a:fld id="{008559AE-1842-40A5-A2A9-0518F39FD1A9}" type="slidenum">
              <a:rPr lang="en-US" smtClean="0"/>
              <a:t>29</a:t>
            </a:fld>
            <a:endParaRPr lang="en-GB"/>
          </a:p>
        </p:txBody>
      </p:sp>
      <p:sp>
        <p:nvSpPr>
          <p:cNvPr id="7" name="Footer Placeholder 6">
            <a:extLst>
              <a:ext uri="{FF2B5EF4-FFF2-40B4-BE49-F238E27FC236}">
                <a16:creationId xmlns:a16="http://schemas.microsoft.com/office/drawing/2014/main" id="{82CC2A6F-B3E1-E524-22C2-3BFDBFF3D73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7402900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17E5-DA0A-77ED-9279-3771EAB58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ED04D0-AF84-B462-C70C-31CC00B70F0B}"/>
              </a:ext>
            </a:extLst>
          </p:cNvPr>
          <p:cNvSpPr>
            <a:spLocks noGrp="1"/>
          </p:cNvSpPr>
          <p:nvPr>
            <p:ph type="title"/>
          </p:nvPr>
        </p:nvSpPr>
        <p:spPr/>
        <p:txBody>
          <a:bodyPr/>
          <a:lstStyle/>
          <a:p>
            <a:r>
              <a:rPr lang="en-GB" dirty="0">
                <a:ea typeface="Calibri Light"/>
                <a:cs typeface="Calibri Light"/>
              </a:rPr>
              <a:t>System Testing</a:t>
            </a:r>
            <a:endParaRPr lang="en-US" dirty="0"/>
          </a:p>
        </p:txBody>
      </p:sp>
      <p:pic>
        <p:nvPicPr>
          <p:cNvPr id="4" name="Content Placeholder 3" descr="A diagram of a diagram&#10;&#10;AI-generated content may be incorrect.">
            <a:extLst>
              <a:ext uri="{FF2B5EF4-FFF2-40B4-BE49-F238E27FC236}">
                <a16:creationId xmlns:a16="http://schemas.microsoft.com/office/drawing/2014/main" id="{C0A9F37F-9B03-4256-1FB9-E95EC5FD2D55}"/>
              </a:ext>
            </a:extLst>
          </p:cNvPr>
          <p:cNvPicPr>
            <a:picLocks noGrp="1" noChangeAspect="1"/>
          </p:cNvPicPr>
          <p:nvPr>
            <p:ph idx="1"/>
          </p:nvPr>
        </p:nvPicPr>
        <p:blipFill>
          <a:blip r:embed="rId3"/>
          <a:stretch>
            <a:fillRect/>
          </a:stretch>
        </p:blipFill>
        <p:spPr>
          <a:xfrm>
            <a:off x="1716984" y="1395397"/>
            <a:ext cx="9196442" cy="5323420"/>
          </a:xfrm>
        </p:spPr>
      </p:pic>
      <p:pic>
        <p:nvPicPr>
          <p:cNvPr id="6" name="Picture 5" descr="A black and white logo&#10;&#10;Description automatically generated">
            <a:extLst>
              <a:ext uri="{FF2B5EF4-FFF2-40B4-BE49-F238E27FC236}">
                <a16:creationId xmlns:a16="http://schemas.microsoft.com/office/drawing/2014/main" id="{56F134BE-9F86-C9A5-C3E0-B151D6373BE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6C94DBC-FBA6-ED35-92EB-3BB0829377EF}"/>
              </a:ext>
            </a:extLst>
          </p:cNvPr>
          <p:cNvSpPr>
            <a:spLocks noGrp="1"/>
          </p:cNvSpPr>
          <p:nvPr>
            <p:ph type="sldNum" sz="quarter" idx="12"/>
          </p:nvPr>
        </p:nvSpPr>
        <p:spPr/>
        <p:txBody>
          <a:bodyPr/>
          <a:lstStyle/>
          <a:p>
            <a:fld id="{008559AE-1842-40A5-A2A9-0518F39FD1A9}" type="slidenum">
              <a:rPr lang="en-US" smtClean="0"/>
              <a:t>30</a:t>
            </a:fld>
            <a:endParaRPr lang="en-GB"/>
          </a:p>
        </p:txBody>
      </p:sp>
      <p:sp>
        <p:nvSpPr>
          <p:cNvPr id="7" name="Footer Placeholder 6">
            <a:extLst>
              <a:ext uri="{FF2B5EF4-FFF2-40B4-BE49-F238E27FC236}">
                <a16:creationId xmlns:a16="http://schemas.microsoft.com/office/drawing/2014/main" id="{E3A7A2FD-2174-2CA4-01D4-20BA9260F14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7189487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64030-E823-B7E5-45A6-CC599F44FD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32AA4-57CE-BFF6-9C22-72CFD00B13DA}"/>
              </a:ext>
            </a:extLst>
          </p:cNvPr>
          <p:cNvSpPr>
            <a:spLocks noGrp="1"/>
          </p:cNvSpPr>
          <p:nvPr>
            <p:ph type="title"/>
          </p:nvPr>
        </p:nvSpPr>
        <p:spPr/>
        <p:txBody>
          <a:bodyPr/>
          <a:lstStyle/>
          <a:p>
            <a:r>
              <a:rPr lang="en-GB" dirty="0">
                <a:ea typeface="Calibri Light"/>
                <a:cs typeface="Calibri Light"/>
              </a:rPr>
              <a:t>System Testing</a:t>
            </a:r>
            <a:endParaRPr lang="en-US" dirty="0"/>
          </a:p>
        </p:txBody>
      </p:sp>
      <p:sp>
        <p:nvSpPr>
          <p:cNvPr id="3" name="Content Placeholder 2">
            <a:extLst>
              <a:ext uri="{FF2B5EF4-FFF2-40B4-BE49-F238E27FC236}">
                <a16:creationId xmlns:a16="http://schemas.microsoft.com/office/drawing/2014/main" id="{04AC6EC7-8912-7EAC-78CA-A20E856655B7}"/>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The </a:t>
            </a:r>
            <a:r>
              <a:rPr lang="en-US" dirty="0">
                <a:highlight>
                  <a:srgbClr val="FFFF00"/>
                </a:highlight>
                <a:ea typeface="+mn-lt"/>
                <a:cs typeface="+mn-lt"/>
              </a:rPr>
              <a:t>sequence diagram can help develop test cases, shows the inputs required and the outputs expected</a:t>
            </a:r>
          </a:p>
          <a:p>
            <a:r>
              <a:rPr lang="en-US" dirty="0">
                <a:ea typeface="Calibri" panose="020F0502020204030204"/>
                <a:cs typeface="Calibri" panose="020F0502020204030204"/>
              </a:rPr>
              <a:t>The previous diagram is simple (in that it does not show exceptions)</a:t>
            </a:r>
          </a:p>
          <a:p>
            <a:r>
              <a:rPr lang="en-US" dirty="0">
                <a:ea typeface="Calibri" panose="020F0502020204030204"/>
                <a:cs typeface="Calibri" panose="020F0502020204030204"/>
              </a:rPr>
              <a:t>A complete scenario/ use case test takes these exceptions into account and ensure they are correctly handled</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F3F1A2B0-15F4-3A40-8D47-DF46BA29B9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2DEA5F8-FDA3-03B7-81CA-529F3200B1F0}"/>
              </a:ext>
            </a:extLst>
          </p:cNvPr>
          <p:cNvSpPr>
            <a:spLocks noGrp="1"/>
          </p:cNvSpPr>
          <p:nvPr>
            <p:ph type="sldNum" sz="quarter" idx="12"/>
          </p:nvPr>
        </p:nvSpPr>
        <p:spPr/>
        <p:txBody>
          <a:bodyPr/>
          <a:lstStyle/>
          <a:p>
            <a:fld id="{008559AE-1842-40A5-A2A9-0518F39FD1A9}" type="slidenum">
              <a:rPr lang="en-US" smtClean="0"/>
              <a:t>31</a:t>
            </a:fld>
            <a:endParaRPr lang="en-GB"/>
          </a:p>
        </p:txBody>
      </p:sp>
      <p:sp>
        <p:nvSpPr>
          <p:cNvPr id="7" name="Footer Placeholder 6">
            <a:extLst>
              <a:ext uri="{FF2B5EF4-FFF2-40B4-BE49-F238E27FC236}">
                <a16:creationId xmlns:a16="http://schemas.microsoft.com/office/drawing/2014/main" id="{D7DF90C1-4C2D-83C3-EC22-93161A24F176}"/>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611413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A8604-B719-95A1-182D-4CB5CABA5F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58A931-F14A-9477-8118-BD68EB48019E}"/>
              </a:ext>
            </a:extLst>
          </p:cNvPr>
          <p:cNvSpPr>
            <a:spLocks noGrp="1"/>
          </p:cNvSpPr>
          <p:nvPr>
            <p:ph type="title"/>
          </p:nvPr>
        </p:nvSpPr>
        <p:spPr/>
        <p:txBody>
          <a:bodyPr/>
          <a:lstStyle/>
          <a:p>
            <a:r>
              <a:rPr lang="en-GB" dirty="0">
                <a:ea typeface="Calibri Light"/>
                <a:cs typeface="Calibri Light"/>
              </a:rPr>
              <a:t>System Testing</a:t>
            </a:r>
            <a:endParaRPr lang="en-US" dirty="0"/>
          </a:p>
        </p:txBody>
      </p:sp>
      <p:sp>
        <p:nvSpPr>
          <p:cNvPr id="3" name="Content Placeholder 2">
            <a:extLst>
              <a:ext uri="{FF2B5EF4-FFF2-40B4-BE49-F238E27FC236}">
                <a16:creationId xmlns:a16="http://schemas.microsoft.com/office/drawing/2014/main" id="{AFFC4DF8-A905-6C30-AEE4-579374B5A223}"/>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panose="020F0502020204030204"/>
                <a:cs typeface="Calibri" panose="020F0502020204030204"/>
              </a:rPr>
              <a:t>Exhaustive testing is difficult, and therefore, </a:t>
            </a:r>
            <a:r>
              <a:rPr lang="en-US" dirty="0">
                <a:highlight>
                  <a:srgbClr val="FFFF00"/>
                </a:highlight>
                <a:ea typeface="Calibri" panose="020F0502020204030204"/>
                <a:cs typeface="Calibri" panose="020F0502020204030204"/>
              </a:rPr>
              <a:t>most companies have policies (or experience) to help decide which subset of test cases need to be performed</a:t>
            </a:r>
            <a:r>
              <a:rPr lang="en-US" dirty="0">
                <a:ea typeface="Calibri" panose="020F0502020204030204"/>
                <a:cs typeface="Calibri" panose="020F0502020204030204"/>
              </a:rPr>
              <a:t>. An example can be as:</a:t>
            </a:r>
            <a:endParaRPr lang="en-US" dirty="0">
              <a:ea typeface="+mn-lt"/>
              <a:cs typeface="+mn-lt"/>
            </a:endParaRPr>
          </a:p>
          <a:p>
            <a:pPr lvl="1"/>
            <a:r>
              <a:rPr lang="en-US" dirty="0">
                <a:ea typeface="+mn-lt"/>
                <a:cs typeface="+mn-lt"/>
              </a:rPr>
              <a:t>All system functions that are accessed through menus should be tested.</a:t>
            </a:r>
            <a:endParaRPr lang="en-US" dirty="0">
              <a:ea typeface="Calibri"/>
              <a:cs typeface="Calibri"/>
            </a:endParaRPr>
          </a:p>
          <a:p>
            <a:pPr lvl="1"/>
            <a:r>
              <a:rPr lang="en-US" dirty="0">
                <a:ea typeface="+mn-lt"/>
                <a:cs typeface="+mn-lt"/>
              </a:rPr>
              <a:t>Combinations of functions (e.g., text formatting) that are accessed through the same menu must be tested.</a:t>
            </a:r>
            <a:endParaRPr lang="en-US">
              <a:ea typeface="Calibri" panose="020F0502020204030204"/>
              <a:cs typeface="Calibri" panose="020F0502020204030204"/>
            </a:endParaRPr>
          </a:p>
          <a:p>
            <a:pPr lvl="1"/>
            <a:r>
              <a:rPr lang="en-US" dirty="0">
                <a:ea typeface="+mn-lt"/>
                <a:cs typeface="+mn-lt"/>
              </a:rPr>
              <a:t>Where user input is provided, all functions must be tested with both correct and incorrect input</a:t>
            </a:r>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BDAFFD61-D170-16B8-35D1-E06C59F306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AF0A6DC-0F9C-A175-293A-48AFB13BE644}"/>
              </a:ext>
            </a:extLst>
          </p:cNvPr>
          <p:cNvSpPr>
            <a:spLocks noGrp="1"/>
          </p:cNvSpPr>
          <p:nvPr>
            <p:ph type="sldNum" sz="quarter" idx="12"/>
          </p:nvPr>
        </p:nvSpPr>
        <p:spPr/>
        <p:txBody>
          <a:bodyPr/>
          <a:lstStyle/>
          <a:p>
            <a:fld id="{008559AE-1842-40A5-A2A9-0518F39FD1A9}" type="slidenum">
              <a:rPr lang="en-US" smtClean="0"/>
              <a:t>32</a:t>
            </a:fld>
            <a:endParaRPr lang="en-GB"/>
          </a:p>
        </p:txBody>
      </p:sp>
      <p:sp>
        <p:nvSpPr>
          <p:cNvPr id="7" name="Footer Placeholder 6">
            <a:extLst>
              <a:ext uri="{FF2B5EF4-FFF2-40B4-BE49-F238E27FC236}">
                <a16:creationId xmlns:a16="http://schemas.microsoft.com/office/drawing/2014/main" id="{3EE29A40-B741-DD41-0FEC-04927E5531DF}"/>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900060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E4064-7561-2331-525B-67397ED5AA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BD257-C2E9-50BB-0A1A-39DC785DE45F}"/>
              </a:ext>
            </a:extLst>
          </p:cNvPr>
          <p:cNvSpPr>
            <a:spLocks noGrp="1"/>
          </p:cNvSpPr>
          <p:nvPr>
            <p:ph type="title"/>
          </p:nvPr>
        </p:nvSpPr>
        <p:spPr/>
        <p:txBody>
          <a:bodyPr/>
          <a:lstStyle/>
          <a:p>
            <a:r>
              <a:rPr lang="en-GB" dirty="0">
                <a:ea typeface="Calibri Light"/>
                <a:cs typeface="Calibri Light"/>
              </a:rPr>
              <a:t>White Box Testing (a kind of Unit testing)</a:t>
            </a:r>
            <a:endParaRPr lang="en-US" dirty="0"/>
          </a:p>
        </p:txBody>
      </p:sp>
      <p:sp>
        <p:nvSpPr>
          <p:cNvPr id="3" name="Content Placeholder 2">
            <a:extLst>
              <a:ext uri="{FF2B5EF4-FFF2-40B4-BE49-F238E27FC236}">
                <a16:creationId xmlns:a16="http://schemas.microsoft.com/office/drawing/2014/main" id="{DC5B6CB3-74C0-5F73-14BA-A04054426AD5}"/>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highlight>
                  <a:srgbClr val="FFFF00"/>
                </a:highlight>
                <a:ea typeface="+mn-lt"/>
                <a:cs typeface="+mn-lt"/>
              </a:rPr>
              <a:t>Guarantee that all independent paths</a:t>
            </a:r>
            <a:r>
              <a:rPr lang="en-US" dirty="0">
                <a:ea typeface="+mn-lt"/>
                <a:cs typeface="+mn-lt"/>
              </a:rPr>
              <a:t> within a module have been </a:t>
            </a:r>
            <a:r>
              <a:rPr lang="en-US" dirty="0">
                <a:highlight>
                  <a:srgbClr val="FFFF00"/>
                </a:highlight>
                <a:ea typeface="+mn-lt"/>
                <a:cs typeface="+mn-lt"/>
              </a:rPr>
              <a:t>exercised (or tested) at least once</a:t>
            </a:r>
            <a:endParaRPr lang="en-US">
              <a:highlight>
                <a:srgbClr val="FFFF00"/>
              </a:highlight>
              <a:ea typeface="Calibri"/>
              <a:cs typeface="Calibri"/>
            </a:endParaRPr>
          </a:p>
          <a:p>
            <a:r>
              <a:rPr lang="en-US" dirty="0">
                <a:ea typeface="+mn-lt"/>
                <a:cs typeface="+mn-lt"/>
              </a:rPr>
              <a:t>Exercise (or test) </a:t>
            </a:r>
            <a:r>
              <a:rPr lang="en-US" dirty="0">
                <a:highlight>
                  <a:srgbClr val="FFFF00"/>
                </a:highlight>
                <a:ea typeface="+mn-lt"/>
                <a:cs typeface="+mn-lt"/>
              </a:rPr>
              <a:t>all logical decisions on their true and false sides</a:t>
            </a:r>
            <a:endParaRPr lang="en-US" dirty="0">
              <a:highlight>
                <a:srgbClr val="FFFF00"/>
              </a:highlight>
              <a:ea typeface="Calibri" panose="020F0502020204030204"/>
              <a:cs typeface="Calibri" panose="020F0502020204030204"/>
            </a:endParaRPr>
          </a:p>
          <a:p>
            <a:r>
              <a:rPr lang="en-US" dirty="0">
                <a:ea typeface="+mn-lt"/>
                <a:cs typeface="+mn-lt"/>
              </a:rPr>
              <a:t>Execute </a:t>
            </a:r>
            <a:r>
              <a:rPr lang="en-US" dirty="0">
                <a:highlight>
                  <a:srgbClr val="FFFF00"/>
                </a:highlight>
                <a:ea typeface="+mn-lt"/>
                <a:cs typeface="+mn-lt"/>
              </a:rPr>
              <a:t>all loops</a:t>
            </a:r>
            <a:r>
              <a:rPr lang="en-US" dirty="0">
                <a:ea typeface="+mn-lt"/>
                <a:cs typeface="+mn-lt"/>
              </a:rPr>
              <a:t> at their boundaries and within their operational bounds</a:t>
            </a:r>
            <a:endParaRPr lang="en-US" dirty="0">
              <a:ea typeface="Calibri"/>
              <a:cs typeface="Calibri"/>
            </a:endParaRPr>
          </a:p>
          <a:p>
            <a:r>
              <a:rPr lang="en-US" dirty="0">
                <a:ea typeface="+mn-lt"/>
                <a:cs typeface="+mn-lt"/>
              </a:rPr>
              <a:t>Exercise (or test) </a:t>
            </a:r>
            <a:r>
              <a:rPr lang="en-US" dirty="0">
                <a:highlight>
                  <a:srgbClr val="FFFF00"/>
                </a:highlight>
                <a:ea typeface="+mn-lt"/>
                <a:cs typeface="+mn-lt"/>
              </a:rPr>
              <a:t>internal data structures</a:t>
            </a:r>
            <a:r>
              <a:rPr lang="en-US" dirty="0">
                <a:ea typeface="+mn-lt"/>
                <a:cs typeface="+mn-lt"/>
              </a:rPr>
              <a:t> to ensure their validity</a:t>
            </a:r>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CB205578-2D6D-EC32-15D9-0A16D57BA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B056B4D-6FBA-FA9B-62CC-C8A20D3F8184}"/>
              </a:ext>
            </a:extLst>
          </p:cNvPr>
          <p:cNvSpPr>
            <a:spLocks noGrp="1"/>
          </p:cNvSpPr>
          <p:nvPr>
            <p:ph type="sldNum" sz="quarter" idx="12"/>
          </p:nvPr>
        </p:nvSpPr>
        <p:spPr/>
        <p:txBody>
          <a:bodyPr/>
          <a:lstStyle/>
          <a:p>
            <a:fld id="{008559AE-1842-40A5-A2A9-0518F39FD1A9}" type="slidenum">
              <a:rPr lang="en-US" smtClean="0"/>
              <a:t>33</a:t>
            </a:fld>
            <a:endParaRPr lang="en-GB"/>
          </a:p>
        </p:txBody>
      </p:sp>
      <p:sp>
        <p:nvSpPr>
          <p:cNvPr id="7" name="Footer Placeholder 6">
            <a:extLst>
              <a:ext uri="{FF2B5EF4-FFF2-40B4-BE49-F238E27FC236}">
                <a16:creationId xmlns:a16="http://schemas.microsoft.com/office/drawing/2014/main" id="{616FDF92-E0B7-7F69-A50A-03D1C839CF8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376787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09AC1B-495A-3B12-3EEC-E8204C2CD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D85A50-AD7C-768E-95CE-74989593609B}"/>
              </a:ext>
            </a:extLst>
          </p:cNvPr>
          <p:cNvSpPr>
            <a:spLocks noGrp="1"/>
          </p:cNvSpPr>
          <p:nvPr>
            <p:ph type="title"/>
          </p:nvPr>
        </p:nvSpPr>
        <p:spPr/>
        <p:txBody>
          <a:bodyPr/>
          <a:lstStyle/>
          <a:p>
            <a:r>
              <a:rPr lang="en-GB" dirty="0">
                <a:ea typeface="Calibri Light"/>
                <a:cs typeface="Calibri Light"/>
              </a:rPr>
              <a:t>White Box Testing</a:t>
            </a:r>
            <a:endParaRPr lang="en-US" dirty="0"/>
          </a:p>
        </p:txBody>
      </p:sp>
      <p:sp>
        <p:nvSpPr>
          <p:cNvPr id="3" name="Content Placeholder 2">
            <a:extLst>
              <a:ext uri="{FF2B5EF4-FFF2-40B4-BE49-F238E27FC236}">
                <a16:creationId xmlns:a16="http://schemas.microsoft.com/office/drawing/2014/main" id="{DB79F640-2D8B-F04A-0F22-0BEFF88F3C5D}"/>
              </a:ext>
            </a:extLst>
          </p:cNvPr>
          <p:cNvSpPr>
            <a:spLocks noGrp="1"/>
          </p:cNvSpPr>
          <p:nvPr>
            <p:ph idx="1"/>
          </p:nvPr>
        </p:nvSpPr>
        <p:spPr>
          <a:xfrm>
            <a:off x="838200" y="1510219"/>
            <a:ext cx="10515600" cy="5031147"/>
          </a:xfrm>
        </p:spPr>
        <p:txBody>
          <a:bodyPr vert="horz" lIns="91440" tIns="45720" rIns="91440" bIns="45720" rtlCol="0" anchor="t">
            <a:normAutofit lnSpcReduction="10000"/>
          </a:bodyPr>
          <a:lstStyle/>
          <a:p>
            <a:r>
              <a:rPr lang="en-US" sz="2400">
                <a:ea typeface="+mn-lt"/>
                <a:cs typeface="+mn-lt"/>
              </a:rPr>
              <a:t>Statement coverage: Exercise every statement at least once</a:t>
            </a:r>
            <a:endParaRPr lang="en-US" sz="2400">
              <a:ea typeface="Calibri"/>
              <a:cs typeface="Calibri"/>
            </a:endParaRPr>
          </a:p>
          <a:p>
            <a:r>
              <a:rPr lang="en-US" sz="2400">
                <a:ea typeface="+mn-lt"/>
                <a:cs typeface="+mn-lt"/>
              </a:rPr>
              <a:t>Branch/decision coverage: Exercise every branch at least once</a:t>
            </a:r>
            <a:endParaRPr lang="en-US" sz="2400" dirty="0">
              <a:ea typeface="+mn-lt"/>
              <a:cs typeface="+mn-lt"/>
            </a:endParaRPr>
          </a:p>
          <a:p>
            <a:r>
              <a:rPr lang="en-US" sz="2400">
                <a:ea typeface="+mn-lt"/>
                <a:cs typeface="+mn-lt"/>
              </a:rPr>
              <a:t>Path coverage: Exercise every path at least once</a:t>
            </a:r>
            <a:endParaRPr lang="en-US" sz="2400">
              <a:ea typeface="Calibri"/>
              <a:cs typeface="Calibri"/>
            </a:endParaRPr>
          </a:p>
          <a:p>
            <a:r>
              <a:rPr lang="en-US" sz="2400">
                <a:ea typeface="+mn-lt"/>
                <a:cs typeface="+mn-lt"/>
              </a:rPr>
              <a:t>INSTEAD OF THESE THREE, MORE EFFICIENT – BASIS PATH TESTING</a:t>
            </a:r>
            <a:endParaRPr lang="en-US" sz="2400" dirty="0">
              <a:ea typeface="+mn-lt"/>
              <a:cs typeface="+mn-lt"/>
            </a:endParaRPr>
          </a:p>
          <a:p>
            <a:pPr marL="0" indent="0">
              <a:buNone/>
            </a:pPr>
            <a:endParaRPr lang="en-US" sz="2400" dirty="0">
              <a:ea typeface="+mn-lt"/>
              <a:cs typeface="+mn-lt"/>
            </a:endParaRPr>
          </a:p>
          <a:p>
            <a:r>
              <a:rPr lang="en-US" sz="2400" dirty="0">
                <a:ea typeface="+mn-lt"/>
                <a:cs typeface="+mn-lt"/>
              </a:rPr>
              <a:t>Condition testing: Test all individual </a:t>
            </a:r>
            <a:r>
              <a:rPr lang="en-US" sz="2400" dirty="0" err="1">
                <a:ea typeface="+mn-lt"/>
                <a:cs typeface="+mn-lt"/>
              </a:rPr>
              <a:t>boolean</a:t>
            </a:r>
            <a:r>
              <a:rPr lang="en-US" sz="2400" dirty="0">
                <a:ea typeface="+mn-lt"/>
                <a:cs typeface="+mn-lt"/>
              </a:rPr>
              <a:t> conditions inside compound condition</a:t>
            </a:r>
            <a:endParaRPr lang="en-US" sz="2400" dirty="0" err="1">
              <a:ea typeface="Calibri"/>
              <a:cs typeface="Calibri"/>
            </a:endParaRPr>
          </a:p>
          <a:p>
            <a:r>
              <a:rPr lang="en-US" sz="2400">
                <a:ea typeface="+mn-lt"/>
                <a:cs typeface="+mn-lt"/>
              </a:rPr>
              <a:t>Data flow testing: Check variables properly defined and used</a:t>
            </a:r>
            <a:endParaRPr lang="en-US" sz="2400">
              <a:ea typeface="Calibri"/>
              <a:cs typeface="Calibri"/>
            </a:endParaRPr>
          </a:p>
          <a:p>
            <a:r>
              <a:rPr lang="en-US" sz="2400">
                <a:ea typeface="+mn-lt"/>
                <a:cs typeface="+mn-lt"/>
              </a:rPr>
              <a:t>Loop testing: Check loop function at common and boundary conditions</a:t>
            </a:r>
            <a:endParaRPr lang="en-US" sz="2400" dirty="0"/>
          </a:p>
          <a:p>
            <a:endParaRPr lang="en-US" sz="2400" dirty="0">
              <a:ea typeface="Calibri" panose="020F0502020204030204"/>
              <a:cs typeface="Calibri" panose="020F0502020204030204"/>
            </a:endParaRPr>
          </a:p>
          <a:p>
            <a:r>
              <a:rPr lang="en-US" sz="2400" dirty="0">
                <a:ea typeface="Calibri" panose="020F0502020204030204"/>
                <a:cs typeface="Calibri" panose="020F0502020204030204"/>
              </a:rPr>
              <a:t>Why need Condition, data flow and loop testing, when we already have basis path testing? - question to students</a:t>
            </a:r>
          </a:p>
          <a:p>
            <a:endParaRPr lang="en-US" sz="2400"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883D1A03-C486-342B-CB71-20A261534E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5325D4D-AA8B-FD10-A2BB-F9238F94AC7B}"/>
              </a:ext>
            </a:extLst>
          </p:cNvPr>
          <p:cNvSpPr>
            <a:spLocks noGrp="1"/>
          </p:cNvSpPr>
          <p:nvPr>
            <p:ph type="sldNum" sz="quarter" idx="12"/>
          </p:nvPr>
        </p:nvSpPr>
        <p:spPr/>
        <p:txBody>
          <a:bodyPr/>
          <a:lstStyle/>
          <a:p>
            <a:fld id="{008559AE-1842-40A5-A2A9-0518F39FD1A9}" type="slidenum">
              <a:rPr lang="en-US" smtClean="0"/>
              <a:t>34</a:t>
            </a:fld>
            <a:endParaRPr lang="en-GB"/>
          </a:p>
        </p:txBody>
      </p:sp>
      <p:sp>
        <p:nvSpPr>
          <p:cNvPr id="7" name="Footer Placeholder 6">
            <a:extLst>
              <a:ext uri="{FF2B5EF4-FFF2-40B4-BE49-F238E27FC236}">
                <a16:creationId xmlns:a16="http://schemas.microsoft.com/office/drawing/2014/main" id="{8904A6D6-998F-B708-B712-2FD5D2C4B8B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598258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17FA7-AA1E-5045-BB74-15DB5F73F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7159BD-AB34-1B64-4B6B-0D72FF2D74F8}"/>
              </a:ext>
            </a:extLst>
          </p:cNvPr>
          <p:cNvSpPr>
            <a:spLocks noGrp="1"/>
          </p:cNvSpPr>
          <p:nvPr>
            <p:ph type="title"/>
          </p:nvPr>
        </p:nvSpPr>
        <p:spPr/>
        <p:txBody>
          <a:bodyPr/>
          <a:lstStyle/>
          <a:p>
            <a:r>
              <a:rPr lang="en-GB">
                <a:ea typeface="Calibri Light"/>
                <a:cs typeface="Calibri Light"/>
              </a:rPr>
              <a:t>White Box Testing: Examples</a:t>
            </a:r>
            <a:endParaRPr lang="en-US" dirty="0"/>
          </a:p>
        </p:txBody>
      </p:sp>
      <p:pic>
        <p:nvPicPr>
          <p:cNvPr id="6" name="Picture 5" descr="A black and white logo&#10;&#10;Description automatically generated">
            <a:extLst>
              <a:ext uri="{FF2B5EF4-FFF2-40B4-BE49-F238E27FC236}">
                <a16:creationId xmlns:a16="http://schemas.microsoft.com/office/drawing/2014/main" id="{4D59B9F3-F3FF-1B36-E166-5B14706CB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A8D9344-D1BF-FD1C-F5CB-425A70253342}"/>
              </a:ext>
            </a:extLst>
          </p:cNvPr>
          <p:cNvSpPr>
            <a:spLocks noGrp="1"/>
          </p:cNvSpPr>
          <p:nvPr>
            <p:ph type="sldNum" sz="quarter" idx="12"/>
          </p:nvPr>
        </p:nvSpPr>
        <p:spPr/>
        <p:txBody>
          <a:bodyPr/>
          <a:lstStyle/>
          <a:p>
            <a:fld id="{008559AE-1842-40A5-A2A9-0518F39FD1A9}" type="slidenum">
              <a:rPr lang="en-US" smtClean="0"/>
              <a:t>35</a:t>
            </a:fld>
            <a:endParaRPr lang="en-GB"/>
          </a:p>
        </p:txBody>
      </p:sp>
      <p:sp>
        <p:nvSpPr>
          <p:cNvPr id="7" name="Footer Placeholder 6">
            <a:extLst>
              <a:ext uri="{FF2B5EF4-FFF2-40B4-BE49-F238E27FC236}">
                <a16:creationId xmlns:a16="http://schemas.microsoft.com/office/drawing/2014/main" id="{23D4FD95-9CB4-DE05-2D44-00138C5762D7}"/>
              </a:ext>
            </a:extLst>
          </p:cNvPr>
          <p:cNvSpPr>
            <a:spLocks noGrp="1"/>
          </p:cNvSpPr>
          <p:nvPr>
            <p:ph type="ftr" sz="quarter" idx="11"/>
          </p:nvPr>
        </p:nvSpPr>
        <p:spPr/>
        <p:txBody>
          <a:bodyPr/>
          <a:lstStyle/>
          <a:p>
            <a:r>
              <a:rPr lang="en-US"/>
              <a:t>Software Engineering</a:t>
            </a:r>
          </a:p>
        </p:txBody>
      </p:sp>
      <p:sp>
        <p:nvSpPr>
          <p:cNvPr id="9" name="TextBox 8">
            <a:extLst>
              <a:ext uri="{FF2B5EF4-FFF2-40B4-BE49-F238E27FC236}">
                <a16:creationId xmlns:a16="http://schemas.microsoft.com/office/drawing/2014/main" id="{91C2D076-77AC-FB6F-1A92-F4293A542554}"/>
              </a:ext>
            </a:extLst>
          </p:cNvPr>
          <p:cNvSpPr txBox="1"/>
          <p:nvPr/>
        </p:nvSpPr>
        <p:spPr>
          <a:xfrm>
            <a:off x="448029" y="1820118"/>
            <a:ext cx="4858317"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Loop Testing:</a:t>
            </a:r>
            <a:br>
              <a:rPr lang="en-US" dirty="0">
                <a:ea typeface="Calibri"/>
                <a:cs typeface="Calibri"/>
              </a:rPr>
            </a:br>
            <a:endParaRPr lang="en-US" dirty="0">
              <a:ea typeface="Calibri"/>
              <a:cs typeface="Calibri"/>
            </a:endParaRPr>
          </a:p>
          <a:p>
            <a:r>
              <a:rPr lang="en-US" dirty="0">
                <a:ea typeface="+mn-lt"/>
                <a:cs typeface="+mn-lt"/>
              </a:rPr>
              <a:t>for (</a:t>
            </a:r>
            <a:r>
              <a:rPr lang="en-US" dirty="0" err="1">
                <a:ea typeface="+mn-lt"/>
                <a:cs typeface="+mn-lt"/>
              </a:rPr>
              <a:t>i</a:t>
            </a:r>
            <a:r>
              <a:rPr lang="en-US" dirty="0">
                <a:ea typeface="+mn-lt"/>
                <a:cs typeface="+mn-lt"/>
              </a:rPr>
              <a:t> = 0; </a:t>
            </a:r>
            <a:r>
              <a:rPr lang="en-US" dirty="0" err="1">
                <a:ea typeface="+mn-lt"/>
                <a:cs typeface="+mn-lt"/>
              </a:rPr>
              <a:t>i</a:t>
            </a:r>
            <a:r>
              <a:rPr lang="en-US" dirty="0">
                <a:ea typeface="+mn-lt"/>
                <a:cs typeface="+mn-lt"/>
              </a:rPr>
              <a:t> &lt; n; </a:t>
            </a:r>
            <a:r>
              <a:rPr lang="en-US" dirty="0" err="1">
                <a:ea typeface="+mn-lt"/>
                <a:cs typeface="+mn-lt"/>
              </a:rPr>
              <a:t>i</a:t>
            </a:r>
            <a:r>
              <a:rPr lang="en-US" dirty="0">
                <a:ea typeface="+mn-lt"/>
                <a:cs typeface="+mn-lt"/>
              </a:rPr>
              <a:t>++)</a:t>
            </a:r>
          </a:p>
          <a:p>
            <a:br>
              <a:rPr lang="en-US" dirty="0">
                <a:ea typeface="+mn-lt"/>
                <a:cs typeface="+mn-lt"/>
              </a:rPr>
            </a:br>
            <a:r>
              <a:rPr lang="en-US" dirty="0">
                <a:ea typeface="+mn-lt"/>
                <a:cs typeface="+mn-lt"/>
              </a:rPr>
              <a:t>Test this for n = 0 (loop skipped), n = 1 (loop </a:t>
            </a:r>
            <a:r>
              <a:rPr lang="en-US">
                <a:ea typeface="+mn-lt"/>
                <a:cs typeface="+mn-lt"/>
              </a:rPr>
              <a:t>checked once), n = typical and n = MAX</a:t>
            </a:r>
            <a:endParaRPr lang="en-US" dirty="0">
              <a:ea typeface="+mn-lt"/>
              <a:cs typeface="+mn-lt"/>
            </a:endParaRPr>
          </a:p>
        </p:txBody>
      </p:sp>
      <p:sp>
        <p:nvSpPr>
          <p:cNvPr id="10" name="TextBox 9">
            <a:extLst>
              <a:ext uri="{FF2B5EF4-FFF2-40B4-BE49-F238E27FC236}">
                <a16:creationId xmlns:a16="http://schemas.microsoft.com/office/drawing/2014/main" id="{F268ED79-452B-734F-A69B-0B778AB603FA}"/>
              </a:ext>
            </a:extLst>
          </p:cNvPr>
          <p:cNvSpPr txBox="1"/>
          <p:nvPr/>
        </p:nvSpPr>
        <p:spPr>
          <a:xfrm>
            <a:off x="448029" y="3994059"/>
            <a:ext cx="4858317"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Data flow testing:</a:t>
            </a:r>
            <a:br>
              <a:rPr lang="en-US" dirty="0">
                <a:ea typeface="Calibri"/>
                <a:cs typeface="Calibri"/>
              </a:rPr>
            </a:br>
            <a:endParaRPr lang="en-US" dirty="0">
              <a:ea typeface="Calibri"/>
              <a:cs typeface="Calibri"/>
            </a:endParaRPr>
          </a:p>
          <a:p>
            <a:r>
              <a:rPr lang="en-US">
                <a:ea typeface="+mn-lt"/>
                <a:cs typeface="+mn-lt"/>
              </a:rPr>
              <a:t>x = 10;   // definition</a:t>
            </a:r>
            <a:endParaRPr lang="en-US"/>
          </a:p>
          <a:p>
            <a:r>
              <a:rPr lang="en-US">
                <a:ea typeface="+mn-lt"/>
                <a:cs typeface="+mn-lt"/>
              </a:rPr>
              <a:t>if (y &gt; 5)   // use of y (but y not defined)</a:t>
            </a:r>
            <a:endParaRPr lang="en-US"/>
          </a:p>
          <a:p>
            <a:r>
              <a:rPr lang="en-US">
                <a:ea typeface="+mn-lt"/>
                <a:cs typeface="+mn-lt"/>
              </a:rPr>
              <a:t>   print(x);</a:t>
            </a:r>
            <a:endParaRPr lang="en-US"/>
          </a:p>
          <a:p>
            <a:br>
              <a:rPr lang="en-US" dirty="0">
                <a:ea typeface="+mn-lt"/>
                <a:cs typeface="+mn-lt"/>
              </a:rPr>
            </a:br>
            <a:r>
              <a:rPr lang="en-US">
                <a:ea typeface="+mn-lt"/>
                <a:cs typeface="+mn-lt"/>
              </a:rPr>
              <a:t>Problem: y used before definition.</a:t>
            </a:r>
            <a:endParaRPr lang="en-US" dirty="0">
              <a:ea typeface="+mn-lt"/>
              <a:cs typeface="+mn-lt"/>
            </a:endParaRPr>
          </a:p>
          <a:p>
            <a:endParaRPr lang="en-US" dirty="0">
              <a:ea typeface="+mn-lt"/>
              <a:cs typeface="+mn-lt"/>
            </a:endParaRPr>
          </a:p>
          <a:p>
            <a:r>
              <a:rPr lang="en-US" dirty="0">
                <a:ea typeface="+mn-lt"/>
                <a:cs typeface="+mn-lt"/>
              </a:rPr>
              <a:t>Other problems that can be cau</a:t>
            </a:r>
            <a:r>
              <a:rPr lang="en-US">
                <a:ea typeface="+mn-lt"/>
                <a:cs typeface="+mn-lt"/>
              </a:rPr>
              <a:t>ght – defined but never used, redefined</a:t>
            </a:r>
            <a:endParaRPr lang="en-US" dirty="0">
              <a:ea typeface="+mn-lt"/>
              <a:cs typeface="+mn-lt"/>
            </a:endParaRPr>
          </a:p>
        </p:txBody>
      </p:sp>
      <p:sp>
        <p:nvSpPr>
          <p:cNvPr id="11" name="TextBox 10">
            <a:extLst>
              <a:ext uri="{FF2B5EF4-FFF2-40B4-BE49-F238E27FC236}">
                <a16:creationId xmlns:a16="http://schemas.microsoft.com/office/drawing/2014/main" id="{62CD3F77-FC15-9202-0550-90D730E89415}"/>
              </a:ext>
            </a:extLst>
          </p:cNvPr>
          <p:cNvSpPr txBox="1"/>
          <p:nvPr/>
        </p:nvSpPr>
        <p:spPr>
          <a:xfrm>
            <a:off x="6174234" y="1820117"/>
            <a:ext cx="4858317"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Condition Testing:</a:t>
            </a:r>
            <a:endParaRPr lang="en-US"/>
          </a:p>
          <a:p>
            <a:endParaRPr lang="en-US" dirty="0">
              <a:ea typeface="+mn-lt"/>
              <a:cs typeface="+mn-lt"/>
            </a:endParaRPr>
          </a:p>
          <a:p>
            <a:r>
              <a:rPr lang="en-US">
                <a:ea typeface="+mn-lt"/>
                <a:cs typeface="+mn-lt"/>
              </a:rPr>
              <a:t>if (A &gt; 10 || B &lt; 5)</a:t>
            </a:r>
            <a:endParaRPr lang="en-US"/>
          </a:p>
          <a:p>
            <a:br>
              <a:rPr lang="en-US" dirty="0">
                <a:ea typeface="+mn-lt"/>
                <a:cs typeface="+mn-lt"/>
              </a:rPr>
            </a:br>
            <a:r>
              <a:rPr lang="en-US" dirty="0">
                <a:ea typeface="+mn-lt"/>
                <a:cs typeface="+mn-lt"/>
              </a:rPr>
              <a:t>Even if branch testing passes, individual condition </a:t>
            </a:r>
            <a:r>
              <a:rPr lang="en-US">
                <a:ea typeface="+mn-lt"/>
                <a:cs typeface="+mn-lt"/>
              </a:rPr>
              <a:t>checks might hide bugs. Therefore, condition testing </a:t>
            </a:r>
            <a:r>
              <a:rPr lang="en-US" dirty="0">
                <a:ea typeface="+mn-lt"/>
                <a:cs typeface="+mn-lt"/>
              </a:rPr>
              <a:t>ensures all conditions are checked.</a:t>
            </a:r>
          </a:p>
        </p:txBody>
      </p:sp>
    </p:spTree>
    <p:extLst>
      <p:ext uri="{BB962C8B-B14F-4D97-AF65-F5344CB8AC3E}">
        <p14:creationId xmlns:p14="http://schemas.microsoft.com/office/powerpoint/2010/main" val="32805545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3E77E-A9BB-F64E-6F81-A7D16BDDC2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5EC12-9E75-900E-50C1-ECE095E8F44F}"/>
              </a:ext>
            </a:extLst>
          </p:cNvPr>
          <p:cNvSpPr>
            <a:spLocks noGrp="1"/>
          </p:cNvSpPr>
          <p:nvPr>
            <p:ph type="title"/>
          </p:nvPr>
        </p:nvSpPr>
        <p:spPr/>
        <p:txBody>
          <a:bodyPr/>
          <a:lstStyle/>
          <a:p>
            <a:r>
              <a:rPr lang="en-GB">
                <a:ea typeface="Calibri Light"/>
                <a:cs typeface="Calibri Light"/>
              </a:rPr>
              <a:t>White Box Testing: Questions to students</a:t>
            </a:r>
            <a:endParaRPr lang="en-GB" dirty="0">
              <a:ea typeface="Calibri Light"/>
              <a:cs typeface="Calibri Light"/>
            </a:endParaRPr>
          </a:p>
        </p:txBody>
      </p:sp>
      <p:sp>
        <p:nvSpPr>
          <p:cNvPr id="3" name="Content Placeholder 2">
            <a:extLst>
              <a:ext uri="{FF2B5EF4-FFF2-40B4-BE49-F238E27FC236}">
                <a16:creationId xmlns:a16="http://schemas.microsoft.com/office/drawing/2014/main" id="{4314E913-9156-68B8-19D6-25B663714E9D}"/>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sz="2400">
                <a:ea typeface="Calibri" panose="020F0502020204030204"/>
                <a:cs typeface="Calibri" panose="020F0502020204030204"/>
              </a:rPr>
              <a:t>Why do we need Basis Path testing when we already have Path testing?</a:t>
            </a:r>
          </a:p>
          <a:p>
            <a:endParaRPr lang="en-US" sz="2400" dirty="0">
              <a:ea typeface="Calibri" panose="020F0502020204030204"/>
              <a:cs typeface="Calibri" panose="020F0502020204030204"/>
            </a:endParaRPr>
          </a:p>
          <a:p>
            <a:endParaRPr lang="en-US" sz="2400" dirty="0">
              <a:ea typeface="Calibri" panose="020F0502020204030204"/>
              <a:cs typeface="Calibri" panose="020F0502020204030204"/>
            </a:endParaRPr>
          </a:p>
          <a:p>
            <a:r>
              <a:rPr lang="en-US" sz="2400" dirty="0">
                <a:ea typeface="Calibri" panose="020F0502020204030204"/>
                <a:cs typeface="Calibri" panose="020F0502020204030204"/>
              </a:rPr>
              <a:t>Why do we need Condition </a:t>
            </a:r>
            <a:r>
              <a:rPr lang="en-US" sz="2400" dirty="0" err="1">
                <a:ea typeface="Calibri" panose="020F0502020204030204"/>
                <a:cs typeface="Calibri" panose="020F0502020204030204"/>
              </a:rPr>
              <a:t>testi</a:t>
            </a:r>
            <a:r>
              <a:rPr lang="en-US" sz="2400" dirty="0">
                <a:ea typeface="Calibri" panose="020F0502020204030204"/>
                <a:cs typeface="Calibri" panose="020F0502020204030204"/>
              </a:rPr>
              <a:t>ng, data flow testing and loop testing when we already have Basis Path testing?</a:t>
            </a:r>
          </a:p>
          <a:p>
            <a:endParaRPr lang="en-US" sz="2400" dirty="0">
              <a:ea typeface="Calibri" panose="020F0502020204030204"/>
              <a:cs typeface="Calibri" panose="020F0502020204030204"/>
            </a:endParaRPr>
          </a:p>
          <a:p>
            <a:endParaRPr lang="en-US" sz="2400" dirty="0">
              <a:ea typeface="Calibri" panose="020F0502020204030204"/>
              <a:cs typeface="Calibri" panose="020F0502020204030204"/>
            </a:endParaRPr>
          </a:p>
          <a:p>
            <a:r>
              <a:rPr lang="en-US" sz="2400" dirty="0">
                <a:ea typeface="Calibri" panose="020F0502020204030204"/>
                <a:cs typeface="Calibri" panose="020F0502020204030204"/>
              </a:rPr>
              <a:t>Apply your coding knowledge/ skills to think it over and let me know in the next class. It mig</a:t>
            </a:r>
            <a:r>
              <a:rPr lang="en-US" sz="2400">
                <a:ea typeface="Calibri" panose="020F0502020204030204"/>
                <a:cs typeface="Calibri" panose="020F0502020204030204"/>
              </a:rPr>
              <a:t>ht not be as easy as you think it is</a:t>
            </a:r>
            <a:endParaRPr lang="en-US" sz="2400"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FEC3CA02-78DB-3F8B-E778-6C50EC41D2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11F4056-D508-9173-2012-4AC0ABCB6605}"/>
              </a:ext>
            </a:extLst>
          </p:cNvPr>
          <p:cNvSpPr>
            <a:spLocks noGrp="1"/>
          </p:cNvSpPr>
          <p:nvPr>
            <p:ph type="sldNum" sz="quarter" idx="12"/>
          </p:nvPr>
        </p:nvSpPr>
        <p:spPr/>
        <p:txBody>
          <a:bodyPr/>
          <a:lstStyle/>
          <a:p>
            <a:fld id="{008559AE-1842-40A5-A2A9-0518F39FD1A9}" type="slidenum">
              <a:rPr lang="en-US" smtClean="0"/>
              <a:t>36</a:t>
            </a:fld>
            <a:endParaRPr lang="en-GB"/>
          </a:p>
        </p:txBody>
      </p:sp>
      <p:sp>
        <p:nvSpPr>
          <p:cNvPr id="7" name="Footer Placeholder 6">
            <a:extLst>
              <a:ext uri="{FF2B5EF4-FFF2-40B4-BE49-F238E27FC236}">
                <a16:creationId xmlns:a16="http://schemas.microsoft.com/office/drawing/2014/main" id="{F5CA9ED7-F285-A6EF-1E2D-F3AC29532F56}"/>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590328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418AD1-05B5-3E71-E6A4-05DA6A7C38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4ABA2F-9E6B-DD60-0347-0EFEE4193A56}"/>
              </a:ext>
            </a:extLst>
          </p:cNvPr>
          <p:cNvSpPr>
            <a:spLocks noGrp="1"/>
          </p:cNvSpPr>
          <p:nvPr>
            <p:ph type="title"/>
          </p:nvPr>
        </p:nvSpPr>
        <p:spPr/>
        <p:txBody>
          <a:bodyPr/>
          <a:lstStyle/>
          <a:p>
            <a:r>
              <a:rPr lang="en-GB" dirty="0">
                <a:ea typeface="Calibri Light"/>
                <a:cs typeface="Calibri Light"/>
              </a:rPr>
              <a:t>Basis Path Testing</a:t>
            </a:r>
            <a:endParaRPr lang="en-US" dirty="0"/>
          </a:p>
        </p:txBody>
      </p:sp>
      <p:sp>
        <p:nvSpPr>
          <p:cNvPr id="3" name="Content Placeholder 2">
            <a:extLst>
              <a:ext uri="{FF2B5EF4-FFF2-40B4-BE49-F238E27FC236}">
                <a16:creationId xmlns:a16="http://schemas.microsoft.com/office/drawing/2014/main" id="{C8735CE0-067B-C282-E5FE-B101C7C093EC}"/>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Ensure every linearly independent path in a program is tested at least once</a:t>
            </a:r>
          </a:p>
          <a:p>
            <a:r>
              <a:rPr lang="en-US" dirty="0">
                <a:ea typeface="+mn-lt"/>
                <a:cs typeface="+mn-lt"/>
              </a:rPr>
              <a:t>Based on </a:t>
            </a:r>
            <a:r>
              <a:rPr lang="en-US" b="1" dirty="0">
                <a:ea typeface="+mn-lt"/>
                <a:cs typeface="+mn-lt"/>
              </a:rPr>
              <a:t>flow graphs</a:t>
            </a:r>
            <a:r>
              <a:rPr lang="en-US" dirty="0">
                <a:ea typeface="+mn-lt"/>
                <a:cs typeface="+mn-lt"/>
              </a:rPr>
              <a:t> (or control flow graphs) and helps in achieving </a:t>
            </a:r>
            <a:r>
              <a:rPr lang="en-US" b="1" dirty="0">
                <a:ea typeface="+mn-lt"/>
                <a:cs typeface="+mn-lt"/>
              </a:rPr>
              <a:t>100% branch coverage</a:t>
            </a:r>
            <a:endParaRPr lang="en-US" dirty="0">
              <a:ea typeface="Calibri" panose="020F0502020204030204"/>
              <a:cs typeface="Calibri" panose="020F0502020204030204"/>
            </a:endParaRPr>
          </a:p>
          <a:p>
            <a:r>
              <a:rPr lang="en-US" dirty="0">
                <a:ea typeface="+mn-lt"/>
                <a:cs typeface="+mn-lt"/>
              </a:rPr>
              <a:t>Benefits:</a:t>
            </a:r>
          </a:p>
          <a:p>
            <a:pPr lvl="1"/>
            <a:r>
              <a:rPr lang="en-US" dirty="0">
                <a:ea typeface="+mn-lt"/>
                <a:cs typeface="+mn-lt"/>
              </a:rPr>
              <a:t>Ensures all decision outcomes are tested</a:t>
            </a:r>
            <a:endParaRPr lang="en-US" b="1" dirty="0">
              <a:ea typeface="Calibri" panose="020F0502020204030204"/>
              <a:cs typeface="Calibri" panose="020F0502020204030204"/>
            </a:endParaRPr>
          </a:p>
          <a:p>
            <a:pPr lvl="1"/>
            <a:r>
              <a:rPr lang="en-US" dirty="0">
                <a:ea typeface="+mn-lt"/>
                <a:cs typeface="+mn-lt"/>
              </a:rPr>
              <a:t>Helps identify untested parts of code</a:t>
            </a:r>
            <a:endParaRPr lang="en-US" dirty="0">
              <a:ea typeface="Calibri"/>
              <a:cs typeface="Calibri"/>
            </a:endParaRPr>
          </a:p>
          <a:p>
            <a:pPr lvl="1"/>
            <a:r>
              <a:rPr lang="en-US" dirty="0">
                <a:ea typeface="+mn-lt"/>
                <a:cs typeface="+mn-lt"/>
              </a:rPr>
              <a:t>Complements other testing methods like integration testing</a:t>
            </a:r>
            <a:endParaRPr lang="en-US" dirty="0">
              <a:ea typeface="Calibri"/>
              <a:cs typeface="Calibri"/>
            </a:endParaRPr>
          </a:p>
          <a:p>
            <a:r>
              <a:rPr lang="en-US" dirty="0"/>
              <a:t>When to Use</a:t>
            </a:r>
            <a:endParaRPr lang="en-US" dirty="0">
              <a:ea typeface="Calibri"/>
              <a:cs typeface="Calibri"/>
            </a:endParaRPr>
          </a:p>
          <a:p>
            <a:pPr lvl="1"/>
            <a:r>
              <a:rPr lang="en-US" dirty="0">
                <a:ea typeface="+mn-lt"/>
                <a:cs typeface="+mn-lt"/>
              </a:rPr>
              <a:t>Small to medium-sized functions or methods with clear logic</a:t>
            </a:r>
            <a:endParaRPr lang="en-US" dirty="0">
              <a:ea typeface="Calibri"/>
              <a:cs typeface="Calibri"/>
            </a:endParaRPr>
          </a:p>
          <a:p>
            <a:pPr lvl="1"/>
            <a:r>
              <a:rPr lang="en-US" dirty="0">
                <a:ea typeface="+mn-lt"/>
                <a:cs typeface="+mn-lt"/>
              </a:rPr>
              <a:t>Especially effective for critical or error-prone code blocks</a:t>
            </a:r>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2A746103-7097-D799-B73E-F5FA747F47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8017A08B-8165-875B-12A1-7571C4889C5B}"/>
              </a:ext>
            </a:extLst>
          </p:cNvPr>
          <p:cNvSpPr>
            <a:spLocks noGrp="1"/>
          </p:cNvSpPr>
          <p:nvPr>
            <p:ph type="sldNum" sz="quarter" idx="12"/>
          </p:nvPr>
        </p:nvSpPr>
        <p:spPr/>
        <p:txBody>
          <a:bodyPr/>
          <a:lstStyle/>
          <a:p>
            <a:fld id="{008559AE-1842-40A5-A2A9-0518F39FD1A9}" type="slidenum">
              <a:rPr lang="en-US" smtClean="0"/>
              <a:t>37</a:t>
            </a:fld>
            <a:endParaRPr lang="en-GB"/>
          </a:p>
        </p:txBody>
      </p:sp>
      <p:sp>
        <p:nvSpPr>
          <p:cNvPr id="7" name="Footer Placeholder 6">
            <a:extLst>
              <a:ext uri="{FF2B5EF4-FFF2-40B4-BE49-F238E27FC236}">
                <a16:creationId xmlns:a16="http://schemas.microsoft.com/office/drawing/2014/main" id="{1040C57B-D2C7-1A7B-3D5E-0B26C7D8957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097414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B5EA7-EA36-8199-1D8A-B0EBD4FC9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54981C-FBA8-9BA8-9E06-E68DA1E93EA6}"/>
              </a:ext>
            </a:extLst>
          </p:cNvPr>
          <p:cNvSpPr>
            <a:spLocks noGrp="1"/>
          </p:cNvSpPr>
          <p:nvPr>
            <p:ph type="title"/>
          </p:nvPr>
        </p:nvSpPr>
        <p:spPr/>
        <p:txBody>
          <a:bodyPr/>
          <a:lstStyle/>
          <a:p>
            <a:r>
              <a:rPr lang="en-GB" dirty="0">
                <a:ea typeface="Calibri Light"/>
                <a:cs typeface="Calibri Light"/>
              </a:rPr>
              <a:t>Basis Path Testing: Core components</a:t>
            </a:r>
            <a:endParaRPr lang="en-US" dirty="0"/>
          </a:p>
        </p:txBody>
      </p:sp>
      <p:sp>
        <p:nvSpPr>
          <p:cNvPr id="3" name="Content Placeholder 2">
            <a:extLst>
              <a:ext uri="{FF2B5EF4-FFF2-40B4-BE49-F238E27FC236}">
                <a16:creationId xmlns:a16="http://schemas.microsoft.com/office/drawing/2014/main" id="{7A6A2603-6CFC-D9C6-6442-BF9B814D2F2A}"/>
              </a:ext>
            </a:extLst>
          </p:cNvPr>
          <p:cNvSpPr>
            <a:spLocks noGrp="1"/>
          </p:cNvSpPr>
          <p:nvPr>
            <p:ph idx="1"/>
          </p:nvPr>
        </p:nvSpPr>
        <p:spPr>
          <a:xfrm>
            <a:off x="838200" y="1510219"/>
            <a:ext cx="10515600" cy="5031147"/>
          </a:xfrm>
        </p:spPr>
        <p:txBody>
          <a:bodyPr vert="horz" lIns="91440" tIns="45720" rIns="91440" bIns="45720" rtlCol="0" anchor="t">
            <a:normAutofit fontScale="92500" lnSpcReduction="10000"/>
          </a:bodyPr>
          <a:lstStyle/>
          <a:p>
            <a:r>
              <a:rPr lang="en-US" dirty="0">
                <a:ea typeface="+mn-lt"/>
                <a:cs typeface="+mn-lt"/>
              </a:rPr>
              <a:t>Control Flow Graph:</a:t>
            </a:r>
            <a:endParaRPr lang="en-US"/>
          </a:p>
          <a:p>
            <a:pPr marL="685800">
              <a:spcBef>
                <a:spcPts val="500"/>
              </a:spcBef>
            </a:pPr>
            <a:r>
              <a:rPr lang="en-US" sz="2400" dirty="0">
                <a:ea typeface="+mn-lt"/>
                <a:cs typeface="+mn-lt"/>
              </a:rPr>
              <a:t>A graphical representation of all paths that might be traversed through a program during its execution.</a:t>
            </a:r>
            <a:endParaRPr lang="en-US" sz="2400" dirty="0">
              <a:ea typeface="Calibri" panose="020F0502020204030204"/>
              <a:cs typeface="Calibri" panose="020F0502020204030204"/>
            </a:endParaRPr>
          </a:p>
          <a:p>
            <a:pPr lvl="1"/>
            <a:r>
              <a:rPr lang="en-US" b="1" dirty="0">
                <a:ea typeface="+mn-lt"/>
                <a:cs typeface="+mn-lt"/>
              </a:rPr>
              <a:t>Nodes</a:t>
            </a:r>
            <a:r>
              <a:rPr lang="en-US" dirty="0">
                <a:ea typeface="+mn-lt"/>
                <a:cs typeface="+mn-lt"/>
              </a:rPr>
              <a:t>: Represent statement or groups of statements.</a:t>
            </a:r>
            <a:endParaRPr lang="en-US" dirty="0"/>
          </a:p>
          <a:p>
            <a:pPr lvl="1"/>
            <a:r>
              <a:rPr lang="en-US" b="1" dirty="0">
                <a:ea typeface="+mn-lt"/>
                <a:cs typeface="+mn-lt"/>
              </a:rPr>
              <a:t>Edges</a:t>
            </a:r>
            <a:r>
              <a:rPr lang="en-US" dirty="0">
                <a:ea typeface="+mn-lt"/>
                <a:cs typeface="+mn-lt"/>
              </a:rPr>
              <a:t>: Represent flow of control between nodes.</a:t>
            </a:r>
            <a:endParaRPr lang="en-US" dirty="0"/>
          </a:p>
          <a:p>
            <a:r>
              <a:rPr lang="en-US" dirty="0">
                <a:ea typeface="Calibri" panose="020F0502020204030204"/>
                <a:cs typeface="Calibri" panose="020F0502020204030204"/>
              </a:rPr>
              <a:t>Cyclometric Complexity</a:t>
            </a:r>
          </a:p>
          <a:p>
            <a:pPr lvl="1"/>
            <a:r>
              <a:rPr lang="en-US" dirty="0">
                <a:ea typeface="+mn-lt"/>
                <a:cs typeface="+mn-lt"/>
              </a:rPr>
              <a:t>A metric that helps determine the number of independent paths through the program</a:t>
            </a:r>
            <a:endParaRPr lang="en-US" dirty="0">
              <a:ea typeface="Calibri" panose="020F0502020204030204"/>
              <a:cs typeface="Calibri" panose="020F0502020204030204"/>
            </a:endParaRPr>
          </a:p>
          <a:p>
            <a:pPr lvl="1"/>
            <a:r>
              <a:rPr lang="en-US" b="1" dirty="0">
                <a:ea typeface="+mn-lt"/>
                <a:cs typeface="+mn-lt"/>
              </a:rPr>
              <a:t>Formula</a:t>
            </a:r>
            <a:r>
              <a:rPr lang="en-US" dirty="0">
                <a:ea typeface="+mn-lt"/>
                <a:cs typeface="+mn-lt"/>
              </a:rPr>
              <a:t>:</a:t>
            </a:r>
            <a:endParaRPr lang="en-US" dirty="0"/>
          </a:p>
          <a:p>
            <a:pPr lvl="2">
              <a:buFont typeface="Wingdings" panose="020B0604020202020204" pitchFamily="34" charset="0"/>
              <a:buChar char="§"/>
            </a:pPr>
            <a:r>
              <a:rPr lang="en-US" dirty="0">
                <a:ea typeface="+mn-lt"/>
                <a:cs typeface="+mn-lt"/>
              </a:rPr>
              <a:t>V(G)=E−N+2</a:t>
            </a:r>
            <a:endParaRPr lang="en-US" dirty="0">
              <a:ea typeface="Calibri"/>
              <a:cs typeface="Calibri"/>
            </a:endParaRPr>
          </a:p>
          <a:p>
            <a:pPr lvl="2">
              <a:buFont typeface="Wingdings" panose="020B0604020202020204" pitchFamily="34" charset="0"/>
              <a:buChar char="§"/>
            </a:pPr>
            <a:r>
              <a:rPr lang="en-US" dirty="0">
                <a:ea typeface="+mn-lt"/>
                <a:cs typeface="+mn-lt"/>
              </a:rPr>
              <a:t>Where:</a:t>
            </a:r>
            <a:endParaRPr lang="en-US">
              <a:ea typeface="Calibri"/>
              <a:cs typeface="Calibri"/>
            </a:endParaRPr>
          </a:p>
          <a:p>
            <a:pPr lvl="2">
              <a:buFont typeface="Wingdings" panose="020B0604020202020204" pitchFamily="34" charset="0"/>
              <a:buChar char="§"/>
            </a:pPr>
            <a:r>
              <a:rPr lang="en-US" dirty="0">
                <a:ea typeface="+mn-lt"/>
                <a:cs typeface="+mn-lt"/>
              </a:rPr>
              <a:t>E: Number of edges</a:t>
            </a:r>
            <a:endParaRPr lang="en-US" dirty="0">
              <a:ea typeface="Calibri"/>
              <a:cs typeface="Calibri"/>
            </a:endParaRPr>
          </a:p>
          <a:p>
            <a:pPr lvl="2">
              <a:buFont typeface="Wingdings" panose="020B0604020202020204" pitchFamily="34" charset="0"/>
              <a:buChar char="§"/>
            </a:pPr>
            <a:r>
              <a:rPr lang="en-US" dirty="0">
                <a:ea typeface="+mn-lt"/>
                <a:cs typeface="+mn-lt"/>
              </a:rPr>
              <a:t>N: Number of nodes</a:t>
            </a:r>
            <a:endParaRPr lang="en-US" dirty="0">
              <a:ea typeface="Calibri"/>
              <a:cs typeface="Calibri"/>
            </a:endParaRPr>
          </a:p>
          <a:p>
            <a:pPr lvl="1"/>
            <a:r>
              <a:rPr lang="en-US" dirty="0">
                <a:ea typeface="+mn-lt"/>
                <a:cs typeface="+mn-lt"/>
              </a:rPr>
              <a:t>You can also calculate it by counting decision points:</a:t>
            </a:r>
            <a:endParaRPr lang="en-US" dirty="0">
              <a:ea typeface="Calibri"/>
              <a:cs typeface="Calibri"/>
            </a:endParaRPr>
          </a:p>
          <a:p>
            <a:pPr lvl="2">
              <a:buFont typeface="Wingdings" panose="020B0604020202020204" pitchFamily="34" charset="0"/>
              <a:buChar char="§"/>
            </a:pPr>
            <a:r>
              <a:rPr lang="en-US" dirty="0">
                <a:ea typeface="+mn-lt"/>
                <a:cs typeface="+mn-lt"/>
              </a:rPr>
              <a:t>V(G)=Number of decision nodes+1</a:t>
            </a:r>
            <a:endParaRPr lang="en-US" dirty="0">
              <a:ea typeface="Calibri"/>
              <a:cs typeface="Calibri"/>
            </a:endParaRPr>
          </a:p>
          <a:p>
            <a:pPr lvl="1"/>
            <a:endParaRPr lang="en-US" dirty="0">
              <a:ea typeface="Calibri"/>
              <a:cs typeface="Calibri"/>
            </a:endParaRPr>
          </a:p>
          <a:p>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936DFF59-FCF6-921A-1647-E3DA18B588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F40A04D-A086-105D-D947-23D959E2DF7D}"/>
              </a:ext>
            </a:extLst>
          </p:cNvPr>
          <p:cNvSpPr>
            <a:spLocks noGrp="1"/>
          </p:cNvSpPr>
          <p:nvPr>
            <p:ph type="sldNum" sz="quarter" idx="12"/>
          </p:nvPr>
        </p:nvSpPr>
        <p:spPr/>
        <p:txBody>
          <a:bodyPr/>
          <a:lstStyle/>
          <a:p>
            <a:fld id="{008559AE-1842-40A5-A2A9-0518F39FD1A9}" type="slidenum">
              <a:rPr lang="en-US" smtClean="0"/>
              <a:t>38</a:t>
            </a:fld>
            <a:endParaRPr lang="en-GB"/>
          </a:p>
        </p:txBody>
      </p:sp>
      <p:sp>
        <p:nvSpPr>
          <p:cNvPr id="7" name="Footer Placeholder 6">
            <a:extLst>
              <a:ext uri="{FF2B5EF4-FFF2-40B4-BE49-F238E27FC236}">
                <a16:creationId xmlns:a16="http://schemas.microsoft.com/office/drawing/2014/main" id="{D26B4ADD-B137-68C7-4EF8-1006069E9D5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894974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D4196-7FB6-B3F3-B8E0-3559050097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1234A1-F56C-DFED-103D-0B21D10F5235}"/>
              </a:ext>
            </a:extLst>
          </p:cNvPr>
          <p:cNvSpPr>
            <a:spLocks noGrp="1"/>
          </p:cNvSpPr>
          <p:nvPr>
            <p:ph type="title"/>
          </p:nvPr>
        </p:nvSpPr>
        <p:spPr/>
        <p:txBody>
          <a:bodyPr/>
          <a:lstStyle/>
          <a:p>
            <a:r>
              <a:rPr lang="en-GB" dirty="0">
                <a:ea typeface="Calibri Light"/>
                <a:cs typeface="Calibri Light"/>
              </a:rPr>
              <a:t>Basis Path Testing: Core components</a:t>
            </a:r>
            <a:endParaRPr lang="en-US" dirty="0"/>
          </a:p>
        </p:txBody>
      </p:sp>
      <p:sp>
        <p:nvSpPr>
          <p:cNvPr id="3" name="Content Placeholder 2">
            <a:extLst>
              <a:ext uri="{FF2B5EF4-FFF2-40B4-BE49-F238E27FC236}">
                <a16:creationId xmlns:a16="http://schemas.microsoft.com/office/drawing/2014/main" id="{A6D8B644-D3A6-2105-C294-077D53CF6B3F}"/>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Independent Paths:</a:t>
            </a:r>
            <a:endParaRPr lang="en-US" dirty="0">
              <a:ea typeface="Calibri"/>
              <a:cs typeface="Calibri"/>
            </a:endParaRPr>
          </a:p>
          <a:p>
            <a:pPr lvl="1"/>
            <a:r>
              <a:rPr lang="en-US" dirty="0">
                <a:ea typeface="+mn-lt"/>
                <a:cs typeface="+mn-lt"/>
              </a:rPr>
              <a:t>A path that introduces at least one new edge not included in any other paths</a:t>
            </a:r>
            <a:endParaRPr lang="en-US" dirty="0">
              <a:ea typeface="Calibri"/>
              <a:cs typeface="Calibri"/>
            </a:endParaRPr>
          </a:p>
          <a:p>
            <a:pPr lvl="1"/>
            <a:endParaRPr lang="en-US" dirty="0">
              <a:ea typeface="Calibri"/>
              <a:cs typeface="Calibri"/>
            </a:endParaRPr>
          </a:p>
          <a:p>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93896C1C-A2E9-74BF-B29C-F2CA9DAAB5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39F4BC4-3F10-6637-199B-EA6E12A28163}"/>
              </a:ext>
            </a:extLst>
          </p:cNvPr>
          <p:cNvSpPr>
            <a:spLocks noGrp="1"/>
          </p:cNvSpPr>
          <p:nvPr>
            <p:ph type="sldNum" sz="quarter" idx="12"/>
          </p:nvPr>
        </p:nvSpPr>
        <p:spPr/>
        <p:txBody>
          <a:bodyPr/>
          <a:lstStyle/>
          <a:p>
            <a:fld id="{008559AE-1842-40A5-A2A9-0518F39FD1A9}" type="slidenum">
              <a:rPr lang="en-US" smtClean="0"/>
              <a:t>39</a:t>
            </a:fld>
            <a:endParaRPr lang="en-GB"/>
          </a:p>
        </p:txBody>
      </p:sp>
      <p:sp>
        <p:nvSpPr>
          <p:cNvPr id="7" name="Footer Placeholder 6">
            <a:extLst>
              <a:ext uri="{FF2B5EF4-FFF2-40B4-BE49-F238E27FC236}">
                <a16:creationId xmlns:a16="http://schemas.microsoft.com/office/drawing/2014/main" id="{F6FE920A-2C64-48BE-5AAA-70B7517C523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5811292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F24DA-4737-64C5-2A36-C37B833BA3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210E40-3974-21DE-734F-4F39E9EBEC95}"/>
              </a:ext>
            </a:extLst>
          </p:cNvPr>
          <p:cNvSpPr>
            <a:spLocks noGrp="1"/>
          </p:cNvSpPr>
          <p:nvPr>
            <p:ph type="title"/>
          </p:nvPr>
        </p:nvSpPr>
        <p:spPr/>
        <p:txBody>
          <a:bodyPr/>
          <a:lstStyle/>
          <a:p>
            <a:r>
              <a:rPr lang="en-GB" dirty="0">
                <a:ea typeface="Calibri Light"/>
                <a:cs typeface="Calibri Light"/>
              </a:rPr>
              <a:t>Basis Path Testing: Example</a:t>
            </a:r>
            <a:endParaRPr lang="en-US" dirty="0"/>
          </a:p>
        </p:txBody>
      </p:sp>
      <p:sp>
        <p:nvSpPr>
          <p:cNvPr id="3" name="Content Placeholder 2">
            <a:extLst>
              <a:ext uri="{FF2B5EF4-FFF2-40B4-BE49-F238E27FC236}">
                <a16:creationId xmlns:a16="http://schemas.microsoft.com/office/drawing/2014/main" id="{A48DE261-9C8F-5FA4-50D5-62C8BC541A1B}"/>
              </a:ext>
            </a:extLst>
          </p:cNvPr>
          <p:cNvSpPr>
            <a:spLocks noGrp="1"/>
          </p:cNvSpPr>
          <p:nvPr>
            <p:ph idx="1"/>
          </p:nvPr>
        </p:nvSpPr>
        <p:spPr>
          <a:xfrm>
            <a:off x="838200" y="1510219"/>
            <a:ext cx="10515600" cy="5031147"/>
          </a:xfrm>
        </p:spPr>
        <p:txBody>
          <a:bodyPr vert="horz" lIns="91440" tIns="45720" rIns="91440" bIns="45720" rtlCol="0" anchor="t">
            <a:normAutofit/>
          </a:bodyPr>
          <a:lstStyle/>
          <a:p>
            <a:pPr marL="0" indent="0">
              <a:buNone/>
            </a:pPr>
            <a:r>
              <a:rPr lang="en-US" dirty="0">
                <a:ea typeface="+mn-lt"/>
                <a:cs typeface="+mn-lt"/>
              </a:rPr>
              <a:t>MAX = A</a:t>
            </a:r>
            <a:br>
              <a:rPr lang="en-US" dirty="0">
                <a:ea typeface="+mn-lt"/>
                <a:cs typeface="+mn-lt"/>
              </a:rPr>
            </a:br>
            <a:r>
              <a:rPr lang="en-US" dirty="0">
                <a:ea typeface="+mn-lt"/>
                <a:cs typeface="+mn-lt"/>
              </a:rPr>
              <a:t>IF B &gt; A</a:t>
            </a:r>
            <a:endParaRPr lang="en-US" dirty="0"/>
          </a:p>
          <a:p>
            <a:pPr marL="0" indent="0">
              <a:buNone/>
            </a:pPr>
            <a:r>
              <a:rPr lang="en-US" dirty="0">
                <a:ea typeface="Calibri" panose="020F0502020204030204"/>
                <a:cs typeface="Calibri" panose="020F0502020204030204"/>
              </a:rPr>
              <a:t> THEN IF B &gt; C</a:t>
            </a:r>
          </a:p>
          <a:p>
            <a:pPr marL="0" indent="0">
              <a:buNone/>
            </a:pPr>
            <a:r>
              <a:rPr lang="en-US" dirty="0">
                <a:ea typeface="Calibri" panose="020F0502020204030204"/>
                <a:cs typeface="Calibri" panose="020F0502020204030204"/>
              </a:rPr>
              <a:t>  THEN MAX = B</a:t>
            </a:r>
          </a:p>
          <a:p>
            <a:pPr marL="0" indent="0">
              <a:buNone/>
            </a:pPr>
            <a:r>
              <a:rPr lang="en-US" dirty="0">
                <a:ea typeface="Calibri" panose="020F0502020204030204"/>
                <a:cs typeface="Calibri" panose="020F0502020204030204"/>
              </a:rPr>
              <a:t>  ELSE MAX = C</a:t>
            </a:r>
          </a:p>
          <a:p>
            <a:pPr marL="0" indent="0">
              <a:buNone/>
            </a:pPr>
            <a:r>
              <a:rPr lang="en-US" dirty="0">
                <a:ea typeface="Calibri" panose="020F0502020204030204"/>
                <a:cs typeface="Calibri" panose="020F0502020204030204"/>
              </a:rPr>
              <a:t> END IF</a:t>
            </a:r>
          </a:p>
          <a:p>
            <a:pPr marL="0" indent="0">
              <a:buNone/>
            </a:pPr>
            <a:r>
              <a:rPr lang="en-US" dirty="0">
                <a:ea typeface="Calibri" panose="020F0502020204030204"/>
                <a:cs typeface="Calibri" panose="020F0502020204030204"/>
              </a:rPr>
              <a:t>END IF</a:t>
            </a:r>
          </a:p>
          <a:p>
            <a:pPr marL="0" indent="0">
              <a:buNone/>
            </a:pPr>
            <a:r>
              <a:rPr lang="en-US" dirty="0">
                <a:ea typeface="Calibri" panose="020F0502020204030204"/>
                <a:cs typeface="Calibri" panose="020F0502020204030204"/>
              </a:rPr>
              <a:t>PRINT MAX</a:t>
            </a: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E512F6A6-3F80-C4D2-119B-F0992B4A43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6328902-BB1A-3838-60B6-49F8A97DA880}"/>
              </a:ext>
            </a:extLst>
          </p:cNvPr>
          <p:cNvSpPr>
            <a:spLocks noGrp="1"/>
          </p:cNvSpPr>
          <p:nvPr>
            <p:ph type="sldNum" sz="quarter" idx="12"/>
          </p:nvPr>
        </p:nvSpPr>
        <p:spPr/>
        <p:txBody>
          <a:bodyPr/>
          <a:lstStyle/>
          <a:p>
            <a:fld id="{008559AE-1842-40A5-A2A9-0518F39FD1A9}" type="slidenum">
              <a:rPr lang="en-US" smtClean="0"/>
              <a:t>40</a:t>
            </a:fld>
            <a:endParaRPr lang="en-GB"/>
          </a:p>
        </p:txBody>
      </p:sp>
      <p:sp>
        <p:nvSpPr>
          <p:cNvPr id="7" name="Footer Placeholder 6">
            <a:extLst>
              <a:ext uri="{FF2B5EF4-FFF2-40B4-BE49-F238E27FC236}">
                <a16:creationId xmlns:a16="http://schemas.microsoft.com/office/drawing/2014/main" id="{4643C5DE-3862-DB79-A7D1-663663AC738A}"/>
              </a:ext>
            </a:extLst>
          </p:cNvPr>
          <p:cNvSpPr>
            <a:spLocks noGrp="1"/>
          </p:cNvSpPr>
          <p:nvPr>
            <p:ph type="ftr" sz="quarter" idx="11"/>
          </p:nvPr>
        </p:nvSpPr>
        <p:spPr/>
        <p:txBody>
          <a:bodyPr/>
          <a:lstStyle/>
          <a:p>
            <a:r>
              <a:rPr lang="en-US"/>
              <a:t>Software Engineering</a:t>
            </a:r>
          </a:p>
        </p:txBody>
      </p:sp>
      <p:sp>
        <p:nvSpPr>
          <p:cNvPr id="4" name="TextBox 4">
            <a:extLst>
              <a:ext uri="{FF2B5EF4-FFF2-40B4-BE49-F238E27FC236}">
                <a16:creationId xmlns:a16="http://schemas.microsoft.com/office/drawing/2014/main" id="{38E8052B-F055-4FB2-03C8-64D43643B907}"/>
              </a:ext>
            </a:extLst>
          </p:cNvPr>
          <p:cNvSpPr txBox="1"/>
          <p:nvPr/>
        </p:nvSpPr>
        <p:spPr>
          <a:xfrm>
            <a:off x="8473696" y="2102928"/>
            <a:ext cx="3404558" cy="2643772"/>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ea typeface="Calibri"/>
                <a:cs typeface="Calibri"/>
              </a:rPr>
              <a:t>Note: This is just a pseudo code snippet. The example shows that basis path testing is focused on testing code, but not necessarily the LOGIC of the code. However, it is understood/ assumed (rightly) that the programmer, while using basis path testing, will identify errors in logic (if any).</a:t>
            </a:r>
          </a:p>
        </p:txBody>
      </p:sp>
    </p:spTree>
    <p:extLst>
      <p:ext uri="{BB962C8B-B14F-4D97-AF65-F5344CB8AC3E}">
        <p14:creationId xmlns:p14="http://schemas.microsoft.com/office/powerpoint/2010/main" val="19741137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2494C-5546-821A-A1D0-4B7917B261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6850DE-1DAC-4EC5-BE2D-A8B4B06749AF}"/>
              </a:ext>
            </a:extLst>
          </p:cNvPr>
          <p:cNvSpPr>
            <a:spLocks noGrp="1"/>
          </p:cNvSpPr>
          <p:nvPr>
            <p:ph type="title"/>
          </p:nvPr>
        </p:nvSpPr>
        <p:spPr/>
        <p:txBody>
          <a:bodyPr/>
          <a:lstStyle/>
          <a:p>
            <a:r>
              <a:rPr lang="en-GB" dirty="0">
                <a:ea typeface="Calibri Light"/>
                <a:cs typeface="Calibri Light"/>
              </a:rPr>
              <a:t>Basis Path Testing: Example</a:t>
            </a:r>
            <a:endParaRPr lang="en-US" dirty="0"/>
          </a:p>
        </p:txBody>
      </p:sp>
      <p:sp>
        <p:nvSpPr>
          <p:cNvPr id="3" name="Content Placeholder 2">
            <a:extLst>
              <a:ext uri="{FF2B5EF4-FFF2-40B4-BE49-F238E27FC236}">
                <a16:creationId xmlns:a16="http://schemas.microsoft.com/office/drawing/2014/main" id="{B51B77A4-C275-AC3B-34AF-3BB2BDA2EED1}"/>
              </a:ext>
            </a:extLst>
          </p:cNvPr>
          <p:cNvSpPr>
            <a:spLocks noGrp="1"/>
          </p:cNvSpPr>
          <p:nvPr>
            <p:ph idx="1"/>
          </p:nvPr>
        </p:nvSpPr>
        <p:spPr>
          <a:xfrm>
            <a:off x="838200" y="1510219"/>
            <a:ext cx="10515600" cy="5031147"/>
          </a:xfrm>
        </p:spPr>
        <p:txBody>
          <a:bodyPr vert="horz" lIns="91440" tIns="45720" rIns="91440" bIns="45720" rtlCol="0" anchor="t">
            <a:normAutofit/>
          </a:bodyPr>
          <a:lstStyle/>
          <a:p>
            <a:pPr marL="0" indent="0">
              <a:buNone/>
            </a:pPr>
            <a:r>
              <a:rPr lang="en-US" dirty="0">
                <a:ea typeface="+mn-lt"/>
                <a:cs typeface="+mn-lt"/>
              </a:rPr>
              <a:t>(1) MAX = A</a:t>
            </a:r>
          </a:p>
          <a:p>
            <a:pPr marL="0" indent="0">
              <a:buNone/>
            </a:pPr>
            <a:r>
              <a:rPr lang="en-US" dirty="0">
                <a:ea typeface="+mn-lt"/>
                <a:cs typeface="+mn-lt"/>
              </a:rPr>
              <a:t>(2) IF B &gt; A</a:t>
            </a:r>
            <a:endParaRPr lang="en-US" dirty="0">
              <a:ea typeface="Calibri"/>
              <a:cs typeface="Calibri"/>
            </a:endParaRPr>
          </a:p>
          <a:p>
            <a:pPr marL="0" indent="0">
              <a:buNone/>
            </a:pPr>
            <a:r>
              <a:rPr lang="en-US" dirty="0">
                <a:ea typeface="Calibri"/>
                <a:cs typeface="Calibri"/>
              </a:rPr>
              <a:t>(3)  THEN IF B &gt; C</a:t>
            </a:r>
          </a:p>
          <a:p>
            <a:pPr marL="0" indent="0">
              <a:buNone/>
            </a:pPr>
            <a:r>
              <a:rPr lang="en-US" dirty="0">
                <a:ea typeface="Calibri"/>
                <a:cs typeface="Calibri"/>
              </a:rPr>
              <a:t>(4)   THEN MAX = B</a:t>
            </a:r>
          </a:p>
          <a:p>
            <a:pPr marL="0" indent="0">
              <a:buNone/>
            </a:pPr>
            <a:r>
              <a:rPr lang="en-US" dirty="0">
                <a:ea typeface="Calibri"/>
                <a:cs typeface="Calibri"/>
              </a:rPr>
              <a:t>(5)   ELSE MAX = C</a:t>
            </a:r>
          </a:p>
          <a:p>
            <a:pPr marL="0" indent="0">
              <a:buNone/>
            </a:pPr>
            <a:r>
              <a:rPr lang="en-US" dirty="0">
                <a:ea typeface="Calibri"/>
                <a:cs typeface="Calibri"/>
              </a:rPr>
              <a:t>(6)  END IF</a:t>
            </a:r>
          </a:p>
          <a:p>
            <a:pPr marL="0" indent="0">
              <a:buNone/>
            </a:pPr>
            <a:r>
              <a:rPr lang="en-US" dirty="0">
                <a:ea typeface="Calibri"/>
                <a:cs typeface="Calibri"/>
              </a:rPr>
              <a:t>(7) END IF</a:t>
            </a:r>
          </a:p>
          <a:p>
            <a:pPr marL="0" indent="0">
              <a:buNone/>
            </a:pPr>
            <a:r>
              <a:rPr lang="en-US" dirty="0">
                <a:ea typeface="Calibri"/>
                <a:cs typeface="Calibri"/>
              </a:rPr>
              <a:t>(8) PRINT MAX</a:t>
            </a:r>
          </a:p>
          <a:p>
            <a:endParaRPr lang="en-US" dirty="0">
              <a:ea typeface="Calibri"/>
              <a:cs typeface="Calibri"/>
            </a:endParaRPr>
          </a:p>
          <a:p>
            <a:pPr lvl="1"/>
            <a:endParaRPr lang="en-US" dirty="0">
              <a:ea typeface="Calibri"/>
              <a:cs typeface="Calibri"/>
            </a:endParaRPr>
          </a:p>
          <a:p>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4D5F4411-13BC-1CD4-7567-E6F9A5EF8B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C94B3A3-774A-3E6A-28EC-094C6DBDCDCD}"/>
              </a:ext>
            </a:extLst>
          </p:cNvPr>
          <p:cNvSpPr>
            <a:spLocks noGrp="1"/>
          </p:cNvSpPr>
          <p:nvPr>
            <p:ph type="sldNum" sz="quarter" idx="12"/>
          </p:nvPr>
        </p:nvSpPr>
        <p:spPr/>
        <p:txBody>
          <a:bodyPr/>
          <a:lstStyle/>
          <a:p>
            <a:fld id="{008559AE-1842-40A5-A2A9-0518F39FD1A9}" type="slidenum">
              <a:rPr lang="en-US" smtClean="0"/>
              <a:t>41</a:t>
            </a:fld>
            <a:endParaRPr lang="en-GB"/>
          </a:p>
        </p:txBody>
      </p:sp>
      <p:sp>
        <p:nvSpPr>
          <p:cNvPr id="7" name="Footer Placeholder 6">
            <a:extLst>
              <a:ext uri="{FF2B5EF4-FFF2-40B4-BE49-F238E27FC236}">
                <a16:creationId xmlns:a16="http://schemas.microsoft.com/office/drawing/2014/main" id="{73A490BE-E3F6-841B-FCE7-0F3CF2A8CFAB}"/>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229274CA-C459-E1F7-8B15-5DB25868697F}"/>
              </a:ext>
            </a:extLst>
          </p:cNvPr>
          <p:cNvSpPr txBox="1"/>
          <p:nvPr/>
        </p:nvSpPr>
        <p:spPr>
          <a:xfrm>
            <a:off x="7738533" y="2506133"/>
            <a:ext cx="3708400" cy="262466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pic>
        <p:nvPicPr>
          <p:cNvPr id="9" name="Picture 8">
            <a:extLst>
              <a:ext uri="{FF2B5EF4-FFF2-40B4-BE49-F238E27FC236}">
                <a16:creationId xmlns:a16="http://schemas.microsoft.com/office/drawing/2014/main" id="{FC3449DE-C259-CCB6-7E3B-A89431FC2F73}"/>
              </a:ext>
            </a:extLst>
          </p:cNvPr>
          <p:cNvPicPr>
            <a:picLocks noChangeAspect="1"/>
          </p:cNvPicPr>
          <p:nvPr/>
        </p:nvPicPr>
        <p:blipFill>
          <a:blip r:embed="rId4"/>
          <a:srcRect t="17820" r="1006" b="8636"/>
          <a:stretch/>
        </p:blipFill>
        <p:spPr>
          <a:xfrm>
            <a:off x="7007864" y="1308402"/>
            <a:ext cx="5111730" cy="5043629"/>
          </a:xfrm>
          <a:prstGeom prst="rect">
            <a:avLst/>
          </a:prstGeom>
        </p:spPr>
      </p:pic>
    </p:spTree>
    <p:extLst>
      <p:ext uri="{BB962C8B-B14F-4D97-AF65-F5344CB8AC3E}">
        <p14:creationId xmlns:p14="http://schemas.microsoft.com/office/powerpoint/2010/main" val="9246408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12730C-D5A4-C2A3-ECC4-1745430FB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748D1-716C-B811-A711-782E95519375}"/>
              </a:ext>
            </a:extLst>
          </p:cNvPr>
          <p:cNvSpPr>
            <a:spLocks noGrp="1"/>
          </p:cNvSpPr>
          <p:nvPr>
            <p:ph type="title"/>
          </p:nvPr>
        </p:nvSpPr>
        <p:spPr/>
        <p:txBody>
          <a:bodyPr/>
          <a:lstStyle/>
          <a:p>
            <a:r>
              <a:rPr lang="en-GB" dirty="0">
                <a:ea typeface="Calibri Light"/>
                <a:cs typeface="Calibri Light"/>
              </a:rPr>
              <a:t>Basis Path Testing: Cyclometric complexity of example</a:t>
            </a:r>
            <a:endParaRPr lang="en-US" dirty="0"/>
          </a:p>
        </p:txBody>
      </p:sp>
      <p:sp>
        <p:nvSpPr>
          <p:cNvPr id="3" name="Content Placeholder 2">
            <a:extLst>
              <a:ext uri="{FF2B5EF4-FFF2-40B4-BE49-F238E27FC236}">
                <a16:creationId xmlns:a16="http://schemas.microsoft.com/office/drawing/2014/main" id="{2FB3D9CF-25CB-EFB1-F331-57A746E1B767}"/>
              </a:ext>
            </a:extLst>
          </p:cNvPr>
          <p:cNvSpPr>
            <a:spLocks noGrp="1"/>
          </p:cNvSpPr>
          <p:nvPr>
            <p:ph idx="1"/>
          </p:nvPr>
        </p:nvSpPr>
        <p:spPr>
          <a:xfrm>
            <a:off x="838200" y="1826521"/>
            <a:ext cx="10515600" cy="5031147"/>
          </a:xfrm>
        </p:spPr>
        <p:txBody>
          <a:bodyPr vert="horz" lIns="91440" tIns="45720" rIns="91440" bIns="45720" rtlCol="0" anchor="t">
            <a:normAutofit/>
          </a:bodyPr>
          <a:lstStyle/>
          <a:p>
            <a:pPr>
              <a:buFont typeface="Arial"/>
              <a:buChar char="•"/>
            </a:pPr>
            <a:r>
              <a:rPr lang="en-US" b="1" dirty="0">
                <a:ea typeface="+mn-lt"/>
                <a:cs typeface="+mn-lt"/>
              </a:rPr>
              <a:t>Decision nodes</a:t>
            </a:r>
            <a:r>
              <a:rPr lang="en-US" dirty="0">
                <a:ea typeface="+mn-lt"/>
                <a:cs typeface="+mn-lt"/>
              </a:rPr>
              <a:t>: 2 </a:t>
            </a:r>
          </a:p>
          <a:p>
            <a:pPr>
              <a:buFont typeface="Arial"/>
              <a:buChar char="•"/>
            </a:pPr>
            <a:r>
              <a:rPr lang="en-US" dirty="0">
                <a:ea typeface="+mn-lt"/>
                <a:cs typeface="+mn-lt"/>
              </a:rPr>
              <a:t>So, V(G)=2+1=3 V(G) = 3</a:t>
            </a:r>
          </a:p>
          <a:p>
            <a:pPr>
              <a:buFont typeface="Arial"/>
              <a:buChar char="•"/>
            </a:pPr>
            <a:r>
              <a:rPr lang="en-US" b="1" dirty="0">
                <a:ea typeface="+mn-lt"/>
                <a:cs typeface="+mn-lt"/>
              </a:rPr>
              <a:t>Other formula</a:t>
            </a:r>
            <a:r>
              <a:rPr lang="en-US" dirty="0">
                <a:ea typeface="+mn-lt"/>
                <a:cs typeface="+mn-lt"/>
              </a:rPr>
              <a:t>, V(G) = E – N + 2 = 9 – 8 + 2 = 3</a:t>
            </a:r>
            <a:endParaRPr lang="en-US" dirty="0">
              <a:ea typeface="Calibri"/>
              <a:cs typeface="Calibri"/>
            </a:endParaRPr>
          </a:p>
          <a:p>
            <a:pPr>
              <a:buNone/>
            </a:pPr>
            <a:endParaRPr lang="en-US" dirty="0">
              <a:ea typeface="Calibri"/>
              <a:cs typeface="Calibri"/>
            </a:endParaRPr>
          </a:p>
          <a:p>
            <a:pPr>
              <a:buNone/>
            </a:pPr>
            <a:r>
              <a:rPr lang="en-US" dirty="0">
                <a:ea typeface="+mn-lt"/>
                <a:cs typeface="+mn-lt"/>
              </a:rPr>
              <a:t>Here are 3 possible independent paths through the program:</a:t>
            </a:r>
            <a:endParaRPr lang="en-US"/>
          </a:p>
          <a:p>
            <a:pPr>
              <a:buFont typeface="Arial"/>
              <a:buChar char="•"/>
            </a:pPr>
            <a:r>
              <a:rPr lang="en-US" dirty="0">
                <a:latin typeface="Consolas"/>
                <a:ea typeface="Calibri"/>
                <a:cs typeface="Calibri"/>
              </a:rPr>
              <a:t>B &lt;= A</a:t>
            </a:r>
          </a:p>
          <a:p>
            <a:pPr>
              <a:buFont typeface="Arial"/>
              <a:buChar char="•"/>
            </a:pPr>
            <a:r>
              <a:rPr lang="en-US" dirty="0">
                <a:latin typeface="Consolas"/>
                <a:ea typeface="Calibri"/>
                <a:cs typeface="Calibri"/>
              </a:rPr>
              <a:t>B </a:t>
            </a:r>
            <a:r>
              <a:rPr lang="en-US" dirty="0">
                <a:latin typeface="Consolas"/>
                <a:ea typeface="+mn-lt"/>
                <a:cs typeface="+mn-lt"/>
              </a:rPr>
              <a:t>&gt; A and B &gt; C</a:t>
            </a:r>
            <a:r>
              <a:rPr lang="en-US" dirty="0">
                <a:ea typeface="+mn-lt"/>
                <a:cs typeface="+mn-lt"/>
              </a:rPr>
              <a:t>  </a:t>
            </a:r>
            <a:endParaRPr lang="en-US" dirty="0">
              <a:ea typeface="Calibri"/>
              <a:cs typeface="Calibri"/>
            </a:endParaRPr>
          </a:p>
          <a:p>
            <a:pPr>
              <a:buFont typeface="Arial"/>
              <a:buChar char="•"/>
            </a:pPr>
            <a:r>
              <a:rPr lang="en-US" dirty="0">
                <a:latin typeface="Consolas"/>
                <a:ea typeface="Calibri"/>
                <a:cs typeface="Calibri"/>
              </a:rPr>
              <a:t>B</a:t>
            </a:r>
            <a:r>
              <a:rPr lang="en-US" dirty="0">
                <a:latin typeface="Consolas"/>
                <a:ea typeface="+mn-lt"/>
                <a:cs typeface="+mn-lt"/>
              </a:rPr>
              <a:t> &gt; A and B &lt; C</a:t>
            </a:r>
            <a:endParaRPr lang="en-US" dirty="0">
              <a:ea typeface="Calibri"/>
              <a:cs typeface="Calibri"/>
            </a:endParaRPr>
          </a:p>
          <a:p>
            <a:pPr>
              <a:buNone/>
            </a:pPr>
            <a:endParaRPr lang="en-US" dirty="0">
              <a:ea typeface="Calibri"/>
              <a:cs typeface="Calibri"/>
            </a:endParaRPr>
          </a:p>
          <a:p>
            <a:endParaRPr lang="en-US" dirty="0">
              <a:ea typeface="Calibri"/>
              <a:cs typeface="Calibri"/>
            </a:endParaRPr>
          </a:p>
          <a:p>
            <a:pPr lvl="1"/>
            <a:endParaRPr lang="en-US" dirty="0">
              <a:ea typeface="Calibri"/>
              <a:cs typeface="Calibri"/>
            </a:endParaRPr>
          </a:p>
          <a:p>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0FB98891-CFD5-BF22-F813-76046791C5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0E68235-0887-E805-6B2F-98556ED1ED00}"/>
              </a:ext>
            </a:extLst>
          </p:cNvPr>
          <p:cNvSpPr>
            <a:spLocks noGrp="1"/>
          </p:cNvSpPr>
          <p:nvPr>
            <p:ph type="sldNum" sz="quarter" idx="12"/>
          </p:nvPr>
        </p:nvSpPr>
        <p:spPr/>
        <p:txBody>
          <a:bodyPr/>
          <a:lstStyle/>
          <a:p>
            <a:fld id="{008559AE-1842-40A5-A2A9-0518F39FD1A9}" type="slidenum">
              <a:rPr lang="en-US" smtClean="0"/>
              <a:t>42</a:t>
            </a:fld>
            <a:endParaRPr lang="en-GB"/>
          </a:p>
        </p:txBody>
      </p:sp>
      <p:sp>
        <p:nvSpPr>
          <p:cNvPr id="7" name="Footer Placeholder 6">
            <a:extLst>
              <a:ext uri="{FF2B5EF4-FFF2-40B4-BE49-F238E27FC236}">
                <a16:creationId xmlns:a16="http://schemas.microsoft.com/office/drawing/2014/main" id="{B282D43A-CF2C-605C-F693-6426AE8847C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12316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D761F-1D43-E887-C2D3-DD4DD037A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654922-7B80-B68F-B9AF-9504E6F4DABE}"/>
              </a:ext>
            </a:extLst>
          </p:cNvPr>
          <p:cNvSpPr>
            <a:spLocks noGrp="1"/>
          </p:cNvSpPr>
          <p:nvPr>
            <p:ph type="title"/>
          </p:nvPr>
        </p:nvSpPr>
        <p:spPr/>
        <p:txBody>
          <a:bodyPr/>
          <a:lstStyle/>
          <a:p>
            <a:r>
              <a:rPr lang="en-GB" dirty="0">
                <a:ea typeface="Calibri Light"/>
                <a:cs typeface="Calibri Light"/>
              </a:rPr>
              <a:t>Basis Path Testing: Design Test cases for paths</a:t>
            </a:r>
            <a:endParaRPr lang="en-US" dirty="0"/>
          </a:p>
        </p:txBody>
      </p:sp>
      <p:sp>
        <p:nvSpPr>
          <p:cNvPr id="3" name="Content Placeholder 2">
            <a:extLst>
              <a:ext uri="{FF2B5EF4-FFF2-40B4-BE49-F238E27FC236}">
                <a16:creationId xmlns:a16="http://schemas.microsoft.com/office/drawing/2014/main" id="{575727EF-B60A-2895-84C5-1F229ADA96E2}"/>
              </a:ext>
            </a:extLst>
          </p:cNvPr>
          <p:cNvSpPr>
            <a:spLocks noGrp="1"/>
          </p:cNvSpPr>
          <p:nvPr>
            <p:ph idx="1"/>
          </p:nvPr>
        </p:nvSpPr>
        <p:spPr>
          <a:xfrm>
            <a:off x="838200" y="1510219"/>
            <a:ext cx="10515600" cy="5031147"/>
          </a:xfrm>
        </p:spPr>
        <p:txBody>
          <a:bodyPr vert="horz" lIns="91440" tIns="45720" rIns="91440" bIns="45720" rtlCol="0" anchor="t">
            <a:normAutofit/>
          </a:bodyPr>
          <a:lstStyle/>
          <a:p>
            <a:pPr>
              <a:buFont typeface="Arial"/>
              <a:buChar char="•"/>
            </a:pPr>
            <a:r>
              <a:rPr lang="en-US" dirty="0">
                <a:ea typeface="Calibri"/>
                <a:cs typeface="Calibri"/>
              </a:rPr>
              <a:t>Inputs (</a:t>
            </a:r>
            <a:r>
              <a:rPr lang="en-US" err="1">
                <a:ea typeface="Calibri"/>
                <a:cs typeface="Calibri"/>
              </a:rPr>
              <a:t>a,b,c</a:t>
            </a:r>
            <a:r>
              <a:rPr lang="en-US" dirty="0">
                <a:ea typeface="Calibri"/>
                <a:cs typeface="Calibri"/>
              </a:rPr>
              <a:t>) = 5,3,1, Expected output = 5, Path 1</a:t>
            </a:r>
          </a:p>
          <a:p>
            <a:pPr>
              <a:buFont typeface="Arial,Sans-Serif"/>
              <a:buChar char="•"/>
            </a:pPr>
            <a:r>
              <a:rPr lang="en-US" dirty="0">
                <a:ea typeface="Calibri"/>
                <a:cs typeface="Calibri"/>
              </a:rPr>
              <a:t>Inputs (</a:t>
            </a:r>
            <a:r>
              <a:rPr lang="en-US" dirty="0" err="1">
                <a:ea typeface="Calibri"/>
                <a:cs typeface="Calibri"/>
              </a:rPr>
              <a:t>a,b,c</a:t>
            </a:r>
            <a:r>
              <a:rPr lang="en-US" dirty="0">
                <a:ea typeface="Calibri"/>
                <a:cs typeface="Calibri"/>
              </a:rPr>
              <a:t>) = 5,7,3, Expected output = 7, Path 2</a:t>
            </a:r>
          </a:p>
          <a:p>
            <a:pPr>
              <a:buFont typeface="Arial,Sans-Serif"/>
              <a:buChar char="•"/>
            </a:pPr>
            <a:r>
              <a:rPr lang="en-US" dirty="0">
                <a:ea typeface="Calibri"/>
                <a:cs typeface="Calibri"/>
              </a:rPr>
              <a:t>Inputs (</a:t>
            </a:r>
            <a:r>
              <a:rPr lang="en-US" dirty="0" err="1">
                <a:ea typeface="Calibri"/>
                <a:cs typeface="Calibri"/>
              </a:rPr>
              <a:t>a,b,c</a:t>
            </a:r>
            <a:r>
              <a:rPr lang="en-US" dirty="0">
                <a:ea typeface="Calibri"/>
                <a:cs typeface="Calibri"/>
              </a:rPr>
              <a:t>) = 1,3,5, Expected output = 5, Path 3</a:t>
            </a:r>
          </a:p>
          <a:p>
            <a:pPr>
              <a:buFont typeface="Arial"/>
              <a:buChar char="•"/>
            </a:pPr>
            <a:endParaRPr lang="en-US" dirty="0">
              <a:ea typeface="Calibri"/>
              <a:cs typeface="Calibri"/>
            </a:endParaRPr>
          </a:p>
          <a:p>
            <a:pPr>
              <a:buNone/>
            </a:pPr>
            <a:endParaRPr lang="en-US" dirty="0">
              <a:ea typeface="Calibri"/>
              <a:cs typeface="Calibri"/>
            </a:endParaRPr>
          </a:p>
          <a:p>
            <a:endParaRPr lang="en-US" dirty="0">
              <a:ea typeface="Calibri"/>
              <a:cs typeface="Calibri"/>
            </a:endParaRPr>
          </a:p>
          <a:p>
            <a:pPr lvl="1"/>
            <a:endParaRPr lang="en-US" dirty="0">
              <a:ea typeface="Calibri"/>
              <a:cs typeface="Calibri"/>
            </a:endParaRPr>
          </a:p>
          <a:p>
            <a:endParaRPr lang="en-US" dirty="0">
              <a:ea typeface="Calibri"/>
              <a:cs typeface="Calibri"/>
            </a:endParaRPr>
          </a:p>
          <a:p>
            <a:pPr lvl="1"/>
            <a:endParaRPr lang="en-US" dirty="0">
              <a:ea typeface="Calibri"/>
              <a:cs typeface="Calibri"/>
            </a:endParaRPr>
          </a:p>
        </p:txBody>
      </p:sp>
      <p:pic>
        <p:nvPicPr>
          <p:cNvPr id="6" name="Picture 5" descr="A black and white logo&#10;&#10;Description automatically generated">
            <a:extLst>
              <a:ext uri="{FF2B5EF4-FFF2-40B4-BE49-F238E27FC236}">
                <a16:creationId xmlns:a16="http://schemas.microsoft.com/office/drawing/2014/main" id="{D8F2E2C0-5F63-32BB-39D8-41540779BA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A70E46BC-2766-E122-7CD2-F416A23665A1}"/>
              </a:ext>
            </a:extLst>
          </p:cNvPr>
          <p:cNvSpPr>
            <a:spLocks noGrp="1"/>
          </p:cNvSpPr>
          <p:nvPr>
            <p:ph type="sldNum" sz="quarter" idx="12"/>
          </p:nvPr>
        </p:nvSpPr>
        <p:spPr/>
        <p:txBody>
          <a:bodyPr/>
          <a:lstStyle/>
          <a:p>
            <a:fld id="{008559AE-1842-40A5-A2A9-0518F39FD1A9}" type="slidenum">
              <a:rPr lang="en-US" smtClean="0"/>
              <a:t>43</a:t>
            </a:fld>
            <a:endParaRPr lang="en-GB"/>
          </a:p>
        </p:txBody>
      </p:sp>
      <p:sp>
        <p:nvSpPr>
          <p:cNvPr id="7" name="Footer Placeholder 6">
            <a:extLst>
              <a:ext uri="{FF2B5EF4-FFF2-40B4-BE49-F238E27FC236}">
                <a16:creationId xmlns:a16="http://schemas.microsoft.com/office/drawing/2014/main" id="{2656BB8A-AEFE-DD69-851C-E9B7B4EA0E65}"/>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9320025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C8693-F005-B7BE-CF5D-63CE74539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55DA3-7A7C-530F-022D-1B7942AF25DB}"/>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A8106FEE-EA22-055D-D6C0-72A0AF6F3A14}"/>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a:cs typeface="Calibri"/>
              </a:rPr>
              <a:t>Test-Driven Development</a:t>
            </a:r>
            <a:endParaRPr lang="en-US" dirty="0"/>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84CBAA6-6104-87FF-E7A4-F10C785B40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FD6FAE2-5D41-0261-1350-9C8CBBA11E21}"/>
              </a:ext>
            </a:extLst>
          </p:cNvPr>
          <p:cNvSpPr>
            <a:spLocks noGrp="1"/>
          </p:cNvSpPr>
          <p:nvPr>
            <p:ph type="sldNum" sz="quarter" idx="12"/>
          </p:nvPr>
        </p:nvSpPr>
        <p:spPr/>
        <p:txBody>
          <a:bodyPr/>
          <a:lstStyle/>
          <a:p>
            <a:fld id="{008559AE-1842-40A5-A2A9-0518F39FD1A9}" type="slidenum">
              <a:rPr lang="en-US" smtClean="0"/>
              <a:t>44</a:t>
            </a:fld>
            <a:endParaRPr lang="en-GB"/>
          </a:p>
        </p:txBody>
      </p:sp>
      <p:sp>
        <p:nvSpPr>
          <p:cNvPr id="7" name="Footer Placeholder 6">
            <a:extLst>
              <a:ext uri="{FF2B5EF4-FFF2-40B4-BE49-F238E27FC236}">
                <a16:creationId xmlns:a16="http://schemas.microsoft.com/office/drawing/2014/main" id="{D9C628C7-0C74-7313-FC10-E5545E78EFF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370867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8BA9A-F16D-D45C-E898-E9D717A9C6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97B3DC-4E27-D9D7-CD8A-E1FD883CCE3D}"/>
              </a:ext>
            </a:extLst>
          </p:cNvPr>
          <p:cNvSpPr>
            <a:spLocks noGrp="1"/>
          </p:cNvSpPr>
          <p:nvPr>
            <p:ph type="title"/>
          </p:nvPr>
        </p:nvSpPr>
        <p:spPr/>
        <p:txBody>
          <a:bodyPr/>
          <a:lstStyle/>
          <a:p>
            <a:r>
              <a:rPr lang="en-GB" dirty="0">
                <a:ea typeface="Calibri Light"/>
                <a:cs typeface="Calibri Light"/>
              </a:rPr>
              <a:t>Introduction</a:t>
            </a:r>
            <a:endParaRPr lang="en-US" dirty="0"/>
          </a:p>
        </p:txBody>
      </p:sp>
      <p:sp>
        <p:nvSpPr>
          <p:cNvPr id="3" name="Content Placeholder 2">
            <a:extLst>
              <a:ext uri="{FF2B5EF4-FFF2-40B4-BE49-F238E27FC236}">
                <a16:creationId xmlns:a16="http://schemas.microsoft.com/office/drawing/2014/main" id="{904FE6D8-557D-2BD5-B10B-B5EEB9EA3C2E}"/>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Calibri" panose="020F0502020204030204"/>
                <a:cs typeface="Calibri" panose="020F0502020204030204"/>
              </a:rPr>
              <a:t>An approach to development that interleaves testing and code development</a:t>
            </a:r>
          </a:p>
          <a:p>
            <a:r>
              <a:rPr lang="en-US" dirty="0">
                <a:ea typeface="Calibri" panose="020F0502020204030204"/>
                <a:cs typeface="Calibri" panose="020F0502020204030204"/>
              </a:rPr>
              <a:t>You develop code incrementally, along with a set of tests for that increment</a:t>
            </a:r>
          </a:p>
          <a:p>
            <a:r>
              <a:rPr lang="en-US" dirty="0">
                <a:ea typeface="Calibri" panose="020F0502020204030204"/>
                <a:cs typeface="Calibri" panose="020F0502020204030204"/>
              </a:rPr>
              <a:t>You do not work on the next increment until the code you developed passes all its tests</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16F73C05-2063-FBB4-9924-91D546FA2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1B5329D-72FD-E29A-A35F-9DDBE4E886FC}"/>
              </a:ext>
            </a:extLst>
          </p:cNvPr>
          <p:cNvSpPr>
            <a:spLocks noGrp="1"/>
          </p:cNvSpPr>
          <p:nvPr>
            <p:ph type="sldNum" sz="quarter" idx="12"/>
          </p:nvPr>
        </p:nvSpPr>
        <p:spPr/>
        <p:txBody>
          <a:bodyPr/>
          <a:lstStyle/>
          <a:p>
            <a:fld id="{008559AE-1842-40A5-A2A9-0518F39FD1A9}" type="slidenum">
              <a:rPr lang="en-US" smtClean="0"/>
              <a:t>45</a:t>
            </a:fld>
            <a:endParaRPr lang="en-GB"/>
          </a:p>
        </p:txBody>
      </p:sp>
      <p:sp>
        <p:nvSpPr>
          <p:cNvPr id="7" name="Footer Placeholder 6">
            <a:extLst>
              <a:ext uri="{FF2B5EF4-FFF2-40B4-BE49-F238E27FC236}">
                <a16:creationId xmlns:a16="http://schemas.microsoft.com/office/drawing/2014/main" id="{028F0055-3297-D96D-7732-16D0C6499EF5}"/>
              </a:ext>
            </a:extLst>
          </p:cNvPr>
          <p:cNvSpPr>
            <a:spLocks noGrp="1"/>
          </p:cNvSpPr>
          <p:nvPr>
            <p:ph type="ftr" sz="quarter" idx="11"/>
          </p:nvPr>
        </p:nvSpPr>
        <p:spPr/>
        <p:txBody>
          <a:bodyPr/>
          <a:lstStyle/>
          <a:p>
            <a:r>
              <a:rPr lang="en-US"/>
              <a:t>Software Engineering</a:t>
            </a:r>
          </a:p>
        </p:txBody>
      </p:sp>
      <p:pic>
        <p:nvPicPr>
          <p:cNvPr id="4" name="Picture 3" descr="A diagram of a run test&#10;&#10;AI-generated content may be incorrect.">
            <a:extLst>
              <a:ext uri="{FF2B5EF4-FFF2-40B4-BE49-F238E27FC236}">
                <a16:creationId xmlns:a16="http://schemas.microsoft.com/office/drawing/2014/main" id="{AD36AA14-F0E0-1461-A9CF-F5FE4A43D069}"/>
              </a:ext>
            </a:extLst>
          </p:cNvPr>
          <p:cNvPicPr>
            <a:picLocks noChangeAspect="1"/>
          </p:cNvPicPr>
          <p:nvPr/>
        </p:nvPicPr>
        <p:blipFill>
          <a:blip r:embed="rId4"/>
          <a:stretch>
            <a:fillRect/>
          </a:stretch>
        </p:blipFill>
        <p:spPr>
          <a:xfrm>
            <a:off x="4033299" y="4479356"/>
            <a:ext cx="7345931" cy="2385024"/>
          </a:xfrm>
          <a:prstGeom prst="rect">
            <a:avLst/>
          </a:prstGeom>
        </p:spPr>
      </p:pic>
    </p:spTree>
    <p:extLst>
      <p:ext uri="{BB962C8B-B14F-4D97-AF65-F5344CB8AC3E}">
        <p14:creationId xmlns:p14="http://schemas.microsoft.com/office/powerpoint/2010/main" val="41391993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F9E28C-9532-5965-9382-EA6881218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2C071D-168F-0EAC-FDA5-084A1B2A40DC}"/>
              </a:ext>
            </a:extLst>
          </p:cNvPr>
          <p:cNvSpPr>
            <a:spLocks noGrp="1"/>
          </p:cNvSpPr>
          <p:nvPr>
            <p:ph type="title"/>
          </p:nvPr>
        </p:nvSpPr>
        <p:spPr/>
        <p:txBody>
          <a:bodyPr/>
          <a:lstStyle/>
          <a:p>
            <a:r>
              <a:rPr lang="en-GB" dirty="0">
                <a:ea typeface="Calibri Light"/>
                <a:cs typeface="Calibri Light"/>
              </a:rPr>
              <a:t>Test-Driven Development: Steps</a:t>
            </a:r>
            <a:endParaRPr lang="en-US" dirty="0"/>
          </a:p>
        </p:txBody>
      </p:sp>
      <p:sp>
        <p:nvSpPr>
          <p:cNvPr id="3" name="Content Placeholder 2">
            <a:extLst>
              <a:ext uri="{FF2B5EF4-FFF2-40B4-BE49-F238E27FC236}">
                <a16:creationId xmlns:a16="http://schemas.microsoft.com/office/drawing/2014/main" id="{1591F12E-65BD-8101-B0EE-46806E7F8E15}"/>
              </a:ext>
            </a:extLst>
          </p:cNvPr>
          <p:cNvSpPr>
            <a:spLocks noGrp="1"/>
          </p:cNvSpPr>
          <p:nvPr>
            <p:ph idx="1"/>
          </p:nvPr>
        </p:nvSpPr>
        <p:spPr>
          <a:xfrm>
            <a:off x="838200" y="1510219"/>
            <a:ext cx="10515600" cy="5031147"/>
          </a:xfrm>
        </p:spPr>
        <p:txBody>
          <a:bodyPr vert="horz" lIns="91440" tIns="45720" rIns="91440" bIns="45720" rtlCol="0" anchor="t">
            <a:normAutofit fontScale="92500" lnSpcReduction="20000"/>
          </a:bodyPr>
          <a:lstStyle/>
          <a:p>
            <a:pPr marL="514350" indent="-514350">
              <a:buAutoNum type="arabicPeriod"/>
            </a:pPr>
            <a:r>
              <a:rPr lang="en-US" dirty="0">
                <a:ea typeface="+mn-lt"/>
                <a:cs typeface="+mn-lt"/>
              </a:rPr>
              <a:t>Start by identifying the increment of functionality that is required. This should normally be small and implementable in a few lines of code</a:t>
            </a:r>
          </a:p>
          <a:p>
            <a:pPr marL="514350" indent="-514350">
              <a:buAutoNum type="arabicPeriod"/>
            </a:pPr>
            <a:r>
              <a:rPr lang="en-US" dirty="0">
                <a:ea typeface="+mn-lt"/>
                <a:cs typeface="+mn-lt"/>
              </a:rPr>
              <a:t>Write a test for this functionality and implement it as an automated test. This means that the test can be executed and will report whether or not it has passed or failed</a:t>
            </a:r>
            <a:endParaRPr lang="en-US" dirty="0">
              <a:ea typeface="Calibri" panose="020F0502020204030204"/>
              <a:cs typeface="Calibri" panose="020F0502020204030204"/>
            </a:endParaRPr>
          </a:p>
          <a:p>
            <a:pPr marL="514350" indent="-514350">
              <a:buAutoNum type="arabicPeriod"/>
            </a:pPr>
            <a:r>
              <a:rPr lang="en-US" dirty="0">
                <a:ea typeface="+mn-lt"/>
                <a:cs typeface="+mn-lt"/>
              </a:rPr>
              <a:t>Run the test, along with all other tests that have been implemented. Initially, you have not implemented the functionality so the new test will fail. This is deliberate as it shows that the test adds something to the test set</a:t>
            </a:r>
          </a:p>
          <a:p>
            <a:pPr marL="514350" indent="-514350">
              <a:buAutoNum type="arabicPeriod"/>
            </a:pPr>
            <a:r>
              <a:rPr lang="en-US" dirty="0">
                <a:ea typeface="+mn-lt"/>
                <a:cs typeface="+mn-lt"/>
              </a:rPr>
              <a:t>Then implement the functionality and re-run the test. This may involve refactoring existing code to improve it and add new code to what’s already there</a:t>
            </a:r>
          </a:p>
          <a:p>
            <a:pPr marL="514350" indent="-514350">
              <a:buAutoNum type="arabicPeriod"/>
            </a:pPr>
            <a:r>
              <a:rPr lang="en-US" dirty="0">
                <a:ea typeface="+mn-lt"/>
                <a:cs typeface="+mn-lt"/>
              </a:rPr>
              <a:t>Once all tests run successfully, you move on to implementing the next chunk of functionality</a:t>
            </a:r>
            <a:endParaRPr lang="en-US" dirty="0">
              <a:ea typeface="Calibri" panose="020F0502020204030204"/>
              <a:cs typeface="Calibri" panose="020F0502020204030204"/>
            </a:endParaRPr>
          </a:p>
          <a:p>
            <a:pPr>
              <a:buAutoNum type="arabicPeriod"/>
            </a:pPr>
            <a:endParaRPr lang="en-US" dirty="0">
              <a:ea typeface="Calibri" panose="020F0502020204030204"/>
              <a:cs typeface="Calibri" panose="020F0502020204030204"/>
            </a:endParaRPr>
          </a:p>
          <a:p>
            <a:pPr>
              <a:buAutoNum type="arabicPeriod"/>
            </a:pPr>
            <a:endParaRPr lang="en-US" dirty="0">
              <a:ea typeface="Calibri" panose="020F0502020204030204"/>
              <a:cs typeface="Calibri" panose="020F0502020204030204"/>
            </a:endParaRPr>
          </a:p>
          <a:p>
            <a:pPr>
              <a:buAutoNum type="arabicPeriod"/>
            </a:pPr>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318B1F28-4CD0-5977-28A9-A792E076910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AD55DE6-C8B0-0CFE-7D3D-87E87C5E46AB}"/>
              </a:ext>
            </a:extLst>
          </p:cNvPr>
          <p:cNvSpPr>
            <a:spLocks noGrp="1"/>
          </p:cNvSpPr>
          <p:nvPr>
            <p:ph type="sldNum" sz="quarter" idx="12"/>
          </p:nvPr>
        </p:nvSpPr>
        <p:spPr/>
        <p:txBody>
          <a:bodyPr/>
          <a:lstStyle/>
          <a:p>
            <a:fld id="{008559AE-1842-40A5-A2A9-0518F39FD1A9}" type="slidenum">
              <a:rPr lang="en-US" smtClean="0"/>
              <a:t>46</a:t>
            </a:fld>
            <a:endParaRPr lang="en-GB"/>
          </a:p>
        </p:txBody>
      </p:sp>
      <p:sp>
        <p:nvSpPr>
          <p:cNvPr id="7" name="Footer Placeholder 6">
            <a:extLst>
              <a:ext uri="{FF2B5EF4-FFF2-40B4-BE49-F238E27FC236}">
                <a16:creationId xmlns:a16="http://schemas.microsoft.com/office/drawing/2014/main" id="{47536AA4-FC1F-B032-B8DA-04E0A86AF73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725297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CCB46-30D6-DDA6-D57B-134CCAC5E2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97B65-50E3-D04D-2E4D-63D0E08E6B30}"/>
              </a:ext>
            </a:extLst>
          </p:cNvPr>
          <p:cNvSpPr>
            <a:spLocks noGrp="1"/>
          </p:cNvSpPr>
          <p:nvPr>
            <p:ph type="title"/>
          </p:nvPr>
        </p:nvSpPr>
        <p:spPr/>
        <p:txBody>
          <a:bodyPr/>
          <a:lstStyle/>
          <a:p>
            <a:r>
              <a:rPr lang="en-GB" dirty="0">
                <a:ea typeface="Calibri Light"/>
                <a:cs typeface="Calibri Light"/>
              </a:rPr>
              <a:t>Test-Driven Development</a:t>
            </a:r>
            <a:endParaRPr lang="en-US" dirty="0"/>
          </a:p>
        </p:txBody>
      </p:sp>
      <p:sp>
        <p:nvSpPr>
          <p:cNvPr id="3" name="Content Placeholder 2">
            <a:extLst>
              <a:ext uri="{FF2B5EF4-FFF2-40B4-BE49-F238E27FC236}">
                <a16:creationId xmlns:a16="http://schemas.microsoft.com/office/drawing/2014/main" id="{AE7A4451-A536-CAF3-FD66-9CDBB6F21742}"/>
              </a:ext>
            </a:extLst>
          </p:cNvPr>
          <p:cNvSpPr>
            <a:spLocks noGrp="1"/>
          </p:cNvSpPr>
          <p:nvPr>
            <p:ph idx="1"/>
          </p:nvPr>
        </p:nvSpPr>
        <p:spPr>
          <a:xfrm>
            <a:off x="838200" y="1510219"/>
            <a:ext cx="10515600" cy="5031147"/>
          </a:xfrm>
        </p:spPr>
        <p:txBody>
          <a:bodyPr vert="horz" lIns="91440" tIns="45720" rIns="91440" bIns="45720" rtlCol="0" anchor="t">
            <a:normAutofit/>
          </a:bodyPr>
          <a:lstStyle/>
          <a:p>
            <a:r>
              <a:rPr lang="en-US" dirty="0">
                <a:ea typeface="+mn-lt"/>
                <a:cs typeface="+mn-lt"/>
              </a:rPr>
              <a:t>Automated testing environment is useful for TTD. That way, code developed in small increments can be tested faster</a:t>
            </a:r>
          </a:p>
          <a:p>
            <a:r>
              <a:rPr lang="en-US" dirty="0">
                <a:ea typeface="Calibri" panose="020F0502020204030204"/>
                <a:cs typeface="Calibri" panose="020F0502020204030204"/>
              </a:rPr>
              <a:t>TTD helps write better code (you need to understand what is needed to clearly write test cases, and to understand something clearly is to code it better)</a:t>
            </a:r>
          </a:p>
          <a:p>
            <a:r>
              <a:rPr lang="en-US" dirty="0">
                <a:ea typeface="Calibri" panose="020F0502020204030204"/>
                <a:cs typeface="Calibri" panose="020F0502020204030204"/>
              </a:rPr>
              <a:t>Other advantages:</a:t>
            </a:r>
          </a:p>
          <a:p>
            <a:pPr lvl="1"/>
            <a:r>
              <a:rPr lang="en-US" dirty="0">
                <a:ea typeface="Calibri" panose="020F0502020204030204"/>
                <a:cs typeface="Calibri" panose="020F0502020204030204"/>
              </a:rPr>
              <a:t>Code coverage</a:t>
            </a:r>
          </a:p>
          <a:p>
            <a:pPr lvl="1"/>
            <a:r>
              <a:rPr lang="en-US" dirty="0">
                <a:ea typeface="Calibri" panose="020F0502020204030204"/>
                <a:cs typeface="Calibri" panose="020F0502020204030204"/>
              </a:rPr>
              <a:t>Regression testing</a:t>
            </a:r>
          </a:p>
          <a:p>
            <a:pPr lvl="1"/>
            <a:r>
              <a:rPr lang="en-US" dirty="0">
                <a:ea typeface="Calibri" panose="020F0502020204030204"/>
                <a:cs typeface="Calibri" panose="020F0502020204030204"/>
              </a:rPr>
              <a:t>Simplified debugging</a:t>
            </a:r>
          </a:p>
          <a:p>
            <a:pPr lvl="1"/>
            <a:r>
              <a:rPr lang="en-US" dirty="0">
                <a:ea typeface="Calibri" panose="020F0502020204030204"/>
                <a:cs typeface="Calibri" panose="020F0502020204030204"/>
              </a:rPr>
              <a:t>System documentation</a:t>
            </a:r>
          </a:p>
          <a:p>
            <a:r>
              <a:rPr lang="en-US" dirty="0">
                <a:ea typeface="Calibri" panose="020F0502020204030204"/>
                <a:cs typeface="Calibri" panose="020F0502020204030204"/>
              </a:rPr>
              <a:t>TTD is of most use when developing new software</a:t>
            </a:r>
          </a:p>
          <a:p>
            <a:endParaRPr lang="en-US" dirty="0">
              <a:ea typeface="Calibri" panose="020F0502020204030204"/>
              <a:cs typeface="Calibri" panose="020F0502020204030204"/>
            </a:endParaRPr>
          </a:p>
          <a:p>
            <a:endParaRPr lang="en-US" dirty="0">
              <a:ea typeface="Calibri" panose="020F0502020204030204"/>
              <a:cs typeface="Calibri" panose="020F0502020204030204"/>
            </a:endParaRPr>
          </a:p>
          <a:p>
            <a:pPr lvl="1"/>
            <a:endParaRPr lang="en-US" dirty="0">
              <a:ea typeface="Calibri" panose="020F0502020204030204"/>
              <a:cs typeface="Calibri" panose="020F0502020204030204"/>
            </a:endParaRPr>
          </a:p>
        </p:txBody>
      </p:sp>
      <p:pic>
        <p:nvPicPr>
          <p:cNvPr id="6" name="Picture 5" descr="A black and white logo&#10;&#10;Description automatically generated">
            <a:extLst>
              <a:ext uri="{FF2B5EF4-FFF2-40B4-BE49-F238E27FC236}">
                <a16:creationId xmlns:a16="http://schemas.microsoft.com/office/drawing/2014/main" id="{6BE491C1-C0D7-B102-80D7-A6F144D0A33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FECA448-619E-FA7B-92CE-80309A579D22}"/>
              </a:ext>
            </a:extLst>
          </p:cNvPr>
          <p:cNvSpPr>
            <a:spLocks noGrp="1"/>
          </p:cNvSpPr>
          <p:nvPr>
            <p:ph type="sldNum" sz="quarter" idx="12"/>
          </p:nvPr>
        </p:nvSpPr>
        <p:spPr/>
        <p:txBody>
          <a:bodyPr/>
          <a:lstStyle/>
          <a:p>
            <a:fld id="{008559AE-1842-40A5-A2A9-0518F39FD1A9}" type="slidenum">
              <a:rPr lang="en-US" smtClean="0"/>
              <a:t>47</a:t>
            </a:fld>
            <a:endParaRPr lang="en-GB"/>
          </a:p>
        </p:txBody>
      </p:sp>
      <p:sp>
        <p:nvSpPr>
          <p:cNvPr id="7" name="Footer Placeholder 6">
            <a:extLst>
              <a:ext uri="{FF2B5EF4-FFF2-40B4-BE49-F238E27FC236}">
                <a16:creationId xmlns:a16="http://schemas.microsoft.com/office/drawing/2014/main" id="{BEEE34EA-D5AD-A195-5AA5-E037B501B0E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5877188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49F5D-6270-ECDC-1D02-80249D91B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BAB8FC-968D-1A2C-2B46-1A686980C7BF}"/>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2D2A65AE-D1DF-66AA-A105-89B829593F92}"/>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dirty="0">
              <a:ea typeface="Calibri"/>
              <a:cs typeface="Calibri"/>
            </a:endParaRPr>
          </a:p>
          <a:p>
            <a:pPr marL="0" indent="0">
              <a:buNone/>
            </a:pPr>
            <a:r>
              <a:rPr lang="en-US" sz="4000" dirty="0">
                <a:ea typeface="Calibri"/>
                <a:cs typeface="Calibri"/>
              </a:rPr>
              <a:t>Release and User Testing</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268FE2EF-9890-AEA9-F1C0-01C2976EE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600E40D-D6A2-87A3-11D7-0BD5E0BA10DE}"/>
              </a:ext>
            </a:extLst>
          </p:cNvPr>
          <p:cNvSpPr>
            <a:spLocks noGrp="1"/>
          </p:cNvSpPr>
          <p:nvPr>
            <p:ph type="sldNum" sz="quarter" idx="12"/>
          </p:nvPr>
        </p:nvSpPr>
        <p:spPr/>
        <p:txBody>
          <a:bodyPr/>
          <a:lstStyle/>
          <a:p>
            <a:fld id="{008559AE-1842-40A5-A2A9-0518F39FD1A9}" type="slidenum">
              <a:rPr lang="en-US" smtClean="0"/>
              <a:t>48</a:t>
            </a:fld>
            <a:endParaRPr lang="en-GB"/>
          </a:p>
        </p:txBody>
      </p:sp>
      <p:sp>
        <p:nvSpPr>
          <p:cNvPr id="7" name="Footer Placeholder 6">
            <a:extLst>
              <a:ext uri="{FF2B5EF4-FFF2-40B4-BE49-F238E27FC236}">
                <a16:creationId xmlns:a16="http://schemas.microsoft.com/office/drawing/2014/main" id="{E89320D0-E4AF-15AF-192D-2A3C439C773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7047568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4292D93-FF2A-4DA5-8E8B-A42F52EE7A2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25</TotalTime>
  <Words>3716</Words>
  <Application>Microsoft Office PowerPoint</Application>
  <PresentationFormat>Widescreen</PresentationFormat>
  <Paragraphs>485</Paragraphs>
  <Slides>48</Slides>
  <Notes>47</Notes>
  <HiddenSlides>0</HiddenSlides>
  <MMClips>0</MMClips>
  <ScaleCrop>false</ScaleCrop>
  <HeadingPairs>
    <vt:vector size="4" baseType="variant">
      <vt:variant>
        <vt:lpstr>Theme</vt:lpstr>
      </vt:variant>
      <vt:variant>
        <vt:i4>1</vt:i4>
      </vt:variant>
      <vt:variant>
        <vt:lpstr>Slide Titles</vt:lpstr>
      </vt:variant>
      <vt:variant>
        <vt:i4>48</vt:i4>
      </vt:variant>
    </vt:vector>
  </HeadingPairs>
  <TitlesOfParts>
    <vt:vector size="49" baseType="lpstr">
      <vt:lpstr>Office Theme</vt:lpstr>
      <vt:lpstr>Software Engineering (CS3201) Software Testing </vt:lpstr>
      <vt:lpstr>Objectives</vt:lpstr>
      <vt:lpstr>Introduction</vt:lpstr>
      <vt:lpstr>Introduction</vt:lpstr>
      <vt:lpstr>Introduction</vt:lpstr>
      <vt:lpstr>Introduction</vt:lpstr>
      <vt:lpstr>Introduction</vt:lpstr>
      <vt:lpstr>Introduction</vt:lpstr>
      <vt:lpstr> </vt:lpstr>
      <vt:lpstr>Development testing</vt:lpstr>
      <vt:lpstr>Unit testing</vt:lpstr>
      <vt:lpstr>Unit testing</vt:lpstr>
      <vt:lpstr>Unit testing - Automated</vt:lpstr>
      <vt:lpstr>Unit testing – Automated Example using JUnit</vt:lpstr>
      <vt:lpstr>Unit testing – Test case objectives</vt:lpstr>
      <vt:lpstr>Unit testing – Strategies to choose test cases</vt:lpstr>
      <vt:lpstr>Unit testing – Equivalence partitions</vt:lpstr>
      <vt:lpstr>Unit testing – Equivalence partitions</vt:lpstr>
      <vt:lpstr>Unit testing – Equivalence partitions</vt:lpstr>
      <vt:lpstr>Unit testing – Equivalence partitions</vt:lpstr>
      <vt:lpstr>Unit testing – Guideline based testing</vt:lpstr>
      <vt:lpstr>Component Testing</vt:lpstr>
      <vt:lpstr>Component Testing</vt:lpstr>
      <vt:lpstr>Component Testing</vt:lpstr>
      <vt:lpstr>Component Testing – Interface errors</vt:lpstr>
      <vt:lpstr>Component Testing – General guidelines</vt:lpstr>
      <vt:lpstr>Component Testing – Closing points</vt:lpstr>
      <vt:lpstr>System Testing</vt:lpstr>
      <vt:lpstr>System Testing</vt:lpstr>
      <vt:lpstr>System Testing</vt:lpstr>
      <vt:lpstr>System Testing</vt:lpstr>
      <vt:lpstr>System Testing</vt:lpstr>
      <vt:lpstr>White Box Testing (a kind of Unit testing)</vt:lpstr>
      <vt:lpstr>White Box Testing</vt:lpstr>
      <vt:lpstr>White Box Testing: Examples</vt:lpstr>
      <vt:lpstr>White Box Testing: Questions to students</vt:lpstr>
      <vt:lpstr>Basis Path Testing</vt:lpstr>
      <vt:lpstr>Basis Path Testing: Core components</vt:lpstr>
      <vt:lpstr>Basis Path Testing: Core components</vt:lpstr>
      <vt:lpstr>Basis Path Testing: Example</vt:lpstr>
      <vt:lpstr>Basis Path Testing: Example</vt:lpstr>
      <vt:lpstr>Basis Path Testing: Cyclometric complexity of example</vt:lpstr>
      <vt:lpstr>Basis Path Testing: Design Test cases for paths</vt:lpstr>
      <vt:lpstr> </vt:lpstr>
      <vt:lpstr>Introduction</vt:lpstr>
      <vt:lpstr>Test-Driven Development: Steps</vt:lpstr>
      <vt:lpstr>Test-Driven Development</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lastModifiedBy>Avinash Arun Chauhan</cp:lastModifiedBy>
  <cp:revision>3252</cp:revision>
  <dcterms:created xsi:type="dcterms:W3CDTF">2022-08-02T06:42:39Z</dcterms:created>
  <dcterms:modified xsi:type="dcterms:W3CDTF">2026-04-07T19:07:38Z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