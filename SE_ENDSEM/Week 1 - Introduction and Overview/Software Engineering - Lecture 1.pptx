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20" r:id="rId5"/>
  </p:sldMasterIdLst>
  <p:notesMasterIdLst>
    <p:notesMasterId r:id="rId60"/>
  </p:notesMasterIdLst>
  <p:sldIdLst>
    <p:sldId id="256" r:id="rId6"/>
    <p:sldId id="274" r:id="rId7"/>
    <p:sldId id="306" r:id="rId8"/>
    <p:sldId id="257" r:id="rId9"/>
    <p:sldId id="293" r:id="rId10"/>
    <p:sldId id="279" r:id="rId11"/>
    <p:sldId id="283" r:id="rId12"/>
    <p:sldId id="284" r:id="rId13"/>
    <p:sldId id="263" r:id="rId14"/>
    <p:sldId id="270" r:id="rId15"/>
    <p:sldId id="262" r:id="rId16"/>
    <p:sldId id="294" r:id="rId17"/>
    <p:sldId id="276" r:id="rId18"/>
    <p:sldId id="295" r:id="rId19"/>
    <p:sldId id="277" r:id="rId20"/>
    <p:sldId id="268" r:id="rId21"/>
    <p:sldId id="278" r:id="rId22"/>
    <p:sldId id="323" r:id="rId23"/>
    <p:sldId id="311" r:id="rId24"/>
    <p:sldId id="308" r:id="rId25"/>
    <p:sldId id="309" r:id="rId26"/>
    <p:sldId id="310" r:id="rId27"/>
    <p:sldId id="340" r:id="rId28"/>
    <p:sldId id="312" r:id="rId29"/>
    <p:sldId id="313" r:id="rId30"/>
    <p:sldId id="314" r:id="rId31"/>
    <p:sldId id="329" r:id="rId32"/>
    <p:sldId id="267" r:id="rId33"/>
    <p:sldId id="327" r:id="rId34"/>
    <p:sldId id="291" r:id="rId35"/>
    <p:sldId id="299" r:id="rId36"/>
    <p:sldId id="302" r:id="rId37"/>
    <p:sldId id="324" r:id="rId38"/>
    <p:sldId id="325" r:id="rId39"/>
    <p:sldId id="304" r:id="rId40"/>
    <p:sldId id="326" r:id="rId41"/>
    <p:sldId id="300" r:id="rId42"/>
    <p:sldId id="328" r:id="rId43"/>
    <p:sldId id="321" r:id="rId44"/>
    <p:sldId id="301" r:id="rId45"/>
    <p:sldId id="315" r:id="rId46"/>
    <p:sldId id="341" r:id="rId47"/>
    <p:sldId id="342" r:id="rId48"/>
    <p:sldId id="330" r:id="rId49"/>
    <p:sldId id="316" r:id="rId50"/>
    <p:sldId id="317" r:id="rId51"/>
    <p:sldId id="318" r:id="rId52"/>
    <p:sldId id="322" r:id="rId53"/>
    <p:sldId id="331" r:id="rId54"/>
    <p:sldId id="332" r:id="rId55"/>
    <p:sldId id="334" r:id="rId56"/>
    <p:sldId id="335" r:id="rId57"/>
    <p:sldId id="336" r:id="rId58"/>
    <p:sldId id="319"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6DCABC-314F-15FB-BD64-F709B41293D8}" v="33" dt="2026-01-27T06:05:33.2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presProps" Target="pres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sh Arun Chauhan" userId="S::avinash.chauhan@mahindrauniversity.edu.in::241b5f3e-36f4-4c61-9553-90e6a1c1b8a6" providerId="AD" clId="Web-{84CC8711-A443-EE5E-1AD9-DE25FB9951E6}"/>
    <pc:docChg chg="modSld">
      <pc:chgData name="Avinash Arun Chauhan" userId="S::avinash.chauhan@mahindrauniversity.edu.in::241b5f3e-36f4-4c61-9553-90e6a1c1b8a6" providerId="AD" clId="Web-{84CC8711-A443-EE5E-1AD9-DE25FB9951E6}" dt="2026-01-12T07:20:42.601" v="60" actId="20577"/>
      <pc:docMkLst>
        <pc:docMk/>
      </pc:docMkLst>
      <pc:sldChg chg="modSp">
        <pc:chgData name="Avinash Arun Chauhan" userId="S::avinash.chauhan@mahindrauniversity.edu.in::241b5f3e-36f4-4c61-9553-90e6a1c1b8a6" providerId="AD" clId="Web-{84CC8711-A443-EE5E-1AD9-DE25FB9951E6}" dt="2026-01-12T07:14:09.390" v="1" actId="20577"/>
        <pc:sldMkLst>
          <pc:docMk/>
          <pc:sldMk cId="3908280556" sldId="279"/>
        </pc:sldMkLst>
        <pc:spChg chg="mod">
          <ac:chgData name="Avinash Arun Chauhan" userId="S::avinash.chauhan@mahindrauniversity.edu.in::241b5f3e-36f4-4c61-9553-90e6a1c1b8a6" providerId="AD" clId="Web-{84CC8711-A443-EE5E-1AD9-DE25FB9951E6}" dt="2026-01-12T07:14:09.390" v="1" actId="20577"/>
          <ac:spMkLst>
            <pc:docMk/>
            <pc:sldMk cId="3908280556" sldId="279"/>
            <ac:spMk id="3" creationId="{0256C59C-9F3E-493A-AB1E-BE8C9BFFB896}"/>
          </ac:spMkLst>
        </pc:spChg>
      </pc:sldChg>
      <pc:sldChg chg="modSp">
        <pc:chgData name="Avinash Arun Chauhan" userId="S::avinash.chauhan@mahindrauniversity.edu.in::241b5f3e-36f4-4c61-9553-90e6a1c1b8a6" providerId="AD" clId="Web-{84CC8711-A443-EE5E-1AD9-DE25FB9951E6}" dt="2026-01-12T07:20:42.601" v="60" actId="20577"/>
        <pc:sldMkLst>
          <pc:docMk/>
          <pc:sldMk cId="2570694905" sldId="295"/>
        </pc:sldMkLst>
        <pc:spChg chg="mod">
          <ac:chgData name="Avinash Arun Chauhan" userId="S::avinash.chauhan@mahindrauniversity.edu.in::241b5f3e-36f4-4c61-9553-90e6a1c1b8a6" providerId="AD" clId="Web-{84CC8711-A443-EE5E-1AD9-DE25FB9951E6}" dt="2026-01-12T07:16:26.531" v="43" actId="20577"/>
          <ac:spMkLst>
            <pc:docMk/>
            <pc:sldMk cId="2570694905" sldId="295"/>
            <ac:spMk id="2" creationId="{74CCB0E3-725D-C667-8357-C0B2090AD0EB}"/>
          </ac:spMkLst>
        </pc:spChg>
        <pc:spChg chg="mod">
          <ac:chgData name="Avinash Arun Chauhan" userId="S::avinash.chauhan@mahindrauniversity.edu.in::241b5f3e-36f4-4c61-9553-90e6a1c1b8a6" providerId="AD" clId="Web-{84CC8711-A443-EE5E-1AD9-DE25FB9951E6}" dt="2026-01-12T07:20:42.601" v="60" actId="20577"/>
          <ac:spMkLst>
            <pc:docMk/>
            <pc:sldMk cId="2570694905" sldId="295"/>
            <ac:spMk id="3" creationId="{712CE3DE-516D-536F-B692-856904E12035}"/>
          </ac:spMkLst>
        </pc:spChg>
      </pc:sldChg>
    </pc:docChg>
  </pc:docChgLst>
  <pc:docChgLst>
    <pc:chgData name="Avinash Arun Chauhan" userId="S::avinash.chauhan@mahindrauniversity.edu.in::241b5f3e-36f4-4c61-9553-90e6a1c1b8a6" providerId="AD" clId="Web-{D8F40F96-C3B3-076A-40CE-BB8424B5F06F}"/>
    <pc:docChg chg="addSld delSld modSld">
      <pc:chgData name="Avinash Arun Chauhan" userId="S::avinash.chauhan@mahindrauniversity.edu.in::241b5f3e-36f4-4c61-9553-90e6a1c1b8a6" providerId="AD" clId="Web-{D8F40F96-C3B3-076A-40CE-BB8424B5F06F}" dt="2026-01-20T11:14:40.197" v="36"/>
      <pc:docMkLst>
        <pc:docMk/>
      </pc:docMkLst>
      <pc:sldChg chg="modSp modNotes">
        <pc:chgData name="Avinash Arun Chauhan" userId="S::avinash.chauhan@mahindrauniversity.edu.in::241b5f3e-36f4-4c61-9553-90e6a1c1b8a6" providerId="AD" clId="Web-{D8F40F96-C3B3-076A-40CE-BB8424B5F06F}" dt="2026-01-20T11:14:40.197" v="36"/>
        <pc:sldMkLst>
          <pc:docMk/>
          <pc:sldMk cId="3646577299" sldId="299"/>
        </pc:sldMkLst>
        <pc:spChg chg="mod">
          <ac:chgData name="Avinash Arun Chauhan" userId="S::avinash.chauhan@mahindrauniversity.edu.in::241b5f3e-36f4-4c61-9553-90e6a1c1b8a6" providerId="AD" clId="Web-{D8F40F96-C3B3-076A-40CE-BB8424B5F06F}" dt="2026-01-20T11:11:01.290" v="17" actId="20577"/>
          <ac:spMkLst>
            <pc:docMk/>
            <pc:sldMk cId="3646577299" sldId="299"/>
            <ac:spMk id="3" creationId="{712CE3DE-516D-536F-B692-856904E12035}"/>
          </ac:spMkLst>
        </pc:spChg>
      </pc:sldChg>
      <pc:sldChg chg="add">
        <pc:chgData name="Avinash Arun Chauhan" userId="S::avinash.chauhan@mahindrauniversity.edu.in::241b5f3e-36f4-4c61-9553-90e6a1c1b8a6" providerId="AD" clId="Web-{D8F40F96-C3B3-076A-40CE-BB8424B5F06F}" dt="2026-01-20T10:49:12.223" v="0"/>
        <pc:sldMkLst>
          <pc:docMk/>
          <pc:sldMk cId="1510742906" sldId="341"/>
        </pc:sldMkLst>
      </pc:sldChg>
      <pc:sldChg chg="add">
        <pc:chgData name="Avinash Arun Chauhan" userId="S::avinash.chauhan@mahindrauniversity.edu.in::241b5f3e-36f4-4c61-9553-90e6a1c1b8a6" providerId="AD" clId="Web-{D8F40F96-C3B3-076A-40CE-BB8424B5F06F}" dt="2026-01-20T10:49:12.286" v="1"/>
        <pc:sldMkLst>
          <pc:docMk/>
          <pc:sldMk cId="1497056892" sldId="342"/>
        </pc:sldMkLst>
      </pc:sldChg>
    </pc:docChg>
  </pc:docChgLst>
  <pc:docChgLst>
    <pc:chgData name="Avinash Arun Chauhan" userId="S::avinash.chauhan@mahindrauniversity.edu.in::241b5f3e-36f4-4c61-9553-90e6a1c1b8a6" providerId="AD" clId="Web-{5598D3E9-4D73-8DEC-2F50-93AF25298C18}"/>
    <pc:docChg chg="modSld sldOrd">
      <pc:chgData name="Avinash Arun Chauhan" userId="S::avinash.chauhan@mahindrauniversity.edu.in::241b5f3e-36f4-4c61-9553-90e6a1c1b8a6" providerId="AD" clId="Web-{5598D3E9-4D73-8DEC-2F50-93AF25298C18}" dt="2026-01-18T13:38:12.307" v="165"/>
      <pc:docMkLst>
        <pc:docMk/>
      </pc:docMkLst>
      <pc:sldChg chg="modSp">
        <pc:chgData name="Avinash Arun Chauhan" userId="S::avinash.chauhan@mahindrauniversity.edu.in::241b5f3e-36f4-4c61-9553-90e6a1c1b8a6" providerId="AD" clId="Web-{5598D3E9-4D73-8DEC-2F50-93AF25298C18}" dt="2026-01-18T12:50:04.200" v="4" actId="20577"/>
        <pc:sldMkLst>
          <pc:docMk/>
          <pc:sldMk cId="832602602" sldId="257"/>
        </pc:sldMkLst>
        <pc:spChg chg="mod">
          <ac:chgData name="Avinash Arun Chauhan" userId="S::avinash.chauhan@mahindrauniversity.edu.in::241b5f3e-36f4-4c61-9553-90e6a1c1b8a6" providerId="AD" clId="Web-{5598D3E9-4D73-8DEC-2F50-93AF25298C18}" dt="2026-01-18T12:50:04.200" v="4" actId="20577"/>
          <ac:spMkLst>
            <pc:docMk/>
            <pc:sldMk cId="832602602" sldId="257"/>
            <ac:spMk id="3" creationId="{0256C59C-9F3E-493A-AB1E-BE8C9BFFB896}"/>
          </ac:spMkLst>
        </pc:spChg>
      </pc:sldChg>
      <pc:sldChg chg="modSp">
        <pc:chgData name="Avinash Arun Chauhan" userId="S::avinash.chauhan@mahindrauniversity.edu.in::241b5f3e-36f4-4c61-9553-90e6a1c1b8a6" providerId="AD" clId="Web-{5598D3E9-4D73-8DEC-2F50-93AF25298C18}" dt="2026-01-18T12:56:35.390" v="55" actId="20577"/>
        <pc:sldMkLst>
          <pc:docMk/>
          <pc:sldMk cId="686329520" sldId="262"/>
        </pc:sldMkLst>
        <pc:spChg chg="mod">
          <ac:chgData name="Avinash Arun Chauhan" userId="S::avinash.chauhan@mahindrauniversity.edu.in::241b5f3e-36f4-4c61-9553-90e6a1c1b8a6" providerId="AD" clId="Web-{5598D3E9-4D73-8DEC-2F50-93AF25298C18}" dt="2026-01-18T12:56:35.390" v="55" actId="20577"/>
          <ac:spMkLst>
            <pc:docMk/>
            <pc:sldMk cId="686329520" sldId="262"/>
            <ac:spMk id="3" creationId="{5E0E10F8-A186-95A4-0CCB-8916C203AD56}"/>
          </ac:spMkLst>
        </pc:spChg>
      </pc:sldChg>
      <pc:sldChg chg="modSp">
        <pc:chgData name="Avinash Arun Chauhan" userId="S::avinash.chauhan@mahindrauniversity.edu.in::241b5f3e-36f4-4c61-9553-90e6a1c1b8a6" providerId="AD" clId="Web-{5598D3E9-4D73-8DEC-2F50-93AF25298C18}" dt="2026-01-18T13:32:54.142" v="164" actId="20577"/>
        <pc:sldMkLst>
          <pc:docMk/>
          <pc:sldMk cId="3954983918" sldId="276"/>
        </pc:sldMkLst>
        <pc:spChg chg="mod">
          <ac:chgData name="Avinash Arun Chauhan" userId="S::avinash.chauhan@mahindrauniversity.edu.in::241b5f3e-36f4-4c61-9553-90e6a1c1b8a6" providerId="AD" clId="Web-{5598D3E9-4D73-8DEC-2F50-93AF25298C18}" dt="2026-01-18T13:32:54.142" v="164" actId="20577"/>
          <ac:spMkLst>
            <pc:docMk/>
            <pc:sldMk cId="3954983918" sldId="276"/>
            <ac:spMk id="3" creationId="{712CE3DE-516D-536F-B692-856904E12035}"/>
          </ac:spMkLst>
        </pc:spChg>
      </pc:sldChg>
      <pc:sldChg chg="addSp delSp modSp">
        <pc:chgData name="Avinash Arun Chauhan" userId="S::avinash.chauhan@mahindrauniversity.edu.in::241b5f3e-36f4-4c61-9553-90e6a1c1b8a6" providerId="AD" clId="Web-{5598D3E9-4D73-8DEC-2F50-93AF25298C18}" dt="2026-01-18T13:27:03.784" v="156"/>
        <pc:sldMkLst>
          <pc:docMk/>
          <pc:sldMk cId="1186293514" sldId="278"/>
        </pc:sldMkLst>
        <pc:spChg chg="mod">
          <ac:chgData name="Avinash Arun Chauhan" userId="S::avinash.chauhan@mahindrauniversity.edu.in::241b5f3e-36f4-4c61-9553-90e6a1c1b8a6" providerId="AD" clId="Web-{5598D3E9-4D73-8DEC-2F50-93AF25298C18}" dt="2026-01-18T13:24:40.434" v="118" actId="1076"/>
          <ac:spMkLst>
            <pc:docMk/>
            <pc:sldMk cId="1186293514" sldId="278"/>
            <ac:spMk id="3" creationId="{C914BF4D-87B6-22A0-9025-F16869C8C02F}"/>
          </ac:spMkLst>
        </pc:spChg>
        <pc:spChg chg="mod">
          <ac:chgData name="Avinash Arun Chauhan" userId="S::avinash.chauhan@mahindrauniversity.edu.in::241b5f3e-36f4-4c61-9553-90e6a1c1b8a6" providerId="AD" clId="Web-{5598D3E9-4D73-8DEC-2F50-93AF25298C18}" dt="2026-01-18T13:24:45.591" v="121" actId="20577"/>
          <ac:spMkLst>
            <pc:docMk/>
            <pc:sldMk cId="1186293514" sldId="278"/>
            <ac:spMk id="4" creationId="{2E764C1F-989C-4491-AAF6-D9B5FCAAD213}"/>
          </ac:spMkLst>
        </pc:spChg>
        <pc:spChg chg="mod">
          <ac:chgData name="Avinash Arun Chauhan" userId="S::avinash.chauhan@mahindrauniversity.edu.in::241b5f3e-36f4-4c61-9553-90e6a1c1b8a6" providerId="AD" clId="Web-{5598D3E9-4D73-8DEC-2F50-93AF25298C18}" dt="2026-01-18T13:24:10.776" v="99" actId="20577"/>
          <ac:spMkLst>
            <pc:docMk/>
            <pc:sldMk cId="1186293514" sldId="278"/>
            <ac:spMk id="7" creationId="{6371CA56-B820-8241-48F3-7E3D4B65ABFA}"/>
          </ac:spMkLst>
        </pc:spChg>
        <pc:picChg chg="add mod">
          <ac:chgData name="Avinash Arun Chauhan" userId="S::avinash.chauhan@mahindrauniversity.edu.in::241b5f3e-36f4-4c61-9553-90e6a1c1b8a6" providerId="AD" clId="Web-{5598D3E9-4D73-8DEC-2F50-93AF25298C18}" dt="2026-01-18T13:24:52.638" v="123" actId="14100"/>
          <ac:picMkLst>
            <pc:docMk/>
            <pc:sldMk cId="1186293514" sldId="278"/>
            <ac:picMk id="5" creationId="{53E3B0B2-5814-266D-14C9-85A596CD8352}"/>
          </ac:picMkLst>
        </pc:picChg>
      </pc:sldChg>
      <pc:sldChg chg="modSp">
        <pc:chgData name="Avinash Arun Chauhan" userId="S::avinash.chauhan@mahindrauniversity.edu.in::241b5f3e-36f4-4c61-9553-90e6a1c1b8a6" providerId="AD" clId="Web-{5598D3E9-4D73-8DEC-2F50-93AF25298C18}" dt="2026-01-18T12:51:48.967" v="24" actId="20577"/>
        <pc:sldMkLst>
          <pc:docMk/>
          <pc:sldMk cId="3908280556" sldId="279"/>
        </pc:sldMkLst>
        <pc:spChg chg="mod">
          <ac:chgData name="Avinash Arun Chauhan" userId="S::avinash.chauhan@mahindrauniversity.edu.in::241b5f3e-36f4-4c61-9553-90e6a1c1b8a6" providerId="AD" clId="Web-{5598D3E9-4D73-8DEC-2F50-93AF25298C18}" dt="2026-01-18T12:51:48.967" v="24" actId="20577"/>
          <ac:spMkLst>
            <pc:docMk/>
            <pc:sldMk cId="3908280556" sldId="279"/>
            <ac:spMk id="3" creationId="{0256C59C-9F3E-493A-AB1E-BE8C9BFFB896}"/>
          </ac:spMkLst>
        </pc:spChg>
      </pc:sldChg>
      <pc:sldChg chg="modSp">
        <pc:chgData name="Avinash Arun Chauhan" userId="S::avinash.chauhan@mahindrauniversity.edu.in::241b5f3e-36f4-4c61-9553-90e6a1c1b8a6" providerId="AD" clId="Web-{5598D3E9-4D73-8DEC-2F50-93AF25298C18}" dt="2026-01-18T12:52:22.342" v="46" actId="20577"/>
        <pc:sldMkLst>
          <pc:docMk/>
          <pc:sldMk cId="124130375" sldId="283"/>
        </pc:sldMkLst>
        <pc:spChg chg="mod">
          <ac:chgData name="Avinash Arun Chauhan" userId="S::avinash.chauhan@mahindrauniversity.edu.in::241b5f3e-36f4-4c61-9553-90e6a1c1b8a6" providerId="AD" clId="Web-{5598D3E9-4D73-8DEC-2F50-93AF25298C18}" dt="2026-01-18T12:52:22.342" v="46" actId="20577"/>
          <ac:spMkLst>
            <pc:docMk/>
            <pc:sldMk cId="124130375" sldId="283"/>
            <ac:spMk id="3" creationId="{0256C59C-9F3E-493A-AB1E-BE8C9BFFB896}"/>
          </ac:spMkLst>
        </pc:spChg>
      </pc:sldChg>
      <pc:sldChg chg="modSp">
        <pc:chgData name="Avinash Arun Chauhan" userId="S::avinash.chauhan@mahindrauniversity.edu.in::241b5f3e-36f4-4c61-9553-90e6a1c1b8a6" providerId="AD" clId="Web-{5598D3E9-4D73-8DEC-2F50-93AF25298C18}" dt="2026-01-18T12:57:18.484" v="61" actId="20577"/>
        <pc:sldMkLst>
          <pc:docMk/>
          <pc:sldMk cId="3927065482" sldId="294"/>
        </pc:sldMkLst>
        <pc:spChg chg="mod">
          <ac:chgData name="Avinash Arun Chauhan" userId="S::avinash.chauhan@mahindrauniversity.edu.in::241b5f3e-36f4-4c61-9553-90e6a1c1b8a6" providerId="AD" clId="Web-{5598D3E9-4D73-8DEC-2F50-93AF25298C18}" dt="2026-01-18T12:57:18.484" v="61" actId="20577"/>
          <ac:spMkLst>
            <pc:docMk/>
            <pc:sldMk cId="3927065482" sldId="294"/>
            <ac:spMk id="3" creationId="{712CE3DE-516D-536F-B692-856904E12035}"/>
          </ac:spMkLst>
        </pc:spChg>
      </pc:sldChg>
      <pc:sldChg chg="ord">
        <pc:chgData name="Avinash Arun Chauhan" userId="S::avinash.chauhan@mahindrauniversity.edu.in::241b5f3e-36f4-4c61-9553-90e6a1c1b8a6" providerId="AD" clId="Web-{5598D3E9-4D73-8DEC-2F50-93AF25298C18}" dt="2026-01-18T13:38:12.307" v="165"/>
        <pc:sldMkLst>
          <pc:docMk/>
          <pc:sldMk cId="242092942" sldId="340"/>
        </pc:sldMkLst>
      </pc:sldChg>
    </pc:docChg>
  </pc:docChgLst>
  <pc:docChgLst>
    <pc:chgData clId="Web-{7F57A1B6-7E38-FD6D-8C20-480B75870F14}"/>
    <pc:docChg chg="delSld">
      <pc:chgData name="" userId="" providerId="" clId="Web-{7F57A1B6-7E38-FD6D-8C20-480B75870F14}" dt="2026-01-16T09:44:24.325" v="0"/>
      <pc:docMkLst>
        <pc:docMk/>
      </pc:docMkLst>
    </pc:docChg>
  </pc:docChgLst>
  <pc:docChgLst>
    <pc:chgData name="Avinash Arun Chauhan" userId="S::avinash.chauhan@mahindrauniversity.edu.in::241b5f3e-36f4-4c61-9553-90e6a1c1b8a6" providerId="AD" clId="Web-{7F57A1B6-7E38-FD6D-8C20-480B75870F14}"/>
    <pc:docChg chg="modSld">
      <pc:chgData name="Avinash Arun Chauhan" userId="S::avinash.chauhan@mahindrauniversity.edu.in::241b5f3e-36f4-4c61-9553-90e6a1c1b8a6" providerId="AD" clId="Web-{7F57A1B6-7E38-FD6D-8C20-480B75870F14}" dt="2026-01-16T10:13:47.451" v="304" actId="20577"/>
      <pc:docMkLst>
        <pc:docMk/>
      </pc:docMkLst>
      <pc:sldChg chg="modSp">
        <pc:chgData name="Avinash Arun Chauhan" userId="S::avinash.chauhan@mahindrauniversity.edu.in::241b5f3e-36f4-4c61-9553-90e6a1c1b8a6" providerId="AD" clId="Web-{7F57A1B6-7E38-FD6D-8C20-480B75870F14}" dt="2026-01-16T09:58:39.114" v="214" actId="20577"/>
        <pc:sldMkLst>
          <pc:docMk/>
          <pc:sldMk cId="3834488751" sldId="263"/>
        </pc:sldMkLst>
        <pc:spChg chg="mod">
          <ac:chgData name="Avinash Arun Chauhan" userId="S::avinash.chauhan@mahindrauniversity.edu.in::241b5f3e-36f4-4c61-9553-90e6a1c1b8a6" providerId="AD" clId="Web-{7F57A1B6-7E38-FD6D-8C20-480B75870F14}" dt="2026-01-16T09:58:39.114" v="214" actId="20577"/>
          <ac:spMkLst>
            <pc:docMk/>
            <pc:sldMk cId="3834488751" sldId="263"/>
            <ac:spMk id="3" creationId="{13E71471-96C7-54FC-A6C8-EF85842D2A62}"/>
          </ac:spMkLst>
        </pc:spChg>
      </pc:sldChg>
      <pc:sldChg chg="addSp delSp modSp">
        <pc:chgData name="Avinash Arun Chauhan" userId="S::avinash.chauhan@mahindrauniversity.edu.in::241b5f3e-36f4-4c61-9553-90e6a1c1b8a6" providerId="AD" clId="Web-{7F57A1B6-7E38-FD6D-8C20-480B75870F14}" dt="2026-01-16T09:51:37.301" v="100" actId="20577"/>
        <pc:sldMkLst>
          <pc:docMk/>
          <pc:sldMk cId="2029719128" sldId="274"/>
        </pc:sldMkLst>
        <pc:spChg chg="mod">
          <ac:chgData name="Avinash Arun Chauhan" userId="S::avinash.chauhan@mahindrauniversity.edu.in::241b5f3e-36f4-4c61-9553-90e6a1c1b8a6" providerId="AD" clId="Web-{7F57A1B6-7E38-FD6D-8C20-480B75870F14}" dt="2026-01-16T09:51:37.301" v="100" actId="20577"/>
          <ac:spMkLst>
            <pc:docMk/>
            <pc:sldMk cId="2029719128" sldId="274"/>
            <ac:spMk id="3" creationId="{0F429835-17BA-4227-87CE-31907C0ED182}"/>
          </ac:spMkLst>
        </pc:spChg>
        <pc:inkChg chg="add del">
          <ac:chgData name="Avinash Arun Chauhan" userId="S::avinash.chauhan@mahindrauniversity.edu.in::241b5f3e-36f4-4c61-9553-90e6a1c1b8a6" providerId="AD" clId="Web-{7F57A1B6-7E38-FD6D-8C20-480B75870F14}" dt="2026-01-16T09:51:11.471" v="88"/>
          <ac:inkMkLst>
            <pc:docMk/>
            <pc:sldMk cId="2029719128" sldId="274"/>
            <ac:inkMk id="16" creationId="{6E2DBF84-6E42-5790-D90A-09201C527A5A}"/>
          </ac:inkMkLst>
        </pc:inkChg>
      </pc:sldChg>
      <pc:sldChg chg="modSp">
        <pc:chgData name="Avinash Arun Chauhan" userId="S::avinash.chauhan@mahindrauniversity.edu.in::241b5f3e-36f4-4c61-9553-90e6a1c1b8a6" providerId="AD" clId="Web-{7F57A1B6-7E38-FD6D-8C20-480B75870F14}" dt="2026-01-16T10:10:44.929" v="281" actId="20577"/>
        <pc:sldMkLst>
          <pc:docMk/>
          <pc:sldMk cId="3954983918" sldId="276"/>
        </pc:sldMkLst>
        <pc:spChg chg="mod">
          <ac:chgData name="Avinash Arun Chauhan" userId="S::avinash.chauhan@mahindrauniversity.edu.in::241b5f3e-36f4-4c61-9553-90e6a1c1b8a6" providerId="AD" clId="Web-{7F57A1B6-7E38-FD6D-8C20-480B75870F14}" dt="2026-01-16T10:10:44.929" v="281" actId="20577"/>
          <ac:spMkLst>
            <pc:docMk/>
            <pc:sldMk cId="3954983918" sldId="276"/>
            <ac:spMk id="3" creationId="{712CE3DE-516D-536F-B692-856904E12035}"/>
          </ac:spMkLst>
        </pc:spChg>
      </pc:sldChg>
      <pc:sldChg chg="modSp">
        <pc:chgData name="Avinash Arun Chauhan" userId="S::avinash.chauhan@mahindrauniversity.edu.in::241b5f3e-36f4-4c61-9553-90e6a1c1b8a6" providerId="AD" clId="Web-{7F57A1B6-7E38-FD6D-8C20-480B75870F14}" dt="2026-01-16T10:09:22.284" v="270" actId="20577"/>
        <pc:sldMkLst>
          <pc:docMk/>
          <pc:sldMk cId="3908280556" sldId="279"/>
        </pc:sldMkLst>
        <pc:spChg chg="mod">
          <ac:chgData name="Avinash Arun Chauhan" userId="S::avinash.chauhan@mahindrauniversity.edu.in::241b5f3e-36f4-4c61-9553-90e6a1c1b8a6" providerId="AD" clId="Web-{7F57A1B6-7E38-FD6D-8C20-480B75870F14}" dt="2026-01-16T10:09:22.284" v="270" actId="20577"/>
          <ac:spMkLst>
            <pc:docMk/>
            <pc:sldMk cId="3908280556" sldId="279"/>
            <ac:spMk id="3" creationId="{0256C59C-9F3E-493A-AB1E-BE8C9BFFB896}"/>
          </ac:spMkLst>
        </pc:spChg>
      </pc:sldChg>
      <pc:sldChg chg="addSp modSp">
        <pc:chgData name="Avinash Arun Chauhan" userId="S::avinash.chauhan@mahindrauniversity.edu.in::241b5f3e-36f4-4c61-9553-90e6a1c1b8a6" providerId="AD" clId="Web-{7F57A1B6-7E38-FD6D-8C20-480B75870F14}" dt="2026-01-16T09:54:46.639" v="115"/>
        <pc:sldMkLst>
          <pc:docMk/>
          <pc:sldMk cId="3299872713" sldId="293"/>
        </pc:sldMkLst>
        <pc:spChg chg="mod">
          <ac:chgData name="Avinash Arun Chauhan" userId="S::avinash.chauhan@mahindrauniversity.edu.in::241b5f3e-36f4-4c61-9553-90e6a1c1b8a6" providerId="AD" clId="Web-{7F57A1B6-7E38-FD6D-8C20-480B75870F14}" dt="2026-01-16T09:54:28.372" v="101" actId="20577"/>
          <ac:spMkLst>
            <pc:docMk/>
            <pc:sldMk cId="3299872713" sldId="293"/>
            <ac:spMk id="3" creationId="{0256C59C-9F3E-493A-AB1E-BE8C9BFFB896}"/>
          </ac:spMkLst>
        </pc:spChg>
        <pc:graphicFrameChg chg="add mod modGraphic">
          <ac:chgData name="Avinash Arun Chauhan" userId="S::avinash.chauhan@mahindrauniversity.edu.in::241b5f3e-36f4-4c61-9553-90e6a1c1b8a6" providerId="AD" clId="Web-{7F57A1B6-7E38-FD6D-8C20-480B75870F14}" dt="2026-01-16T09:54:46.639" v="115"/>
          <ac:graphicFrameMkLst>
            <pc:docMk/>
            <pc:sldMk cId="3299872713" sldId="293"/>
            <ac:graphicFrameMk id="5" creationId="{D6D0F838-4B76-EDBB-93A0-E3071CC5A9C7}"/>
          </ac:graphicFrameMkLst>
        </pc:graphicFrameChg>
      </pc:sldChg>
      <pc:sldChg chg="modSp">
        <pc:chgData name="Avinash Arun Chauhan" userId="S::avinash.chauhan@mahindrauniversity.edu.in::241b5f3e-36f4-4c61-9553-90e6a1c1b8a6" providerId="AD" clId="Web-{7F57A1B6-7E38-FD6D-8C20-480B75870F14}" dt="2026-01-16T10:11:07.836" v="302" actId="20577"/>
        <pc:sldMkLst>
          <pc:docMk/>
          <pc:sldMk cId="2570694905" sldId="295"/>
        </pc:sldMkLst>
        <pc:spChg chg="mod">
          <ac:chgData name="Avinash Arun Chauhan" userId="S::avinash.chauhan@mahindrauniversity.edu.in::241b5f3e-36f4-4c61-9553-90e6a1c1b8a6" providerId="AD" clId="Web-{7F57A1B6-7E38-FD6D-8C20-480B75870F14}" dt="2026-01-16T10:11:07.836" v="302" actId="20577"/>
          <ac:spMkLst>
            <pc:docMk/>
            <pc:sldMk cId="2570694905" sldId="295"/>
            <ac:spMk id="3" creationId="{712CE3DE-516D-536F-B692-856904E12035}"/>
          </ac:spMkLst>
        </pc:spChg>
      </pc:sldChg>
      <pc:sldChg chg="addSp delSp modSp">
        <pc:chgData name="Avinash Arun Chauhan" userId="S::avinash.chauhan@mahindrauniversity.edu.in::241b5f3e-36f4-4c61-9553-90e6a1c1b8a6" providerId="AD" clId="Web-{7F57A1B6-7E38-FD6D-8C20-480B75870F14}" dt="2026-01-16T09:50:36.172" v="86" actId="20577"/>
        <pc:sldMkLst>
          <pc:docMk/>
          <pc:sldMk cId="2492696898" sldId="306"/>
        </pc:sldMkLst>
        <pc:spChg chg="add mod">
          <ac:chgData name="Avinash Arun Chauhan" userId="S::avinash.chauhan@mahindrauniversity.edu.in::241b5f3e-36f4-4c61-9553-90e6a1c1b8a6" providerId="AD" clId="Web-{7F57A1B6-7E38-FD6D-8C20-480B75870F14}" dt="2026-01-16T09:50:25.374" v="84" actId="1076"/>
          <ac:spMkLst>
            <pc:docMk/>
            <pc:sldMk cId="2492696898" sldId="306"/>
            <ac:spMk id="5" creationId="{DBDEDA88-4B16-414D-3F97-53B2258BAE08}"/>
          </ac:spMkLst>
        </pc:spChg>
        <pc:spChg chg="mod">
          <ac:chgData name="Avinash Arun Chauhan" userId="S::avinash.chauhan@mahindrauniversity.edu.in::241b5f3e-36f4-4c61-9553-90e6a1c1b8a6" providerId="AD" clId="Web-{7F57A1B6-7E38-FD6D-8C20-480B75870F14}" dt="2026-01-16T09:50:36.172" v="86" actId="20577"/>
          <ac:spMkLst>
            <pc:docMk/>
            <pc:sldMk cId="2492696898" sldId="306"/>
            <ac:spMk id="14" creationId="{0F9B8C25-127A-47E2-897D-705E9B3BD955}"/>
          </ac:spMkLst>
        </pc:spChg>
        <pc:picChg chg="mod">
          <ac:chgData name="Avinash Arun Chauhan" userId="S::avinash.chauhan@mahindrauniversity.edu.in::241b5f3e-36f4-4c61-9553-90e6a1c1b8a6" providerId="AD" clId="Web-{7F57A1B6-7E38-FD6D-8C20-480B75870F14}" dt="2026-01-16T09:49:57.794" v="76" actId="1076"/>
          <ac:picMkLst>
            <pc:docMk/>
            <pc:sldMk cId="2492696898" sldId="306"/>
            <ac:picMk id="13" creationId="{4A7D316B-482C-407F-B127-77F00EC4AF42}"/>
          </ac:picMkLst>
        </pc:picChg>
      </pc:sldChg>
      <pc:sldChg chg="modSp">
        <pc:chgData name="Avinash Arun Chauhan" userId="S::avinash.chauhan@mahindrauniversity.edu.in::241b5f3e-36f4-4c61-9553-90e6a1c1b8a6" providerId="AD" clId="Web-{7F57A1B6-7E38-FD6D-8C20-480B75870F14}" dt="2026-01-16T10:13:47.451" v="304" actId="20577"/>
        <pc:sldMkLst>
          <pc:docMk/>
          <pc:sldMk cId="2359469347" sldId="323"/>
        </pc:sldMkLst>
        <pc:spChg chg="mod">
          <ac:chgData name="Avinash Arun Chauhan" userId="S::avinash.chauhan@mahindrauniversity.edu.in::241b5f3e-36f4-4c61-9553-90e6a1c1b8a6" providerId="AD" clId="Web-{7F57A1B6-7E38-FD6D-8C20-480B75870F14}" dt="2026-01-16T10:13:47.451" v="304" actId="20577"/>
          <ac:spMkLst>
            <pc:docMk/>
            <pc:sldMk cId="2359469347" sldId="323"/>
            <ac:spMk id="4" creationId="{2E764C1F-989C-4491-AAF6-D9B5FCAAD213}"/>
          </ac:spMkLst>
        </pc:spChg>
      </pc:sldChg>
    </pc:docChg>
  </pc:docChgLst>
  <pc:docChgLst>
    <pc:chgData name="Avinash Arun Chauhan" userId="S::avinash.chauhan@mahindrauniversity.edu.in::241b5f3e-36f4-4c61-9553-90e6a1c1b8a6" providerId="AD" clId="Web-{DA6DCABC-314F-15FB-BD64-F709B41293D8}"/>
    <pc:docChg chg="modSld">
      <pc:chgData name="Avinash Arun Chauhan" userId="S::avinash.chauhan@mahindrauniversity.edu.in::241b5f3e-36f4-4c61-9553-90e6a1c1b8a6" providerId="AD" clId="Web-{DA6DCABC-314F-15FB-BD64-F709B41293D8}" dt="2026-01-27T06:08:24.114" v="56"/>
      <pc:docMkLst>
        <pc:docMk/>
      </pc:docMkLst>
      <pc:sldChg chg="modSp">
        <pc:chgData name="Avinash Arun Chauhan" userId="S::avinash.chauhan@mahindrauniversity.edu.in::241b5f3e-36f4-4c61-9553-90e6a1c1b8a6" providerId="AD" clId="Web-{DA6DCABC-314F-15FB-BD64-F709B41293D8}" dt="2026-01-27T06:05:33.211" v="32" actId="20577"/>
        <pc:sldMkLst>
          <pc:docMk/>
          <pc:sldMk cId="3234818280" sldId="301"/>
        </pc:sldMkLst>
        <pc:spChg chg="mod">
          <ac:chgData name="Avinash Arun Chauhan" userId="S::avinash.chauhan@mahindrauniversity.edu.in::241b5f3e-36f4-4c61-9553-90e6a1c1b8a6" providerId="AD" clId="Web-{DA6DCABC-314F-15FB-BD64-F709B41293D8}" dt="2026-01-27T06:05:33.211" v="32" actId="20577"/>
          <ac:spMkLst>
            <pc:docMk/>
            <pc:sldMk cId="3234818280" sldId="301"/>
            <ac:spMk id="3" creationId="{712CE3DE-516D-536F-B692-856904E12035}"/>
          </ac:spMkLst>
        </pc:spChg>
      </pc:sldChg>
      <pc:sldChg chg="modNotes">
        <pc:chgData name="Avinash Arun Chauhan" userId="S::avinash.chauhan@mahindrauniversity.edu.in::241b5f3e-36f4-4c61-9553-90e6a1c1b8a6" providerId="AD" clId="Web-{DA6DCABC-314F-15FB-BD64-F709B41293D8}" dt="2026-01-27T06:06:06.479" v="36"/>
        <pc:sldMkLst>
          <pc:docMk/>
          <pc:sldMk cId="1642597617" sldId="315"/>
        </pc:sldMkLst>
      </pc:sldChg>
      <pc:sldChg chg="modNotes">
        <pc:chgData name="Avinash Arun Chauhan" userId="S::avinash.chauhan@mahindrauniversity.edu.in::241b5f3e-36f4-4c61-9553-90e6a1c1b8a6" providerId="AD" clId="Web-{DA6DCABC-314F-15FB-BD64-F709B41293D8}" dt="2026-01-27T06:05:48.446" v="33"/>
        <pc:sldMkLst>
          <pc:docMk/>
          <pc:sldMk cId="202242794" sldId="316"/>
        </pc:sldMkLst>
      </pc:sldChg>
      <pc:sldChg chg="modNotes">
        <pc:chgData name="Avinash Arun Chauhan" userId="S::avinash.chauhan@mahindrauniversity.edu.in::241b5f3e-36f4-4c61-9553-90e6a1c1b8a6" providerId="AD" clId="Web-{DA6DCABC-314F-15FB-BD64-F709B41293D8}" dt="2026-01-27T06:06:28.996" v="44"/>
        <pc:sldMkLst>
          <pc:docMk/>
          <pc:sldMk cId="3092668600" sldId="317"/>
        </pc:sldMkLst>
      </pc:sldChg>
      <pc:sldChg chg="modNotes">
        <pc:chgData name="Avinash Arun Chauhan" userId="S::avinash.chauhan@mahindrauniversity.edu.in::241b5f3e-36f4-4c61-9553-90e6a1c1b8a6" providerId="AD" clId="Web-{DA6DCABC-314F-15FB-BD64-F709B41293D8}" dt="2026-01-27T06:06:20.730" v="43"/>
        <pc:sldMkLst>
          <pc:docMk/>
          <pc:sldMk cId="663222757" sldId="318"/>
        </pc:sldMkLst>
      </pc:sldChg>
      <pc:sldChg chg="modNotes">
        <pc:chgData name="Avinash Arun Chauhan" userId="S::avinash.chauhan@mahindrauniversity.edu.in::241b5f3e-36f4-4c61-9553-90e6a1c1b8a6" providerId="AD" clId="Web-{DA6DCABC-314F-15FB-BD64-F709B41293D8}" dt="2026-01-27T06:00:50.426" v="0"/>
        <pc:sldMkLst>
          <pc:docMk/>
          <pc:sldMk cId="2403272229" sldId="326"/>
        </pc:sldMkLst>
      </pc:sldChg>
      <pc:sldChg chg="modNotes">
        <pc:chgData name="Avinash Arun Chauhan" userId="S::avinash.chauhan@mahindrauniversity.edu.in::241b5f3e-36f4-4c61-9553-90e6a1c1b8a6" providerId="AD" clId="Web-{DA6DCABC-314F-15FB-BD64-F709B41293D8}" dt="2026-01-27T06:05:52.149" v="34"/>
        <pc:sldMkLst>
          <pc:docMk/>
          <pc:sldMk cId="3928791571" sldId="330"/>
        </pc:sldMkLst>
      </pc:sldChg>
      <pc:sldChg chg="modNotes">
        <pc:chgData name="Avinash Arun Chauhan" userId="S::avinash.chauhan@mahindrauniversity.edu.in::241b5f3e-36f4-4c61-9553-90e6a1c1b8a6" providerId="AD" clId="Web-{DA6DCABC-314F-15FB-BD64-F709B41293D8}" dt="2026-01-27T06:08:24.114" v="56"/>
        <pc:sldMkLst>
          <pc:docMk/>
          <pc:sldMk cId="232338245" sldId="334"/>
        </pc:sldMkLst>
      </pc:sldChg>
      <pc:sldChg chg="modNotes">
        <pc:chgData name="Avinash Arun Chauhan" userId="S::avinash.chauhan@mahindrauniversity.edu.in::241b5f3e-36f4-4c61-9553-90e6a1c1b8a6" providerId="AD" clId="Web-{DA6DCABC-314F-15FB-BD64-F709B41293D8}" dt="2026-01-27T06:05:55.103" v="35"/>
        <pc:sldMkLst>
          <pc:docMk/>
          <pc:sldMk cId="1497056892" sldId="342"/>
        </pc:sldMkLst>
      </pc:sldChg>
    </pc:docChg>
  </pc:docChgLst>
  <pc:docChgLst>
    <pc:chgData name="Avinash Arun Chauhan" userId="S::avinash.chauhan@mahindrauniversity.edu.in::241b5f3e-36f4-4c61-9553-90e6a1c1b8a6" providerId="AD" clId="Web-{1176717D-1007-32DB-8CF4-69D1EBAE9101}"/>
    <pc:docChg chg="modSld">
      <pc:chgData name="Avinash Arun Chauhan" userId="S::avinash.chauhan@mahindrauniversity.edu.in::241b5f3e-36f4-4c61-9553-90e6a1c1b8a6" providerId="AD" clId="Web-{1176717D-1007-32DB-8CF4-69D1EBAE9101}" dt="2026-01-17T06:57:31.739" v="9" actId="20577"/>
      <pc:docMkLst>
        <pc:docMk/>
      </pc:docMkLst>
      <pc:sldChg chg="modSp">
        <pc:chgData name="Avinash Arun Chauhan" userId="S::avinash.chauhan@mahindrauniversity.edu.in::241b5f3e-36f4-4c61-9553-90e6a1c1b8a6" providerId="AD" clId="Web-{1176717D-1007-32DB-8CF4-69D1EBAE9101}" dt="2026-01-17T06:57:31.739" v="9" actId="20577"/>
        <pc:sldMkLst>
          <pc:docMk/>
          <pc:sldMk cId="686329520" sldId="262"/>
        </pc:sldMkLst>
        <pc:spChg chg="mod">
          <ac:chgData name="Avinash Arun Chauhan" userId="S::avinash.chauhan@mahindrauniversity.edu.in::241b5f3e-36f4-4c61-9553-90e6a1c1b8a6" providerId="AD" clId="Web-{1176717D-1007-32DB-8CF4-69D1EBAE9101}" dt="2026-01-17T06:57:31.739" v="9" actId="20577"/>
          <ac:spMkLst>
            <pc:docMk/>
            <pc:sldMk cId="686329520" sldId="262"/>
            <ac:spMk id="3" creationId="{5E0E10F8-A186-95A4-0CCB-8916C203AD56}"/>
          </ac:spMkLst>
        </pc:spChg>
      </pc:sldChg>
    </pc:docChg>
  </pc:docChgLst>
  <pc:docChgLst>
    <pc:chgData name="Avinash Arun Chauhan" userId="S::avinash.chauhan@mahindrauniversity.edu.in::241b5f3e-36f4-4c61-9553-90e6a1c1b8a6" providerId="AD" clId="Web-{3ED670C8-489C-28C6-ED44-548A79A07B63}"/>
    <pc:docChg chg="modSld">
      <pc:chgData name="Avinash Arun Chauhan" userId="S::avinash.chauhan@mahindrauniversity.edu.in::241b5f3e-36f4-4c61-9553-90e6a1c1b8a6" providerId="AD" clId="Web-{3ED670C8-489C-28C6-ED44-548A79A07B63}" dt="2026-01-12T07:54:51.242" v="112" actId="20577"/>
      <pc:docMkLst>
        <pc:docMk/>
      </pc:docMkLst>
      <pc:sldChg chg="modSp">
        <pc:chgData name="Avinash Arun Chauhan" userId="S::avinash.chauhan@mahindrauniversity.edu.in::241b5f3e-36f4-4c61-9553-90e6a1c1b8a6" providerId="AD" clId="Web-{3ED670C8-489C-28C6-ED44-548A79A07B63}" dt="2026-01-12T07:47:30.795" v="76" actId="20577"/>
        <pc:sldMkLst>
          <pc:docMk/>
          <pc:sldMk cId="686329520" sldId="262"/>
        </pc:sldMkLst>
        <pc:spChg chg="mod">
          <ac:chgData name="Avinash Arun Chauhan" userId="S::avinash.chauhan@mahindrauniversity.edu.in::241b5f3e-36f4-4c61-9553-90e6a1c1b8a6" providerId="AD" clId="Web-{3ED670C8-489C-28C6-ED44-548A79A07B63}" dt="2026-01-12T07:47:30.795" v="76" actId="20577"/>
          <ac:spMkLst>
            <pc:docMk/>
            <pc:sldMk cId="686329520" sldId="262"/>
            <ac:spMk id="3" creationId="{5E0E10F8-A186-95A4-0CCB-8916C203AD56}"/>
          </ac:spMkLst>
        </pc:spChg>
      </pc:sldChg>
      <pc:sldChg chg="modSp">
        <pc:chgData name="Avinash Arun Chauhan" userId="S::avinash.chauhan@mahindrauniversity.edu.in::241b5f3e-36f4-4c61-9553-90e6a1c1b8a6" providerId="AD" clId="Web-{3ED670C8-489C-28C6-ED44-548A79A07B63}" dt="2026-01-12T07:54:51.242" v="112" actId="20577"/>
        <pc:sldMkLst>
          <pc:docMk/>
          <pc:sldMk cId="216913" sldId="270"/>
        </pc:sldMkLst>
        <pc:spChg chg="mod">
          <ac:chgData name="Avinash Arun Chauhan" userId="S::avinash.chauhan@mahindrauniversity.edu.in::241b5f3e-36f4-4c61-9553-90e6a1c1b8a6" providerId="AD" clId="Web-{3ED670C8-489C-28C6-ED44-548A79A07B63}" dt="2026-01-12T07:54:51.242" v="112" actId="20577"/>
          <ac:spMkLst>
            <pc:docMk/>
            <pc:sldMk cId="216913" sldId="270"/>
            <ac:spMk id="3" creationId="{BCAC8E6E-0661-6F89-9589-E7F0ED8068F6}"/>
          </ac:spMkLst>
        </pc:spChg>
      </pc:sldChg>
      <pc:sldChg chg="modSp">
        <pc:chgData name="Avinash Arun Chauhan" userId="S::avinash.chauhan@mahindrauniversity.edu.in::241b5f3e-36f4-4c61-9553-90e6a1c1b8a6" providerId="AD" clId="Web-{3ED670C8-489C-28C6-ED44-548A79A07B63}" dt="2026-01-12T07:48:25.452" v="109" actId="20577"/>
        <pc:sldMkLst>
          <pc:docMk/>
          <pc:sldMk cId="3954983918" sldId="276"/>
        </pc:sldMkLst>
        <pc:spChg chg="mod">
          <ac:chgData name="Avinash Arun Chauhan" userId="S::avinash.chauhan@mahindrauniversity.edu.in::241b5f3e-36f4-4c61-9553-90e6a1c1b8a6" providerId="AD" clId="Web-{3ED670C8-489C-28C6-ED44-548A79A07B63}" dt="2026-01-12T07:48:25.452" v="109" actId="20577"/>
          <ac:spMkLst>
            <pc:docMk/>
            <pc:sldMk cId="3954983918" sldId="276"/>
            <ac:spMk id="3" creationId="{712CE3DE-516D-536F-B692-856904E12035}"/>
          </ac:spMkLst>
        </pc:spChg>
      </pc:sldChg>
    </pc:docChg>
  </pc:docChgLst>
  <pc:docChgLst>
    <pc:chgData name="Avinash Arun Chauhan" userId="S::avinash.chauhan@mahindrauniversity.edu.in::241b5f3e-36f4-4c61-9553-90e6a1c1b8a6" providerId="AD" clId="Web-{3C6E598F-4C05-AB23-95CB-EB530147F57D}"/>
    <pc:docChg chg="delSld modSld">
      <pc:chgData name="Avinash Arun Chauhan" userId="S::avinash.chauhan@mahindrauniversity.edu.in::241b5f3e-36f4-4c61-9553-90e6a1c1b8a6" providerId="AD" clId="Web-{3C6E598F-4C05-AB23-95CB-EB530147F57D}" dt="2026-01-19T10:09:27.127" v="614" actId="20577"/>
      <pc:docMkLst>
        <pc:docMk/>
      </pc:docMkLst>
      <pc:sldChg chg="modSp modNotes">
        <pc:chgData name="Avinash Arun Chauhan" userId="S::avinash.chauhan@mahindrauniversity.edu.in::241b5f3e-36f4-4c61-9553-90e6a1c1b8a6" providerId="AD" clId="Web-{3C6E598F-4C05-AB23-95CB-EB530147F57D}" dt="2026-01-19T09:42:38.920" v="216" actId="20577"/>
        <pc:sldMkLst>
          <pc:docMk/>
          <pc:sldMk cId="3646577299" sldId="299"/>
        </pc:sldMkLst>
        <pc:spChg chg="mod">
          <ac:chgData name="Avinash Arun Chauhan" userId="S::avinash.chauhan@mahindrauniversity.edu.in::241b5f3e-36f4-4c61-9553-90e6a1c1b8a6" providerId="AD" clId="Web-{3C6E598F-4C05-AB23-95CB-EB530147F57D}" dt="2026-01-19T09:42:38.920" v="216" actId="20577"/>
          <ac:spMkLst>
            <pc:docMk/>
            <pc:sldMk cId="3646577299" sldId="299"/>
            <ac:spMk id="3" creationId="{712CE3DE-516D-536F-B692-856904E12035}"/>
          </ac:spMkLst>
        </pc:spChg>
      </pc:sldChg>
      <pc:sldChg chg="modSp">
        <pc:chgData name="Avinash Arun Chauhan" userId="S::avinash.chauhan@mahindrauniversity.edu.in::241b5f3e-36f4-4c61-9553-90e6a1c1b8a6" providerId="AD" clId="Web-{3C6E598F-4C05-AB23-95CB-EB530147F57D}" dt="2026-01-19T10:01:27.736" v="610" actId="20577"/>
        <pc:sldMkLst>
          <pc:docMk/>
          <pc:sldMk cId="3234818280" sldId="301"/>
        </pc:sldMkLst>
        <pc:spChg chg="mod">
          <ac:chgData name="Avinash Arun Chauhan" userId="S::avinash.chauhan@mahindrauniversity.edu.in::241b5f3e-36f4-4c61-9553-90e6a1c1b8a6" providerId="AD" clId="Web-{3C6E598F-4C05-AB23-95CB-EB530147F57D}" dt="2026-01-19T10:01:27.736" v="610" actId="20577"/>
          <ac:spMkLst>
            <pc:docMk/>
            <pc:sldMk cId="3234818280" sldId="301"/>
            <ac:spMk id="3" creationId="{712CE3DE-516D-536F-B692-856904E12035}"/>
          </ac:spMkLst>
        </pc:spChg>
      </pc:sldChg>
      <pc:sldChg chg="modNotes">
        <pc:chgData name="Avinash Arun Chauhan" userId="S::avinash.chauhan@mahindrauniversity.edu.in::241b5f3e-36f4-4c61-9553-90e6a1c1b8a6" providerId="AD" clId="Web-{3C6E598F-4C05-AB23-95CB-EB530147F57D}" dt="2026-01-19T09:52:54.433" v="219"/>
        <pc:sldMkLst>
          <pc:docMk/>
          <pc:sldMk cId="1289789540" sldId="304"/>
        </pc:sldMkLst>
      </pc:sldChg>
      <pc:sldChg chg="modSp">
        <pc:chgData name="Avinash Arun Chauhan" userId="S::avinash.chauhan@mahindrauniversity.edu.in::241b5f3e-36f4-4c61-9553-90e6a1c1b8a6" providerId="AD" clId="Web-{3C6E598F-4C05-AB23-95CB-EB530147F57D}" dt="2026-01-19T09:18:31.697" v="39" actId="20577"/>
        <pc:sldMkLst>
          <pc:docMk/>
          <pc:sldMk cId="3590600133" sldId="312"/>
        </pc:sldMkLst>
        <pc:spChg chg="mod">
          <ac:chgData name="Avinash Arun Chauhan" userId="S::avinash.chauhan@mahindrauniversity.edu.in::241b5f3e-36f4-4c61-9553-90e6a1c1b8a6" providerId="AD" clId="Web-{3C6E598F-4C05-AB23-95CB-EB530147F57D}" dt="2026-01-19T09:18:31.697" v="39" actId="20577"/>
          <ac:spMkLst>
            <pc:docMk/>
            <pc:sldMk cId="3590600133" sldId="312"/>
            <ac:spMk id="3" creationId="{1245DF86-2772-17CE-6540-A6B3FEDB8672}"/>
          </ac:spMkLst>
        </pc:spChg>
        <pc:spChg chg="mod">
          <ac:chgData name="Avinash Arun Chauhan" userId="S::avinash.chauhan@mahindrauniversity.edu.in::241b5f3e-36f4-4c61-9553-90e6a1c1b8a6" providerId="AD" clId="Web-{3C6E598F-4C05-AB23-95CB-EB530147F57D}" dt="2026-01-19T09:18:14.853" v="20" actId="20577"/>
          <ac:spMkLst>
            <pc:docMk/>
            <pc:sldMk cId="3590600133" sldId="312"/>
            <ac:spMk id="4" creationId="{2E764C1F-989C-4491-AAF6-D9B5FCAAD213}"/>
          </ac:spMkLst>
        </pc:spChg>
      </pc:sldChg>
      <pc:sldChg chg="modSp">
        <pc:chgData name="Avinash Arun Chauhan" userId="S::avinash.chauhan@mahindrauniversity.edu.in::241b5f3e-36f4-4c61-9553-90e6a1c1b8a6" providerId="AD" clId="Web-{3C6E598F-4C05-AB23-95CB-EB530147F57D}" dt="2026-01-19T09:26:09.744" v="46" actId="20577"/>
        <pc:sldMkLst>
          <pc:docMk/>
          <pc:sldMk cId="4200966765" sldId="314"/>
        </pc:sldMkLst>
        <pc:spChg chg="mod">
          <ac:chgData name="Avinash Arun Chauhan" userId="S::avinash.chauhan@mahindrauniversity.edu.in::241b5f3e-36f4-4c61-9553-90e6a1c1b8a6" providerId="AD" clId="Web-{3C6E598F-4C05-AB23-95CB-EB530147F57D}" dt="2026-01-19T09:26:09.744" v="46" actId="20577"/>
          <ac:spMkLst>
            <pc:docMk/>
            <pc:sldMk cId="4200966765" sldId="314"/>
            <ac:spMk id="4" creationId="{2E764C1F-989C-4491-AAF6-D9B5FCAAD213}"/>
          </ac:spMkLst>
        </pc:spChg>
      </pc:sldChg>
      <pc:sldChg chg="modSp">
        <pc:chgData name="Avinash Arun Chauhan" userId="S::avinash.chauhan@mahindrauniversity.edu.in::241b5f3e-36f4-4c61-9553-90e6a1c1b8a6" providerId="AD" clId="Web-{3C6E598F-4C05-AB23-95CB-EB530147F57D}" dt="2026-01-19T10:09:27.127" v="614" actId="20577"/>
        <pc:sldMkLst>
          <pc:docMk/>
          <pc:sldMk cId="3092668600" sldId="317"/>
        </pc:sldMkLst>
        <pc:spChg chg="mod">
          <ac:chgData name="Avinash Arun Chauhan" userId="S::avinash.chauhan@mahindrauniversity.edu.in::241b5f3e-36f4-4c61-9553-90e6a1c1b8a6" providerId="AD" clId="Web-{3C6E598F-4C05-AB23-95CB-EB530147F57D}" dt="2026-01-19T10:09:27.127" v="614" actId="20577"/>
          <ac:spMkLst>
            <pc:docMk/>
            <pc:sldMk cId="3092668600" sldId="317"/>
            <ac:spMk id="4" creationId="{2E764C1F-989C-4491-AAF6-D9B5FCAAD213}"/>
          </ac:spMkLst>
        </pc:spChg>
      </pc:sldChg>
      <pc:sldChg chg="modSp">
        <pc:chgData name="Avinash Arun Chauhan" userId="S::avinash.chauhan@mahindrauniversity.edu.in::241b5f3e-36f4-4c61-9553-90e6a1c1b8a6" providerId="AD" clId="Web-{3C6E598F-4C05-AB23-95CB-EB530147F57D}" dt="2026-01-19T10:00:54.452" v="583" actId="20577"/>
        <pc:sldMkLst>
          <pc:docMk/>
          <pc:sldMk cId="3676104736" sldId="321"/>
        </pc:sldMkLst>
        <pc:spChg chg="mod">
          <ac:chgData name="Avinash Arun Chauhan" userId="S::avinash.chauhan@mahindrauniversity.edu.in::241b5f3e-36f4-4c61-9553-90e6a1c1b8a6" providerId="AD" clId="Web-{3C6E598F-4C05-AB23-95CB-EB530147F57D}" dt="2026-01-19T10:00:54.452" v="583" actId="20577"/>
          <ac:spMkLst>
            <pc:docMk/>
            <pc:sldMk cId="3676104736" sldId="321"/>
            <ac:spMk id="3" creationId="{712CE3DE-516D-536F-B692-856904E12035}"/>
          </ac:spMkLst>
        </pc:spChg>
      </pc:sldChg>
      <pc:sldChg chg="addSp modSp">
        <pc:chgData name="Avinash Arun Chauhan" userId="S::avinash.chauhan@mahindrauniversity.edu.in::241b5f3e-36f4-4c61-9553-90e6a1c1b8a6" providerId="AD" clId="Web-{3C6E598F-4C05-AB23-95CB-EB530147F57D}" dt="2026-01-19T09:35:27.143" v="211" actId="20577"/>
        <pc:sldMkLst>
          <pc:docMk/>
          <pc:sldMk cId="1596972004" sldId="327"/>
        </pc:sldMkLst>
        <pc:spChg chg="add mod">
          <ac:chgData name="Avinash Arun Chauhan" userId="S::avinash.chauhan@mahindrauniversity.edu.in::241b5f3e-36f4-4c61-9553-90e6a1c1b8a6" providerId="AD" clId="Web-{3C6E598F-4C05-AB23-95CB-EB530147F57D}" dt="2026-01-19T09:35:27.143" v="211" actId="20577"/>
          <ac:spMkLst>
            <pc:docMk/>
            <pc:sldMk cId="1596972004" sldId="327"/>
            <ac:spMk id="3" creationId="{F643B6F2-E415-069E-1776-4A9A3CD31B83}"/>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7T13:30:39.929"/>
    </inkml:context>
    <inkml:brush xml:id="br0">
      <inkml:brushProperty name="width" value="0.1" units="cm"/>
      <inkml:brushProperty name="height" value="0.1" units="cm"/>
      <inkml:brushProperty name="color" value="#E71224"/>
    </inkml:brush>
  </inkml:definitions>
  <inkml:trace contextRef="#ctx0" brushRef="#br0">23098 4809 16383 0 0,'-7'7'0'0'0,"-15"8"0"0"0,-10 2 0 0 0,-7 5 0 0 0,-10 5 0 0 0,-3-2 0 0 0,1-5 0 0 0,-5-7 0 0 0,1-4 0 0 0,-3-5 0 0 0,-6-2 0 0 0,-4-2 0 0 0,2-1 0 0 0,6 0 0 0 0,6 0 0 0 0,7 0 0 0 0,3 0 0 0 0,4 1 0 0 0,8-7 0 0 0,3-2 0 0 0,-1 1 0 0 0,-7-6 0 0 0,1-6 0 0 0,2 0 0 0 0,-2-3 0 0 0,0 2 0 0 0,-1 4 0 0 0,-1 6 0 0 0,7-8 0 0 0,-13-16 0 0 0,-4-7 0 0 0,6-3 0 0 0,3 5 0 0 0,-5-3 0 0 0,-2 6 0 0 0,8 2 0 0 0,9 1 0 0 0,4 6 0 0 0,-7-6 0 0 0,1-3 0 0 0,0-2 0 0 0,5-2 0 0 0,6 1 0 0 0,1 6 0 0 0,-3 9 0 0 0,2 3 0 0 0,4-2 0 0 0,-1-4 0 0 0,2-3 0 0 0,3-3 0 0 0,4-3 0 0 0,4-8 0 0 0,-5 4 0 0 0,-1 2 0 0 0,2 1 0 0 0,2 7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7T13:30:39.930"/>
    </inkml:context>
    <inkml:brush xml:id="br0">
      <inkml:brushProperty name="width" value="0.1" units="cm"/>
      <inkml:brushProperty name="height" value="0.1" units="cm"/>
      <inkml:brushProperty name="color" value="#E71224"/>
    </inkml:brush>
  </inkml:definitions>
  <inkml:trace contextRef="#ctx0" brushRef="#br0">23064 4649 16383 0 0,'-6'0'0'0'0,"-16"0"0"0"0,-24 0 0 0 0,-11 0 0 0 0,-15 0 0 0 0,-2 0 0 0 0,4 0 0 0 0,9 0 0 0 0,7-7 0 0 0,6-2 0 0 0,-2-6 0 0 0,-5-13 0 0 0,-7-3 0 0 0,1 4 0 0 0,3 1 0 0 0,6 4 0 0 0,5 6 0 0 0,4 5 0 0 0,8-1 0 0 0,5 1 0 0 0,7-4 0 0 0,-6-7 0 0 0,-11 1 0 0 0,1-2 0 0 0,-6-5 0 0 0,-2-4 0 0 0,1 4 0 0 0,0 7 0 0 0,10-1 0 0 0,3 5 0 0 0,1 4 0 0 0,-1-2 0 0 0,6-4 0 0 0,7-7 0 0 0,0 2 0 0 0,-3 4 0 0 0,-4 7 0 0 0,2-2 0 0 0,0 2 0 0 0,-4 2 0 0 0,4-2 0 0 0,-1 0 0 0 0,-2 3 0 0 0,3-4 0 0 0,6-6 0 0 0,0 1 0 0 0,3-4 0 0 0,-3 2 0 0 0,3-1 0 0 0,-4 2 0 0 0,3 6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7T13:30:39.931"/>
    </inkml:context>
    <inkml:brush xml:id="br0">
      <inkml:brushProperty name="width" value="0.1" units="cm"/>
      <inkml:brushProperty name="height" value="0.1" units="cm"/>
      <inkml:brushProperty name="color" value="#E71224"/>
    </inkml:brush>
  </inkml:definitions>
  <inkml:trace contextRef="#ctx0" brushRef="#br0">23601 4811 16383 0 0,'6'0'0'0'0,"10"0"0"0"0,1-7 0 0 0,5-8 0 0 0,5-2 0 0 0,4 2 0 0 0,5-4 0 0 0,-5-4 0 0 0,-8-5 0 0 0,-7-5 0 0 0,0 4 0 0 0,4-1 0 0 0,5-1 0 0 0,5-8 0 0 0,-3-5 0 0 0,-5-1 0 0 0,-7 0 0 0 0,0 1 0 0 0,-1 2 0 0 0,2 8 0 0 0,0-4 0 0 0,-4-2 0 0 0,-4 0 0 0 0,-3-1 0 0 0,-2 1 0 0 0,-2 0 0 0 0,-1 0 0 0 0,-1 1 0 0 0,1-1 0 0 0,-1 1 0 0 0,0 1 0 0 0,1-1 0 0 0,0 0 0 0 0,0 0 0 0 0,0 0 0 0 0,0 0 0 0 0,0 0 0 0 0,0 1 0 0 0,0-1 0 0 0,0 0 0 0 0,0 0 0 0 0,0 0 0 0 0,0 0 0 0 0,0 7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7T13:30:39.932"/>
    </inkml:context>
    <inkml:brush xml:id="br0">
      <inkml:brushProperty name="width" value="0.1" units="cm"/>
      <inkml:brushProperty name="height" value="0.1" units="cm"/>
      <inkml:brushProperty name="color" value="#E71224"/>
    </inkml:brush>
  </inkml:definitions>
  <inkml:trace contextRef="#ctx0" brushRef="#br0">23918 3307 16383 0 0,'7'7'0'0'0,"8"2"0"0"0,3 6 0 0 0,-3 7 0 0 0,3 0 0 0 0,5-4 0 0 0,6 2 0 0 0,-3 4 0 0 0,1-3 0 0 0,-4 3 0 0 0,1-3 0 0 0,-4 1 0 0 0,1 4 0 0 0,11 4 0 0 0,-1 10 0 0 0,-5 5 0 0 0,-7 1 0 0 0,0-7 0 0 0,3-10 0 0 0,-2-3 0 0 0,-5 0 0 0 0,-4 2 0 0 0,-5 4 0 0 0,-3 2 0 0 0,5 9 0 0 0,1 4 0 0 0,-2 0 0 0 0,-1-1 0 0 0,-2-2 0 0 0,-2-1 0 0 0,0-2 0 0 0,-2-1 0 0 0,0-1 0 0 0,-1 0 0 0 0,1-1 0 0 0,0 1 0 0 0,-1-1 0 0 0,1 1 0 0 0,0 0 0 0 0,0 0 0 0 0,0-1 0 0 0,0 1 0 0 0,0 0 0 0 0,0 7 0 0 0,0 2 0 0 0,0-1 0 0 0,0-1 0 0 0,0-3 0 0 0,0-1 0 0 0,0-1 0 0 0,-6-2 0 0 0,-3 0 0 0 0,-6-7 0 0 0,-1-2 0 0 0,3 0 0 0 0,-3 8 0 0 0,-6-1 0 0 0,1-2 0 0 0,-2-6 0 0 0,2-8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8A5F4-8A54-40B7-994C-7C13036E170D}" type="datetimeFigureOut">
              <a:rPr lang="en-US" smtClean="0"/>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A36BE-6307-4311-8670-04B167AD63B7}" type="slidenum">
              <a:rPr lang="en-US" smtClean="0"/>
              <a:t>‹#›</a:t>
            </a:fld>
            <a:endParaRPr lang="en-US"/>
          </a:p>
        </p:txBody>
      </p:sp>
    </p:spTree>
    <p:extLst>
      <p:ext uri="{BB962C8B-B14F-4D97-AF65-F5344CB8AC3E}">
        <p14:creationId xmlns:p14="http://schemas.microsoft.com/office/powerpoint/2010/main" val="210185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12</a:t>
            </a:fld>
            <a:endParaRPr lang="en-US"/>
          </a:p>
        </p:txBody>
      </p:sp>
    </p:spTree>
    <p:extLst>
      <p:ext uri="{BB962C8B-B14F-4D97-AF65-F5344CB8AC3E}">
        <p14:creationId xmlns:p14="http://schemas.microsoft.com/office/powerpoint/2010/main" val="2981340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13</a:t>
            </a:fld>
            <a:endParaRPr lang="en-US"/>
          </a:p>
        </p:txBody>
      </p:sp>
    </p:spTree>
    <p:extLst>
      <p:ext uri="{BB962C8B-B14F-4D97-AF65-F5344CB8AC3E}">
        <p14:creationId xmlns:p14="http://schemas.microsoft.com/office/powerpoint/2010/main" val="3728053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14</a:t>
            </a:fld>
            <a:endParaRPr lang="en-US"/>
          </a:p>
        </p:txBody>
      </p:sp>
    </p:spTree>
    <p:extLst>
      <p:ext uri="{BB962C8B-B14F-4D97-AF65-F5344CB8AC3E}">
        <p14:creationId xmlns:p14="http://schemas.microsoft.com/office/powerpoint/2010/main" val="606644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#1 is not a great start</a:t>
            </a:r>
          </a:p>
        </p:txBody>
      </p:sp>
      <p:sp>
        <p:nvSpPr>
          <p:cNvPr id="4" name="Slide Number Placeholder 3"/>
          <p:cNvSpPr>
            <a:spLocks noGrp="1"/>
          </p:cNvSpPr>
          <p:nvPr>
            <p:ph type="sldNum" sz="quarter" idx="5"/>
          </p:nvPr>
        </p:nvSpPr>
        <p:spPr/>
        <p:txBody>
          <a:bodyPr/>
          <a:lstStyle/>
          <a:p>
            <a:fld id="{2E5A36BE-6307-4311-8670-04B167AD63B7}" type="slidenum">
              <a:rPr lang="en-US" smtClean="0"/>
              <a:t>17</a:t>
            </a:fld>
            <a:endParaRPr lang="en-US"/>
          </a:p>
        </p:txBody>
      </p:sp>
    </p:spTree>
    <p:extLst>
      <p:ext uri="{BB962C8B-B14F-4D97-AF65-F5344CB8AC3E}">
        <p14:creationId xmlns:p14="http://schemas.microsoft.com/office/powerpoint/2010/main" val="1028047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#1 is not a great start</a:t>
            </a:r>
          </a:p>
        </p:txBody>
      </p:sp>
      <p:sp>
        <p:nvSpPr>
          <p:cNvPr id="4" name="Slide Number Placeholder 3"/>
          <p:cNvSpPr>
            <a:spLocks noGrp="1"/>
          </p:cNvSpPr>
          <p:nvPr>
            <p:ph type="sldNum" sz="quarter" idx="5"/>
          </p:nvPr>
        </p:nvSpPr>
        <p:spPr/>
        <p:txBody>
          <a:bodyPr/>
          <a:lstStyle/>
          <a:p>
            <a:fld id="{2E5A36BE-6307-4311-8670-04B167AD63B7}" type="slidenum">
              <a:rPr lang="en-US" smtClean="0"/>
              <a:t>18</a:t>
            </a:fld>
            <a:endParaRPr lang="en-US"/>
          </a:p>
        </p:txBody>
      </p:sp>
    </p:spTree>
    <p:extLst>
      <p:ext uri="{BB962C8B-B14F-4D97-AF65-F5344CB8AC3E}">
        <p14:creationId xmlns:p14="http://schemas.microsoft.com/office/powerpoint/2010/main" val="511558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#1 is not a great start</a:t>
            </a:r>
          </a:p>
        </p:txBody>
      </p:sp>
      <p:sp>
        <p:nvSpPr>
          <p:cNvPr id="4" name="Slide Number Placeholder 3"/>
          <p:cNvSpPr>
            <a:spLocks noGrp="1"/>
          </p:cNvSpPr>
          <p:nvPr>
            <p:ph type="sldNum" sz="quarter" idx="5"/>
          </p:nvPr>
        </p:nvSpPr>
        <p:spPr/>
        <p:txBody>
          <a:bodyPr/>
          <a:lstStyle/>
          <a:p>
            <a:fld id="{2E5A36BE-6307-4311-8670-04B167AD63B7}" type="slidenum">
              <a:rPr lang="en-US" smtClean="0"/>
              <a:t>19</a:t>
            </a:fld>
            <a:endParaRPr lang="en-US"/>
          </a:p>
        </p:txBody>
      </p:sp>
    </p:spTree>
    <p:extLst>
      <p:ext uri="{BB962C8B-B14F-4D97-AF65-F5344CB8AC3E}">
        <p14:creationId xmlns:p14="http://schemas.microsoft.com/office/powerpoint/2010/main" val="11454859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#1 is not a great start</a:t>
            </a:r>
          </a:p>
        </p:txBody>
      </p:sp>
      <p:sp>
        <p:nvSpPr>
          <p:cNvPr id="4" name="Slide Number Placeholder 3"/>
          <p:cNvSpPr>
            <a:spLocks noGrp="1"/>
          </p:cNvSpPr>
          <p:nvPr>
            <p:ph type="sldNum" sz="quarter" idx="5"/>
          </p:nvPr>
        </p:nvSpPr>
        <p:spPr/>
        <p:txBody>
          <a:bodyPr/>
          <a:lstStyle/>
          <a:p>
            <a:fld id="{2E5A36BE-6307-4311-8670-04B167AD63B7}" type="slidenum">
              <a:rPr lang="en-US" smtClean="0"/>
              <a:t>20</a:t>
            </a:fld>
            <a:endParaRPr lang="en-US"/>
          </a:p>
        </p:txBody>
      </p:sp>
    </p:spTree>
    <p:extLst>
      <p:ext uri="{BB962C8B-B14F-4D97-AF65-F5344CB8AC3E}">
        <p14:creationId xmlns:p14="http://schemas.microsoft.com/office/powerpoint/2010/main" val="3338839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#1 is not a great start</a:t>
            </a:r>
          </a:p>
        </p:txBody>
      </p:sp>
      <p:sp>
        <p:nvSpPr>
          <p:cNvPr id="4" name="Slide Number Placeholder 3"/>
          <p:cNvSpPr>
            <a:spLocks noGrp="1"/>
          </p:cNvSpPr>
          <p:nvPr>
            <p:ph type="sldNum" sz="quarter" idx="5"/>
          </p:nvPr>
        </p:nvSpPr>
        <p:spPr/>
        <p:txBody>
          <a:bodyPr/>
          <a:lstStyle/>
          <a:p>
            <a:fld id="{2E5A36BE-6307-4311-8670-04B167AD63B7}" type="slidenum">
              <a:rPr lang="en-US" smtClean="0"/>
              <a:t>21</a:t>
            </a:fld>
            <a:endParaRPr lang="en-US"/>
          </a:p>
        </p:txBody>
      </p:sp>
    </p:spTree>
    <p:extLst>
      <p:ext uri="{BB962C8B-B14F-4D97-AF65-F5344CB8AC3E}">
        <p14:creationId xmlns:p14="http://schemas.microsoft.com/office/powerpoint/2010/main" val="3520647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#1 is not a great start</a:t>
            </a:r>
          </a:p>
        </p:txBody>
      </p:sp>
      <p:sp>
        <p:nvSpPr>
          <p:cNvPr id="4" name="Slide Number Placeholder 3"/>
          <p:cNvSpPr>
            <a:spLocks noGrp="1"/>
          </p:cNvSpPr>
          <p:nvPr>
            <p:ph type="sldNum" sz="quarter" idx="5"/>
          </p:nvPr>
        </p:nvSpPr>
        <p:spPr/>
        <p:txBody>
          <a:bodyPr/>
          <a:lstStyle/>
          <a:p>
            <a:fld id="{2E5A36BE-6307-4311-8670-04B167AD63B7}" type="slidenum">
              <a:rPr lang="en-US" smtClean="0"/>
              <a:t>22</a:t>
            </a:fld>
            <a:endParaRPr lang="en-US"/>
          </a:p>
        </p:txBody>
      </p:sp>
    </p:spTree>
    <p:extLst>
      <p:ext uri="{BB962C8B-B14F-4D97-AF65-F5344CB8AC3E}">
        <p14:creationId xmlns:p14="http://schemas.microsoft.com/office/powerpoint/2010/main" val="33679746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23</a:t>
            </a:fld>
            <a:endParaRPr lang="en-US"/>
          </a:p>
        </p:txBody>
      </p:sp>
    </p:spTree>
    <p:extLst>
      <p:ext uri="{BB962C8B-B14F-4D97-AF65-F5344CB8AC3E}">
        <p14:creationId xmlns:p14="http://schemas.microsoft.com/office/powerpoint/2010/main" val="2617173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#1 is not a great start</a:t>
            </a:r>
          </a:p>
        </p:txBody>
      </p:sp>
      <p:sp>
        <p:nvSpPr>
          <p:cNvPr id="4" name="Slide Number Placeholder 3"/>
          <p:cNvSpPr>
            <a:spLocks noGrp="1"/>
          </p:cNvSpPr>
          <p:nvPr>
            <p:ph type="sldNum" sz="quarter" idx="5"/>
          </p:nvPr>
        </p:nvSpPr>
        <p:spPr/>
        <p:txBody>
          <a:bodyPr/>
          <a:lstStyle/>
          <a:p>
            <a:fld id="{2E5A36BE-6307-4311-8670-04B167AD63B7}" type="slidenum">
              <a:rPr lang="en-US" smtClean="0"/>
              <a:t>24</a:t>
            </a:fld>
            <a:endParaRPr lang="en-US"/>
          </a:p>
        </p:txBody>
      </p:sp>
    </p:spTree>
    <p:extLst>
      <p:ext uri="{BB962C8B-B14F-4D97-AF65-F5344CB8AC3E}">
        <p14:creationId xmlns:p14="http://schemas.microsoft.com/office/powerpoint/2010/main" val="21370709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#1 is not a great start</a:t>
            </a:r>
          </a:p>
        </p:txBody>
      </p:sp>
      <p:sp>
        <p:nvSpPr>
          <p:cNvPr id="4" name="Slide Number Placeholder 3"/>
          <p:cNvSpPr>
            <a:spLocks noGrp="1"/>
          </p:cNvSpPr>
          <p:nvPr>
            <p:ph type="sldNum" sz="quarter" idx="5"/>
          </p:nvPr>
        </p:nvSpPr>
        <p:spPr/>
        <p:txBody>
          <a:bodyPr/>
          <a:lstStyle/>
          <a:p>
            <a:fld id="{2E5A36BE-6307-4311-8670-04B167AD63B7}" type="slidenum">
              <a:rPr lang="en-US" smtClean="0"/>
              <a:t>25</a:t>
            </a:fld>
            <a:endParaRPr lang="en-US"/>
          </a:p>
        </p:txBody>
      </p:sp>
    </p:spTree>
    <p:extLst>
      <p:ext uri="{BB962C8B-B14F-4D97-AF65-F5344CB8AC3E}">
        <p14:creationId xmlns:p14="http://schemas.microsoft.com/office/powerpoint/2010/main" val="1737180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#1 is not a great start</a:t>
            </a:r>
          </a:p>
        </p:txBody>
      </p:sp>
      <p:sp>
        <p:nvSpPr>
          <p:cNvPr id="4" name="Slide Number Placeholder 3"/>
          <p:cNvSpPr>
            <a:spLocks noGrp="1"/>
          </p:cNvSpPr>
          <p:nvPr>
            <p:ph type="sldNum" sz="quarter" idx="5"/>
          </p:nvPr>
        </p:nvSpPr>
        <p:spPr/>
        <p:txBody>
          <a:bodyPr/>
          <a:lstStyle/>
          <a:p>
            <a:fld id="{2E5A36BE-6307-4311-8670-04B167AD63B7}" type="slidenum">
              <a:rPr lang="en-US" smtClean="0"/>
              <a:t>26</a:t>
            </a:fld>
            <a:endParaRPr lang="en-US"/>
          </a:p>
        </p:txBody>
      </p:sp>
    </p:spTree>
    <p:extLst>
      <p:ext uri="{BB962C8B-B14F-4D97-AF65-F5344CB8AC3E}">
        <p14:creationId xmlns:p14="http://schemas.microsoft.com/office/powerpoint/2010/main" val="2534401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#1 is not a great start</a:t>
            </a:r>
          </a:p>
        </p:txBody>
      </p:sp>
      <p:sp>
        <p:nvSpPr>
          <p:cNvPr id="4" name="Slide Number Placeholder 3"/>
          <p:cNvSpPr>
            <a:spLocks noGrp="1"/>
          </p:cNvSpPr>
          <p:nvPr>
            <p:ph type="sldNum" sz="quarter" idx="5"/>
          </p:nvPr>
        </p:nvSpPr>
        <p:spPr/>
        <p:txBody>
          <a:bodyPr/>
          <a:lstStyle/>
          <a:p>
            <a:fld id="{2E5A36BE-6307-4311-8670-04B167AD63B7}" type="slidenum">
              <a:rPr lang="en-US" smtClean="0"/>
              <a:t>27</a:t>
            </a:fld>
            <a:endParaRPr lang="en-US"/>
          </a:p>
        </p:txBody>
      </p:sp>
    </p:spTree>
    <p:extLst>
      <p:ext uri="{BB962C8B-B14F-4D97-AF65-F5344CB8AC3E}">
        <p14:creationId xmlns:p14="http://schemas.microsoft.com/office/powerpoint/2010/main" val="3558822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Moore’s Law (Hardware) versus inflation, i.e., cost of workforce over time, maintenance of software, licensing fee that needs to be renewed, new features like AI integration (Software)</a:t>
            </a:r>
          </a:p>
        </p:txBody>
      </p:sp>
      <p:sp>
        <p:nvSpPr>
          <p:cNvPr id="4" name="Slide Number Placeholder 3"/>
          <p:cNvSpPr>
            <a:spLocks noGrp="1"/>
          </p:cNvSpPr>
          <p:nvPr>
            <p:ph type="sldNum" sz="quarter" idx="5"/>
          </p:nvPr>
        </p:nvSpPr>
        <p:spPr/>
        <p:txBody>
          <a:bodyPr/>
          <a:lstStyle/>
          <a:p>
            <a:fld id="{2E5A36BE-6307-4311-8670-04B167AD63B7}" type="slidenum">
              <a:rPr lang="en-US" smtClean="0"/>
              <a:t>28</a:t>
            </a:fld>
            <a:endParaRPr lang="en-US"/>
          </a:p>
        </p:txBody>
      </p:sp>
    </p:spTree>
    <p:extLst>
      <p:ext uri="{BB962C8B-B14F-4D97-AF65-F5344CB8AC3E}">
        <p14:creationId xmlns:p14="http://schemas.microsoft.com/office/powerpoint/2010/main" val="3743530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Moore’s Law (Hardware) versus inflation, i.e., cost of workforce over time, maintenance of software, licensing fee that needs to be renewed, new features like AI integration (Software)</a:t>
            </a:r>
          </a:p>
        </p:txBody>
      </p:sp>
      <p:sp>
        <p:nvSpPr>
          <p:cNvPr id="4" name="Slide Number Placeholder 3"/>
          <p:cNvSpPr>
            <a:spLocks noGrp="1"/>
          </p:cNvSpPr>
          <p:nvPr>
            <p:ph type="sldNum" sz="quarter" idx="5"/>
          </p:nvPr>
        </p:nvSpPr>
        <p:spPr/>
        <p:txBody>
          <a:bodyPr/>
          <a:lstStyle/>
          <a:p>
            <a:fld id="{2E5A36BE-6307-4311-8670-04B167AD63B7}" type="slidenum">
              <a:rPr lang="en-US" smtClean="0"/>
              <a:t>29</a:t>
            </a:fld>
            <a:endParaRPr lang="en-US"/>
          </a:p>
        </p:txBody>
      </p:sp>
    </p:spTree>
    <p:extLst>
      <p:ext uri="{BB962C8B-B14F-4D97-AF65-F5344CB8AC3E}">
        <p14:creationId xmlns:p14="http://schemas.microsoft.com/office/powerpoint/2010/main" val="60810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30</a:t>
            </a:fld>
            <a:endParaRPr lang="en-US"/>
          </a:p>
        </p:txBody>
      </p:sp>
    </p:spTree>
    <p:extLst>
      <p:ext uri="{BB962C8B-B14F-4D97-AF65-F5344CB8AC3E}">
        <p14:creationId xmlns:p14="http://schemas.microsoft.com/office/powerpoint/2010/main" val="2341116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causes software aging?</a:t>
            </a:r>
          </a:p>
          <a:p>
            <a:pPr marL="171450" indent="-171450">
              <a:buFont typeface="Arial"/>
              <a:buChar char="•"/>
            </a:pPr>
            <a:r>
              <a:rPr lang="en-US" b="1" dirty="0"/>
              <a:t>Changing requirements</a:t>
            </a:r>
            <a:endParaRPr lang="en-US" dirty="0"/>
          </a:p>
          <a:p>
            <a:pPr marL="628650" lvl="1" indent="-171450">
              <a:buFont typeface="Arial"/>
              <a:buChar char="•"/>
            </a:pPr>
            <a:r>
              <a:rPr lang="en-US" dirty="0"/>
              <a:t>User needs evolve</a:t>
            </a:r>
            <a:endParaRPr lang="en-US" dirty="0">
              <a:ea typeface="Calibri"/>
              <a:cs typeface="Calibri"/>
            </a:endParaRPr>
          </a:p>
          <a:p>
            <a:pPr marL="628650" lvl="1" indent="-171450">
              <a:buFont typeface="Arial"/>
              <a:buChar char="•"/>
            </a:pPr>
            <a:r>
              <a:rPr lang="en-US" dirty="0"/>
              <a:t>New regulations, platforms, or integrations are required</a:t>
            </a:r>
            <a:endParaRPr lang="en-US" dirty="0">
              <a:ea typeface="Calibri"/>
              <a:cs typeface="Calibri"/>
            </a:endParaRPr>
          </a:p>
          <a:p>
            <a:pPr marL="171450" indent="-171450">
              <a:buFont typeface="Arial"/>
              <a:buChar char="•"/>
            </a:pPr>
            <a:r>
              <a:rPr lang="en-US" b="1" dirty="0"/>
              <a:t>Technology obsolescence</a:t>
            </a:r>
            <a:endParaRPr lang="en-US" dirty="0"/>
          </a:p>
          <a:p>
            <a:pPr marL="628650" lvl="1" indent="-171450">
              <a:buFont typeface="Arial"/>
              <a:buChar char="•"/>
            </a:pPr>
            <a:r>
              <a:rPr lang="en-US" dirty="0"/>
              <a:t>Programming languages, frameworks, and libraries become outdated</a:t>
            </a:r>
            <a:endParaRPr lang="en-US" dirty="0">
              <a:ea typeface="Calibri"/>
              <a:cs typeface="Calibri"/>
            </a:endParaRPr>
          </a:p>
          <a:p>
            <a:pPr marL="628650" lvl="1" indent="-171450">
              <a:buFont typeface="Arial"/>
              <a:buChar char="•"/>
            </a:pPr>
            <a:r>
              <a:rPr lang="en-US" dirty="0"/>
              <a:t>Hardware and operating systems change</a:t>
            </a:r>
            <a:endParaRPr lang="en-US" dirty="0">
              <a:ea typeface="Calibri"/>
              <a:cs typeface="Calibri"/>
            </a:endParaRPr>
          </a:p>
          <a:p>
            <a:pPr marL="171450" indent="-171450">
              <a:buFont typeface="Arial"/>
              <a:buChar char="•"/>
            </a:pPr>
            <a:r>
              <a:rPr lang="en-US" b="1" dirty="0"/>
              <a:t>Accumulation of complexity</a:t>
            </a:r>
            <a:endParaRPr lang="en-US" dirty="0"/>
          </a:p>
          <a:p>
            <a:pPr marL="628650" lvl="1" indent="-171450">
              <a:buFont typeface="Arial"/>
              <a:buChar char="•"/>
            </a:pPr>
            <a:r>
              <a:rPr lang="en-US" dirty="0"/>
              <a:t>Quick fixes, patches, and feature additions over time</a:t>
            </a:r>
            <a:endParaRPr lang="en-US" dirty="0">
              <a:ea typeface="Calibri"/>
              <a:cs typeface="Calibri"/>
            </a:endParaRPr>
          </a:p>
          <a:p>
            <a:pPr marL="628650" lvl="1" indent="-171450">
              <a:buFont typeface="Arial"/>
              <a:buChar char="•"/>
            </a:pPr>
            <a:r>
              <a:rPr lang="en-US" dirty="0"/>
              <a:t>Poor documentation or loss of original developers</a:t>
            </a:r>
            <a:endParaRPr lang="en-US" dirty="0">
              <a:ea typeface="Calibri"/>
              <a:cs typeface="Calibri"/>
            </a:endParaRPr>
          </a:p>
          <a:p>
            <a:pPr marL="628650" lvl="1" indent="-171450">
              <a:buFont typeface="Arial"/>
              <a:buChar char="•"/>
            </a:pPr>
            <a:r>
              <a:rPr lang="en-US" dirty="0"/>
              <a:t>Increase in technical debt</a:t>
            </a:r>
            <a:endParaRPr lang="en-US" dirty="0">
              <a:ea typeface="Calibri"/>
              <a:cs typeface="Calibri"/>
            </a:endParaRPr>
          </a:p>
          <a:p>
            <a:pPr marL="171450" indent="-171450">
              <a:buFont typeface="Arial"/>
              <a:buChar char="•"/>
            </a:pPr>
            <a:r>
              <a:rPr lang="en-US" b="1" dirty="0"/>
              <a:t>Environment mismatch</a:t>
            </a:r>
            <a:endParaRPr lang="en-US" dirty="0"/>
          </a:p>
          <a:p>
            <a:pPr marL="628650" lvl="1" indent="-171450">
              <a:buFont typeface="Arial"/>
              <a:buChar char="•"/>
            </a:pPr>
            <a:r>
              <a:rPr lang="en-US" dirty="0"/>
              <a:t>Software no longer fits current business processes</a:t>
            </a:r>
            <a:endParaRPr lang="en-US" dirty="0">
              <a:ea typeface="Calibri"/>
              <a:cs typeface="Calibri"/>
            </a:endParaRPr>
          </a:p>
          <a:p>
            <a:pPr marL="628650" lvl="1" indent="-171450">
              <a:buFont typeface="Arial"/>
              <a:buChar char="•"/>
            </a:pPr>
            <a:r>
              <a:rPr lang="en-US" dirty="0"/>
              <a:t>Dependencies may no longer be supported</a:t>
            </a:r>
            <a:endParaRPr lang="en-US" dirty="0">
              <a:ea typeface="Calibri"/>
              <a:cs typeface="Calibri"/>
            </a:endParaRPr>
          </a:p>
          <a:p>
            <a:pPr lvl="1"/>
            <a:endParaRPr lang="en-US" dirty="0"/>
          </a:p>
          <a:p>
            <a:pPr lvl="1"/>
            <a:endParaRPr lang="en-US" dirty="0"/>
          </a:p>
          <a:p>
            <a:pPr lvl="1"/>
            <a:r>
              <a:rPr lang="en-US" dirty="0"/>
              <a:t>Estimating </a:t>
            </a:r>
            <a:r>
              <a:rPr lang="en-US" b="1" dirty="0"/>
              <a:t>software costs and schedules</a:t>
            </a:r>
            <a:r>
              <a:rPr lang="en-US" dirty="0"/>
              <a:t> is difficult because software development is fundamentally different from manufacturing or construction. The main reasons are:</a:t>
            </a:r>
            <a:endParaRPr lang="en-US">
              <a:ea typeface="Calibri"/>
              <a:cs typeface="Calibri"/>
            </a:endParaRPr>
          </a:p>
          <a:p>
            <a:pPr lvl="1"/>
            <a:r>
              <a:rPr lang="en-US"/>
              <a:t>1. Software is intangible</a:t>
            </a:r>
          </a:p>
          <a:p>
            <a:pPr marL="171450" indent="-171450">
              <a:buFont typeface="Arial"/>
              <a:buChar char="•"/>
            </a:pPr>
            <a:r>
              <a:rPr lang="en-US"/>
              <a:t>Software cannot be seen or touched, so progress is hard to measure accurately.</a:t>
            </a:r>
          </a:p>
          <a:p>
            <a:pPr marL="171450" indent="-171450">
              <a:buFont typeface="Arial"/>
              <a:buChar char="•"/>
            </a:pPr>
            <a:r>
              <a:rPr lang="en-US"/>
              <a:t>Unlike physical products, there is no clear “percentage complete” until features are fully working.</a:t>
            </a:r>
          </a:p>
          <a:p>
            <a:r>
              <a:rPr lang="en-US"/>
              <a:t>2. Requirements are often unclear or change over time</a:t>
            </a:r>
          </a:p>
          <a:p>
            <a:pPr marL="171450" indent="-171450">
              <a:buFont typeface="Arial"/>
              <a:buChar char="•"/>
            </a:pPr>
            <a:r>
              <a:rPr lang="en-US" dirty="0"/>
              <a:t>Users may not fully know what they want at the start.</a:t>
            </a:r>
            <a:endParaRPr lang="en-US" dirty="0">
              <a:ea typeface="Calibri"/>
              <a:cs typeface="Calibri"/>
            </a:endParaRPr>
          </a:p>
          <a:p>
            <a:pPr marL="171450" indent="-171450">
              <a:buFont typeface="Arial"/>
              <a:buChar char="•"/>
            </a:pPr>
            <a:r>
              <a:rPr lang="en-US" dirty="0"/>
              <a:t>Requirements frequently evolve due to business changes, new ideas, or feedback, causing </a:t>
            </a:r>
            <a:r>
              <a:rPr lang="en-US" b="1" dirty="0"/>
              <a:t>scope creep</a:t>
            </a:r>
            <a:r>
              <a:rPr lang="en-US" dirty="0"/>
              <a:t>.</a:t>
            </a:r>
            <a:endParaRPr lang="en-US" dirty="0">
              <a:ea typeface="Calibri"/>
              <a:cs typeface="Calibri"/>
            </a:endParaRPr>
          </a:p>
          <a:p>
            <a:r>
              <a:rPr lang="en-US" dirty="0"/>
              <a:t>3. High complexity and interdependencies</a:t>
            </a:r>
            <a:endParaRPr lang="en-US" dirty="0">
              <a:ea typeface="Calibri"/>
              <a:cs typeface="Calibri"/>
            </a:endParaRPr>
          </a:p>
          <a:p>
            <a:pPr marL="171450" indent="-171450">
              <a:buFont typeface="Arial"/>
              <a:buChar char="•"/>
            </a:pPr>
            <a:r>
              <a:rPr lang="en-US" dirty="0"/>
              <a:t>Even small changes can affect many parts of the system.</a:t>
            </a:r>
            <a:endParaRPr lang="en-US" dirty="0">
              <a:ea typeface="Calibri"/>
              <a:cs typeface="Calibri"/>
            </a:endParaRPr>
          </a:p>
          <a:p>
            <a:pPr marL="171450" indent="-171450">
              <a:buFont typeface="Arial"/>
              <a:buChar char="•"/>
            </a:pPr>
            <a:r>
              <a:rPr lang="en-US" dirty="0"/>
              <a:t>Interactions between components are hard to predict, increasing uncertainty.</a:t>
            </a:r>
            <a:endParaRPr lang="en-US" dirty="0">
              <a:ea typeface="Calibri"/>
              <a:cs typeface="Calibri"/>
            </a:endParaRPr>
          </a:p>
          <a:p>
            <a:r>
              <a:rPr lang="en-US" dirty="0"/>
              <a:t>4. Human factors dominate</a:t>
            </a:r>
            <a:endParaRPr lang="en-US" dirty="0">
              <a:ea typeface="Calibri"/>
              <a:cs typeface="Calibri"/>
            </a:endParaRPr>
          </a:p>
          <a:p>
            <a:pPr marL="171450" indent="-171450">
              <a:buFont typeface="Arial"/>
              <a:buChar char="•"/>
            </a:pPr>
            <a:r>
              <a:rPr lang="en-US" dirty="0"/>
              <a:t>Productivity varies widely between developers.</a:t>
            </a:r>
            <a:endParaRPr lang="en-US" dirty="0">
              <a:ea typeface="Calibri"/>
              <a:cs typeface="Calibri"/>
            </a:endParaRPr>
          </a:p>
          <a:p>
            <a:pPr marL="171450" indent="-171450">
              <a:buFont typeface="Arial"/>
              <a:buChar char="•"/>
            </a:pPr>
            <a:r>
              <a:rPr lang="en-US" dirty="0"/>
              <a:t>Team experience, communication, motivation, and turnover strongly affect effort and timelines.</a:t>
            </a:r>
            <a:endParaRPr lang="en-US" dirty="0">
              <a:ea typeface="Calibri"/>
              <a:cs typeface="Calibri"/>
            </a:endParaRPr>
          </a:p>
          <a:p>
            <a:r>
              <a:rPr lang="en-US" dirty="0"/>
              <a:t>5. Novelty of projects</a:t>
            </a:r>
            <a:endParaRPr lang="en-US" dirty="0">
              <a:ea typeface="Calibri"/>
              <a:cs typeface="Calibri"/>
            </a:endParaRPr>
          </a:p>
          <a:p>
            <a:pPr marL="171450" indent="-171450">
              <a:buFont typeface="Arial"/>
              <a:buChar char="•"/>
            </a:pPr>
            <a:r>
              <a:rPr lang="en-US" dirty="0"/>
              <a:t>Many software projects involve new technologies, tools, or domains.</a:t>
            </a:r>
            <a:endParaRPr lang="en-US" dirty="0">
              <a:ea typeface="Calibri"/>
              <a:cs typeface="Calibri"/>
            </a:endParaRPr>
          </a:p>
          <a:p>
            <a:pPr marL="171450" indent="-171450">
              <a:buFont typeface="Arial"/>
              <a:buChar char="•"/>
            </a:pPr>
            <a:r>
              <a:rPr lang="en-US" dirty="0"/>
              <a:t>Lack of historical data makes estimation unreliable.</a:t>
            </a:r>
            <a:endParaRPr lang="en-US" dirty="0">
              <a:ea typeface="Calibri"/>
              <a:cs typeface="Calibri"/>
            </a:endParaRPr>
          </a:p>
          <a:p>
            <a:r>
              <a:rPr lang="en-US" dirty="0"/>
              <a:t>6. Difficulty in accurately measuring size and effort</a:t>
            </a:r>
            <a:endParaRPr lang="en-US" dirty="0">
              <a:ea typeface="Calibri"/>
              <a:cs typeface="Calibri"/>
            </a:endParaRPr>
          </a:p>
          <a:p>
            <a:pPr marL="171450" indent="-171450">
              <a:buFont typeface="Arial"/>
              <a:buChar char="•"/>
            </a:pPr>
            <a:r>
              <a:rPr lang="en-US" dirty="0"/>
              <a:t>Metrics like Lines of Code (LOC) or Function Points are only approximations.</a:t>
            </a:r>
            <a:endParaRPr lang="en-US" dirty="0">
              <a:ea typeface="Calibri"/>
              <a:cs typeface="Calibri"/>
            </a:endParaRPr>
          </a:p>
          <a:p>
            <a:pPr marL="171450" indent="-171450">
              <a:buFont typeface="Arial"/>
              <a:buChar char="•"/>
            </a:pPr>
            <a:r>
              <a:rPr lang="en-US" dirty="0"/>
              <a:t>Different developers can implement the same functionality very differently.</a:t>
            </a:r>
            <a:endParaRPr lang="en-US" dirty="0">
              <a:ea typeface="Calibri"/>
              <a:cs typeface="Calibri"/>
            </a:endParaRPr>
          </a:p>
          <a:p>
            <a:r>
              <a:rPr lang="en-US" dirty="0"/>
              <a:t>7. External dependencies and risks</a:t>
            </a:r>
            <a:endParaRPr lang="en-US" dirty="0">
              <a:ea typeface="Calibri"/>
              <a:cs typeface="Calibri"/>
            </a:endParaRPr>
          </a:p>
          <a:p>
            <a:pPr marL="171450" indent="-171450">
              <a:buFont typeface="Arial"/>
              <a:buChar char="•"/>
            </a:pPr>
            <a:r>
              <a:rPr lang="en-US" dirty="0"/>
              <a:t>Reliance on third-party libraries, APIs, vendors, or platforms introduces uncertainty.</a:t>
            </a:r>
            <a:endParaRPr lang="en-US" dirty="0">
              <a:ea typeface="Calibri"/>
              <a:cs typeface="Calibri"/>
            </a:endParaRPr>
          </a:p>
          <a:p>
            <a:pPr marL="171450" indent="-171450">
              <a:buFont typeface="Arial"/>
              <a:buChar char="•"/>
            </a:pPr>
            <a:r>
              <a:rPr lang="en-US" dirty="0"/>
              <a:t>Delays may occur due to integration issues or changing external constraints.</a:t>
            </a:r>
            <a:endParaRPr lang="en-US" dirty="0">
              <a:ea typeface="Calibri"/>
              <a:cs typeface="Calibri"/>
            </a:endParaRPr>
          </a:p>
          <a:p>
            <a:r>
              <a:rPr lang="en-US" dirty="0"/>
              <a:t>8. Optimism and management pressure</a:t>
            </a:r>
            <a:endParaRPr lang="en-US" dirty="0">
              <a:ea typeface="Calibri"/>
              <a:cs typeface="Calibri"/>
            </a:endParaRPr>
          </a:p>
          <a:p>
            <a:pPr marL="171450" indent="-171450">
              <a:buFont typeface="Arial"/>
              <a:buChar char="•"/>
            </a:pPr>
            <a:r>
              <a:rPr lang="en-US" dirty="0"/>
              <a:t>Estimates are often influenced by wishful thinking or deadlines imposed by management.</a:t>
            </a:r>
            <a:endParaRPr lang="en-US" dirty="0">
              <a:ea typeface="Calibri"/>
              <a:cs typeface="Calibri"/>
            </a:endParaRPr>
          </a:p>
          <a:p>
            <a:pPr marL="171450" indent="-171450">
              <a:buFont typeface="Arial"/>
              <a:buChar char="•"/>
            </a:pPr>
            <a:r>
              <a:rPr lang="en-US" dirty="0"/>
              <a:t>Developers may underestimate to win projects or meet expectations.</a:t>
            </a:r>
            <a:endParaRPr lang="en-US" dirty="0">
              <a:ea typeface="Calibri"/>
              <a:cs typeface="Calibri"/>
            </a:endParaRPr>
          </a:p>
          <a:p>
            <a:r>
              <a:rPr lang="en-US" dirty="0"/>
              <a:t>9. Testing, debugging, and rework are unpredictable</a:t>
            </a:r>
            <a:endParaRPr lang="en-US" dirty="0">
              <a:ea typeface="Calibri"/>
              <a:cs typeface="Calibri"/>
            </a:endParaRPr>
          </a:p>
          <a:p>
            <a:pPr marL="171450" indent="-171450">
              <a:buFont typeface="Arial"/>
              <a:buChar char="•"/>
            </a:pPr>
            <a:r>
              <a:rPr lang="en-US" dirty="0"/>
              <a:t>Defects are often discovered late.</a:t>
            </a:r>
            <a:endParaRPr lang="en-US" dirty="0">
              <a:ea typeface="Calibri"/>
              <a:cs typeface="Calibri"/>
            </a:endParaRPr>
          </a:p>
          <a:p>
            <a:pPr marL="171450" indent="-171450">
              <a:buFont typeface="Arial"/>
              <a:buChar char="•"/>
            </a:pPr>
            <a:r>
              <a:rPr lang="en-US" dirty="0"/>
              <a:t>Fixing bugs can take much longer than expected and may introduce new ones.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E5A36BE-6307-4311-8670-04B167AD63B7}" type="slidenum">
              <a:rPr lang="en-US" smtClean="0"/>
              <a:t>31</a:t>
            </a:fld>
            <a:endParaRPr lang="en-US"/>
          </a:p>
        </p:txBody>
      </p:sp>
    </p:spTree>
    <p:extLst>
      <p:ext uri="{BB962C8B-B14F-4D97-AF65-F5344CB8AC3E}">
        <p14:creationId xmlns:p14="http://schemas.microsoft.com/office/powerpoint/2010/main" val="6355647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E-commerce Platform Example: </a:t>
            </a:r>
            <a:r>
              <a:rPr lang="en-US" b="1" err="1"/>
              <a:t>Microservices</a:t>
            </a:r>
            <a:r>
              <a:rPr lang="en-US" b="1"/>
              <a:t> Breakdown</a:t>
            </a:r>
          </a:p>
          <a:p>
            <a:r>
              <a:rPr lang="en-US" b="1"/>
              <a:t>User Service</a:t>
            </a:r>
            <a:r>
              <a:rPr lang="en-US"/>
              <a:t>:</a:t>
            </a:r>
          </a:p>
          <a:p>
            <a:pPr lvl="1"/>
            <a:r>
              <a:rPr lang="en-US" b="1"/>
              <a:t>Responsibilities</a:t>
            </a:r>
            <a:r>
              <a:rPr lang="en-US"/>
              <a:t>: Manages user profiles, authentication, and authorization.</a:t>
            </a:r>
          </a:p>
          <a:p>
            <a:pPr lvl="1"/>
            <a:r>
              <a:rPr lang="en-US" b="1"/>
              <a:t>Operations</a:t>
            </a:r>
            <a:r>
              <a:rPr lang="en-US"/>
              <a:t>:</a:t>
            </a:r>
          </a:p>
          <a:p>
            <a:pPr lvl="2"/>
            <a:r>
              <a:rPr lang="en-US"/>
              <a:t>Register new users</a:t>
            </a:r>
          </a:p>
          <a:p>
            <a:pPr lvl="2"/>
            <a:r>
              <a:rPr lang="en-US"/>
              <a:t>Login and logout</a:t>
            </a:r>
          </a:p>
          <a:p>
            <a:pPr lvl="2"/>
            <a:r>
              <a:rPr lang="en-US"/>
              <a:t>Password reset</a:t>
            </a:r>
          </a:p>
          <a:p>
            <a:pPr lvl="1"/>
            <a:r>
              <a:rPr lang="en-US" b="1"/>
              <a:t>Technology</a:t>
            </a:r>
            <a:r>
              <a:rPr lang="en-US"/>
              <a:t>: Node.js with Express, MongoDB for storing user data.</a:t>
            </a:r>
          </a:p>
          <a:p>
            <a:r>
              <a:rPr lang="en-US" b="1"/>
              <a:t>Product Service</a:t>
            </a:r>
            <a:r>
              <a:rPr lang="en-US"/>
              <a:t>:</a:t>
            </a:r>
          </a:p>
          <a:p>
            <a:pPr lvl="1"/>
            <a:r>
              <a:rPr lang="en-US" b="1"/>
              <a:t>Responsibilities</a:t>
            </a:r>
            <a:r>
              <a:rPr lang="en-US"/>
              <a:t>: Manages product information such as name, description, price, and inventory.</a:t>
            </a:r>
          </a:p>
          <a:p>
            <a:pPr lvl="1"/>
            <a:r>
              <a:rPr lang="en-US" b="1"/>
              <a:t>Operations</a:t>
            </a:r>
            <a:r>
              <a:rPr lang="en-US"/>
              <a:t>:</a:t>
            </a:r>
          </a:p>
          <a:p>
            <a:pPr lvl="2"/>
            <a:r>
              <a:rPr lang="en-US"/>
              <a:t>Add, update, or delete products</a:t>
            </a:r>
          </a:p>
          <a:p>
            <a:pPr lvl="2"/>
            <a:r>
              <a:rPr lang="en-US"/>
              <a:t>Search for products</a:t>
            </a:r>
          </a:p>
          <a:p>
            <a:pPr lvl="1"/>
            <a:r>
              <a:rPr lang="en-US" b="1"/>
              <a:t>Technology</a:t>
            </a:r>
            <a:r>
              <a:rPr lang="en-US"/>
              <a:t>: Python with Flask, PostgreSQL for product database.</a:t>
            </a:r>
          </a:p>
          <a:p>
            <a:r>
              <a:rPr lang="en-US" b="1"/>
              <a:t>Order Service</a:t>
            </a:r>
            <a:r>
              <a:rPr lang="en-US"/>
              <a:t>:</a:t>
            </a:r>
          </a:p>
          <a:p>
            <a:pPr lvl="1"/>
            <a:r>
              <a:rPr lang="en-US" b="1"/>
              <a:t>Responsibilities</a:t>
            </a:r>
            <a:r>
              <a:rPr lang="en-US"/>
              <a:t>: Handles order creation, updating, and querying order status.</a:t>
            </a:r>
          </a:p>
          <a:p>
            <a:pPr lvl="1"/>
            <a:r>
              <a:rPr lang="en-US" b="1"/>
              <a:t>Operations</a:t>
            </a:r>
            <a:r>
              <a:rPr lang="en-US"/>
              <a:t>:</a:t>
            </a:r>
          </a:p>
          <a:p>
            <a:pPr lvl="2"/>
            <a:r>
              <a:rPr lang="en-US"/>
              <a:t>Create orders</a:t>
            </a:r>
          </a:p>
          <a:p>
            <a:pPr lvl="2"/>
            <a:r>
              <a:rPr lang="en-US"/>
              <a:t>Track order status</a:t>
            </a:r>
          </a:p>
          <a:p>
            <a:pPr lvl="1"/>
            <a:r>
              <a:rPr lang="en-US" b="1"/>
              <a:t>Technology</a:t>
            </a:r>
            <a:r>
              <a:rPr lang="en-US"/>
              <a:t>: Java with Spring Boot, MySQL for storing order data.</a:t>
            </a:r>
          </a:p>
          <a:p>
            <a:r>
              <a:rPr lang="en-US" b="1"/>
              <a:t>Payment Service</a:t>
            </a:r>
            <a:r>
              <a:rPr lang="en-US"/>
              <a:t>:</a:t>
            </a:r>
          </a:p>
          <a:p>
            <a:pPr lvl="1"/>
            <a:r>
              <a:rPr lang="en-US" b="1"/>
              <a:t>Responsibilities</a:t>
            </a:r>
            <a:r>
              <a:rPr lang="en-US"/>
              <a:t>: Manages payment processing, interacts with external payment gateways like Stripe or PayPal.</a:t>
            </a:r>
          </a:p>
          <a:p>
            <a:pPr lvl="1"/>
            <a:r>
              <a:rPr lang="en-US" b="1"/>
              <a:t>Operations</a:t>
            </a:r>
            <a:r>
              <a:rPr lang="en-US"/>
              <a:t>:</a:t>
            </a:r>
          </a:p>
          <a:p>
            <a:pPr lvl="2"/>
            <a:r>
              <a:rPr lang="en-US"/>
              <a:t>Process payments</a:t>
            </a:r>
          </a:p>
          <a:p>
            <a:pPr lvl="2"/>
            <a:r>
              <a:rPr lang="en-US"/>
              <a:t>Refund transactions</a:t>
            </a:r>
          </a:p>
          <a:p>
            <a:pPr lvl="1"/>
            <a:r>
              <a:rPr lang="en-US" b="1"/>
              <a:t>Technology</a:t>
            </a:r>
            <a:r>
              <a:rPr lang="en-US"/>
              <a:t>: Go or Node.js, communicates with third-party payment providers.</a:t>
            </a:r>
          </a:p>
          <a:p>
            <a:r>
              <a:rPr lang="en-US" b="1"/>
              <a:t>Inventory Service</a:t>
            </a:r>
            <a:r>
              <a:rPr lang="en-US"/>
              <a:t>:</a:t>
            </a:r>
          </a:p>
          <a:p>
            <a:pPr lvl="1"/>
            <a:r>
              <a:rPr lang="en-US" b="1"/>
              <a:t>Responsibilities</a:t>
            </a:r>
            <a:r>
              <a:rPr lang="en-US"/>
              <a:t>: Tracks stock levels and ensures that product availability is consistent across services.</a:t>
            </a:r>
          </a:p>
          <a:p>
            <a:pPr lvl="1"/>
            <a:r>
              <a:rPr lang="en-US" b="1"/>
              <a:t>Operations</a:t>
            </a:r>
            <a:r>
              <a:rPr lang="en-US"/>
              <a:t>:</a:t>
            </a:r>
          </a:p>
          <a:p>
            <a:pPr lvl="2"/>
            <a:r>
              <a:rPr lang="en-US"/>
              <a:t>Update inventory after an order is placed</a:t>
            </a:r>
          </a:p>
          <a:p>
            <a:pPr lvl="2"/>
            <a:r>
              <a:rPr lang="en-US"/>
              <a:t>Check stock availability</a:t>
            </a:r>
          </a:p>
          <a:p>
            <a:pPr lvl="1"/>
            <a:r>
              <a:rPr lang="en-US" b="1"/>
              <a:t>Technology</a:t>
            </a:r>
            <a:r>
              <a:rPr lang="en-US"/>
              <a:t>: Ruby on Rails, MongoDB for fast lookups.</a:t>
            </a:r>
          </a:p>
          <a:p>
            <a:r>
              <a:rPr lang="en-US" b="1"/>
              <a:t>Shipping Service</a:t>
            </a:r>
            <a:r>
              <a:rPr lang="en-US"/>
              <a:t>:</a:t>
            </a:r>
          </a:p>
          <a:p>
            <a:pPr lvl="1"/>
            <a:r>
              <a:rPr lang="en-US" b="1"/>
              <a:t>Responsibilities</a:t>
            </a:r>
            <a:r>
              <a:rPr lang="en-US"/>
              <a:t>: Handles the logistics and shipment of orders.</a:t>
            </a:r>
          </a:p>
          <a:p>
            <a:pPr lvl="1"/>
            <a:r>
              <a:rPr lang="en-US" b="1"/>
              <a:t>Operations</a:t>
            </a:r>
            <a:r>
              <a:rPr lang="en-US"/>
              <a:t>:</a:t>
            </a:r>
          </a:p>
          <a:p>
            <a:pPr lvl="2"/>
            <a:r>
              <a:rPr lang="en-US"/>
              <a:t>Calculate shipping costs</a:t>
            </a:r>
          </a:p>
          <a:p>
            <a:pPr lvl="2"/>
            <a:r>
              <a:rPr lang="en-US"/>
              <a:t>Track shipping status</a:t>
            </a:r>
          </a:p>
          <a:p>
            <a:pPr lvl="2"/>
            <a:r>
              <a:rPr lang="en-US"/>
              <a:t>Notify the customer with shipment details</a:t>
            </a:r>
          </a:p>
          <a:p>
            <a:pPr lvl="1"/>
            <a:r>
              <a:rPr lang="en-US" b="1"/>
              <a:t>Technology</a:t>
            </a:r>
            <a:r>
              <a:rPr lang="en-US"/>
              <a:t>: PHP, integrates with external shipping providers (e.g., FedEx, UPS).</a:t>
            </a:r>
          </a:p>
          <a:p>
            <a:r>
              <a:rPr lang="en-US" b="1"/>
              <a:t>Recommendation Service</a:t>
            </a:r>
            <a:r>
              <a:rPr lang="en-US"/>
              <a:t>:</a:t>
            </a:r>
          </a:p>
          <a:p>
            <a:pPr lvl="1"/>
            <a:r>
              <a:rPr lang="en-US" b="1"/>
              <a:t>Responsibilities</a:t>
            </a:r>
            <a:r>
              <a:rPr lang="en-US"/>
              <a:t>: Recommends products to users based on browsing history and past purchases.</a:t>
            </a:r>
          </a:p>
          <a:p>
            <a:pPr lvl="1"/>
            <a:r>
              <a:rPr lang="en-US" b="1"/>
              <a:t>Operations</a:t>
            </a:r>
            <a:r>
              <a:rPr lang="en-US"/>
              <a:t>:</a:t>
            </a:r>
          </a:p>
          <a:p>
            <a:pPr lvl="2"/>
            <a:r>
              <a:rPr lang="en-US"/>
              <a:t>Suggest products</a:t>
            </a:r>
          </a:p>
          <a:p>
            <a:pPr lvl="2"/>
            <a:r>
              <a:rPr lang="en-US"/>
              <a:t>Personalize the user experience</a:t>
            </a:r>
          </a:p>
          <a:p>
            <a:pPr lvl="1"/>
            <a:r>
              <a:rPr lang="en-US" b="1"/>
              <a:t>Technology</a:t>
            </a:r>
            <a:r>
              <a:rPr lang="en-US"/>
              <a:t>: Python (machine learning algorithms), MongoDB or </a:t>
            </a:r>
            <a:r>
              <a:rPr lang="en-US" err="1"/>
              <a:t>Redis</a:t>
            </a:r>
            <a:r>
              <a:rPr lang="en-US"/>
              <a:t> for caching.</a:t>
            </a:r>
          </a:p>
          <a:p>
            <a:r>
              <a:rPr lang="en-US" b="1"/>
              <a:t>Notification Service</a:t>
            </a:r>
            <a:r>
              <a:rPr lang="en-US"/>
              <a:t>:</a:t>
            </a:r>
          </a:p>
          <a:p>
            <a:pPr lvl="1"/>
            <a:r>
              <a:rPr lang="en-US" b="1"/>
              <a:t>Responsibilities</a:t>
            </a:r>
            <a:r>
              <a:rPr lang="en-US"/>
              <a:t>: Sends emails, SMS, or push notifications to users regarding account activity, order status, promotions, etc.</a:t>
            </a:r>
          </a:p>
          <a:p>
            <a:pPr lvl="1"/>
            <a:r>
              <a:rPr lang="en-US" b="1"/>
              <a:t>Operations</a:t>
            </a:r>
            <a:r>
              <a:rPr lang="en-US"/>
              <a:t>:</a:t>
            </a:r>
          </a:p>
          <a:p>
            <a:pPr lvl="2"/>
            <a:r>
              <a:rPr lang="en-US"/>
              <a:t>Send order confirmation emails</a:t>
            </a:r>
          </a:p>
          <a:p>
            <a:pPr lvl="2"/>
            <a:r>
              <a:rPr lang="en-US"/>
              <a:t>Send promotional SMS</a:t>
            </a:r>
          </a:p>
          <a:p>
            <a:pPr lvl="2"/>
            <a:r>
              <a:rPr lang="en-US"/>
              <a:t>Trigger alerts for inventory levels or promotions</a:t>
            </a:r>
          </a:p>
          <a:p>
            <a:pPr lvl="1"/>
            <a:r>
              <a:rPr lang="en-US" b="1"/>
              <a:t>Technology</a:t>
            </a:r>
            <a:r>
              <a:rPr lang="en-US"/>
              <a:t>: Node.js with </a:t>
            </a:r>
            <a:r>
              <a:rPr lang="en-US" err="1"/>
              <a:t>Redis</a:t>
            </a:r>
            <a:r>
              <a:rPr lang="en-US"/>
              <a:t> for queuing notifications, </a:t>
            </a:r>
            <a:r>
              <a:rPr lang="en-US" err="1"/>
              <a:t>Twilio</a:t>
            </a:r>
            <a:r>
              <a:rPr lang="en-US"/>
              <a:t> for SMS, and </a:t>
            </a:r>
            <a:r>
              <a:rPr lang="en-US" err="1"/>
              <a:t>SendGrid</a:t>
            </a:r>
            <a:r>
              <a:rPr lang="en-US"/>
              <a:t> for email.</a:t>
            </a:r>
          </a:p>
          <a:p>
            <a:r>
              <a:rPr lang="en-US" b="1"/>
              <a:t>API Gateway</a:t>
            </a:r>
            <a:r>
              <a:rPr lang="en-US"/>
              <a:t>:</a:t>
            </a:r>
          </a:p>
          <a:p>
            <a:pPr lvl="1"/>
            <a:r>
              <a:rPr lang="en-US" b="1"/>
              <a:t>Responsibilities</a:t>
            </a:r>
            <a:r>
              <a:rPr lang="en-US"/>
              <a:t>: Acts as a single entry point for all client requests, routing them to the appropriate </a:t>
            </a:r>
            <a:r>
              <a:rPr lang="en-US" err="1"/>
              <a:t>microservice</a:t>
            </a:r>
            <a:r>
              <a:rPr lang="en-US"/>
              <a:t>.</a:t>
            </a:r>
          </a:p>
          <a:p>
            <a:pPr lvl="1"/>
            <a:r>
              <a:rPr lang="en-US" b="1"/>
              <a:t>Operations</a:t>
            </a:r>
            <a:r>
              <a:rPr lang="en-US"/>
              <a:t>:</a:t>
            </a:r>
          </a:p>
          <a:p>
            <a:pPr lvl="2"/>
            <a:r>
              <a:rPr lang="en-US"/>
              <a:t>Forward requests to the relevant </a:t>
            </a:r>
            <a:r>
              <a:rPr lang="en-US" err="1"/>
              <a:t>microservice</a:t>
            </a:r>
            <a:endParaRPr lang="en-US"/>
          </a:p>
          <a:p>
            <a:pPr lvl="2"/>
            <a:r>
              <a:rPr lang="en-US"/>
              <a:t>Handle API rate limiting, authentication, and load balancing</a:t>
            </a:r>
          </a:p>
          <a:p>
            <a:pPr lvl="1"/>
            <a:r>
              <a:rPr lang="en-US" b="1"/>
              <a:t>Technology</a:t>
            </a:r>
            <a:r>
              <a:rPr lang="en-US"/>
              <a:t>: Kong, NGINX, or AWS API Gateway.</a:t>
            </a:r>
          </a:p>
          <a:p>
            <a:r>
              <a:rPr lang="en-US" b="1"/>
              <a:t>Authentication Service</a:t>
            </a:r>
            <a:r>
              <a:rPr lang="en-US"/>
              <a:t>:</a:t>
            </a:r>
          </a:p>
          <a:p>
            <a:r>
              <a:rPr lang="en-US" b="1"/>
              <a:t>Responsibilities</a:t>
            </a:r>
            <a:r>
              <a:rPr lang="en-US"/>
              <a:t>: Manages authentication and authorization of API calls, often using JWT tokens.</a:t>
            </a:r>
          </a:p>
          <a:p>
            <a:r>
              <a:rPr lang="en-US" b="1"/>
              <a:t>Operations</a:t>
            </a:r>
            <a:r>
              <a:rPr lang="en-US"/>
              <a:t>:</a:t>
            </a:r>
          </a:p>
          <a:p>
            <a:pPr lvl="1"/>
            <a:r>
              <a:rPr lang="en-US"/>
              <a:t>Issue and validate JWT tokens for authentication</a:t>
            </a:r>
          </a:p>
          <a:p>
            <a:r>
              <a:rPr lang="en-US" b="1"/>
              <a:t>Technology</a:t>
            </a:r>
            <a:r>
              <a:rPr lang="en-US"/>
              <a:t>: OAuth2, JWT, or similar protocols.</a:t>
            </a:r>
          </a:p>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32</a:t>
            </a:fld>
            <a:endParaRPr lang="en-US"/>
          </a:p>
        </p:txBody>
      </p:sp>
    </p:spTree>
    <p:extLst>
      <p:ext uri="{BB962C8B-B14F-4D97-AF65-F5344CB8AC3E}">
        <p14:creationId xmlns:p14="http://schemas.microsoft.com/office/powerpoint/2010/main" val="4412172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33</a:t>
            </a:fld>
            <a:endParaRPr lang="en-US"/>
          </a:p>
        </p:txBody>
      </p:sp>
    </p:spTree>
    <p:extLst>
      <p:ext uri="{BB962C8B-B14F-4D97-AF65-F5344CB8AC3E}">
        <p14:creationId xmlns:p14="http://schemas.microsoft.com/office/powerpoint/2010/main" val="10069776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34</a:t>
            </a:fld>
            <a:endParaRPr lang="en-US"/>
          </a:p>
        </p:txBody>
      </p:sp>
    </p:spTree>
    <p:extLst>
      <p:ext uri="{BB962C8B-B14F-4D97-AF65-F5344CB8AC3E}">
        <p14:creationId xmlns:p14="http://schemas.microsoft.com/office/powerpoint/2010/main" val="40342800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Cultural-difference–based challenges in outsourced software development (5 points)</a:t>
            </a:r>
          </a:p>
          <a:p>
            <a:pPr marL="171450" indent="-171450">
              <a:buFont typeface="Arial"/>
              <a:buChar char="•"/>
            </a:pPr>
            <a:r>
              <a:rPr lang="en-US" b="1" dirty="0"/>
              <a:t>Communication style differences</a:t>
            </a:r>
            <a:r>
              <a:rPr lang="en-US" dirty="0"/>
              <a:t> – indirect vs direct communication causing misunderstandings in requirements and feedback.</a:t>
            </a:r>
            <a:endParaRPr lang="en-US" dirty="0">
              <a:ea typeface="Calibri"/>
              <a:cs typeface="Calibri"/>
            </a:endParaRPr>
          </a:p>
          <a:p>
            <a:pPr marL="171450" indent="-171450">
              <a:buFont typeface="Arial"/>
              <a:buChar char="•"/>
            </a:pPr>
            <a:r>
              <a:rPr lang="en-US" b="1" dirty="0"/>
              <a:t>Hierarchy and authority gaps</a:t>
            </a:r>
            <a:r>
              <a:rPr lang="en-US" dirty="0"/>
              <a:t> – reluctance to question decisions or report problems early.</a:t>
            </a:r>
            <a:endParaRPr lang="en-US" dirty="0">
              <a:ea typeface="Calibri"/>
              <a:cs typeface="Calibri"/>
            </a:endParaRPr>
          </a:p>
          <a:p>
            <a:pPr marL="171450" indent="-171450">
              <a:buFont typeface="Arial"/>
              <a:buChar char="•"/>
            </a:pPr>
            <a:r>
              <a:rPr lang="en-US" b="1" dirty="0"/>
              <a:t>Different perceptions of time and deadlines</a:t>
            </a:r>
            <a:r>
              <a:rPr lang="en-US" dirty="0"/>
              <a:t> – strict vs flexible views leading to delays and frustration.</a:t>
            </a:r>
            <a:endParaRPr lang="en-US" dirty="0">
              <a:ea typeface="Calibri"/>
              <a:cs typeface="Calibri"/>
            </a:endParaRPr>
          </a:p>
          <a:p>
            <a:pPr marL="171450" indent="-171450">
              <a:buFont typeface="Arial"/>
              <a:buChar char="•"/>
            </a:pPr>
            <a:r>
              <a:rPr lang="en-US" b="1" dirty="0"/>
              <a:t>Language and interpretation barriers</a:t>
            </a:r>
            <a:r>
              <a:rPr lang="en-US" dirty="0"/>
              <a:t> – accents, idioms, and terminology causing ambiguity.</a:t>
            </a:r>
            <a:endParaRPr lang="en-US" dirty="0">
              <a:ea typeface="Calibri"/>
              <a:cs typeface="Calibri"/>
            </a:endParaRPr>
          </a:p>
          <a:p>
            <a:pPr marL="171450" indent="-171450">
              <a:buFont typeface="Arial"/>
              <a:buChar char="•"/>
            </a:pPr>
            <a:r>
              <a:rPr lang="en-US" b="1" dirty="0"/>
              <a:t>Conflict and feedback handling differences</a:t>
            </a:r>
            <a:r>
              <a:rPr lang="en-US" dirty="0"/>
              <a:t> – avoidance of criticism reducing quality and transparency.</a:t>
            </a:r>
          </a:p>
          <a:p>
            <a:br>
              <a:rPr lang="en-US" dirty="0"/>
            </a:br>
            <a:endParaRPr lang="en-US" dirty="0"/>
          </a:p>
          <a:p>
            <a:r>
              <a:rPr lang="en-US" dirty="0"/>
              <a:t>Solutions to address these challenges (5 points)</a:t>
            </a:r>
          </a:p>
          <a:p>
            <a:pPr marL="171450" indent="-171450">
              <a:buFont typeface="Arial"/>
              <a:buChar char="•"/>
            </a:pPr>
            <a:r>
              <a:rPr lang="en-US" b="1" dirty="0"/>
              <a:t>Clear and detailed documentation</a:t>
            </a:r>
            <a:r>
              <a:rPr lang="en-US" dirty="0"/>
              <a:t> – well-defined requirements, specifications, and acceptance criteria.</a:t>
            </a:r>
          </a:p>
          <a:p>
            <a:pPr marL="171450" indent="-171450">
              <a:buFont typeface="Arial"/>
              <a:buChar char="•"/>
            </a:pPr>
            <a:r>
              <a:rPr lang="en-US" b="1" dirty="0"/>
              <a:t>Standardized communication protocols</a:t>
            </a:r>
            <a:r>
              <a:rPr lang="en-US" dirty="0"/>
              <a:t> – regular meetings, clear escalation paths, and written follow-ups.</a:t>
            </a:r>
          </a:p>
          <a:p>
            <a:pPr marL="171450" indent="-171450">
              <a:buFont typeface="Arial"/>
              <a:buChar char="•"/>
            </a:pPr>
            <a:r>
              <a:rPr lang="en-US" b="1" dirty="0"/>
              <a:t>Cultural awareness and sensitivity training</a:t>
            </a:r>
            <a:r>
              <a:rPr lang="en-US" dirty="0"/>
              <a:t> – helps teams understand and respect differences.</a:t>
            </a:r>
          </a:p>
          <a:p>
            <a:pPr marL="171450" indent="-171450">
              <a:buFont typeface="Arial"/>
              <a:buChar char="•"/>
            </a:pPr>
            <a:r>
              <a:rPr lang="en-US" b="1" dirty="0"/>
              <a:t>Defined roles and responsibilities</a:t>
            </a:r>
            <a:r>
              <a:rPr lang="en-US" dirty="0"/>
              <a:t> – clarifies accountability and ownership of tasks.</a:t>
            </a:r>
          </a:p>
          <a:p>
            <a:pPr marL="171450" indent="-171450">
              <a:buFont typeface="Arial"/>
              <a:buChar char="•"/>
            </a:pPr>
            <a:r>
              <a:rPr lang="en-US" b="1" dirty="0"/>
              <a:t>Regular reviews and feedback loops</a:t>
            </a:r>
            <a:r>
              <a:rPr lang="en-US" dirty="0"/>
              <a:t> – frequent demos, retrospectives, and quality checks to catch issues early.</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E5A36BE-6307-4311-8670-04B167AD63B7}" type="slidenum">
              <a:rPr lang="en-US" smtClean="0"/>
              <a:t>35</a:t>
            </a:fld>
            <a:endParaRPr lang="en-US"/>
          </a:p>
        </p:txBody>
      </p:sp>
    </p:spTree>
    <p:extLst>
      <p:ext uri="{BB962C8B-B14F-4D97-AF65-F5344CB8AC3E}">
        <p14:creationId xmlns:p14="http://schemas.microsoft.com/office/powerpoint/2010/main" val="37155614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License incompatibility occurs when combining open-source components with conflicting license obligations, potentially forcing disclosure of proprietary code or causing legal violations.</a:t>
            </a:r>
          </a:p>
        </p:txBody>
      </p:sp>
      <p:sp>
        <p:nvSpPr>
          <p:cNvPr id="4" name="Slide Number Placeholder 3"/>
          <p:cNvSpPr>
            <a:spLocks noGrp="1"/>
          </p:cNvSpPr>
          <p:nvPr>
            <p:ph type="sldNum" sz="quarter" idx="5"/>
          </p:nvPr>
        </p:nvSpPr>
        <p:spPr/>
        <p:txBody>
          <a:bodyPr/>
          <a:lstStyle/>
          <a:p>
            <a:fld id="{2E5A36BE-6307-4311-8670-04B167AD63B7}" type="slidenum">
              <a:rPr lang="en-US" smtClean="0"/>
              <a:t>36</a:t>
            </a:fld>
            <a:endParaRPr lang="en-US"/>
          </a:p>
        </p:txBody>
      </p:sp>
    </p:spTree>
    <p:extLst>
      <p:ext uri="{BB962C8B-B14F-4D97-AF65-F5344CB8AC3E}">
        <p14:creationId xmlns:p14="http://schemas.microsoft.com/office/powerpoint/2010/main" val="39851690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37</a:t>
            </a:fld>
            <a:endParaRPr lang="en-US"/>
          </a:p>
        </p:txBody>
      </p:sp>
    </p:spTree>
    <p:extLst>
      <p:ext uri="{BB962C8B-B14F-4D97-AF65-F5344CB8AC3E}">
        <p14:creationId xmlns:p14="http://schemas.microsoft.com/office/powerpoint/2010/main" val="35414111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38</a:t>
            </a:fld>
            <a:endParaRPr lang="en-US"/>
          </a:p>
        </p:txBody>
      </p:sp>
    </p:spTree>
    <p:extLst>
      <p:ext uri="{BB962C8B-B14F-4D97-AF65-F5344CB8AC3E}">
        <p14:creationId xmlns:p14="http://schemas.microsoft.com/office/powerpoint/2010/main" val="7142232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39</a:t>
            </a:fld>
            <a:endParaRPr lang="en-US"/>
          </a:p>
        </p:txBody>
      </p:sp>
    </p:spTree>
    <p:extLst>
      <p:ext uri="{BB962C8B-B14F-4D97-AF65-F5344CB8AC3E}">
        <p14:creationId xmlns:p14="http://schemas.microsoft.com/office/powerpoint/2010/main" val="3617817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40</a:t>
            </a:fld>
            <a:endParaRPr lang="en-US"/>
          </a:p>
        </p:txBody>
      </p:sp>
    </p:spTree>
    <p:extLst>
      <p:ext uri="{BB962C8B-B14F-4D97-AF65-F5344CB8AC3E}">
        <p14:creationId xmlns:p14="http://schemas.microsoft.com/office/powerpoint/2010/main" val="40815272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E5A36BE-6307-4311-8670-04B167AD63B7}" type="slidenum">
              <a:rPr lang="en-US" smtClean="0"/>
              <a:t>41</a:t>
            </a:fld>
            <a:endParaRPr lang="en-US"/>
          </a:p>
        </p:txBody>
      </p:sp>
    </p:spTree>
    <p:extLst>
      <p:ext uri="{BB962C8B-B14F-4D97-AF65-F5344CB8AC3E}">
        <p14:creationId xmlns:p14="http://schemas.microsoft.com/office/powerpoint/2010/main" val="40216500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design says what components exist and how they interact,</a:t>
            </a:r>
            <a:br>
              <a:rPr lang="en-US" dirty="0">
                <a:cs typeface="+mn-lt"/>
              </a:rPr>
            </a:br>
            <a:r>
              <a:rPr lang="en-US" dirty="0"/>
              <a:t>Detailed design says how each component works internally.</a:t>
            </a:r>
            <a:endParaRPr lang="en-US">
              <a:ea typeface="Calibri"/>
              <a:cs typeface="Calibri"/>
            </a:endParaRPr>
          </a:p>
        </p:txBody>
      </p:sp>
      <p:sp>
        <p:nvSpPr>
          <p:cNvPr id="4" name="Slide Number Placeholder 3"/>
          <p:cNvSpPr>
            <a:spLocks noGrp="1"/>
          </p:cNvSpPr>
          <p:nvPr>
            <p:ph type="sldNum" sz="quarter" idx="5"/>
          </p:nvPr>
        </p:nvSpPr>
        <p:spPr/>
        <p:txBody>
          <a:bodyPr/>
          <a:lstStyle/>
          <a:p>
            <a:fld id="{2E5A36BE-6307-4311-8670-04B167AD63B7}" type="slidenum">
              <a:rPr lang="en-US" smtClean="0"/>
              <a:t>42</a:t>
            </a:fld>
            <a:endParaRPr lang="en-US"/>
          </a:p>
        </p:txBody>
      </p:sp>
    </p:spTree>
    <p:extLst>
      <p:ext uri="{BB962C8B-B14F-4D97-AF65-F5344CB8AC3E}">
        <p14:creationId xmlns:p14="http://schemas.microsoft.com/office/powerpoint/2010/main" val="6770886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E5A36BE-6307-4311-8670-04B167AD63B7}" type="slidenum">
              <a:rPr lang="en-US" smtClean="0"/>
              <a:t>43</a:t>
            </a:fld>
            <a:endParaRPr lang="en-US"/>
          </a:p>
        </p:txBody>
      </p:sp>
    </p:spTree>
    <p:extLst>
      <p:ext uri="{BB962C8B-B14F-4D97-AF65-F5344CB8AC3E}">
        <p14:creationId xmlns:p14="http://schemas.microsoft.com/office/powerpoint/2010/main" val="28637167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E5A36BE-6307-4311-8670-04B167AD63B7}" type="slidenum">
              <a:rPr lang="en-US" smtClean="0"/>
              <a:t>44</a:t>
            </a:fld>
            <a:endParaRPr lang="en-US"/>
          </a:p>
        </p:txBody>
      </p:sp>
    </p:spTree>
    <p:extLst>
      <p:ext uri="{BB962C8B-B14F-4D97-AF65-F5344CB8AC3E}">
        <p14:creationId xmlns:p14="http://schemas.microsoft.com/office/powerpoint/2010/main" val="3518632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E5A36BE-6307-4311-8670-04B167AD63B7}" type="slidenum">
              <a:rPr lang="en-US" smtClean="0"/>
              <a:t>45</a:t>
            </a:fld>
            <a:endParaRPr lang="en-US"/>
          </a:p>
        </p:txBody>
      </p:sp>
    </p:spTree>
    <p:extLst>
      <p:ext uri="{BB962C8B-B14F-4D97-AF65-F5344CB8AC3E}">
        <p14:creationId xmlns:p14="http://schemas.microsoft.com/office/powerpoint/2010/main" val="14683656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E5A36BE-6307-4311-8670-04B167AD63B7}" type="slidenum">
              <a:rPr lang="en-US" smtClean="0"/>
              <a:t>46</a:t>
            </a:fld>
            <a:endParaRPr lang="en-US"/>
          </a:p>
        </p:txBody>
      </p:sp>
    </p:spTree>
    <p:extLst>
      <p:ext uri="{BB962C8B-B14F-4D97-AF65-F5344CB8AC3E}">
        <p14:creationId xmlns:p14="http://schemas.microsoft.com/office/powerpoint/2010/main" val="19408896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E5A36BE-6307-4311-8670-04B167AD63B7}" type="slidenum">
              <a:rPr lang="en-US" smtClean="0"/>
              <a:t>47</a:t>
            </a:fld>
            <a:endParaRPr lang="en-US"/>
          </a:p>
        </p:txBody>
      </p:sp>
    </p:spTree>
    <p:extLst>
      <p:ext uri="{BB962C8B-B14F-4D97-AF65-F5344CB8AC3E}">
        <p14:creationId xmlns:p14="http://schemas.microsoft.com/office/powerpoint/2010/main" val="23959643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48</a:t>
            </a:fld>
            <a:endParaRPr lang="en-US"/>
          </a:p>
        </p:txBody>
      </p:sp>
    </p:spTree>
    <p:extLst>
      <p:ext uri="{BB962C8B-B14F-4D97-AF65-F5344CB8AC3E}">
        <p14:creationId xmlns:p14="http://schemas.microsoft.com/office/powerpoint/2010/main" val="3764824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49</a:t>
            </a:fld>
            <a:endParaRPr lang="en-US"/>
          </a:p>
        </p:txBody>
      </p:sp>
    </p:spTree>
    <p:extLst>
      <p:ext uri="{BB962C8B-B14F-4D97-AF65-F5344CB8AC3E}">
        <p14:creationId xmlns:p14="http://schemas.microsoft.com/office/powerpoint/2010/main" val="33157689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50</a:t>
            </a:fld>
            <a:endParaRPr lang="en-US"/>
          </a:p>
        </p:txBody>
      </p:sp>
    </p:spTree>
    <p:extLst>
      <p:ext uri="{BB962C8B-B14F-4D97-AF65-F5344CB8AC3E}">
        <p14:creationId xmlns:p14="http://schemas.microsoft.com/office/powerpoint/2010/main" val="29952225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are High-Level Requirements?</a:t>
            </a:r>
            <a:endParaRPr lang="en-US" dirty="0">
              <a:ea typeface="Calibri"/>
              <a:cs typeface="Calibri"/>
            </a:endParaRPr>
          </a:p>
          <a:p>
            <a:r>
              <a:rPr lang="en-US"/>
              <a:t>High-level requirements are:</a:t>
            </a:r>
            <a:endParaRPr lang="en-US" dirty="0">
              <a:ea typeface="Calibri"/>
              <a:cs typeface="Calibri"/>
            </a:endParaRPr>
          </a:p>
          <a:p>
            <a:pPr marL="171450" indent="-171450">
              <a:buFont typeface="Arial"/>
              <a:buChar char="•"/>
            </a:pPr>
            <a:r>
              <a:rPr lang="en-US" dirty="0"/>
              <a:t>Broad, abstract descriptions of system behavior</a:t>
            </a:r>
            <a:endParaRPr lang="en-US" dirty="0">
              <a:ea typeface="Calibri"/>
              <a:cs typeface="Calibri"/>
            </a:endParaRPr>
          </a:p>
          <a:p>
            <a:pPr marL="171450" indent="-171450">
              <a:buFont typeface="Arial"/>
              <a:buChar char="•"/>
            </a:pPr>
            <a:r>
              <a:rPr lang="en-US" dirty="0"/>
              <a:t>Focused on user needs and business objectives</a:t>
            </a:r>
            <a:endParaRPr lang="en-US" dirty="0">
              <a:ea typeface="Calibri"/>
              <a:cs typeface="Calibri"/>
            </a:endParaRPr>
          </a:p>
          <a:p>
            <a:pPr marL="171450" indent="-171450">
              <a:buFont typeface="Arial"/>
              <a:buChar char="•"/>
            </a:pPr>
            <a:r>
              <a:rPr lang="en-US" dirty="0"/>
              <a:t>Independent of implementation or technology choices</a:t>
            </a:r>
            <a:endParaRPr lang="en-US" dirty="0">
              <a:ea typeface="Calibri"/>
              <a:cs typeface="Calibri"/>
            </a:endParaRPr>
          </a:p>
          <a:p>
            <a:r>
              <a:rPr lang="en-US" dirty="0"/>
              <a:t>They are usually defined early in the software lifecycle, during requirements analysis.</a:t>
            </a:r>
            <a:endParaRPr lang="en-US" dirty="0">
              <a:ea typeface="Calibri"/>
              <a:cs typeface="Calibri"/>
            </a:endParaRPr>
          </a:p>
          <a:p>
            <a:endParaRPr lang="en-US" dirty="0">
              <a:ea typeface="Calibri"/>
              <a:cs typeface="Calibri"/>
            </a:endParaRPr>
          </a:p>
          <a:p>
            <a:r>
              <a:rPr lang="en-US"/>
              <a:t>Characteristics of High-Level Requirements</a:t>
            </a:r>
            <a:endParaRPr lang="en-US" dirty="0">
              <a:ea typeface="Calibri"/>
              <a:cs typeface="Calibri"/>
            </a:endParaRPr>
          </a:p>
          <a:p>
            <a:pPr marL="171450" indent="-171450">
              <a:buFont typeface="Arial"/>
              <a:buChar char="•"/>
            </a:pPr>
            <a:r>
              <a:rPr lang="en-US"/>
              <a:t>Non-technical and easy to understand</a:t>
            </a:r>
            <a:endParaRPr lang="en-US" dirty="0">
              <a:ea typeface="Calibri"/>
              <a:cs typeface="Calibri"/>
            </a:endParaRPr>
          </a:p>
          <a:p>
            <a:pPr marL="171450" indent="-171450">
              <a:buFont typeface="Arial"/>
              <a:buChar char="•"/>
            </a:pPr>
            <a:r>
              <a:rPr lang="en-US"/>
              <a:t>Describe end-to-end functionality</a:t>
            </a:r>
            <a:endParaRPr lang="en-US" dirty="0">
              <a:ea typeface="Calibri"/>
              <a:cs typeface="Calibri"/>
            </a:endParaRPr>
          </a:p>
          <a:p>
            <a:pPr marL="171450" indent="-171450">
              <a:buFont typeface="Arial"/>
              <a:buChar char="•"/>
            </a:pPr>
            <a:r>
              <a:rPr lang="en-US"/>
              <a:t>Do not specify algorithms, data structures, or UI layouts</a:t>
            </a:r>
            <a:endParaRPr lang="en-US" dirty="0">
              <a:ea typeface="Calibri"/>
              <a:cs typeface="Calibri"/>
            </a:endParaRPr>
          </a:p>
          <a:p>
            <a:pPr marL="171450" indent="-171450">
              <a:buFont typeface="Arial"/>
              <a:buChar char="•"/>
            </a:pPr>
            <a:r>
              <a:rPr lang="en-US"/>
              <a:t>Act as a foundation for detailed (low-level) requirements</a:t>
            </a:r>
            <a:endParaRPr lang="en-US" dirty="0">
              <a:ea typeface="Calibri"/>
              <a:cs typeface="Calibri"/>
            </a:endParaRPr>
          </a:p>
          <a:p>
            <a:endParaRPr lang="en-US" dirty="0">
              <a:ea typeface="Calibri"/>
              <a:cs typeface="Calibri"/>
            </a:endParaRPr>
          </a:p>
          <a:p>
            <a:r>
              <a:rPr lang="en-US"/>
              <a:t>Examples of High-Level Requirements</a:t>
            </a:r>
            <a:endParaRPr lang="en-US" dirty="0">
              <a:ea typeface="Calibri"/>
              <a:cs typeface="Calibri"/>
            </a:endParaRPr>
          </a:p>
          <a:p>
            <a:pPr marL="171450" indent="-171450">
              <a:buFont typeface="Arial"/>
              <a:buChar char="•"/>
            </a:pPr>
            <a:r>
              <a:rPr lang="en-US" i="1"/>
              <a:t>“The system shall allow users to register and log in securely.”</a:t>
            </a:r>
            <a:endParaRPr lang="en-US" dirty="0">
              <a:ea typeface="Calibri"/>
              <a:cs typeface="Calibri"/>
            </a:endParaRPr>
          </a:p>
          <a:p>
            <a:pPr marL="171450" indent="-171450">
              <a:buFont typeface="Arial"/>
              <a:buChar char="•"/>
            </a:pPr>
            <a:r>
              <a:rPr lang="en-US" i="1"/>
              <a:t>“The system shall generate monthly sales reports.”</a:t>
            </a:r>
            <a:endParaRPr lang="en-US" dirty="0">
              <a:ea typeface="Calibri"/>
              <a:cs typeface="Calibri"/>
            </a:endParaRPr>
          </a:p>
          <a:p>
            <a:pPr marL="171450" indent="-171450">
              <a:buFont typeface="Arial"/>
              <a:buChar char="•"/>
            </a:pPr>
            <a:r>
              <a:rPr lang="en-US" i="1"/>
              <a:t>“The application shall support multiple user roles.”</a:t>
            </a:r>
            <a:endParaRPr lang="en-US" dirty="0">
              <a:ea typeface="Calibri"/>
              <a:cs typeface="Calibri"/>
            </a:endParaRPr>
          </a:p>
          <a:p>
            <a:pPr marL="171450" indent="-171450">
              <a:buFont typeface="Arial"/>
              <a:buChar char="•"/>
            </a:pPr>
            <a:r>
              <a:rPr lang="en-US" i="1"/>
              <a:t>“The system shall process online payments.”</a:t>
            </a:r>
            <a:endParaRPr lang="en-US" dirty="0">
              <a:ea typeface="Calibri"/>
              <a:cs typeface="Calibri"/>
            </a:endParaRP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E5A36BE-6307-4311-8670-04B167AD63B7}" type="slidenum">
              <a:rPr lang="en-US" smtClean="0"/>
              <a:t>51</a:t>
            </a:fld>
            <a:endParaRPr lang="en-US"/>
          </a:p>
        </p:txBody>
      </p:sp>
    </p:spTree>
    <p:extLst>
      <p:ext uri="{BB962C8B-B14F-4D97-AF65-F5344CB8AC3E}">
        <p14:creationId xmlns:p14="http://schemas.microsoft.com/office/powerpoint/2010/main" val="40749166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52</a:t>
            </a:fld>
            <a:endParaRPr lang="en-US"/>
          </a:p>
        </p:txBody>
      </p:sp>
    </p:spTree>
    <p:extLst>
      <p:ext uri="{BB962C8B-B14F-4D97-AF65-F5344CB8AC3E}">
        <p14:creationId xmlns:p14="http://schemas.microsoft.com/office/powerpoint/2010/main" val="28697219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53</a:t>
            </a:fld>
            <a:endParaRPr lang="en-US"/>
          </a:p>
        </p:txBody>
      </p:sp>
    </p:spTree>
    <p:extLst>
      <p:ext uri="{BB962C8B-B14F-4D97-AF65-F5344CB8AC3E}">
        <p14:creationId xmlns:p14="http://schemas.microsoft.com/office/powerpoint/2010/main" val="21938507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54</a:t>
            </a:fld>
            <a:endParaRPr lang="en-US"/>
          </a:p>
        </p:txBody>
      </p:sp>
    </p:spTree>
    <p:extLst>
      <p:ext uri="{BB962C8B-B14F-4D97-AF65-F5344CB8AC3E}">
        <p14:creationId xmlns:p14="http://schemas.microsoft.com/office/powerpoint/2010/main" val="20143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59E9-470B-4B8D-A9EB-CE8AF5FBB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AB98EB-266D-4DF3-A1C8-8FFFE7045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3AD7FD-8146-4C92-B9C4-ABE3EDEB16D9}"/>
              </a:ext>
            </a:extLst>
          </p:cNvPr>
          <p:cNvSpPr>
            <a:spLocks noGrp="1"/>
          </p:cNvSpPr>
          <p:nvPr>
            <p:ph type="dt" sz="half" idx="10"/>
          </p:nvPr>
        </p:nvSpPr>
        <p:spPr/>
        <p:txBody>
          <a:bodyPr/>
          <a:lstStyle/>
          <a:p>
            <a:fld id="{9C4DCD19-635A-4F0C-A4D6-DCB11EE4711D}" type="datetime1">
              <a:rPr lang="en-US" smtClean="0"/>
              <a:t>1/26/2026</a:t>
            </a:fld>
            <a:endParaRPr lang="en-US"/>
          </a:p>
        </p:txBody>
      </p:sp>
      <p:sp>
        <p:nvSpPr>
          <p:cNvPr id="5" name="Footer Placeholder 4">
            <a:extLst>
              <a:ext uri="{FF2B5EF4-FFF2-40B4-BE49-F238E27FC236}">
                <a16:creationId xmlns:a16="http://schemas.microsoft.com/office/drawing/2014/main" id="{559E42B6-D644-4AA7-B4E2-53DBAD7EFAFB}"/>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C07AC68A-C2CE-47FA-BD3B-6AD5EDA234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879593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0891-51D6-4C6E-8AB0-50690D5D43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F29A5-AEEE-446F-B62D-BD46C6B0CC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43C36-C898-4C6E-97BC-0AE2998EBA25}"/>
              </a:ext>
            </a:extLst>
          </p:cNvPr>
          <p:cNvSpPr>
            <a:spLocks noGrp="1"/>
          </p:cNvSpPr>
          <p:nvPr>
            <p:ph type="dt" sz="half" idx="10"/>
          </p:nvPr>
        </p:nvSpPr>
        <p:spPr/>
        <p:txBody>
          <a:bodyPr/>
          <a:lstStyle/>
          <a:p>
            <a:fld id="{645470BA-D41E-437D-A225-B0D8986DE2C4}" type="datetime1">
              <a:rPr lang="en-US" smtClean="0"/>
              <a:t>1/26/2026</a:t>
            </a:fld>
            <a:endParaRPr lang="en-US"/>
          </a:p>
        </p:txBody>
      </p:sp>
      <p:sp>
        <p:nvSpPr>
          <p:cNvPr id="5" name="Footer Placeholder 4">
            <a:extLst>
              <a:ext uri="{FF2B5EF4-FFF2-40B4-BE49-F238E27FC236}">
                <a16:creationId xmlns:a16="http://schemas.microsoft.com/office/drawing/2014/main" id="{44AE89BF-AA6A-4CD1-AA42-45937EB05802}"/>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ECB5DC2B-9622-4D9B-A836-9C9CE22A7DB9}"/>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53799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BC1F-CD2C-49A7-870C-07CC917605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9C7702-4100-4CC3-A19F-474F03564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C59C34D-B46E-470D-AD50-B9B038ABFFAD}"/>
              </a:ext>
            </a:extLst>
          </p:cNvPr>
          <p:cNvSpPr>
            <a:spLocks noGrp="1"/>
          </p:cNvSpPr>
          <p:nvPr>
            <p:ph type="dt" sz="half" idx="10"/>
          </p:nvPr>
        </p:nvSpPr>
        <p:spPr/>
        <p:txBody>
          <a:bodyPr/>
          <a:lstStyle/>
          <a:p>
            <a:fld id="{20878E2B-208F-4B34-9A15-6955A3621029}" type="datetime1">
              <a:rPr lang="en-US" smtClean="0"/>
              <a:t>1/26/2026</a:t>
            </a:fld>
            <a:endParaRPr lang="en-US"/>
          </a:p>
        </p:txBody>
      </p:sp>
      <p:sp>
        <p:nvSpPr>
          <p:cNvPr id="5" name="Footer Placeholder 4">
            <a:extLst>
              <a:ext uri="{FF2B5EF4-FFF2-40B4-BE49-F238E27FC236}">
                <a16:creationId xmlns:a16="http://schemas.microsoft.com/office/drawing/2014/main" id="{8D0D28AE-EBFC-4649-8128-2B57674BC3DC}"/>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852C87D2-79FD-40C2-B5D3-73BEFDD63BD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00328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8DF4-CC57-4331-BAB2-274B7F4FD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4484E-6336-4F19-9BD1-3B91D85B75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92305B-61F6-40D5-8511-22A203F9B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3351C-4BD8-4A76-A84D-D27D42D70EB2}"/>
              </a:ext>
            </a:extLst>
          </p:cNvPr>
          <p:cNvSpPr>
            <a:spLocks noGrp="1"/>
          </p:cNvSpPr>
          <p:nvPr>
            <p:ph type="dt" sz="half" idx="10"/>
          </p:nvPr>
        </p:nvSpPr>
        <p:spPr/>
        <p:txBody>
          <a:bodyPr/>
          <a:lstStyle/>
          <a:p>
            <a:fld id="{A35B34A0-0F7C-4A42-A80B-69A32453D234}" type="datetime1">
              <a:rPr lang="en-US" smtClean="0"/>
              <a:t>1/26/2026</a:t>
            </a:fld>
            <a:endParaRPr lang="en-US"/>
          </a:p>
        </p:txBody>
      </p:sp>
      <p:sp>
        <p:nvSpPr>
          <p:cNvPr id="6" name="Footer Placeholder 5">
            <a:extLst>
              <a:ext uri="{FF2B5EF4-FFF2-40B4-BE49-F238E27FC236}">
                <a16:creationId xmlns:a16="http://schemas.microsoft.com/office/drawing/2014/main" id="{4456FA23-7C56-4373-97A9-C1E426909D83}"/>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7FB55C23-B74E-4564-83EB-E0801197213B}"/>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21828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F3C4-0090-4478-811F-9CEEEDF30C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F55BC3-728A-4215-938B-9F1E55DDA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39E5F37-172D-4DDD-8695-70423D0791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32F7-387C-48A9-8ED2-88A2E7CD45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A15BBF-7552-4D05-B395-22949E22337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03D83-2EA3-43C4-8C34-C2EEB16DB25B}"/>
              </a:ext>
            </a:extLst>
          </p:cNvPr>
          <p:cNvSpPr>
            <a:spLocks noGrp="1"/>
          </p:cNvSpPr>
          <p:nvPr>
            <p:ph type="dt" sz="half" idx="10"/>
          </p:nvPr>
        </p:nvSpPr>
        <p:spPr/>
        <p:txBody>
          <a:bodyPr/>
          <a:lstStyle/>
          <a:p>
            <a:fld id="{9C05126E-3B88-4036-9F2D-FB7969B45F4A}" type="datetime1">
              <a:rPr lang="en-US" smtClean="0"/>
              <a:t>1/26/2026</a:t>
            </a:fld>
            <a:endParaRPr lang="en-US"/>
          </a:p>
        </p:txBody>
      </p:sp>
      <p:sp>
        <p:nvSpPr>
          <p:cNvPr id="8" name="Footer Placeholder 7">
            <a:extLst>
              <a:ext uri="{FF2B5EF4-FFF2-40B4-BE49-F238E27FC236}">
                <a16:creationId xmlns:a16="http://schemas.microsoft.com/office/drawing/2014/main" id="{7AED1FE8-F889-4A72-BCC1-50806FA11DFF}"/>
              </a:ext>
            </a:extLst>
          </p:cNvPr>
          <p:cNvSpPr>
            <a:spLocks noGrp="1"/>
          </p:cNvSpPr>
          <p:nvPr>
            <p:ph type="ftr" sz="quarter" idx="11"/>
          </p:nvPr>
        </p:nvSpPr>
        <p:spPr/>
        <p:txBody>
          <a:bodyPr/>
          <a:lstStyle/>
          <a:p>
            <a:r>
              <a:rPr lang="en-US"/>
              <a:t>Operating Systems</a:t>
            </a:r>
          </a:p>
        </p:txBody>
      </p:sp>
      <p:sp>
        <p:nvSpPr>
          <p:cNvPr id="9" name="Slide Number Placeholder 8">
            <a:extLst>
              <a:ext uri="{FF2B5EF4-FFF2-40B4-BE49-F238E27FC236}">
                <a16:creationId xmlns:a16="http://schemas.microsoft.com/office/drawing/2014/main" id="{7C3B86BC-226A-4A98-951A-01BC13DB05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14617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1E2B-54B4-4FD9-BC1F-9E86C9F08C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BDDD7E-C2A1-425A-9C02-69453F7A5E87}"/>
              </a:ext>
            </a:extLst>
          </p:cNvPr>
          <p:cNvSpPr>
            <a:spLocks noGrp="1"/>
          </p:cNvSpPr>
          <p:nvPr>
            <p:ph type="dt" sz="half" idx="10"/>
          </p:nvPr>
        </p:nvSpPr>
        <p:spPr/>
        <p:txBody>
          <a:bodyPr/>
          <a:lstStyle/>
          <a:p>
            <a:fld id="{046584BB-C434-4F3E-BD0C-56FCD0B24816}" type="datetime1">
              <a:rPr lang="en-US" smtClean="0"/>
              <a:t>1/26/2026</a:t>
            </a:fld>
            <a:endParaRPr lang="en-US"/>
          </a:p>
        </p:txBody>
      </p:sp>
      <p:sp>
        <p:nvSpPr>
          <p:cNvPr id="4" name="Footer Placeholder 3">
            <a:extLst>
              <a:ext uri="{FF2B5EF4-FFF2-40B4-BE49-F238E27FC236}">
                <a16:creationId xmlns:a16="http://schemas.microsoft.com/office/drawing/2014/main" id="{A32E4A64-28DA-4BCB-903B-0C2AB5DD43F0}"/>
              </a:ext>
            </a:extLst>
          </p:cNvPr>
          <p:cNvSpPr>
            <a:spLocks noGrp="1"/>
          </p:cNvSpPr>
          <p:nvPr>
            <p:ph type="ftr" sz="quarter" idx="11"/>
          </p:nvPr>
        </p:nvSpPr>
        <p:spPr/>
        <p:txBody>
          <a:bodyPr/>
          <a:lstStyle/>
          <a:p>
            <a:r>
              <a:rPr lang="en-US"/>
              <a:t>Operating Systems</a:t>
            </a:r>
          </a:p>
        </p:txBody>
      </p:sp>
      <p:sp>
        <p:nvSpPr>
          <p:cNvPr id="5" name="Slide Number Placeholder 4">
            <a:extLst>
              <a:ext uri="{FF2B5EF4-FFF2-40B4-BE49-F238E27FC236}">
                <a16:creationId xmlns:a16="http://schemas.microsoft.com/office/drawing/2014/main" id="{1362EF47-4BAF-438E-BFF8-6C806F186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97679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2DD21-4658-405D-B2C3-9B85D3D77813}"/>
              </a:ext>
            </a:extLst>
          </p:cNvPr>
          <p:cNvSpPr>
            <a:spLocks noGrp="1"/>
          </p:cNvSpPr>
          <p:nvPr>
            <p:ph type="dt" sz="half" idx="10"/>
          </p:nvPr>
        </p:nvSpPr>
        <p:spPr/>
        <p:txBody>
          <a:bodyPr/>
          <a:lstStyle/>
          <a:p>
            <a:fld id="{E76BBA68-3361-4BBC-8467-F2FA7738ABD3}" type="datetime1">
              <a:rPr lang="en-US" smtClean="0"/>
              <a:t>1/26/2026</a:t>
            </a:fld>
            <a:endParaRPr lang="en-US"/>
          </a:p>
        </p:txBody>
      </p:sp>
      <p:sp>
        <p:nvSpPr>
          <p:cNvPr id="3" name="Footer Placeholder 2">
            <a:extLst>
              <a:ext uri="{FF2B5EF4-FFF2-40B4-BE49-F238E27FC236}">
                <a16:creationId xmlns:a16="http://schemas.microsoft.com/office/drawing/2014/main" id="{0B8F90DF-D196-4982-9379-A12FD1999FB9}"/>
              </a:ext>
            </a:extLst>
          </p:cNvPr>
          <p:cNvSpPr>
            <a:spLocks noGrp="1"/>
          </p:cNvSpPr>
          <p:nvPr>
            <p:ph type="ftr" sz="quarter" idx="11"/>
          </p:nvPr>
        </p:nvSpPr>
        <p:spPr/>
        <p:txBody>
          <a:bodyPr/>
          <a:lstStyle/>
          <a:p>
            <a:r>
              <a:rPr lang="en-US"/>
              <a:t>Operating Systems</a:t>
            </a:r>
          </a:p>
        </p:txBody>
      </p:sp>
      <p:sp>
        <p:nvSpPr>
          <p:cNvPr id="4" name="Slide Number Placeholder 3">
            <a:extLst>
              <a:ext uri="{FF2B5EF4-FFF2-40B4-BE49-F238E27FC236}">
                <a16:creationId xmlns:a16="http://schemas.microsoft.com/office/drawing/2014/main" id="{D9CC7654-80F7-4116-966D-2D3D2BC2A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27915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9B0E-9BD9-44D9-9399-CB449D112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4051D0-651F-4845-8890-5B610674D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582CB8-8E30-4092-BCE6-75EE6CE567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8DC2B3-BBD0-4E62-99CD-DCB9D3F5E479}"/>
              </a:ext>
            </a:extLst>
          </p:cNvPr>
          <p:cNvSpPr>
            <a:spLocks noGrp="1"/>
          </p:cNvSpPr>
          <p:nvPr>
            <p:ph type="dt" sz="half" idx="10"/>
          </p:nvPr>
        </p:nvSpPr>
        <p:spPr/>
        <p:txBody>
          <a:bodyPr/>
          <a:lstStyle/>
          <a:p>
            <a:fld id="{91E3D98D-6704-4670-8FDC-09111D656BD4}" type="datetime1">
              <a:rPr lang="en-US" smtClean="0"/>
              <a:t>1/26/2026</a:t>
            </a:fld>
            <a:endParaRPr lang="en-US"/>
          </a:p>
        </p:txBody>
      </p:sp>
      <p:sp>
        <p:nvSpPr>
          <p:cNvPr id="6" name="Footer Placeholder 5">
            <a:extLst>
              <a:ext uri="{FF2B5EF4-FFF2-40B4-BE49-F238E27FC236}">
                <a16:creationId xmlns:a16="http://schemas.microsoft.com/office/drawing/2014/main" id="{D21A16E1-26F2-4022-9090-75A0FEB23F99}"/>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99AF83AA-1CE6-4EEA-8163-A440E285C78D}"/>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31479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2C12-A56B-46B7-9523-4E7765EBA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18F4B-7FBD-449C-9D81-7D29213753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D3098B-08EB-4860-ACC2-E8D7BEB69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AD0008-6CA4-4B93-8BDC-7B7AA42F6380}"/>
              </a:ext>
            </a:extLst>
          </p:cNvPr>
          <p:cNvSpPr>
            <a:spLocks noGrp="1"/>
          </p:cNvSpPr>
          <p:nvPr>
            <p:ph type="dt" sz="half" idx="10"/>
          </p:nvPr>
        </p:nvSpPr>
        <p:spPr/>
        <p:txBody>
          <a:bodyPr/>
          <a:lstStyle/>
          <a:p>
            <a:fld id="{04EA7458-5FA4-458B-AACF-1E599ACFA24A}" type="datetime1">
              <a:rPr lang="en-US" smtClean="0"/>
              <a:t>1/26/2026</a:t>
            </a:fld>
            <a:endParaRPr lang="en-US"/>
          </a:p>
        </p:txBody>
      </p:sp>
      <p:sp>
        <p:nvSpPr>
          <p:cNvPr id="6" name="Footer Placeholder 5">
            <a:extLst>
              <a:ext uri="{FF2B5EF4-FFF2-40B4-BE49-F238E27FC236}">
                <a16:creationId xmlns:a16="http://schemas.microsoft.com/office/drawing/2014/main" id="{19E3AF11-361E-4FC8-B142-5CFE9169A0FA}"/>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4BA3C41B-7EB8-4600-BEBB-0A45CF654E5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54012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7D78-2A6F-4D0E-822D-7539139C55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D071C0-3DC6-4B14-9F13-2FB2DD4268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B5082-8A34-496B-8055-45C8486F18A9}"/>
              </a:ext>
            </a:extLst>
          </p:cNvPr>
          <p:cNvSpPr>
            <a:spLocks noGrp="1"/>
          </p:cNvSpPr>
          <p:nvPr>
            <p:ph type="dt" sz="half" idx="10"/>
          </p:nvPr>
        </p:nvSpPr>
        <p:spPr/>
        <p:txBody>
          <a:bodyPr/>
          <a:lstStyle/>
          <a:p>
            <a:fld id="{99A94FA3-AC9C-4633-82C6-62F4B42E9A78}" type="datetime1">
              <a:rPr lang="en-US" smtClean="0"/>
              <a:t>1/26/2026</a:t>
            </a:fld>
            <a:endParaRPr lang="en-US"/>
          </a:p>
        </p:txBody>
      </p:sp>
      <p:sp>
        <p:nvSpPr>
          <p:cNvPr id="5" name="Footer Placeholder 4">
            <a:extLst>
              <a:ext uri="{FF2B5EF4-FFF2-40B4-BE49-F238E27FC236}">
                <a16:creationId xmlns:a16="http://schemas.microsoft.com/office/drawing/2014/main" id="{B2FC4C49-FC80-44C6-AC99-7EF245F8F8A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344B58D9-582A-4781-9C1A-4D75E5074D26}"/>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1241642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B2E5F-7BB4-42F5-B4AA-7F999C225F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30C69-8C0C-4E02-AB30-8518634C9F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9A658-BB07-4BF1-B2A6-B1BA2897B3F9}"/>
              </a:ext>
            </a:extLst>
          </p:cNvPr>
          <p:cNvSpPr>
            <a:spLocks noGrp="1"/>
          </p:cNvSpPr>
          <p:nvPr>
            <p:ph type="dt" sz="half" idx="10"/>
          </p:nvPr>
        </p:nvSpPr>
        <p:spPr/>
        <p:txBody>
          <a:bodyPr/>
          <a:lstStyle/>
          <a:p>
            <a:fld id="{91274142-9EFA-4C85-84A3-BE41724A2D18}" type="datetime1">
              <a:rPr lang="en-US" smtClean="0"/>
              <a:t>1/26/2026</a:t>
            </a:fld>
            <a:endParaRPr lang="en-US"/>
          </a:p>
        </p:txBody>
      </p:sp>
      <p:sp>
        <p:nvSpPr>
          <p:cNvPr id="5" name="Footer Placeholder 4">
            <a:extLst>
              <a:ext uri="{FF2B5EF4-FFF2-40B4-BE49-F238E27FC236}">
                <a16:creationId xmlns:a16="http://schemas.microsoft.com/office/drawing/2014/main" id="{6F6DF58F-2272-487B-A973-40A781C314D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73302C37-591F-410C-B5AA-8C515F26CE14}"/>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919061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4CEB65E-FC6E-4373-B0D0-78DDBC4561D9}" type="datetime1">
              <a:rPr lang="en-US" smtClean="0"/>
              <a:t>1/26/2026</a:t>
            </a:fld>
            <a:endParaRPr lang="en-US"/>
          </a:p>
        </p:txBody>
      </p:sp>
      <p:sp>
        <p:nvSpPr>
          <p:cNvPr id="5" name="Footer Placeholder 4"/>
          <p:cNvSpPr>
            <a:spLocks noGrp="1"/>
          </p:cNvSpPr>
          <p:nvPr>
            <p:ph type="ftr" sz="quarter" idx="11"/>
          </p:nvPr>
        </p:nvSpPr>
        <p:spPr/>
        <p:txBody>
          <a:bodyPr/>
          <a:lstStyle/>
          <a:p>
            <a:r>
              <a:rPr lang="en-US"/>
              <a:t>Operating Systems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008895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7355D1-AD44-41A0-B50A-6214BE04770E}" type="datetime1">
              <a:rPr lang="en-US" smtClean="0"/>
              <a:t>1/26/2026</a:t>
            </a:fld>
            <a:endParaRPr lang="en-US"/>
          </a:p>
        </p:txBody>
      </p:sp>
      <p:sp>
        <p:nvSpPr>
          <p:cNvPr id="5" name="Footer Placeholder 4"/>
          <p:cNvSpPr>
            <a:spLocks noGrp="1"/>
          </p:cNvSpPr>
          <p:nvPr>
            <p:ph type="ftr" sz="quarter" idx="11"/>
          </p:nvPr>
        </p:nvSpPr>
        <p:spPr/>
        <p:txBody>
          <a:bodyPr/>
          <a:lstStyle/>
          <a:p>
            <a:r>
              <a:rPr lang="en-US"/>
              <a:t>Operating Systems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031154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EEDF46-5A44-4864-90D1-D65534026120}" type="datetime1">
              <a:rPr lang="en-US" smtClean="0"/>
              <a:t>1/26/2026</a:t>
            </a:fld>
            <a:endParaRPr lang="en-US"/>
          </a:p>
        </p:txBody>
      </p:sp>
      <p:sp>
        <p:nvSpPr>
          <p:cNvPr id="5" name="Footer Placeholder 4"/>
          <p:cNvSpPr>
            <a:spLocks noGrp="1"/>
          </p:cNvSpPr>
          <p:nvPr>
            <p:ph type="ftr" sz="quarter" idx="11"/>
          </p:nvPr>
        </p:nvSpPr>
        <p:spPr/>
        <p:txBody>
          <a:bodyPr/>
          <a:lstStyle/>
          <a:p>
            <a:r>
              <a:rPr lang="en-US"/>
              <a:t>Operating Systems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55948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4664846-8A8C-4F67-9EB5-1CCF6B0E2713}" type="datetime1">
              <a:rPr lang="en-US" smtClean="0"/>
              <a:t>1/26/2026</a:t>
            </a:fld>
            <a:endParaRPr lang="en-US"/>
          </a:p>
        </p:txBody>
      </p:sp>
      <p:sp>
        <p:nvSpPr>
          <p:cNvPr id="6" name="Footer Placeholder 5"/>
          <p:cNvSpPr>
            <a:spLocks noGrp="1"/>
          </p:cNvSpPr>
          <p:nvPr>
            <p:ph type="ftr" sz="quarter" idx="11"/>
          </p:nvPr>
        </p:nvSpPr>
        <p:spPr/>
        <p:txBody>
          <a:bodyPr/>
          <a:lstStyle/>
          <a:p>
            <a:r>
              <a:rPr lang="en-US"/>
              <a:t>Operating Systems</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74617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4E46EB-8E94-4ADC-9A26-67B0D9A1BC20}" type="datetime1">
              <a:rPr lang="en-US" smtClean="0"/>
              <a:t>1/26/2026</a:t>
            </a:fld>
            <a:endParaRPr lang="en-US"/>
          </a:p>
        </p:txBody>
      </p:sp>
      <p:sp>
        <p:nvSpPr>
          <p:cNvPr id="8" name="Footer Placeholder 7"/>
          <p:cNvSpPr>
            <a:spLocks noGrp="1"/>
          </p:cNvSpPr>
          <p:nvPr>
            <p:ph type="ftr" sz="quarter" idx="11"/>
          </p:nvPr>
        </p:nvSpPr>
        <p:spPr/>
        <p:txBody>
          <a:bodyPr/>
          <a:lstStyle/>
          <a:p>
            <a:r>
              <a:rPr lang="en-US"/>
              <a:t>Operating Systems</a:t>
            </a:r>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346627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BEA961-6F9D-4C0B-8A0B-8592A8F86732}" type="datetime1">
              <a:rPr lang="en-US" smtClean="0"/>
              <a:t>1/26/2026</a:t>
            </a:fld>
            <a:endParaRPr lang="en-US"/>
          </a:p>
        </p:txBody>
      </p:sp>
      <p:sp>
        <p:nvSpPr>
          <p:cNvPr id="4" name="Footer Placeholder 3"/>
          <p:cNvSpPr>
            <a:spLocks noGrp="1"/>
          </p:cNvSpPr>
          <p:nvPr>
            <p:ph type="ftr" sz="quarter" idx="11"/>
          </p:nvPr>
        </p:nvSpPr>
        <p:spPr/>
        <p:txBody>
          <a:bodyPr/>
          <a:lstStyle/>
          <a:p>
            <a:r>
              <a:rPr lang="en-US"/>
              <a:t>Operating Systems</a:t>
            </a:r>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249892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6A3DC3-ABD6-4840-906A-7153217B09E0}" type="datetime1">
              <a:rPr lang="en-US" smtClean="0"/>
              <a:t>1/26/2026</a:t>
            </a:fld>
            <a:endParaRPr lang="en-US"/>
          </a:p>
        </p:txBody>
      </p:sp>
      <p:sp>
        <p:nvSpPr>
          <p:cNvPr id="3" name="Footer Placeholder 2"/>
          <p:cNvSpPr>
            <a:spLocks noGrp="1"/>
          </p:cNvSpPr>
          <p:nvPr>
            <p:ph type="ftr" sz="quarter" idx="11"/>
          </p:nvPr>
        </p:nvSpPr>
        <p:spPr/>
        <p:txBody>
          <a:bodyPr/>
          <a:lstStyle/>
          <a:p>
            <a:r>
              <a:rPr lang="en-US"/>
              <a:t>Operating Systems</a:t>
            </a:r>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344682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0F23A8-D05F-44EF-A398-E12F1596A443}" type="datetime1">
              <a:rPr lang="en-US" smtClean="0"/>
              <a:t>1/26/2026</a:t>
            </a:fld>
            <a:endParaRPr lang="en-US"/>
          </a:p>
        </p:txBody>
      </p:sp>
      <p:sp>
        <p:nvSpPr>
          <p:cNvPr id="6" name="Footer Placeholder 5"/>
          <p:cNvSpPr>
            <a:spLocks noGrp="1"/>
          </p:cNvSpPr>
          <p:nvPr>
            <p:ph type="ftr" sz="quarter" idx="11"/>
          </p:nvPr>
        </p:nvSpPr>
        <p:spPr/>
        <p:txBody>
          <a:bodyPr/>
          <a:lstStyle/>
          <a:p>
            <a:r>
              <a:rPr lang="en-US"/>
              <a:t>Operating Systems</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228834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C6C1EF-82C3-4B0B-8D4A-A5C9A66096F8}" type="datetime1">
              <a:rPr lang="en-US" smtClean="0"/>
              <a:t>1/26/2026</a:t>
            </a:fld>
            <a:endParaRPr lang="en-US"/>
          </a:p>
        </p:txBody>
      </p:sp>
      <p:sp>
        <p:nvSpPr>
          <p:cNvPr id="6" name="Footer Placeholder 5"/>
          <p:cNvSpPr>
            <a:spLocks noGrp="1"/>
          </p:cNvSpPr>
          <p:nvPr>
            <p:ph type="ftr" sz="quarter" idx="11"/>
          </p:nvPr>
        </p:nvSpPr>
        <p:spPr/>
        <p:txBody>
          <a:bodyPr/>
          <a:lstStyle/>
          <a:p>
            <a:r>
              <a:rPr lang="en-US"/>
              <a:t>Operating Systems</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272728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91651EC-832C-4F94-B4FD-9CA82CD70752}" type="datetime1">
              <a:rPr lang="en-US" smtClean="0"/>
              <a:t>1/26/2026</a:t>
            </a:fld>
            <a:endParaRPr lang="en-US"/>
          </a:p>
        </p:txBody>
      </p:sp>
      <p:sp>
        <p:nvSpPr>
          <p:cNvPr id="5" name="Footer Placeholder 4"/>
          <p:cNvSpPr>
            <a:spLocks noGrp="1"/>
          </p:cNvSpPr>
          <p:nvPr>
            <p:ph type="ftr" sz="quarter" idx="11"/>
          </p:nvPr>
        </p:nvSpPr>
        <p:spPr/>
        <p:txBody>
          <a:bodyPr/>
          <a:lstStyle/>
          <a:p>
            <a:r>
              <a:rPr lang="en-US"/>
              <a:t>Operating Systems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226449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411FDF-9749-475A-A9F2-D80207DB7BC5}" type="datetime1">
              <a:rPr lang="en-US" smtClean="0"/>
              <a:t>1/26/2026</a:t>
            </a:fld>
            <a:endParaRPr lang="en-US"/>
          </a:p>
        </p:txBody>
      </p:sp>
      <p:sp>
        <p:nvSpPr>
          <p:cNvPr id="5" name="Footer Placeholder 4"/>
          <p:cNvSpPr>
            <a:spLocks noGrp="1"/>
          </p:cNvSpPr>
          <p:nvPr>
            <p:ph type="ftr" sz="quarter" idx="11"/>
          </p:nvPr>
        </p:nvSpPr>
        <p:spPr/>
        <p:txBody>
          <a:bodyPr/>
          <a:lstStyle/>
          <a:p>
            <a:r>
              <a:rPr lang="en-US"/>
              <a:t>Operating Systems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3621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1D8EC-B3EC-45B8-80A9-EB2955321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BE5CB1-9A52-407D-9714-6B719FE97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07748-238B-4EDD-8118-BD7336FFF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EB07D-1FD2-40D5-B059-0935C37A919D}" type="datetime1">
              <a:rPr lang="en-US" smtClean="0"/>
              <a:t>1/26/2026</a:t>
            </a:fld>
            <a:endParaRPr lang="en-US"/>
          </a:p>
        </p:txBody>
      </p:sp>
      <p:sp>
        <p:nvSpPr>
          <p:cNvPr id="5" name="Footer Placeholder 4">
            <a:extLst>
              <a:ext uri="{FF2B5EF4-FFF2-40B4-BE49-F238E27FC236}">
                <a16:creationId xmlns:a16="http://schemas.microsoft.com/office/drawing/2014/main" id="{109277D7-910E-4130-B9EE-C5EFBB05E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a:t>
            </a:r>
          </a:p>
        </p:txBody>
      </p:sp>
      <p:sp>
        <p:nvSpPr>
          <p:cNvPr id="6" name="Slide Number Placeholder 5">
            <a:extLst>
              <a:ext uri="{FF2B5EF4-FFF2-40B4-BE49-F238E27FC236}">
                <a16:creationId xmlns:a16="http://schemas.microsoft.com/office/drawing/2014/main" id="{62CDCC63-9F16-4EEB-858E-FC2CFC17C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559AE-1842-40A5-A2A9-0518F39FD1A9}" type="slidenum">
              <a:rPr lang="en-US" smtClean="0"/>
              <a:t>‹#›</a:t>
            </a:fld>
            <a:endParaRPr lang="en-US"/>
          </a:p>
        </p:txBody>
      </p:sp>
    </p:spTree>
    <p:extLst>
      <p:ext uri="{BB962C8B-B14F-4D97-AF65-F5344CB8AC3E}">
        <p14:creationId xmlns:p14="http://schemas.microsoft.com/office/powerpoint/2010/main" val="342172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49BAF1-D957-488E-B6AB-B3D17C0CFFBF}" type="datetime1">
              <a:rPr lang="en-US" smtClean="0"/>
              <a:t>1/26/2026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727509341"/>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openxmlformats.org/officeDocument/2006/relationships/customXml" Target="../ink/ink2.xml"/><Relationship Id="rId12" Type="http://schemas.openxmlformats.org/officeDocument/2006/relationships/image" Target="../media/image7.png"/><Relationship Id="rId2" Type="http://schemas.openxmlformats.org/officeDocument/2006/relationships/hyperlink" Target="mailto:%20avinash.chauhan@mahindrauniversity.edu.in" TargetMode="External"/><Relationship Id="rId1" Type="http://schemas.openxmlformats.org/officeDocument/2006/relationships/slideLayout" Target="../slideLayouts/slideLayout13.xml"/><Relationship Id="rId6" Type="http://schemas.openxmlformats.org/officeDocument/2006/relationships/image" Target="../media/image4.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customXml" Target="../ink/ink3.xml"/></Relationships>
</file>

<file path=ppt/slides/_rels/slide3.xml.rels><?xml version="1.0" encoding="UTF-8" standalone="yes"?>
<Relationships xmlns="http://schemas.openxmlformats.org/package/2006/relationships"><Relationship Id="rId8" Type="http://schemas.openxmlformats.org/officeDocument/2006/relationships/hyperlink" Target="mailto:siddhartha20ucse210@mahindrauniversity.edu.in" TargetMode="External"/><Relationship Id="rId3" Type="http://schemas.openxmlformats.org/officeDocument/2006/relationships/image" Target="../media/image4.jpeg"/><Relationship Id="rId7" Type="http://schemas.openxmlformats.org/officeDocument/2006/relationships/hyperlink" Target="mailto:se25maid025@mahindrauniversity.edu.in" TargetMode="External"/><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hyperlink" Target="mailto:se25maid009@mahindrauniversity.edu.in" TargetMode="External"/><Relationship Id="rId5" Type="http://schemas.openxmlformats.org/officeDocument/2006/relationships/hyperlink" Target="mailto:se25maid037@mahindrauniversity.edu.in" TargetMode="External"/><Relationship Id="rId10" Type="http://schemas.openxmlformats.org/officeDocument/2006/relationships/hyperlink" Target="mailto:se23pcse001@mahindrauniversity.edu.in" TargetMode="External"/><Relationship Id="rId4" Type="http://schemas.openxmlformats.org/officeDocument/2006/relationships/hyperlink" Target="mailto:se25maid006@mahindrauniversity.edu.in" TargetMode="External"/><Relationship Id="rId9" Type="http://schemas.openxmlformats.org/officeDocument/2006/relationships/hyperlink" Target="mailto:se25maid003@mahindrauniversity.edu.in"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piazza.com/mahindrauniversity.edu.in/spring2026/cs3201" TargetMode="External"/><Relationship Id="rId2" Type="http://schemas.openxmlformats.org/officeDocument/2006/relationships/hyperlink" Target="https://mahindraecolecentrale-my.sharepoint.com/:f:/g/personal/avinash_chauhan_mahindrauniversity_edu_in/IgCBqy--HWXeTYYPhf6XWsUQAaikzbCBwA9jDoDK0UIfz5s?e=BJe5TK"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piazza.com/mahindrauniversity.edu.in/spring2026/cs3201/info"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mahindraecolecentrale-my.sharepoint.com/:w:/g/personal/avinash_chauhan_mahindrauniversity_edu_in/IQAQU4wjlXZoQbXi4re2BFWDAce0dWkdB-Am5QwhKglv_lE?e=M2wxh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mahindraecolecentrale-my.sharepoint.com/:f:/g/personal/avinash_chauhan_mahindrauniversity_edu_in/IgAhEBdscLFFRIz5EP-PQQKQAXJqrFQZ7LFHKcrmnAPhYaY?e=Lhj7Hb"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sma.nasa.gov/docs/default-source/safety-messages/safetymessage-2009-08-01-themarsclimateorbitermishap.pdf?sfvrsn=eaa1ef8_4" TargetMode="External"/><Relationship Id="rId4" Type="http://schemas.openxmlformats.org/officeDocument/2006/relationships/hyperlink" Target="https://science.nasa.gov/mission/mariner-1/"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analyticsindiamag.com/ai-trends/2024-marks-the-end-of-moores-law/" TargetMode="External"/><Relationship Id="rId5" Type="http://schemas.openxmlformats.org/officeDocument/2006/relationships/hyperlink" Target="https://physicsworld.com/a/moores-law-further-progress-will-push-hard-on-the-boundaries-of-physics-and-economics/" TargetMode="Externa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cse.chalmers.se/~risat/Report_MarsPathFinder.pdf"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afacwa.org/the_inside_story_of_mcas_seattle_times/"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www.imdb.com/title/tt0057012/"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www.imdb.com/title/tt0086567/" TargetMode="External"/><Relationship Id="rId5" Type="http://schemas.openxmlformats.org/officeDocument/2006/relationships/image" Target="../media/image16.png"/><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870F2-A17E-4535-8ECE-F608007055B7}"/>
              </a:ext>
            </a:extLst>
          </p:cNvPr>
          <p:cNvSpPr>
            <a:spLocks noGrp="1"/>
          </p:cNvSpPr>
          <p:nvPr>
            <p:ph type="ctrTitle"/>
          </p:nvPr>
        </p:nvSpPr>
        <p:spPr>
          <a:xfrm>
            <a:off x="1524000" y="1568061"/>
            <a:ext cx="9144000" cy="2387600"/>
          </a:xfrm>
        </p:spPr>
        <p:txBody>
          <a:bodyPr>
            <a:normAutofit fontScale="90000"/>
          </a:bodyPr>
          <a:lstStyle/>
          <a:p>
            <a:r>
              <a:rPr lang="en-US"/>
              <a:t>Software Engineering</a:t>
            </a:r>
            <a:br>
              <a:rPr lang="en-US"/>
            </a:br>
            <a:r>
              <a:rPr lang="en-US" sz="4000"/>
              <a:t>(CS3201)</a:t>
            </a:r>
            <a:br>
              <a:rPr lang="en-US" sz="4000">
                <a:ea typeface="Calibri Light"/>
                <a:cs typeface="Calibri Light"/>
              </a:rPr>
            </a:br>
            <a:r>
              <a:rPr lang="en-US" sz="2800">
                <a:ea typeface="Calibri Light"/>
                <a:cs typeface="Calibri Light"/>
              </a:rPr>
              <a:t>Introduction to Software Engineering</a:t>
            </a:r>
            <a:br>
              <a:rPr lang="en-US"/>
            </a:br>
            <a:endParaRPr lang="en-US" sz="4000">
              <a:cs typeface="Calibri Light"/>
            </a:endParaRPr>
          </a:p>
        </p:txBody>
      </p:sp>
      <p:sp>
        <p:nvSpPr>
          <p:cNvPr id="3" name="Subtitle 2">
            <a:extLst>
              <a:ext uri="{FF2B5EF4-FFF2-40B4-BE49-F238E27FC236}">
                <a16:creationId xmlns:a16="http://schemas.microsoft.com/office/drawing/2014/main" id="{445A8E92-73AA-4E3A-9516-63C46A8A4304}"/>
              </a:ext>
            </a:extLst>
          </p:cNvPr>
          <p:cNvSpPr>
            <a:spLocks noGrp="1"/>
          </p:cNvSpPr>
          <p:nvPr>
            <p:ph type="subTitle" idx="1"/>
          </p:nvPr>
        </p:nvSpPr>
        <p:spPr>
          <a:xfrm>
            <a:off x="1524000" y="3960626"/>
            <a:ext cx="9144000" cy="1655762"/>
          </a:xfrm>
        </p:spPr>
        <p:txBody>
          <a:bodyPr/>
          <a:lstStyle/>
          <a:p>
            <a:r>
              <a:rPr lang="en-US"/>
              <a:t>Avinash</a:t>
            </a:r>
          </a:p>
        </p:txBody>
      </p:sp>
      <p:pic>
        <p:nvPicPr>
          <p:cNvPr id="5" name="Picture 4">
            <a:extLst>
              <a:ext uri="{FF2B5EF4-FFF2-40B4-BE49-F238E27FC236}">
                <a16:creationId xmlns:a16="http://schemas.microsoft.com/office/drawing/2014/main" id="{ED6C0CC1-7E7A-46BB-AEDF-E956EA6F0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7575" y="5235388"/>
            <a:ext cx="5276850" cy="762000"/>
          </a:xfrm>
          <a:prstGeom prst="rect">
            <a:avLst/>
          </a:prstGeom>
        </p:spPr>
      </p:pic>
    </p:spTree>
    <p:extLst>
      <p:ext uri="{BB962C8B-B14F-4D97-AF65-F5344CB8AC3E}">
        <p14:creationId xmlns:p14="http://schemas.microsoft.com/office/powerpoint/2010/main" val="1540275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35307-390C-40D7-9F61-82732C1F5205}"/>
              </a:ext>
            </a:extLst>
          </p:cNvPr>
          <p:cNvSpPr>
            <a:spLocks noGrp="1"/>
          </p:cNvSpPr>
          <p:nvPr>
            <p:ph type="title"/>
          </p:nvPr>
        </p:nvSpPr>
        <p:spPr/>
        <p:txBody>
          <a:bodyPr/>
          <a:lstStyle/>
          <a:p>
            <a:r>
              <a:rPr lang="en-US">
                <a:ea typeface="Calibri Light"/>
                <a:cs typeface="Calibri Light"/>
              </a:rPr>
              <a:t> </a:t>
            </a:r>
          </a:p>
        </p:txBody>
      </p:sp>
      <p:sp>
        <p:nvSpPr>
          <p:cNvPr id="3" name="Content Placeholder 2">
            <a:extLst>
              <a:ext uri="{FF2B5EF4-FFF2-40B4-BE49-F238E27FC236}">
                <a16:creationId xmlns:a16="http://schemas.microsoft.com/office/drawing/2014/main" id="{0F429835-17BA-4227-87CE-31907C0ED182}"/>
              </a:ext>
            </a:extLst>
          </p:cNvPr>
          <p:cNvSpPr>
            <a:spLocks noGrp="1"/>
          </p:cNvSpPr>
          <p:nvPr>
            <p:ph idx="1"/>
          </p:nvPr>
        </p:nvSpPr>
        <p:spPr>
          <a:xfrm>
            <a:off x="408354" y="2753703"/>
            <a:ext cx="10515600" cy="4351338"/>
          </a:xfrm>
        </p:spPr>
        <p:txBody>
          <a:bodyPr vert="horz" lIns="91440" tIns="45720" rIns="91440" bIns="45720" rtlCol="0" anchor="t">
            <a:noAutofit/>
          </a:bodyPr>
          <a:lstStyle/>
          <a:p>
            <a:r>
              <a:rPr lang="en-US" sz="2200"/>
              <a:t>Avinash, Assistant Professor at Mahindra University</a:t>
            </a:r>
            <a:endParaRPr lang="en-US" sz="2200">
              <a:cs typeface="Calibri"/>
            </a:endParaRPr>
          </a:p>
          <a:p>
            <a:r>
              <a:rPr lang="en-US" sz="2200">
                <a:cs typeface="Calibri"/>
              </a:rPr>
              <a:t>Alumnus of Hyderabad Central University and IIIT-Hyd.</a:t>
            </a:r>
            <a:endParaRPr lang="en-US" sz="2200">
              <a:ea typeface="Calibri"/>
              <a:cs typeface="Calibri"/>
            </a:endParaRPr>
          </a:p>
          <a:p>
            <a:r>
              <a:rPr lang="en-US" sz="2200">
                <a:cs typeface="Calibri"/>
              </a:rPr>
              <a:t>Industry experience: </a:t>
            </a:r>
            <a:r>
              <a:rPr lang="en-US" sz="2200" err="1">
                <a:cs typeface="Calibri"/>
              </a:rPr>
              <a:t>SalesForce</a:t>
            </a:r>
            <a:r>
              <a:rPr lang="en-US" sz="2200">
                <a:cs typeface="Calibri"/>
              </a:rPr>
              <a:t>, MAQ Software, NTT Data</a:t>
            </a:r>
            <a:endParaRPr lang="en-US" sz="2200">
              <a:ea typeface="Calibri"/>
              <a:cs typeface="Calibri"/>
            </a:endParaRPr>
          </a:p>
          <a:p>
            <a:pPr lvl="1">
              <a:buFont typeface="Wingdings" panose="020B0604020202020204" pitchFamily="34" charset="0"/>
              <a:buChar char="§"/>
            </a:pPr>
            <a:r>
              <a:rPr lang="en-US" sz="1800">
                <a:cs typeface="Calibri"/>
              </a:rPr>
              <a:t>Mobile Application Dev; Senior Analyst</a:t>
            </a:r>
            <a:endParaRPr lang="en-US" sz="1800">
              <a:ea typeface="Calibri"/>
              <a:cs typeface="Calibri"/>
            </a:endParaRPr>
          </a:p>
          <a:p>
            <a:r>
              <a:rPr lang="en-US" sz="2200">
                <a:cs typeface="Calibri"/>
              </a:rPr>
              <a:t>Research Experience: Wireless Sensor Networks (PhD)</a:t>
            </a:r>
            <a:endParaRPr lang="en-US" sz="2200">
              <a:ea typeface="Calibri"/>
              <a:cs typeface="Calibri"/>
            </a:endParaRPr>
          </a:p>
          <a:p>
            <a:r>
              <a:rPr lang="en-US" sz="2200">
                <a:cs typeface="Calibri"/>
              </a:rPr>
              <a:t>Contact: </a:t>
            </a:r>
            <a:r>
              <a:rPr lang="en-US" sz="2200">
                <a:cs typeface="Calibri"/>
                <a:hlinkClick r:id="rId2"/>
              </a:rPr>
              <a:t>avinash.chauhan@mahindrauniversity.edu.in</a:t>
            </a:r>
            <a:endParaRPr lang="en-US" sz="2200">
              <a:cs typeface="Calibri"/>
            </a:endParaRPr>
          </a:p>
          <a:p>
            <a:r>
              <a:rPr lang="en-US" sz="2200">
                <a:cs typeface="Calibri"/>
              </a:rPr>
              <a:t>Office time: 2:30 – 4:30 [Wed]; Location: IT2 block, FF, cabin-17</a:t>
            </a:r>
            <a:endParaRPr lang="en-US" sz="2200">
              <a:ea typeface="Calibri"/>
              <a:cs typeface="Calibri"/>
            </a:endParaRPr>
          </a:p>
          <a:p>
            <a:r>
              <a:rPr lang="en-US" sz="2200"/>
              <a:t>Passionate about The Cosmos, Whales, Photosynthesis, Skies and sunshine, Wireless Sensor Networks, Minimalism (as a way of living), Nematodes, Bilaterians, and a whole lot more...</a:t>
            </a:r>
            <a:endParaRPr lang="en-US" sz="2200">
              <a:cs typeface="Calibri"/>
            </a:endParaRPr>
          </a:p>
          <a:p>
            <a:endParaRPr lang="en-US" sz="1800">
              <a:cs typeface="Calibri"/>
            </a:endParaRPr>
          </a:p>
          <a:p>
            <a:endParaRPr lang="en-US" sz="1800">
              <a:cs typeface="Calibri"/>
            </a:endParaRPr>
          </a:p>
        </p:txBody>
      </p:sp>
      <p:pic>
        <p:nvPicPr>
          <p:cNvPr id="7" name="Picture 6">
            <a:extLst>
              <a:ext uri="{FF2B5EF4-FFF2-40B4-BE49-F238E27FC236}">
                <a16:creationId xmlns:a16="http://schemas.microsoft.com/office/drawing/2014/main" id="{FA879A87-0262-4288-A283-1A868B8778AC}"/>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t="26622" b="12413"/>
          <a:stretch/>
        </p:blipFill>
        <p:spPr>
          <a:xfrm>
            <a:off x="7815655" y="1027906"/>
            <a:ext cx="3562461" cy="3260524"/>
          </a:xfrm>
          <a:prstGeom prst="rect">
            <a:avLst/>
          </a:prstGeom>
        </p:spPr>
      </p:pic>
      <p:pic>
        <p:nvPicPr>
          <p:cNvPr id="9" name="Picture 8">
            <a:extLst>
              <a:ext uri="{FF2B5EF4-FFF2-40B4-BE49-F238E27FC236}">
                <a16:creationId xmlns:a16="http://schemas.microsoft.com/office/drawing/2014/main" id="{D035614A-066D-48D9-8C0C-E9FF4FAE86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11" name="Slide Number Placeholder 10">
            <a:extLst>
              <a:ext uri="{FF2B5EF4-FFF2-40B4-BE49-F238E27FC236}">
                <a16:creationId xmlns:a16="http://schemas.microsoft.com/office/drawing/2014/main" id="{473636C2-BA0F-EBE2-F34B-DB71D25D2A7D}"/>
              </a:ext>
            </a:extLst>
          </p:cNvPr>
          <p:cNvSpPr>
            <a:spLocks noGrp="1"/>
          </p:cNvSpPr>
          <p:nvPr>
            <p:ph type="sldNum" sz="quarter" idx="12"/>
          </p:nvPr>
        </p:nvSpPr>
        <p:spPr/>
        <p:txBody>
          <a:bodyPr/>
          <a:lstStyle/>
          <a:p>
            <a:fld id="{48F63A3B-78C7-47BE-AE5E-E10140E04643}" type="slidenum">
              <a:rPr lang="en-US" dirty="0"/>
              <a:t>2</a:t>
            </a:fld>
            <a:endParaRPr lang="en-GB"/>
          </a:p>
        </p:txBody>
      </p:sp>
      <p:sp>
        <p:nvSpPr>
          <p:cNvPr id="10" name="Footer Placeholder 9">
            <a:extLst>
              <a:ext uri="{FF2B5EF4-FFF2-40B4-BE49-F238E27FC236}">
                <a16:creationId xmlns:a16="http://schemas.microsoft.com/office/drawing/2014/main" id="{D1203306-A7BE-7945-165D-777C48C83EC8}"/>
              </a:ext>
            </a:extLst>
          </p:cNvPr>
          <p:cNvSpPr>
            <a:spLocks noGrp="1"/>
          </p:cNvSpPr>
          <p:nvPr>
            <p:ph type="ftr" sz="quarter" idx="11"/>
          </p:nvPr>
        </p:nvSpPr>
        <p:spPr/>
        <p:txBody>
          <a:bodyPr/>
          <a:lstStyle/>
          <a:p>
            <a:r>
              <a:rPr lang="en-US"/>
              <a:t>Software Engineering</a:t>
            </a:r>
          </a:p>
        </p:txBody>
      </p:sp>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1B7C68B4-A58D-C6E2-CD88-5BCA441FC98F}"/>
                  </a:ext>
                </a:extLst>
              </p14:cNvPr>
              <p14:cNvContentPartPr/>
              <p14:nvPr/>
            </p14:nvContentPartPr>
            <p14:xfrm>
              <a:off x="8392515" y="1428956"/>
              <a:ext cx="684249" cy="407873"/>
            </p14:xfrm>
          </p:contentPart>
        </mc:Choice>
        <mc:Fallback xmlns="">
          <p:pic>
            <p:nvPicPr>
              <p:cNvPr id="13" name="Ink 12">
                <a:extLst>
                  <a:ext uri="{FF2B5EF4-FFF2-40B4-BE49-F238E27FC236}">
                    <a16:creationId xmlns:a16="http://schemas.microsoft.com/office/drawing/2014/main" id="{1B7C68B4-A58D-C6E2-CD88-5BCA441FC98F}"/>
                  </a:ext>
                </a:extLst>
              </p:cNvPr>
              <p:cNvPicPr/>
              <p:nvPr/>
            </p:nvPicPr>
            <p:blipFill>
              <a:blip r:embed="rId6"/>
              <a:stretch>
                <a:fillRect/>
              </a:stretch>
            </p:blipFill>
            <p:spPr>
              <a:xfrm>
                <a:off x="8374527" y="1410972"/>
                <a:ext cx="719864" cy="44348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AA5606E0-D968-265C-4F2D-CA1DAC81F273}"/>
                  </a:ext>
                </a:extLst>
              </p14:cNvPr>
              <p14:cNvContentPartPr/>
              <p14:nvPr/>
            </p14:nvContentPartPr>
            <p14:xfrm>
              <a:off x="8386611" y="1434112"/>
              <a:ext cx="676145" cy="288792"/>
            </p14:xfrm>
          </p:contentPart>
        </mc:Choice>
        <mc:Fallback xmlns="">
          <p:pic>
            <p:nvPicPr>
              <p:cNvPr id="14" name="Ink 13">
                <a:extLst>
                  <a:ext uri="{FF2B5EF4-FFF2-40B4-BE49-F238E27FC236}">
                    <a16:creationId xmlns:a16="http://schemas.microsoft.com/office/drawing/2014/main" id="{AA5606E0-D968-265C-4F2D-CA1DAC81F273}"/>
                  </a:ext>
                </a:extLst>
              </p:cNvPr>
              <p:cNvPicPr/>
              <p:nvPr/>
            </p:nvPicPr>
            <p:blipFill>
              <a:blip r:embed="rId8"/>
              <a:stretch>
                <a:fillRect/>
              </a:stretch>
            </p:blipFill>
            <p:spPr>
              <a:xfrm>
                <a:off x="8368619" y="1416130"/>
                <a:ext cx="711769" cy="32439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10F91455-399E-452B-321F-B074B45BA986}"/>
                  </a:ext>
                </a:extLst>
              </p14:cNvPr>
              <p14:cNvContentPartPr/>
              <p14:nvPr/>
            </p14:nvContentPartPr>
            <p14:xfrm>
              <a:off x="9665073" y="1164168"/>
              <a:ext cx="169232" cy="530721"/>
            </p14:xfrm>
          </p:contentPart>
        </mc:Choice>
        <mc:Fallback xmlns="">
          <p:pic>
            <p:nvPicPr>
              <p:cNvPr id="15" name="Ink 14">
                <a:extLst>
                  <a:ext uri="{FF2B5EF4-FFF2-40B4-BE49-F238E27FC236}">
                    <a16:creationId xmlns:a16="http://schemas.microsoft.com/office/drawing/2014/main" id="{10F91455-399E-452B-321F-B074B45BA986}"/>
                  </a:ext>
                </a:extLst>
              </p:cNvPr>
              <p:cNvPicPr/>
              <p:nvPr/>
            </p:nvPicPr>
            <p:blipFill>
              <a:blip r:embed="rId10"/>
              <a:stretch>
                <a:fillRect/>
              </a:stretch>
            </p:blipFill>
            <p:spPr>
              <a:xfrm>
                <a:off x="9647108" y="1146177"/>
                <a:ext cx="204803" cy="566342"/>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6E2DBF84-6E42-5790-D90A-09201C527A5A}"/>
                  </a:ext>
                </a:extLst>
              </p14:cNvPr>
              <p14:cNvContentPartPr/>
              <p14:nvPr/>
            </p14:nvContentPartPr>
            <p14:xfrm>
              <a:off x="9833161" y="1148603"/>
              <a:ext cx="182701" cy="736384"/>
            </p14:xfrm>
          </p:contentPart>
        </mc:Choice>
        <mc:Fallback xmlns="">
          <p:pic>
            <p:nvPicPr>
              <p:cNvPr id="16" name="Ink 15">
                <a:extLst>
                  <a:ext uri="{FF2B5EF4-FFF2-40B4-BE49-F238E27FC236}">
                    <a16:creationId xmlns:a16="http://schemas.microsoft.com/office/drawing/2014/main" id="{6E2DBF84-6E42-5790-D90A-09201C527A5A}"/>
                  </a:ext>
                </a:extLst>
              </p:cNvPr>
              <p:cNvPicPr/>
              <p:nvPr/>
            </p:nvPicPr>
            <p:blipFill>
              <a:blip r:embed="rId12"/>
              <a:stretch>
                <a:fillRect/>
              </a:stretch>
            </p:blipFill>
            <p:spPr>
              <a:xfrm>
                <a:off x="9815214" y="1130616"/>
                <a:ext cx="218236" cy="771998"/>
              </a:xfrm>
              <a:prstGeom prst="rect">
                <a:avLst/>
              </a:prstGeom>
            </p:spPr>
          </p:pic>
        </mc:Fallback>
      </mc:AlternateContent>
      <p:sp>
        <p:nvSpPr>
          <p:cNvPr id="18" name="TextBox 17">
            <a:extLst>
              <a:ext uri="{FF2B5EF4-FFF2-40B4-BE49-F238E27FC236}">
                <a16:creationId xmlns:a16="http://schemas.microsoft.com/office/drawing/2014/main" id="{C1815B21-6E4C-E05C-D2EB-545BC6E0F51A}"/>
              </a:ext>
            </a:extLst>
          </p:cNvPr>
          <p:cNvSpPr txBox="1"/>
          <p:nvPr/>
        </p:nvSpPr>
        <p:spPr>
          <a:xfrm>
            <a:off x="407714" y="36689"/>
            <a:ext cx="6763654" cy="2624399"/>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Calibri"/>
                <a:cs typeface="Calibri"/>
              </a:rPr>
              <a:t>name: Hello World CI</a:t>
            </a:r>
          </a:p>
          <a:p>
            <a:r>
              <a:rPr lang="en-US">
                <a:solidFill>
                  <a:schemeClr val="bg1"/>
                </a:solidFill>
                <a:ea typeface="Calibri"/>
                <a:cs typeface="Calibri"/>
              </a:rPr>
              <a:t>jobs:</a:t>
            </a:r>
          </a:p>
          <a:p>
            <a:r>
              <a:rPr lang="en-US">
                <a:solidFill>
                  <a:schemeClr val="bg1"/>
                </a:solidFill>
                <a:ea typeface="Calibri"/>
                <a:cs typeface="Calibri"/>
              </a:rPr>
              <a:t>  build:</a:t>
            </a:r>
          </a:p>
          <a:p>
            <a:r>
              <a:rPr lang="en-US">
                <a:solidFill>
                  <a:schemeClr val="bg1"/>
                </a:solidFill>
                <a:ea typeface="Calibri"/>
                <a:cs typeface="Calibri"/>
              </a:rPr>
              <a:t>    runs-on: ubuntu-latest</a:t>
            </a:r>
          </a:p>
          <a:p>
            <a:r>
              <a:rPr lang="en-US">
                <a:solidFill>
                  <a:schemeClr val="bg1"/>
                </a:solidFill>
                <a:ea typeface="Calibri"/>
                <a:cs typeface="Calibri"/>
              </a:rPr>
              <a:t>    steps:</a:t>
            </a:r>
          </a:p>
          <a:p>
            <a:r>
              <a:rPr lang="en-US">
                <a:solidFill>
                  <a:schemeClr val="bg1"/>
                </a:solidFill>
                <a:ea typeface="Calibri"/>
                <a:cs typeface="Calibri"/>
              </a:rPr>
              <a:t>      - name: Checkout code</a:t>
            </a:r>
          </a:p>
          <a:p>
            <a:r>
              <a:rPr lang="en-US">
                <a:solidFill>
                  <a:schemeClr val="bg1"/>
                </a:solidFill>
                <a:ea typeface="Calibri"/>
                <a:cs typeface="Calibri"/>
              </a:rPr>
              <a:t>        uses: actions/checkout@v2</a:t>
            </a:r>
          </a:p>
          <a:p>
            <a:r>
              <a:rPr lang="en-US">
                <a:solidFill>
                  <a:schemeClr val="bg1"/>
                </a:solidFill>
                <a:ea typeface="Calibri"/>
                <a:cs typeface="Calibri"/>
              </a:rPr>
              <a:t>      - name: Print Hello World</a:t>
            </a:r>
          </a:p>
          <a:p>
            <a:r>
              <a:rPr lang="en-US">
                <a:solidFill>
                  <a:schemeClr val="bg1"/>
                </a:solidFill>
                <a:ea typeface="Calibri"/>
                <a:cs typeface="Calibri"/>
              </a:rPr>
              <a:t>        run: echo "Hello, World!</a:t>
            </a:r>
          </a:p>
        </p:txBody>
      </p:sp>
      <p:sp>
        <p:nvSpPr>
          <p:cNvPr id="4" name="TextBox 3">
            <a:extLst>
              <a:ext uri="{FF2B5EF4-FFF2-40B4-BE49-F238E27FC236}">
                <a16:creationId xmlns:a16="http://schemas.microsoft.com/office/drawing/2014/main" id="{2D78198E-7D35-D815-51D2-21E5352BB135}"/>
              </a:ext>
            </a:extLst>
          </p:cNvPr>
          <p:cNvSpPr txBox="1"/>
          <p:nvPr/>
        </p:nvSpPr>
        <p:spPr>
          <a:xfrm>
            <a:off x="7439723" y="4299527"/>
            <a:ext cx="403846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a:ea typeface="Calibri"/>
                <a:cs typeface="Calibri"/>
              </a:rPr>
              <a:t>Note: No one has vandalized this image. </a:t>
            </a:r>
          </a:p>
          <a:p>
            <a:pPr marL="285750" indent="-285750" algn="r">
              <a:buFont typeface="Calibri"/>
              <a:buChar char="-"/>
            </a:pPr>
            <a:r>
              <a:rPr lang="en-US">
                <a:ea typeface="Calibri"/>
                <a:cs typeface="Calibri"/>
              </a:rPr>
              <a:t>Avinash</a:t>
            </a:r>
          </a:p>
        </p:txBody>
      </p:sp>
    </p:spTree>
    <p:extLst>
      <p:ext uri="{BB962C8B-B14F-4D97-AF65-F5344CB8AC3E}">
        <p14:creationId xmlns:p14="http://schemas.microsoft.com/office/powerpoint/2010/main" val="2029719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35307-390C-40D7-9F61-82732C1F5205}"/>
              </a:ext>
            </a:extLst>
          </p:cNvPr>
          <p:cNvSpPr>
            <a:spLocks noGrp="1"/>
          </p:cNvSpPr>
          <p:nvPr>
            <p:ph type="title"/>
          </p:nvPr>
        </p:nvSpPr>
        <p:spPr/>
        <p:txBody>
          <a:bodyPr/>
          <a:lstStyle/>
          <a:p>
            <a:r>
              <a:rPr lang="en-US">
                <a:cs typeface="Calibri Light"/>
              </a:rPr>
              <a:t>Teaching Assistants</a:t>
            </a:r>
          </a:p>
        </p:txBody>
      </p:sp>
      <p:sp>
        <p:nvSpPr>
          <p:cNvPr id="3" name="Content Placeholder 2">
            <a:extLst>
              <a:ext uri="{FF2B5EF4-FFF2-40B4-BE49-F238E27FC236}">
                <a16:creationId xmlns:a16="http://schemas.microsoft.com/office/drawing/2014/main" id="{0F429835-17BA-4227-87CE-31907C0ED182}"/>
              </a:ext>
            </a:extLst>
          </p:cNvPr>
          <p:cNvSpPr>
            <a:spLocks noGrp="1"/>
          </p:cNvSpPr>
          <p:nvPr>
            <p:ph idx="1"/>
          </p:nvPr>
        </p:nvSpPr>
        <p:spPr>
          <a:xfrm>
            <a:off x="838200" y="1825625"/>
            <a:ext cx="10515600" cy="4667250"/>
          </a:xfrm>
        </p:spPr>
        <p:txBody>
          <a:bodyPr vert="horz" lIns="91440" tIns="45720" rIns="91440" bIns="45720" rtlCol="0" anchor="t">
            <a:normAutofit/>
          </a:bodyPr>
          <a:lstStyle/>
          <a:p>
            <a:pPr marL="0" indent="0">
              <a:buNone/>
            </a:pPr>
            <a:r>
              <a:rPr lang="en-US" sz="2000" baseline="30000">
                <a:cs typeface="Calibri"/>
              </a:rPr>
              <a:t> </a:t>
            </a:r>
          </a:p>
        </p:txBody>
      </p:sp>
      <p:pic>
        <p:nvPicPr>
          <p:cNvPr id="9" name="Picture 8">
            <a:extLst>
              <a:ext uri="{FF2B5EF4-FFF2-40B4-BE49-F238E27FC236}">
                <a16:creationId xmlns:a16="http://schemas.microsoft.com/office/drawing/2014/main" id="{D035614A-066D-48D9-8C0C-E9FF4FAE86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11" name="Slide Number Placeholder 10">
            <a:extLst>
              <a:ext uri="{FF2B5EF4-FFF2-40B4-BE49-F238E27FC236}">
                <a16:creationId xmlns:a16="http://schemas.microsoft.com/office/drawing/2014/main" id="{473636C2-BA0F-EBE2-F34B-DB71D25D2A7D}"/>
              </a:ext>
            </a:extLst>
          </p:cNvPr>
          <p:cNvSpPr>
            <a:spLocks noGrp="1"/>
          </p:cNvSpPr>
          <p:nvPr>
            <p:ph type="sldNum" sz="quarter" idx="12"/>
          </p:nvPr>
        </p:nvSpPr>
        <p:spPr/>
        <p:txBody>
          <a:bodyPr/>
          <a:lstStyle/>
          <a:p>
            <a:fld id="{48F63A3B-78C7-47BE-AE5E-E10140E04643}" type="slidenum">
              <a:rPr lang="en-US" dirty="0"/>
              <a:t>3</a:t>
            </a:fld>
            <a:endParaRPr lang="en-GB"/>
          </a:p>
        </p:txBody>
      </p:sp>
      <p:sp>
        <p:nvSpPr>
          <p:cNvPr id="10" name="Footer Placeholder 9">
            <a:extLst>
              <a:ext uri="{FF2B5EF4-FFF2-40B4-BE49-F238E27FC236}">
                <a16:creationId xmlns:a16="http://schemas.microsoft.com/office/drawing/2014/main" id="{D1203306-A7BE-7945-165D-777C48C83EC8}"/>
              </a:ext>
            </a:extLst>
          </p:cNvPr>
          <p:cNvSpPr>
            <a:spLocks noGrp="1"/>
          </p:cNvSpPr>
          <p:nvPr>
            <p:ph type="ftr" sz="quarter" idx="11"/>
          </p:nvPr>
        </p:nvSpPr>
        <p:spPr/>
        <p:txBody>
          <a:bodyPr/>
          <a:lstStyle/>
          <a:p>
            <a:r>
              <a:rPr lang="en-US"/>
              <a:t>Software Engineering lab</a:t>
            </a:r>
            <a:endParaRPr lang="en-GB"/>
          </a:p>
        </p:txBody>
      </p:sp>
      <p:pic>
        <p:nvPicPr>
          <p:cNvPr id="13" name="Picture 12">
            <a:extLst>
              <a:ext uri="{FF2B5EF4-FFF2-40B4-BE49-F238E27FC236}">
                <a16:creationId xmlns:a16="http://schemas.microsoft.com/office/drawing/2014/main" id="{4A7D316B-482C-407F-B127-77F00EC4AF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2032" y="1942081"/>
            <a:ext cx="3126369" cy="3763305"/>
          </a:xfrm>
          <a:prstGeom prst="rect">
            <a:avLst/>
          </a:prstGeom>
        </p:spPr>
      </p:pic>
      <p:sp>
        <p:nvSpPr>
          <p:cNvPr id="14" name="TextBox 13">
            <a:extLst>
              <a:ext uri="{FF2B5EF4-FFF2-40B4-BE49-F238E27FC236}">
                <a16:creationId xmlns:a16="http://schemas.microsoft.com/office/drawing/2014/main" id="{0F9B8C25-127A-47E2-897D-705E9B3BD955}"/>
              </a:ext>
            </a:extLst>
          </p:cNvPr>
          <p:cNvSpPr txBox="1"/>
          <p:nvPr/>
        </p:nvSpPr>
        <p:spPr>
          <a:xfrm>
            <a:off x="196229" y="1706984"/>
            <a:ext cx="7298935" cy="2862322"/>
          </a:xfrm>
          <a:prstGeom prst="rect">
            <a:avLst/>
          </a:prstGeom>
          <a:noFill/>
        </p:spPr>
        <p:txBody>
          <a:bodyPr wrap="square" lIns="91440" tIns="45720" rIns="91440" bIns="45720" rtlCol="0" anchor="t">
            <a:spAutoFit/>
          </a:bodyPr>
          <a:lstStyle/>
          <a:p>
            <a:r>
              <a:rPr lang="en-US" b="1" u="sng">
                <a:ea typeface="+mn-lt"/>
                <a:cs typeface="+mn-lt"/>
              </a:rPr>
              <a:t>MTech TAs:</a:t>
            </a:r>
            <a:endParaRPr lang="en-US"/>
          </a:p>
          <a:p>
            <a:endParaRPr lang="en-US" b="1" u="sng">
              <a:ea typeface="+mn-lt"/>
              <a:cs typeface="+mn-lt"/>
            </a:endParaRPr>
          </a:p>
          <a:p>
            <a:r>
              <a:rPr lang="en-US">
                <a:ea typeface="+mn-lt"/>
                <a:cs typeface="+mn-lt"/>
              </a:rPr>
              <a:t>Priyanka Seelam (</a:t>
            </a:r>
            <a:r>
              <a:rPr lang="en-US">
                <a:ea typeface="+mn-lt"/>
                <a:cs typeface="+mn-lt"/>
                <a:hlinkClick r:id="rId4"/>
              </a:rPr>
              <a:t>se25maid006@mahindrauniversity.edu.in</a:t>
            </a:r>
            <a:r>
              <a:rPr lang="en-US">
                <a:ea typeface="+mn-lt"/>
                <a:cs typeface="+mn-lt"/>
              </a:rPr>
              <a:t> )</a:t>
            </a:r>
            <a:br>
              <a:rPr lang="en-US">
                <a:ea typeface="+mn-lt"/>
                <a:cs typeface="+mn-lt"/>
              </a:rPr>
            </a:br>
            <a:r>
              <a:rPr lang="en-US">
                <a:ea typeface="+mn-lt"/>
                <a:cs typeface="+mn-lt"/>
              </a:rPr>
              <a:t>Mahesh Mannava (</a:t>
            </a:r>
            <a:r>
              <a:rPr lang="en-US">
                <a:ea typeface="+mn-lt"/>
                <a:cs typeface="+mn-lt"/>
                <a:hlinkClick r:id="rId5"/>
              </a:rPr>
              <a:t>se25maid037@mahindrauniversity.edu.in</a:t>
            </a:r>
            <a:r>
              <a:rPr lang="en-US">
                <a:ea typeface="+mn-lt"/>
                <a:cs typeface="+mn-lt"/>
              </a:rPr>
              <a:t> )</a:t>
            </a:r>
          </a:p>
          <a:p>
            <a:r>
              <a:rPr lang="en-US" err="1">
                <a:ea typeface="+mn-lt"/>
                <a:cs typeface="+mn-lt"/>
              </a:rPr>
              <a:t>Tanniru</a:t>
            </a:r>
            <a:r>
              <a:rPr lang="en-US">
                <a:ea typeface="+mn-lt"/>
                <a:cs typeface="+mn-lt"/>
              </a:rPr>
              <a:t> Varun (</a:t>
            </a:r>
            <a:r>
              <a:rPr lang="en-US">
                <a:ea typeface="+mn-lt"/>
                <a:cs typeface="+mn-lt"/>
                <a:hlinkClick r:id="rId6"/>
              </a:rPr>
              <a:t>se25maid009@mahindrauniversity.edu.in</a:t>
            </a:r>
            <a:r>
              <a:rPr lang="en-US">
                <a:ea typeface="+mn-lt"/>
                <a:cs typeface="+mn-lt"/>
              </a:rPr>
              <a:t> )</a:t>
            </a:r>
          </a:p>
          <a:p>
            <a:r>
              <a:rPr lang="en-US" err="1">
                <a:ea typeface="+mn-lt"/>
                <a:cs typeface="+mn-lt"/>
              </a:rPr>
              <a:t>Guggilla</a:t>
            </a:r>
            <a:r>
              <a:rPr lang="en-US">
                <a:ea typeface="+mn-lt"/>
                <a:cs typeface="+mn-lt"/>
              </a:rPr>
              <a:t> Rishitha (</a:t>
            </a:r>
            <a:r>
              <a:rPr lang="en-US">
                <a:ea typeface="+mn-lt"/>
                <a:cs typeface="+mn-lt"/>
                <a:hlinkClick r:id="rId7"/>
              </a:rPr>
              <a:t>se25maid025@mahindrauniversity.edu.in</a:t>
            </a:r>
            <a:r>
              <a:rPr lang="en-US">
                <a:ea typeface="+mn-lt"/>
                <a:cs typeface="+mn-lt"/>
              </a:rPr>
              <a:t> )</a:t>
            </a:r>
          </a:p>
          <a:p>
            <a:r>
              <a:rPr lang="en-US">
                <a:ea typeface="+mn-lt"/>
                <a:cs typeface="+mn-lt"/>
              </a:rPr>
              <a:t>THONTI SIDDHARTHA (</a:t>
            </a:r>
            <a:r>
              <a:rPr lang="en-US">
                <a:ea typeface="+mn-lt"/>
                <a:cs typeface="+mn-lt"/>
                <a:hlinkClick r:id="rId8"/>
              </a:rPr>
              <a:t>siddhartha20ucse210@mahindrauniversity.edu.in</a:t>
            </a:r>
            <a:r>
              <a:rPr lang="en-US">
                <a:ea typeface="+mn-lt"/>
                <a:cs typeface="+mn-lt"/>
              </a:rPr>
              <a:t> )</a:t>
            </a:r>
          </a:p>
          <a:p>
            <a:r>
              <a:rPr lang="en-US" err="1">
                <a:ea typeface="+mn-lt"/>
                <a:cs typeface="+mn-lt"/>
              </a:rPr>
              <a:t>Polineni</a:t>
            </a:r>
            <a:r>
              <a:rPr lang="en-US">
                <a:ea typeface="+mn-lt"/>
                <a:cs typeface="+mn-lt"/>
              </a:rPr>
              <a:t> Harshini S (</a:t>
            </a:r>
            <a:r>
              <a:rPr lang="en-US">
                <a:ea typeface="+mn-lt"/>
                <a:cs typeface="+mn-lt"/>
                <a:hlinkClick r:id="rId9"/>
              </a:rPr>
              <a:t>se25maid003@mahindrauniversity.edu.in</a:t>
            </a:r>
            <a:r>
              <a:rPr lang="en-US">
                <a:ea typeface="+mn-lt"/>
                <a:cs typeface="+mn-lt"/>
              </a:rPr>
              <a:t> )</a:t>
            </a:r>
          </a:p>
          <a:p>
            <a:endParaRPr lang="en-US">
              <a:ea typeface="Calibri"/>
              <a:cs typeface="Calibri"/>
            </a:endParaRPr>
          </a:p>
          <a:p>
            <a:endParaRPr lang="en-US">
              <a:ea typeface="Calibri"/>
              <a:cs typeface="Calibri"/>
            </a:endParaRPr>
          </a:p>
        </p:txBody>
      </p:sp>
      <p:sp>
        <p:nvSpPr>
          <p:cNvPr id="16" name="TextBox 15">
            <a:extLst>
              <a:ext uri="{FF2B5EF4-FFF2-40B4-BE49-F238E27FC236}">
                <a16:creationId xmlns:a16="http://schemas.microsoft.com/office/drawing/2014/main" id="{D92A4B48-1978-432F-A377-30F2427B0923}"/>
              </a:ext>
            </a:extLst>
          </p:cNvPr>
          <p:cNvSpPr txBox="1"/>
          <p:nvPr/>
        </p:nvSpPr>
        <p:spPr>
          <a:xfrm>
            <a:off x="8155736" y="5708504"/>
            <a:ext cx="4035275" cy="646331"/>
          </a:xfrm>
          <a:prstGeom prst="rect">
            <a:avLst/>
          </a:prstGeom>
          <a:noFill/>
        </p:spPr>
        <p:txBody>
          <a:bodyPr wrap="square" lIns="91440" tIns="45720" rIns="91440" bIns="45720" rtlCol="0" anchor="t">
            <a:spAutoFit/>
          </a:bodyPr>
          <a:lstStyle/>
          <a:p>
            <a:pPr algn="ctr"/>
            <a:r>
              <a:rPr lang="en-US"/>
              <a:t>Surya Phani Teja</a:t>
            </a:r>
          </a:p>
          <a:p>
            <a:r>
              <a:rPr lang="en-US">
                <a:ea typeface="+mn-lt"/>
                <a:cs typeface="+mn-lt"/>
                <a:hlinkClick r:id="rId10"/>
              </a:rPr>
              <a:t>se23pcse001@mahindrauniversity.edu.in</a:t>
            </a:r>
            <a:endParaRPr lang="en-US"/>
          </a:p>
        </p:txBody>
      </p:sp>
      <p:sp>
        <p:nvSpPr>
          <p:cNvPr id="5" name="TextBox 4">
            <a:extLst>
              <a:ext uri="{FF2B5EF4-FFF2-40B4-BE49-F238E27FC236}">
                <a16:creationId xmlns:a16="http://schemas.microsoft.com/office/drawing/2014/main" id="{DBDEDA88-4B16-414D-3F97-53B2258BAE08}"/>
              </a:ext>
            </a:extLst>
          </p:cNvPr>
          <p:cNvSpPr txBox="1"/>
          <p:nvPr/>
        </p:nvSpPr>
        <p:spPr>
          <a:xfrm>
            <a:off x="9493657" y="1345146"/>
            <a:ext cx="9929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ea typeface="Calibri"/>
                <a:cs typeface="Calibri"/>
              </a:rPr>
              <a:t>PhD TA:</a:t>
            </a:r>
          </a:p>
        </p:txBody>
      </p:sp>
    </p:spTree>
    <p:extLst>
      <p:ext uri="{BB962C8B-B14F-4D97-AF65-F5344CB8AC3E}">
        <p14:creationId xmlns:p14="http://schemas.microsoft.com/office/powerpoint/2010/main" val="2492696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C295-4D29-4512-A75A-80B34DCBEEB7}"/>
              </a:ext>
            </a:extLst>
          </p:cNvPr>
          <p:cNvSpPr>
            <a:spLocks noGrp="1"/>
          </p:cNvSpPr>
          <p:nvPr>
            <p:ph type="title"/>
          </p:nvPr>
        </p:nvSpPr>
        <p:spPr/>
        <p:txBody>
          <a:bodyPr/>
          <a:lstStyle/>
          <a:p>
            <a:r>
              <a:rPr lang="en-US"/>
              <a:t>Course overview</a:t>
            </a:r>
          </a:p>
        </p:txBody>
      </p:sp>
      <p:sp>
        <p:nvSpPr>
          <p:cNvPr id="3" name="Content Placeholder 2">
            <a:extLst>
              <a:ext uri="{FF2B5EF4-FFF2-40B4-BE49-F238E27FC236}">
                <a16:creationId xmlns:a16="http://schemas.microsoft.com/office/drawing/2014/main" id="{0256C59C-9F3E-493A-AB1E-BE8C9BFFB896}"/>
              </a:ext>
            </a:extLst>
          </p:cNvPr>
          <p:cNvSpPr>
            <a:spLocks noGrp="1"/>
          </p:cNvSpPr>
          <p:nvPr>
            <p:ph idx="1"/>
          </p:nvPr>
        </p:nvSpPr>
        <p:spPr/>
        <p:txBody>
          <a:bodyPr vert="horz" lIns="91440" tIns="45720" rIns="91440" bIns="45720" rtlCol="0" anchor="t">
            <a:normAutofit/>
          </a:bodyPr>
          <a:lstStyle/>
          <a:p>
            <a:r>
              <a:rPr lang="en-US" dirty="0">
                <a:cs typeface="Calibri" panose="020F0502020204030204"/>
              </a:rPr>
              <a:t>Introduction (to Software Engineering)</a:t>
            </a:r>
          </a:p>
          <a:p>
            <a:r>
              <a:rPr lang="en-US" dirty="0">
                <a:ea typeface="Calibri"/>
                <a:cs typeface="Calibri" panose="020F0502020204030204"/>
              </a:rPr>
              <a:t>Software Development Life Cycle (SDLC)</a:t>
            </a:r>
          </a:p>
          <a:p>
            <a:r>
              <a:rPr lang="en-US" dirty="0">
                <a:ea typeface="Calibri"/>
                <a:cs typeface="Calibri" panose="020F0502020204030204"/>
              </a:rPr>
              <a:t>UML Methodology</a:t>
            </a:r>
          </a:p>
          <a:p>
            <a:r>
              <a:rPr lang="en-US" dirty="0">
                <a:ea typeface="Calibri"/>
                <a:cs typeface="Calibri" panose="020F0502020204030204"/>
              </a:rPr>
              <a:t>Design Patterns</a:t>
            </a:r>
          </a:p>
          <a:p>
            <a:r>
              <a:rPr lang="en-US" dirty="0">
                <a:ea typeface="Calibri"/>
                <a:cs typeface="Calibri" panose="020F0502020204030204"/>
              </a:rPr>
              <a:t>Software Architecture and Maintenance</a:t>
            </a:r>
          </a:p>
          <a:p>
            <a:r>
              <a:rPr lang="en-US" dirty="0">
                <a:ea typeface="Calibri"/>
                <a:cs typeface="Calibri" panose="020F0502020204030204"/>
              </a:rPr>
              <a:t>Software Quality and Management</a:t>
            </a:r>
          </a:p>
          <a:p>
            <a:endParaRPr lang="en-US">
              <a:ea typeface="Calibri"/>
              <a:cs typeface="Calibri" panose="020F0502020204030204"/>
            </a:endParaRPr>
          </a:p>
        </p:txBody>
      </p:sp>
      <p:sp>
        <p:nvSpPr>
          <p:cNvPr id="4" name="TextBox 3">
            <a:extLst>
              <a:ext uri="{FF2B5EF4-FFF2-40B4-BE49-F238E27FC236}">
                <a16:creationId xmlns:a16="http://schemas.microsoft.com/office/drawing/2014/main" id="{0337EC78-1D70-C6AE-20F2-65520170601C}"/>
              </a:ext>
            </a:extLst>
          </p:cNvPr>
          <p:cNvSpPr txBox="1"/>
          <p:nvPr/>
        </p:nvSpPr>
        <p:spPr>
          <a:xfrm>
            <a:off x="4839509" y="5998130"/>
            <a:ext cx="75421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t>
            </a:r>
            <a:r>
              <a:rPr lang="en-US">
                <a:ea typeface="+mn-lt"/>
                <a:cs typeface="+mn-lt"/>
              </a:rPr>
              <a:t>The last thing you figure out in writing a book is what to put first.</a:t>
            </a:r>
            <a:r>
              <a:rPr lang="en-US">
                <a:cs typeface="Calibri"/>
              </a:rPr>
              <a:t>" - Pascal</a:t>
            </a:r>
            <a:endParaRPr lang="en-US"/>
          </a:p>
        </p:txBody>
      </p:sp>
      <p:pic>
        <p:nvPicPr>
          <p:cNvPr id="6" name="Picture 5" descr="A black and white logo&#10;&#10;Description automatically generated">
            <a:extLst>
              <a:ext uri="{FF2B5EF4-FFF2-40B4-BE49-F238E27FC236}">
                <a16:creationId xmlns:a16="http://schemas.microsoft.com/office/drawing/2014/main" id="{0EF1ABCC-F192-F14E-DB9F-56316CBFE8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D2E91C3-5CEB-C692-440D-F75BC3CBEB15}"/>
              </a:ext>
            </a:extLst>
          </p:cNvPr>
          <p:cNvSpPr>
            <a:spLocks noGrp="1"/>
          </p:cNvSpPr>
          <p:nvPr>
            <p:ph type="sldNum" sz="quarter" idx="12"/>
          </p:nvPr>
        </p:nvSpPr>
        <p:spPr/>
        <p:txBody>
          <a:bodyPr/>
          <a:lstStyle/>
          <a:p>
            <a:fld id="{008559AE-1842-40A5-A2A9-0518F39FD1A9}" type="slidenum">
              <a:rPr lang="en-US" smtClean="0"/>
              <a:t>4</a:t>
            </a:fld>
            <a:endParaRPr lang="en-GB"/>
          </a:p>
        </p:txBody>
      </p:sp>
      <p:sp>
        <p:nvSpPr>
          <p:cNvPr id="7" name="Footer Placeholder 6">
            <a:extLst>
              <a:ext uri="{FF2B5EF4-FFF2-40B4-BE49-F238E27FC236}">
                <a16:creationId xmlns:a16="http://schemas.microsoft.com/office/drawing/2014/main" id="{A42E8946-F722-6E84-45EB-6E0C3804C72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32602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C295-4D29-4512-A75A-80B34DCBEEB7}"/>
              </a:ext>
            </a:extLst>
          </p:cNvPr>
          <p:cNvSpPr>
            <a:spLocks noGrp="1"/>
          </p:cNvSpPr>
          <p:nvPr>
            <p:ph type="title"/>
          </p:nvPr>
        </p:nvSpPr>
        <p:spPr/>
        <p:txBody>
          <a:bodyPr/>
          <a:lstStyle/>
          <a:p>
            <a:r>
              <a:rPr lang="en-US"/>
              <a:t>Course outcomes</a:t>
            </a:r>
          </a:p>
        </p:txBody>
      </p:sp>
      <p:sp>
        <p:nvSpPr>
          <p:cNvPr id="3" name="Content Placeholder 2">
            <a:extLst>
              <a:ext uri="{FF2B5EF4-FFF2-40B4-BE49-F238E27FC236}">
                <a16:creationId xmlns:a16="http://schemas.microsoft.com/office/drawing/2014/main" id="{0256C59C-9F3E-493A-AB1E-BE8C9BFFB896}"/>
              </a:ext>
            </a:extLst>
          </p:cNvPr>
          <p:cNvSpPr>
            <a:spLocks noGrp="1"/>
          </p:cNvSpPr>
          <p:nvPr>
            <p:ph idx="1"/>
          </p:nvPr>
        </p:nvSpPr>
        <p:spPr/>
        <p:txBody>
          <a:bodyPr vert="horz" lIns="91440" tIns="45720" rIns="91440" bIns="45720" rtlCol="0" anchor="t">
            <a:normAutofit/>
          </a:bodyPr>
          <a:lstStyle/>
          <a:p>
            <a:pPr marL="514350" indent="-514350">
              <a:buAutoNum type="arabicPeriod"/>
            </a:pPr>
            <a:endParaRPr lang="en-US">
              <a:ea typeface="Calibri"/>
              <a:cs typeface="Calibri" panose="020F0502020204030204"/>
            </a:endParaRPr>
          </a:p>
          <a:p>
            <a:pPr>
              <a:buAutoNum type="arabicPeriod"/>
            </a:pPr>
            <a:endParaRPr lang="en-US">
              <a:ea typeface="Calibri"/>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0EF1ABCC-F192-F14E-DB9F-56316CBFE8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D2E91C3-5CEB-C692-440D-F75BC3CBEB15}"/>
              </a:ext>
            </a:extLst>
          </p:cNvPr>
          <p:cNvSpPr>
            <a:spLocks noGrp="1"/>
          </p:cNvSpPr>
          <p:nvPr>
            <p:ph type="sldNum" sz="quarter" idx="12"/>
          </p:nvPr>
        </p:nvSpPr>
        <p:spPr/>
        <p:txBody>
          <a:bodyPr/>
          <a:lstStyle/>
          <a:p>
            <a:fld id="{008559AE-1842-40A5-A2A9-0518F39FD1A9}" type="slidenum">
              <a:rPr lang="en-US" smtClean="0"/>
              <a:t>5</a:t>
            </a:fld>
            <a:endParaRPr lang="en-GB"/>
          </a:p>
        </p:txBody>
      </p:sp>
      <p:sp>
        <p:nvSpPr>
          <p:cNvPr id="7" name="Footer Placeholder 6">
            <a:extLst>
              <a:ext uri="{FF2B5EF4-FFF2-40B4-BE49-F238E27FC236}">
                <a16:creationId xmlns:a16="http://schemas.microsoft.com/office/drawing/2014/main" id="{A42E8946-F722-6E84-45EB-6E0C3804C728}"/>
              </a:ext>
            </a:extLst>
          </p:cNvPr>
          <p:cNvSpPr>
            <a:spLocks noGrp="1"/>
          </p:cNvSpPr>
          <p:nvPr>
            <p:ph type="ftr" sz="quarter" idx="11"/>
          </p:nvPr>
        </p:nvSpPr>
        <p:spPr/>
        <p:txBody>
          <a:bodyPr/>
          <a:lstStyle/>
          <a:p>
            <a:r>
              <a:rPr lang="en-US"/>
              <a:t>Software Engineering</a:t>
            </a:r>
            <a:endParaRPr lang="en-US">
              <a:ea typeface="Calibri"/>
              <a:cs typeface="Calibri"/>
            </a:endParaRPr>
          </a:p>
        </p:txBody>
      </p:sp>
      <p:graphicFrame>
        <p:nvGraphicFramePr>
          <p:cNvPr id="5" name="Table 4">
            <a:extLst>
              <a:ext uri="{FF2B5EF4-FFF2-40B4-BE49-F238E27FC236}">
                <a16:creationId xmlns:a16="http://schemas.microsoft.com/office/drawing/2014/main" id="{D6D0F838-4B76-EDBB-93A0-E3071CC5A9C7}"/>
              </a:ext>
            </a:extLst>
          </p:cNvPr>
          <p:cNvGraphicFramePr>
            <a:graphicFrameLocks noGrp="1"/>
          </p:cNvGraphicFramePr>
          <p:nvPr>
            <p:extLst>
              <p:ext uri="{D42A27DB-BD31-4B8C-83A1-F6EECF244321}">
                <p14:modId xmlns:p14="http://schemas.microsoft.com/office/powerpoint/2010/main" val="748132093"/>
              </p:ext>
            </p:extLst>
          </p:nvPr>
        </p:nvGraphicFramePr>
        <p:xfrm>
          <a:off x="992037" y="1739660"/>
          <a:ext cx="9992963" cy="4031128"/>
        </p:xfrm>
        <a:graphic>
          <a:graphicData uri="http://schemas.openxmlformats.org/drawingml/2006/table">
            <a:tbl>
              <a:tblPr bandRow="1">
                <a:tableStyleId>{5C22544A-7EE6-4342-B048-85BDC9FD1C3A}</a:tableStyleId>
              </a:tblPr>
              <a:tblGrid>
                <a:gridCol w="1698022">
                  <a:extLst>
                    <a:ext uri="{9D8B030D-6E8A-4147-A177-3AD203B41FA5}">
                      <a16:colId xmlns:a16="http://schemas.microsoft.com/office/drawing/2014/main" val="506044685"/>
                    </a:ext>
                  </a:extLst>
                </a:gridCol>
                <a:gridCol w="8294941">
                  <a:extLst>
                    <a:ext uri="{9D8B030D-6E8A-4147-A177-3AD203B41FA5}">
                      <a16:colId xmlns:a16="http://schemas.microsoft.com/office/drawing/2014/main" val="1043969010"/>
                    </a:ext>
                  </a:extLst>
                </a:gridCol>
              </a:tblGrid>
              <a:tr h="567764">
                <a:tc>
                  <a:txBody>
                    <a:bodyPr/>
                    <a:lstStyle/>
                    <a:p>
                      <a:pPr algn="ctr" rtl="0" fontAlgn="base">
                        <a:lnSpc>
                          <a:spcPts val="1350"/>
                        </a:lnSpc>
                        <a:buNone/>
                      </a:pPr>
                      <a:r>
                        <a:rPr lang="en-IN" sz="2000" b="0" i="0">
                          <a:solidFill>
                            <a:srgbClr val="000000"/>
                          </a:solidFill>
                          <a:effectLst/>
                          <a:latin typeface="Times New Roman"/>
                        </a:rPr>
                        <a:t>CO1 </a:t>
                      </a:r>
                      <a:endParaRPr lang="en-IN" sz="2000" b="0" i="0">
                        <a:effectLst/>
                        <a:latin typeface="Times New Roman"/>
                      </a:endParaRPr>
                    </a:p>
                  </a:txBody>
                  <a:tcPr marL="57150" marR="57150">
                    <a:lnL w="9525" cap="flat" cmpd="sng" algn="ctr">
                      <a:solidFill>
                        <a:srgbClr val="C09586"/>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09586"/>
                      </a:solidFill>
                      <a:prstDash val="solid"/>
                      <a:round/>
                      <a:headEnd type="none" w="med" len="med"/>
                      <a:tailEnd type="none" w="med" len="med"/>
                    </a:lnT>
                    <a:lnB w="9525" cap="flat" cmpd="sng" algn="ctr">
                      <a:solidFill>
                        <a:srgbClr val="009586"/>
                      </a:solidFill>
                      <a:prstDash val="solid"/>
                      <a:round/>
                      <a:headEnd type="none" w="med" len="med"/>
                      <a:tailEnd type="none" w="med" len="med"/>
                    </a:lnB>
                    <a:noFill/>
                  </a:tcPr>
                </a:tc>
                <a:tc>
                  <a:txBody>
                    <a:bodyPr/>
                    <a:lstStyle/>
                    <a:p>
                      <a:pPr algn="l" rtl="0" fontAlgn="base">
                        <a:lnSpc>
                          <a:spcPts val="1350"/>
                        </a:lnSpc>
                        <a:buNone/>
                      </a:pPr>
                      <a:r>
                        <a:rPr lang="en-US" sz="2000" b="0" i="0">
                          <a:effectLst/>
                          <a:latin typeface="Times New Roman"/>
                        </a:rPr>
                        <a:t>Learn the importance of software engineering and processes. </a:t>
                      </a: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9957957"/>
                  </a:ext>
                </a:extLst>
              </a:tr>
              <a:tr h="965200">
                <a:tc>
                  <a:txBody>
                    <a:bodyPr/>
                    <a:lstStyle/>
                    <a:p>
                      <a:pPr algn="ctr" rtl="0" fontAlgn="base">
                        <a:lnSpc>
                          <a:spcPts val="1350"/>
                        </a:lnSpc>
                        <a:buNone/>
                      </a:pPr>
                      <a:r>
                        <a:rPr lang="en-IN" sz="2000" b="0" i="0">
                          <a:solidFill>
                            <a:srgbClr val="000000"/>
                          </a:solidFill>
                          <a:effectLst/>
                          <a:latin typeface="Times New Roman"/>
                        </a:rPr>
                        <a:t>CO2 </a:t>
                      </a:r>
                      <a:endParaRPr lang="en-IN" sz="2000" b="0" i="0">
                        <a:effectLst/>
                        <a:latin typeface="Times New Roman"/>
                      </a:endParaRPr>
                    </a:p>
                  </a:txBody>
                  <a:tcPr marL="57150" marR="57150">
                    <a:lnL w="9525" cap="flat" cmpd="sng" algn="ctr">
                      <a:solidFill>
                        <a:srgbClr val="009586"/>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9586"/>
                      </a:solidFill>
                      <a:prstDash val="solid"/>
                      <a:round/>
                      <a:headEnd type="none" w="med" len="med"/>
                      <a:tailEnd type="none" w="med" len="med"/>
                    </a:lnT>
                    <a:lnB w="9525" cap="flat" cmpd="sng" algn="ctr">
                      <a:solidFill>
                        <a:srgbClr val="209986"/>
                      </a:solidFill>
                      <a:prstDash val="solid"/>
                      <a:round/>
                      <a:headEnd type="none" w="med" len="med"/>
                      <a:tailEnd type="none" w="med" len="med"/>
                    </a:lnB>
                    <a:noFill/>
                  </a:tcPr>
                </a:tc>
                <a:tc>
                  <a:txBody>
                    <a:bodyPr/>
                    <a:lstStyle/>
                    <a:p>
                      <a:pPr algn="just" rtl="0" fontAlgn="base">
                        <a:lnSpc>
                          <a:spcPts val="1350"/>
                        </a:lnSpc>
                        <a:buNone/>
                      </a:pPr>
                      <a:r>
                        <a:rPr lang="en-US" sz="2000" b="0" i="0">
                          <a:effectLst/>
                          <a:latin typeface="Times New Roman"/>
                        </a:rPr>
                        <a:t>Apply software development lifecycle (SDLC) process to a software project. </a:t>
                      </a: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2076654"/>
                  </a:ext>
                </a:extLst>
              </a:tr>
              <a:tr h="965200">
                <a:tc>
                  <a:txBody>
                    <a:bodyPr/>
                    <a:lstStyle/>
                    <a:p>
                      <a:pPr algn="ctr" rtl="0" fontAlgn="base">
                        <a:lnSpc>
                          <a:spcPts val="1350"/>
                        </a:lnSpc>
                        <a:spcAft>
                          <a:spcPts val="800"/>
                        </a:spcAft>
                        <a:buNone/>
                      </a:pPr>
                      <a:r>
                        <a:rPr lang="en-IN" sz="2000" b="0" i="0">
                          <a:solidFill>
                            <a:srgbClr val="000000"/>
                          </a:solidFill>
                          <a:effectLst/>
                          <a:latin typeface="Times New Roman"/>
                        </a:rPr>
                        <a:t>CO3 </a:t>
                      </a:r>
                      <a:endParaRPr lang="en-IN" sz="2000" b="0" i="0">
                        <a:effectLst/>
                        <a:latin typeface="Times New Roman"/>
                      </a:endParaRPr>
                    </a:p>
                  </a:txBody>
                  <a:tcPr marL="57150" marR="57150">
                    <a:lnL w="9525" cap="flat" cmpd="sng" algn="ctr">
                      <a:solidFill>
                        <a:srgbClr val="209986"/>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209986"/>
                      </a:solidFill>
                      <a:prstDash val="solid"/>
                      <a:round/>
                      <a:headEnd type="none" w="med" len="med"/>
                      <a:tailEnd type="none" w="med" len="med"/>
                    </a:lnT>
                    <a:lnB w="9525" cap="flat" cmpd="sng" algn="ctr">
                      <a:solidFill>
                        <a:srgbClr val="609C86"/>
                      </a:solidFill>
                      <a:prstDash val="solid"/>
                      <a:round/>
                      <a:headEnd type="none" w="med" len="med"/>
                      <a:tailEnd type="none" w="med" len="med"/>
                    </a:lnB>
                    <a:noFill/>
                  </a:tcPr>
                </a:tc>
                <a:tc>
                  <a:txBody>
                    <a:bodyPr/>
                    <a:lstStyle/>
                    <a:p>
                      <a:pPr algn="just" rtl="0" fontAlgn="base">
                        <a:lnSpc>
                          <a:spcPts val="1350"/>
                        </a:lnSpc>
                        <a:spcAft>
                          <a:spcPts val="800"/>
                        </a:spcAft>
                        <a:buNone/>
                      </a:pPr>
                      <a:r>
                        <a:rPr lang="en-IN" sz="2000" b="0" i="0">
                          <a:effectLst/>
                          <a:latin typeface="Times New Roman"/>
                        </a:rPr>
                        <a:t>Apply software engineering tools and techniques for requirements analysis, design, and documentation </a:t>
                      </a: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0201855"/>
                  </a:ext>
                </a:extLst>
              </a:tr>
              <a:tr h="965200">
                <a:tc>
                  <a:txBody>
                    <a:bodyPr/>
                    <a:lstStyle/>
                    <a:p>
                      <a:pPr algn="ctr" rtl="0" fontAlgn="base">
                        <a:lnSpc>
                          <a:spcPts val="1350"/>
                        </a:lnSpc>
                        <a:buNone/>
                      </a:pPr>
                      <a:r>
                        <a:rPr lang="en-IN" sz="2000" b="0" i="0">
                          <a:solidFill>
                            <a:srgbClr val="000000"/>
                          </a:solidFill>
                          <a:effectLst/>
                          <a:latin typeface="Times New Roman"/>
                        </a:rPr>
                        <a:t>CO4 </a:t>
                      </a:r>
                      <a:endParaRPr lang="en-IN" sz="2000" b="0" i="0">
                        <a:effectLst/>
                        <a:latin typeface="Times New Roman"/>
                      </a:endParaRPr>
                    </a:p>
                  </a:txBody>
                  <a:tcPr marL="57150" marR="57150">
                    <a:lnL w="9525" cap="flat" cmpd="sng" algn="ctr">
                      <a:solidFill>
                        <a:srgbClr val="609C86"/>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609C86"/>
                      </a:solidFill>
                      <a:prstDash val="solid"/>
                      <a:round/>
                      <a:headEnd type="none" w="med" len="med"/>
                      <a:tailEnd type="none" w="med" len="med"/>
                    </a:lnT>
                    <a:lnB w="9525" cap="flat" cmpd="sng" algn="ctr">
                      <a:solidFill>
                        <a:srgbClr val="60B5A0"/>
                      </a:solidFill>
                      <a:prstDash val="solid"/>
                      <a:round/>
                      <a:headEnd type="none" w="med" len="med"/>
                      <a:tailEnd type="none" w="med" len="med"/>
                    </a:lnB>
                    <a:noFill/>
                  </a:tcPr>
                </a:tc>
                <a:tc>
                  <a:txBody>
                    <a:bodyPr/>
                    <a:lstStyle/>
                    <a:p>
                      <a:pPr algn="just" rtl="0" fontAlgn="base">
                        <a:lnSpc>
                          <a:spcPts val="1350"/>
                        </a:lnSpc>
                        <a:buNone/>
                      </a:pPr>
                      <a:r>
                        <a:rPr lang="en-IN" sz="2000" b="0" i="0">
                          <a:effectLst/>
                          <a:latin typeface="Times New Roman"/>
                        </a:rPr>
                        <a:t>Develop high quality software within time and budget estimates. </a:t>
                      </a: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A0A186"/>
                      </a:solidFill>
                      <a:prstDash val="solid"/>
                      <a:round/>
                      <a:headEnd type="none" w="med" len="med"/>
                      <a:tailEnd type="none" w="med" len="med"/>
                    </a:lnB>
                    <a:noFill/>
                  </a:tcPr>
                </a:tc>
                <a:extLst>
                  <a:ext uri="{0D108BD9-81ED-4DB2-BD59-A6C34878D82A}">
                    <a16:rowId xmlns:a16="http://schemas.microsoft.com/office/drawing/2014/main" val="1997854428"/>
                  </a:ext>
                </a:extLst>
              </a:tr>
              <a:tr h="567764">
                <a:tc>
                  <a:txBody>
                    <a:bodyPr/>
                    <a:lstStyle/>
                    <a:p>
                      <a:pPr algn="ctr" rtl="0" fontAlgn="base">
                        <a:lnSpc>
                          <a:spcPts val="1350"/>
                        </a:lnSpc>
                        <a:buNone/>
                      </a:pPr>
                      <a:r>
                        <a:rPr lang="en-IN" sz="2000" b="0" i="0">
                          <a:solidFill>
                            <a:srgbClr val="000000"/>
                          </a:solidFill>
                          <a:effectLst/>
                          <a:latin typeface="Times New Roman"/>
                        </a:rPr>
                        <a:t>CO5 </a:t>
                      </a:r>
                      <a:endParaRPr lang="en-IN" sz="2000" b="0" i="0">
                        <a:effectLst/>
                        <a:latin typeface="Times New Roman"/>
                      </a:endParaRPr>
                    </a:p>
                  </a:txBody>
                  <a:tcPr marL="57150" marR="57150">
                    <a:lnL w="9525" cap="flat" cmpd="sng" algn="ctr">
                      <a:solidFill>
                        <a:srgbClr val="60B5A0"/>
                      </a:solidFill>
                      <a:prstDash val="solid"/>
                      <a:round/>
                      <a:headEnd type="none" w="med" len="med"/>
                      <a:tailEnd type="none" w="med" len="med"/>
                    </a:lnL>
                    <a:lnR w="9525" cap="flat" cmpd="sng" algn="ctr">
                      <a:solidFill>
                        <a:srgbClr val="A0A186"/>
                      </a:solidFill>
                      <a:prstDash val="solid"/>
                      <a:round/>
                      <a:headEnd type="none" w="med" len="med"/>
                      <a:tailEnd type="none" w="med" len="med"/>
                    </a:lnR>
                    <a:lnT w="9525" cap="flat" cmpd="sng" algn="ctr">
                      <a:solidFill>
                        <a:srgbClr val="60B5A0"/>
                      </a:solidFill>
                      <a:prstDash val="solid"/>
                      <a:round/>
                      <a:headEnd type="none" w="med" len="med"/>
                      <a:tailEnd type="none" w="med" len="med"/>
                    </a:lnT>
                    <a:lnB w="9525" cap="flat" cmpd="sng" algn="ctr">
                      <a:solidFill>
                        <a:srgbClr val="60B5A0"/>
                      </a:solidFill>
                      <a:prstDash val="solid"/>
                      <a:round/>
                      <a:headEnd type="none" w="med" len="med"/>
                      <a:tailEnd type="none" w="med" len="med"/>
                    </a:lnB>
                    <a:noFill/>
                  </a:tcPr>
                </a:tc>
                <a:tc>
                  <a:txBody>
                    <a:bodyPr/>
                    <a:lstStyle/>
                    <a:p>
                      <a:pPr algn="just" rtl="0" fontAlgn="base">
                        <a:lnSpc>
                          <a:spcPts val="1350"/>
                        </a:lnSpc>
                        <a:buNone/>
                      </a:pPr>
                      <a:r>
                        <a:rPr lang="en-IN" sz="2000" b="0" i="0">
                          <a:effectLst/>
                          <a:latin typeface="Times New Roman"/>
                        </a:rPr>
                        <a:t>Ability to monitor software quality at various stages of SDLC </a:t>
                      </a:r>
                    </a:p>
                  </a:txBody>
                  <a:tcPr marL="57150" marR="57150">
                    <a:lnL w="9525" cap="flat" cmpd="sng" algn="ctr">
                      <a:solidFill>
                        <a:srgbClr val="A0A186"/>
                      </a:solidFill>
                      <a:prstDash val="solid"/>
                      <a:round/>
                      <a:headEnd type="none" w="med" len="med"/>
                      <a:tailEnd type="none" w="med" len="med"/>
                    </a:lnL>
                    <a:lnR w="9525" cap="flat" cmpd="sng" algn="ctr">
                      <a:solidFill>
                        <a:srgbClr val="A0A186"/>
                      </a:solidFill>
                      <a:prstDash val="solid"/>
                      <a:round/>
                      <a:headEnd type="none" w="med" len="med"/>
                      <a:tailEnd type="none" w="med" len="med"/>
                    </a:lnR>
                    <a:lnT w="9525" cap="flat" cmpd="sng" algn="ctr">
                      <a:solidFill>
                        <a:srgbClr val="A0A186"/>
                      </a:solidFill>
                      <a:prstDash val="solid"/>
                      <a:round/>
                      <a:headEnd type="none" w="med" len="med"/>
                      <a:tailEnd type="none" w="med" len="med"/>
                    </a:lnT>
                    <a:lnB w="9525" cap="flat" cmpd="sng" algn="ctr">
                      <a:solidFill>
                        <a:srgbClr val="A0A186"/>
                      </a:solidFill>
                      <a:prstDash val="solid"/>
                      <a:round/>
                      <a:headEnd type="none" w="med" len="med"/>
                      <a:tailEnd type="none" w="med" len="med"/>
                    </a:lnB>
                    <a:noFill/>
                  </a:tcPr>
                </a:tc>
                <a:extLst>
                  <a:ext uri="{0D108BD9-81ED-4DB2-BD59-A6C34878D82A}">
                    <a16:rowId xmlns:a16="http://schemas.microsoft.com/office/drawing/2014/main" val="2491719684"/>
                  </a:ext>
                </a:extLst>
              </a:tr>
            </a:tbl>
          </a:graphicData>
        </a:graphic>
      </p:graphicFrame>
    </p:spTree>
    <p:extLst>
      <p:ext uri="{BB962C8B-B14F-4D97-AF65-F5344CB8AC3E}">
        <p14:creationId xmlns:p14="http://schemas.microsoft.com/office/powerpoint/2010/main" val="3299872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C295-4D29-4512-A75A-80B34DCBEEB7}"/>
              </a:ext>
            </a:extLst>
          </p:cNvPr>
          <p:cNvSpPr>
            <a:spLocks noGrp="1"/>
          </p:cNvSpPr>
          <p:nvPr>
            <p:ph type="title"/>
          </p:nvPr>
        </p:nvSpPr>
        <p:spPr/>
        <p:txBody>
          <a:bodyPr/>
          <a:lstStyle/>
          <a:p>
            <a:r>
              <a:rPr lang="en-US">
                <a:ea typeface="Calibri Light"/>
                <a:cs typeface="Calibri Light"/>
              </a:rPr>
              <a:t>When do we meet?</a:t>
            </a:r>
          </a:p>
        </p:txBody>
      </p:sp>
      <p:sp>
        <p:nvSpPr>
          <p:cNvPr id="3" name="Content Placeholder 2">
            <a:extLst>
              <a:ext uri="{FF2B5EF4-FFF2-40B4-BE49-F238E27FC236}">
                <a16:creationId xmlns:a16="http://schemas.microsoft.com/office/drawing/2014/main" id="{0256C59C-9F3E-493A-AB1E-BE8C9BFFB896}"/>
              </a:ext>
            </a:extLst>
          </p:cNvPr>
          <p:cNvSpPr>
            <a:spLocks noGrp="1"/>
          </p:cNvSpPr>
          <p:nvPr>
            <p:ph idx="1"/>
          </p:nvPr>
        </p:nvSpPr>
        <p:spPr/>
        <p:txBody>
          <a:bodyPr vert="horz" lIns="91440" tIns="45720" rIns="91440" bIns="45720" rtlCol="0" anchor="t">
            <a:normAutofit/>
          </a:bodyPr>
          <a:lstStyle/>
          <a:p>
            <a:r>
              <a:rPr lang="en-US" dirty="0">
                <a:cs typeface="Calibri" panose="020F0502020204030204"/>
              </a:rPr>
              <a:t>2 lectures per week</a:t>
            </a:r>
          </a:p>
          <a:p>
            <a:pPr lvl="1"/>
            <a:r>
              <a:rPr lang="en-US" dirty="0">
                <a:ea typeface="Calibri"/>
                <a:cs typeface="Calibri" panose="020F0502020204030204"/>
              </a:rPr>
              <a:t>Mon [10:35 – 11:30], Wed [10:35 – 11:30]; ELT-2</a:t>
            </a:r>
          </a:p>
          <a:p>
            <a:r>
              <a:rPr lang="en-US" dirty="0">
                <a:cs typeface="Calibri" panose="020F0502020204030204"/>
              </a:rPr>
              <a:t>1 lab per week</a:t>
            </a:r>
            <a:endParaRPr lang="en-US" dirty="0">
              <a:ea typeface="Calibri"/>
              <a:cs typeface="Calibri" panose="020F0502020204030204"/>
            </a:endParaRPr>
          </a:p>
          <a:p>
            <a:pPr lvl="1"/>
            <a:r>
              <a:rPr lang="en-US" dirty="0">
                <a:ea typeface="Calibri"/>
                <a:cs typeface="Calibri" panose="020F0502020204030204"/>
              </a:rPr>
              <a:t>Tue [8:25 – 10:20]; IT2 block, GF and FF2 (tentative)</a:t>
            </a:r>
          </a:p>
          <a:p>
            <a:endParaRPr lang="en-US">
              <a:cs typeface="Calibri" panose="020F0502020204030204"/>
            </a:endParaRPr>
          </a:p>
          <a:p>
            <a:r>
              <a:rPr lang="en-US" sz="2000" dirty="0">
                <a:cs typeface="Calibri" panose="020F0502020204030204"/>
              </a:rPr>
              <a:t>Course Assignment, Lab Submissions and Project: Piazza/ Google Forms</a:t>
            </a:r>
            <a:endParaRPr lang="en-US" sz="2000" dirty="0">
              <a:ea typeface="Calibri"/>
              <a:cs typeface="Calibri" panose="020F0502020204030204"/>
            </a:endParaRPr>
          </a:p>
          <a:p>
            <a:r>
              <a:rPr lang="en-US" sz="2000" dirty="0">
                <a:cs typeface="Calibri" panose="020F0502020204030204"/>
              </a:rPr>
              <a:t>It is mandatory to attend all the exams and submit all assignments on time</a:t>
            </a:r>
            <a:endParaRPr lang="en-US" sz="2000" dirty="0">
              <a:ea typeface="Calibri"/>
              <a:cs typeface="Calibri" panose="020F0502020204030204"/>
            </a:endParaRPr>
          </a:p>
          <a:p>
            <a:r>
              <a:rPr lang="en-US" sz="2000" dirty="0">
                <a:cs typeface="Calibri" panose="020F0502020204030204"/>
              </a:rPr>
              <a:t>Please try to contact via email before meeting (unless within office hours)</a:t>
            </a:r>
            <a:endParaRPr lang="en-US" sz="2000" dirty="0">
              <a:ea typeface="Calibri" panose="020F0502020204030204"/>
              <a:cs typeface="Calibri" panose="020F0502020204030204"/>
            </a:endParaRPr>
          </a:p>
          <a:p>
            <a:r>
              <a:rPr lang="en-US" sz="2000" dirty="0">
                <a:ea typeface="Calibri" panose="020F0502020204030204"/>
                <a:cs typeface="Calibri" panose="020F0502020204030204"/>
              </a:rPr>
              <a:t>Mandatory to attend major exam to get pass grade</a:t>
            </a:r>
          </a:p>
        </p:txBody>
      </p:sp>
      <p:pic>
        <p:nvPicPr>
          <p:cNvPr id="6" name="Picture 5" descr="A black and white logo&#10;&#10;Description automatically generated">
            <a:extLst>
              <a:ext uri="{FF2B5EF4-FFF2-40B4-BE49-F238E27FC236}">
                <a16:creationId xmlns:a16="http://schemas.microsoft.com/office/drawing/2014/main" id="{0EF1ABCC-F192-F14E-DB9F-56316CBFE8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D2E91C3-5CEB-C692-440D-F75BC3CBEB15}"/>
              </a:ext>
            </a:extLst>
          </p:cNvPr>
          <p:cNvSpPr>
            <a:spLocks noGrp="1"/>
          </p:cNvSpPr>
          <p:nvPr>
            <p:ph type="sldNum" sz="quarter" idx="12"/>
          </p:nvPr>
        </p:nvSpPr>
        <p:spPr/>
        <p:txBody>
          <a:bodyPr/>
          <a:lstStyle/>
          <a:p>
            <a:fld id="{008559AE-1842-40A5-A2A9-0518F39FD1A9}" type="slidenum">
              <a:rPr lang="en-US" smtClean="0"/>
              <a:t>6</a:t>
            </a:fld>
            <a:endParaRPr lang="en-GB"/>
          </a:p>
        </p:txBody>
      </p:sp>
      <p:sp>
        <p:nvSpPr>
          <p:cNvPr id="7" name="Footer Placeholder 6">
            <a:extLst>
              <a:ext uri="{FF2B5EF4-FFF2-40B4-BE49-F238E27FC236}">
                <a16:creationId xmlns:a16="http://schemas.microsoft.com/office/drawing/2014/main" id="{A42E8946-F722-6E84-45EB-6E0C3804C72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908280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C295-4D29-4512-A75A-80B34DCBEEB7}"/>
              </a:ext>
            </a:extLst>
          </p:cNvPr>
          <p:cNvSpPr>
            <a:spLocks noGrp="1"/>
          </p:cNvSpPr>
          <p:nvPr>
            <p:ph type="title"/>
          </p:nvPr>
        </p:nvSpPr>
        <p:spPr/>
        <p:txBody>
          <a:bodyPr/>
          <a:lstStyle/>
          <a:p>
            <a:r>
              <a:rPr lang="en-US"/>
              <a:t>Course policy</a:t>
            </a:r>
          </a:p>
        </p:txBody>
      </p:sp>
      <p:sp>
        <p:nvSpPr>
          <p:cNvPr id="3" name="Content Placeholder 2">
            <a:extLst>
              <a:ext uri="{FF2B5EF4-FFF2-40B4-BE49-F238E27FC236}">
                <a16:creationId xmlns:a16="http://schemas.microsoft.com/office/drawing/2014/main" id="{0256C59C-9F3E-493A-AB1E-BE8C9BFFB896}"/>
              </a:ext>
            </a:extLst>
          </p:cNvPr>
          <p:cNvSpPr>
            <a:spLocks noGrp="1"/>
          </p:cNvSpPr>
          <p:nvPr>
            <p:ph idx="1"/>
          </p:nvPr>
        </p:nvSpPr>
        <p:spPr/>
        <p:txBody>
          <a:bodyPr vert="horz" lIns="91440" tIns="45720" rIns="91440" bIns="45720" rtlCol="0" anchor="t">
            <a:normAutofit/>
          </a:bodyPr>
          <a:lstStyle/>
          <a:p>
            <a:r>
              <a:rPr lang="en-US" dirty="0">
                <a:cs typeface="Calibri" panose="020F0502020204030204"/>
              </a:rPr>
              <a:t>Attendance is mandatory and QR based, however s</a:t>
            </a:r>
            <a:r>
              <a:rPr lang="en-GB" dirty="0">
                <a:cs typeface="Calibri"/>
              </a:rPr>
              <a:t>mart phones should be in Silent mode</a:t>
            </a:r>
            <a:endParaRPr lang="en-GB" dirty="0">
              <a:ea typeface="Calibri" panose="020F0502020204030204"/>
              <a:cs typeface="Calibri"/>
            </a:endParaRPr>
          </a:p>
          <a:p>
            <a:r>
              <a:rPr lang="en-GB" dirty="0">
                <a:cs typeface="Calibri"/>
              </a:rPr>
              <a:t>Texting and use of phone (other than attendance) is prohibited</a:t>
            </a:r>
            <a:endParaRPr lang="en-US" dirty="0">
              <a:cs typeface="Calibri" panose="020F0502020204030204"/>
            </a:endParaRPr>
          </a:p>
          <a:p>
            <a:r>
              <a:rPr lang="en-GB" dirty="0">
                <a:ea typeface="Calibri"/>
                <a:cs typeface="Calibri" panose="020F0502020204030204"/>
              </a:rPr>
              <a:t>Zero tolerance to plagiarism</a:t>
            </a:r>
          </a:p>
          <a:p>
            <a:r>
              <a:rPr lang="en-GB" dirty="0">
                <a:ea typeface="Calibri"/>
                <a:cs typeface="Calibri" panose="020F0502020204030204"/>
              </a:rPr>
              <a:t>No alternate tests for missing minors (recent notification by Admin)</a:t>
            </a:r>
          </a:p>
          <a:p>
            <a:r>
              <a:rPr lang="en-GB" dirty="0">
                <a:ea typeface="Calibri"/>
                <a:cs typeface="Calibri" panose="020F0502020204030204"/>
              </a:rPr>
              <a:t>Attendance of 75% and GPA of 4.0 minimum to pass/ promote</a:t>
            </a:r>
          </a:p>
          <a:p>
            <a:endParaRPr lang="en-GB">
              <a:ea typeface="Calibri"/>
              <a:cs typeface="Calibri" panose="020F0502020204030204"/>
            </a:endParaRPr>
          </a:p>
          <a:p>
            <a:endParaRPr lang="en-GB">
              <a:ea typeface="Calibri"/>
              <a:cs typeface="Calibri" panose="020F0502020204030204"/>
            </a:endParaRPr>
          </a:p>
          <a:p>
            <a:endParaRPr lang="en-US">
              <a:ea typeface="Calibri"/>
              <a:cs typeface="Calibri" panose="020F0502020204030204"/>
            </a:endParaRPr>
          </a:p>
          <a:p>
            <a:endParaRPr lang="en-US">
              <a:ea typeface="Calibri"/>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0EF1ABCC-F192-F14E-DB9F-56316CBFE8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D2E91C3-5CEB-C692-440D-F75BC3CBEB15}"/>
              </a:ext>
            </a:extLst>
          </p:cNvPr>
          <p:cNvSpPr>
            <a:spLocks noGrp="1"/>
          </p:cNvSpPr>
          <p:nvPr>
            <p:ph type="sldNum" sz="quarter" idx="12"/>
          </p:nvPr>
        </p:nvSpPr>
        <p:spPr/>
        <p:txBody>
          <a:bodyPr/>
          <a:lstStyle/>
          <a:p>
            <a:fld id="{008559AE-1842-40A5-A2A9-0518F39FD1A9}" type="slidenum">
              <a:rPr lang="en-US" smtClean="0"/>
              <a:t>7</a:t>
            </a:fld>
            <a:endParaRPr lang="en-GB"/>
          </a:p>
        </p:txBody>
      </p:sp>
      <p:sp>
        <p:nvSpPr>
          <p:cNvPr id="7" name="Footer Placeholder 6">
            <a:extLst>
              <a:ext uri="{FF2B5EF4-FFF2-40B4-BE49-F238E27FC236}">
                <a16:creationId xmlns:a16="http://schemas.microsoft.com/office/drawing/2014/main" id="{A42E8946-F722-6E84-45EB-6E0C3804C72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24130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C295-4D29-4512-A75A-80B34DCBEEB7}"/>
              </a:ext>
            </a:extLst>
          </p:cNvPr>
          <p:cNvSpPr>
            <a:spLocks noGrp="1"/>
          </p:cNvSpPr>
          <p:nvPr>
            <p:ph type="title"/>
          </p:nvPr>
        </p:nvSpPr>
        <p:spPr/>
        <p:txBody>
          <a:bodyPr/>
          <a:lstStyle/>
          <a:p>
            <a:r>
              <a:rPr lang="en-US"/>
              <a:t>Course policy</a:t>
            </a:r>
          </a:p>
        </p:txBody>
      </p:sp>
      <p:sp>
        <p:nvSpPr>
          <p:cNvPr id="3" name="Content Placeholder 2">
            <a:extLst>
              <a:ext uri="{FF2B5EF4-FFF2-40B4-BE49-F238E27FC236}">
                <a16:creationId xmlns:a16="http://schemas.microsoft.com/office/drawing/2014/main" id="{0256C59C-9F3E-493A-AB1E-BE8C9BFFB896}"/>
              </a:ext>
            </a:extLst>
          </p:cNvPr>
          <p:cNvSpPr>
            <a:spLocks noGrp="1"/>
          </p:cNvSpPr>
          <p:nvPr>
            <p:ph idx="1"/>
          </p:nvPr>
        </p:nvSpPr>
        <p:spPr/>
        <p:txBody>
          <a:bodyPr vert="horz" lIns="91440" tIns="45720" rIns="91440" bIns="45720" rtlCol="0" anchor="t">
            <a:normAutofit/>
          </a:bodyPr>
          <a:lstStyle/>
          <a:p>
            <a:r>
              <a:rPr lang="en-GB" strike="sngStrike">
                <a:cs typeface="Calibri"/>
              </a:rPr>
              <a:t>"</a:t>
            </a:r>
            <a:r>
              <a:rPr lang="en-GB" i="1" strike="sngStrike">
                <a:ea typeface="+mn-lt"/>
                <a:cs typeface="+mn-lt"/>
              </a:rPr>
              <a:t>Missing Minor exams will not be given re-test. If a student misses it due to genuine and verifiable reason(s), she/he will be given weightage for the missed exam(s) on a pro-rate basis of performance in the end-</a:t>
            </a:r>
            <a:r>
              <a:rPr lang="en-GB" i="1" strike="sngStrike" err="1">
                <a:ea typeface="+mn-lt"/>
                <a:cs typeface="+mn-lt"/>
              </a:rPr>
              <a:t>sem</a:t>
            </a:r>
            <a:r>
              <a:rPr lang="en-GB" i="1" strike="sngStrike">
                <a:ea typeface="+mn-lt"/>
                <a:cs typeface="+mn-lt"/>
              </a:rPr>
              <a:t> exam.</a:t>
            </a:r>
            <a:r>
              <a:rPr lang="en-GB" strike="sngStrike">
                <a:cs typeface="Calibri"/>
              </a:rPr>
              <a:t>“</a:t>
            </a:r>
          </a:p>
          <a:p>
            <a:r>
              <a:rPr lang="en-GB" i="1">
                <a:cs typeface="Calibri"/>
              </a:rPr>
              <a:t>"</a:t>
            </a:r>
            <a:r>
              <a:rPr lang="en-GB" i="1">
                <a:ea typeface="+mn-lt"/>
                <a:cs typeface="+mn-lt"/>
              </a:rPr>
              <a:t>Furthermore please tell them that in a supplementary no grade better than grade “D” can be obtained. However if a student carries an “I” (standing for incomplete grade) given in an individual course, the student will get regular grade as earned in the supplementary exam.</a:t>
            </a:r>
            <a:r>
              <a:rPr lang="en-GB" i="1">
                <a:cs typeface="Calibri"/>
              </a:rPr>
              <a:t>"</a:t>
            </a:r>
            <a:endParaRPr lang="en-GB">
              <a:cs typeface="Calibri"/>
            </a:endParaRPr>
          </a:p>
          <a:p>
            <a:endParaRPr lang="en-US">
              <a:cs typeface="Calibri" panose="020F0502020204030204"/>
            </a:endParaRPr>
          </a:p>
          <a:p>
            <a:endParaRPr lang="en-US">
              <a:cs typeface="Calibri" panose="020F0502020204030204"/>
            </a:endParaRPr>
          </a:p>
          <a:p>
            <a:endParaRPr lang="en-US">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0EF1ABCC-F192-F14E-DB9F-56316CBFE8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D2E91C3-5CEB-C692-440D-F75BC3CBEB15}"/>
              </a:ext>
            </a:extLst>
          </p:cNvPr>
          <p:cNvSpPr>
            <a:spLocks noGrp="1"/>
          </p:cNvSpPr>
          <p:nvPr>
            <p:ph type="sldNum" sz="quarter" idx="12"/>
          </p:nvPr>
        </p:nvSpPr>
        <p:spPr/>
        <p:txBody>
          <a:bodyPr/>
          <a:lstStyle/>
          <a:p>
            <a:fld id="{008559AE-1842-40A5-A2A9-0518F39FD1A9}" type="slidenum">
              <a:rPr lang="en-US" smtClean="0"/>
              <a:t>8</a:t>
            </a:fld>
            <a:endParaRPr lang="en-GB"/>
          </a:p>
        </p:txBody>
      </p:sp>
      <p:sp>
        <p:nvSpPr>
          <p:cNvPr id="7" name="Footer Placeholder 6">
            <a:extLst>
              <a:ext uri="{FF2B5EF4-FFF2-40B4-BE49-F238E27FC236}">
                <a16:creationId xmlns:a16="http://schemas.microsoft.com/office/drawing/2014/main" id="{A42E8946-F722-6E84-45EB-6E0C3804C72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181026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F9A3B-E721-66EB-48F8-A266F5E7867A}"/>
              </a:ext>
            </a:extLst>
          </p:cNvPr>
          <p:cNvSpPr>
            <a:spLocks noGrp="1"/>
          </p:cNvSpPr>
          <p:nvPr>
            <p:ph type="title"/>
          </p:nvPr>
        </p:nvSpPr>
        <p:spPr/>
        <p:txBody>
          <a:bodyPr/>
          <a:lstStyle/>
          <a:p>
            <a:r>
              <a:rPr lang="en-US">
                <a:cs typeface="Calibri Light"/>
              </a:rPr>
              <a:t>Evaluation / Grading policy</a:t>
            </a:r>
            <a:endParaRPr lang="en-US"/>
          </a:p>
        </p:txBody>
      </p:sp>
      <p:sp>
        <p:nvSpPr>
          <p:cNvPr id="3" name="Content Placeholder 2">
            <a:extLst>
              <a:ext uri="{FF2B5EF4-FFF2-40B4-BE49-F238E27FC236}">
                <a16:creationId xmlns:a16="http://schemas.microsoft.com/office/drawing/2014/main" id="{13E71471-96C7-54FC-A6C8-EF85842D2A62}"/>
              </a:ext>
            </a:extLst>
          </p:cNvPr>
          <p:cNvSpPr>
            <a:spLocks noGrp="1"/>
          </p:cNvSpPr>
          <p:nvPr>
            <p:ph idx="1"/>
          </p:nvPr>
        </p:nvSpPr>
        <p:spPr/>
        <p:txBody>
          <a:bodyPr vert="horz" lIns="91440" tIns="45720" rIns="91440" bIns="45720" rtlCol="0" anchor="t">
            <a:normAutofit/>
          </a:bodyPr>
          <a:lstStyle/>
          <a:p>
            <a:r>
              <a:rPr lang="en-US">
                <a:cs typeface="Calibri"/>
              </a:rPr>
              <a:t>Internal Evaluation / Lab (20%)</a:t>
            </a:r>
          </a:p>
          <a:p>
            <a:pPr lvl="1"/>
            <a:r>
              <a:rPr lang="en-US" b="1" u="sng">
                <a:cs typeface="Calibri"/>
              </a:rPr>
              <a:t>Individual</a:t>
            </a:r>
            <a:r>
              <a:rPr lang="en-US">
                <a:cs typeface="Calibri"/>
              </a:rPr>
              <a:t> Lab Assignments: 20%</a:t>
            </a:r>
            <a:endParaRPr lang="en-US">
              <a:ea typeface="Calibri"/>
              <a:cs typeface="Calibri"/>
            </a:endParaRPr>
          </a:p>
          <a:p>
            <a:r>
              <a:rPr lang="en-US">
                <a:ea typeface="Calibri"/>
                <a:cs typeface="Calibri"/>
              </a:rPr>
              <a:t>Term Project (20%)</a:t>
            </a:r>
          </a:p>
          <a:p>
            <a:pPr lvl="1"/>
            <a:r>
              <a:rPr lang="en-US">
                <a:ea typeface="Calibri"/>
                <a:cs typeface="Calibri"/>
              </a:rPr>
              <a:t> </a:t>
            </a:r>
            <a:r>
              <a:rPr lang="en-US" b="1" u="sng">
                <a:ea typeface="Calibri"/>
                <a:cs typeface="Calibri"/>
              </a:rPr>
              <a:t>(Group of 4-6*)</a:t>
            </a:r>
            <a:r>
              <a:rPr lang="en-US">
                <a:ea typeface="Calibri"/>
                <a:cs typeface="Calibri"/>
              </a:rPr>
              <a:t>: 20%</a:t>
            </a:r>
            <a:endParaRPr lang="en-US"/>
          </a:p>
          <a:p>
            <a:r>
              <a:rPr lang="en-US">
                <a:cs typeface="Calibri"/>
              </a:rPr>
              <a:t>External Evaluation (60%)</a:t>
            </a:r>
            <a:endParaRPr lang="en-US"/>
          </a:p>
          <a:p>
            <a:pPr lvl="1"/>
            <a:r>
              <a:rPr lang="en-US">
                <a:cs typeface="Calibri"/>
              </a:rPr>
              <a:t>Minor 1 + Minor 2: 25% (12.5 + 12.5)</a:t>
            </a:r>
            <a:endParaRPr lang="en-US">
              <a:ea typeface="Calibri"/>
              <a:cs typeface="Calibri"/>
            </a:endParaRPr>
          </a:p>
          <a:p>
            <a:pPr lvl="1"/>
            <a:r>
              <a:rPr lang="en-US">
                <a:cs typeface="Calibri"/>
              </a:rPr>
              <a:t>Major: 35%</a:t>
            </a:r>
          </a:p>
        </p:txBody>
      </p:sp>
      <p:pic>
        <p:nvPicPr>
          <p:cNvPr id="5" name="Picture 4" descr="A black and white logo&#10;&#10;Description automatically generated">
            <a:extLst>
              <a:ext uri="{FF2B5EF4-FFF2-40B4-BE49-F238E27FC236}">
                <a16:creationId xmlns:a16="http://schemas.microsoft.com/office/drawing/2014/main" id="{14ACAD69-BEB0-44E0-8D4D-FCC9FAD7AE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7" name="Slide Number Placeholder 6">
            <a:extLst>
              <a:ext uri="{FF2B5EF4-FFF2-40B4-BE49-F238E27FC236}">
                <a16:creationId xmlns:a16="http://schemas.microsoft.com/office/drawing/2014/main" id="{66206B8F-0B4C-02D9-EDB7-39EEA86A3676}"/>
              </a:ext>
            </a:extLst>
          </p:cNvPr>
          <p:cNvSpPr>
            <a:spLocks noGrp="1"/>
          </p:cNvSpPr>
          <p:nvPr>
            <p:ph type="sldNum" sz="quarter" idx="12"/>
          </p:nvPr>
        </p:nvSpPr>
        <p:spPr/>
        <p:txBody>
          <a:bodyPr/>
          <a:lstStyle/>
          <a:p>
            <a:fld id="{008559AE-1842-40A5-A2A9-0518F39FD1A9}" type="slidenum">
              <a:rPr lang="en-US" smtClean="0"/>
              <a:t>9</a:t>
            </a:fld>
            <a:endParaRPr lang="en-GB"/>
          </a:p>
        </p:txBody>
      </p:sp>
      <p:sp>
        <p:nvSpPr>
          <p:cNvPr id="6" name="Footer Placeholder 5">
            <a:extLst>
              <a:ext uri="{FF2B5EF4-FFF2-40B4-BE49-F238E27FC236}">
                <a16:creationId xmlns:a16="http://schemas.microsoft.com/office/drawing/2014/main" id="{DBDEE01B-7C26-4890-0BEB-BA562D5A9102}"/>
              </a:ext>
            </a:extLst>
          </p:cNvPr>
          <p:cNvSpPr>
            <a:spLocks noGrp="1"/>
          </p:cNvSpPr>
          <p:nvPr>
            <p:ph type="ftr" sz="quarter" idx="11"/>
          </p:nvPr>
        </p:nvSpPr>
        <p:spPr/>
        <p:txBody>
          <a:bodyPr/>
          <a:lstStyle/>
          <a:p>
            <a:r>
              <a:rPr lang="en-US"/>
              <a:t>Software Engineering</a:t>
            </a:r>
            <a:endParaRPr lang="en-US">
              <a:ea typeface="Calibri"/>
              <a:cs typeface="Calibri"/>
            </a:endParaRPr>
          </a:p>
        </p:txBody>
      </p:sp>
    </p:spTree>
    <p:extLst>
      <p:ext uri="{BB962C8B-B14F-4D97-AF65-F5344CB8AC3E}">
        <p14:creationId xmlns:p14="http://schemas.microsoft.com/office/powerpoint/2010/main" val="3834488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3045D-CCAB-BBE1-2E56-AFDE08D93BE3}"/>
              </a:ext>
            </a:extLst>
          </p:cNvPr>
          <p:cNvSpPr>
            <a:spLocks noGrp="1"/>
          </p:cNvSpPr>
          <p:nvPr>
            <p:ph type="title"/>
          </p:nvPr>
        </p:nvSpPr>
        <p:spPr/>
        <p:txBody>
          <a:bodyPr/>
          <a:lstStyle/>
          <a:p>
            <a:r>
              <a:rPr lang="en-GB">
                <a:cs typeface="Calibri Light"/>
              </a:rPr>
              <a:t>Course content (One Drive and Piazza)</a:t>
            </a:r>
            <a:endParaRPr lang="en-GB"/>
          </a:p>
        </p:txBody>
      </p:sp>
      <p:sp>
        <p:nvSpPr>
          <p:cNvPr id="3" name="Content Placeholder 2">
            <a:extLst>
              <a:ext uri="{FF2B5EF4-FFF2-40B4-BE49-F238E27FC236}">
                <a16:creationId xmlns:a16="http://schemas.microsoft.com/office/drawing/2014/main" id="{BCAC8E6E-0661-6F89-9589-E7F0ED8068F6}"/>
              </a:ext>
            </a:extLst>
          </p:cNvPr>
          <p:cNvSpPr>
            <a:spLocks noGrp="1"/>
          </p:cNvSpPr>
          <p:nvPr>
            <p:ph idx="1"/>
          </p:nvPr>
        </p:nvSpPr>
        <p:spPr>
          <a:xfrm>
            <a:off x="838200" y="1533351"/>
            <a:ext cx="10515600" cy="4967201"/>
          </a:xfrm>
        </p:spPr>
        <p:txBody>
          <a:bodyPr vert="horz" lIns="91440" tIns="45720" rIns="91440" bIns="45720" rtlCol="0" anchor="t">
            <a:normAutofit fontScale="92500" lnSpcReduction="20000"/>
          </a:bodyPr>
          <a:lstStyle/>
          <a:p>
            <a:r>
              <a:rPr lang="en-US">
                <a:ea typeface="+mn-lt"/>
                <a:cs typeface="+mn-lt"/>
              </a:rPr>
              <a:t>The following content is available here: </a:t>
            </a:r>
            <a:r>
              <a:rPr lang="en-US">
                <a:ea typeface="+mn-lt"/>
                <a:cs typeface="+mn-lt"/>
                <a:hlinkClick r:id="rId2"/>
              </a:rPr>
              <a:t>Course Content</a:t>
            </a:r>
            <a:endParaRPr lang="en-US">
              <a:ea typeface="+mn-lt"/>
              <a:cs typeface="+mn-lt"/>
            </a:endParaRPr>
          </a:p>
          <a:p>
            <a:pPr lvl="1"/>
            <a:r>
              <a:rPr lang="en-US">
                <a:ea typeface="+mn-lt"/>
                <a:cs typeface="+mn-lt"/>
              </a:rPr>
              <a:t>Lecture Slides</a:t>
            </a:r>
          </a:p>
          <a:p>
            <a:pPr lvl="1"/>
            <a:r>
              <a:rPr lang="en-US">
                <a:ea typeface="+mn-lt"/>
                <a:cs typeface="+mn-lt"/>
              </a:rPr>
              <a:t>Lab Exercises and Assignments (to be added)</a:t>
            </a:r>
          </a:p>
          <a:p>
            <a:pPr lvl="1"/>
            <a:r>
              <a:rPr lang="en-US">
                <a:ea typeface="+mn-lt"/>
                <a:cs typeface="+mn-lt"/>
              </a:rPr>
              <a:t>Textbook* (expected to at least read certain sections from these books)</a:t>
            </a:r>
          </a:p>
          <a:p>
            <a:pPr lvl="2"/>
            <a:r>
              <a:rPr lang="ru-RU" b="1" u="sng">
                <a:ea typeface="+mn-lt"/>
                <a:cs typeface="+mn-lt"/>
              </a:rPr>
              <a:t>Software Engineering – Ian Sommerville, 10th edition, Pearson Education</a:t>
            </a:r>
            <a:endParaRPr lang="en-US" b="1" u="sng">
              <a:ea typeface="+mn-lt"/>
              <a:cs typeface="+mn-lt"/>
            </a:endParaRPr>
          </a:p>
          <a:p>
            <a:pPr lvl="2"/>
            <a:r>
              <a:rPr lang="en-US" sz="2100" b="1" u="sng">
                <a:ea typeface="Calibri" panose="020F0502020204030204"/>
                <a:cs typeface="Calibri" panose="020F0502020204030204"/>
              </a:rPr>
              <a:t>Software Engineering: Principles and Practices - Hans Van Vliet, 3rd Edition, Wiley publications</a:t>
            </a:r>
            <a:endParaRPr lang="ru-RU" b="1" u="sng">
              <a:ea typeface="Calibri" panose="020F0502020204030204"/>
              <a:cs typeface="Calibri" panose="020F0502020204030204"/>
            </a:endParaRPr>
          </a:p>
          <a:p>
            <a:pPr lvl="1"/>
            <a:r>
              <a:rPr lang="en-US">
                <a:ea typeface="+mn-lt"/>
                <a:cs typeface="+mn-lt"/>
              </a:rPr>
              <a:t>Reference textbooks*:</a:t>
            </a:r>
          </a:p>
          <a:p>
            <a:pPr lvl="2"/>
            <a:r>
              <a:rPr lang="ru-RU" sz="1800">
                <a:ea typeface="+mn-lt"/>
                <a:cs typeface="+mn-lt"/>
              </a:rPr>
              <a:t>Software Engineering, A practitioner’s Approach - Roger Pressman, 8th edition, McGraw Hill International Ed.</a:t>
            </a:r>
          </a:p>
          <a:p>
            <a:pPr lvl="2"/>
            <a:r>
              <a:rPr lang="en-US" sz="1800">
                <a:ea typeface="+mn-lt"/>
                <a:cs typeface="+mn-lt"/>
              </a:rPr>
              <a:t>Software Engineering – Pankaj </a:t>
            </a:r>
            <a:r>
              <a:rPr lang="en-US" sz="1800" err="1">
                <a:ea typeface="+mn-lt"/>
                <a:cs typeface="+mn-lt"/>
              </a:rPr>
              <a:t>Jalote</a:t>
            </a:r>
            <a:endParaRPr lang="en-US" sz="1800">
              <a:ea typeface="+mn-lt"/>
              <a:cs typeface="+mn-lt"/>
            </a:endParaRPr>
          </a:p>
          <a:p>
            <a:pPr lvl="2"/>
            <a:r>
              <a:rPr lang="en-US" sz="1800">
                <a:ea typeface="+mn-lt"/>
                <a:cs typeface="+mn-lt"/>
              </a:rPr>
              <a:t>Design Patterns: Elements of Reusable Object-Oriented Software - Grady Booch, Eric Gamma</a:t>
            </a:r>
            <a:endParaRPr lang="en-US" sz="1800">
              <a:ea typeface="Calibri" panose="020F0502020204030204"/>
              <a:cs typeface="Calibri" panose="020F0502020204030204"/>
            </a:endParaRPr>
          </a:p>
          <a:p>
            <a:pPr lvl="1"/>
            <a:r>
              <a:rPr lang="en-US">
                <a:ea typeface="+mn-lt"/>
                <a:cs typeface="+mn-lt"/>
              </a:rPr>
              <a:t>Other material (as and when added)</a:t>
            </a:r>
          </a:p>
          <a:p>
            <a:r>
              <a:rPr lang="en-US">
                <a:ea typeface="+mn-lt"/>
                <a:cs typeface="+mn-lt"/>
              </a:rPr>
              <a:t>Signup (Piazza discussion and help forum): </a:t>
            </a:r>
            <a:r>
              <a:rPr lang="en-US">
                <a:ea typeface="+mn-lt"/>
                <a:cs typeface="+mn-lt"/>
                <a:hlinkClick r:id="rId3"/>
              </a:rPr>
              <a:t>Signup</a:t>
            </a:r>
            <a:r>
              <a:rPr lang="en-US">
                <a:ea typeface="+mn-lt"/>
                <a:cs typeface="+mn-lt"/>
              </a:rPr>
              <a:t> (ignore if signed in via email)</a:t>
            </a:r>
          </a:p>
          <a:p>
            <a:r>
              <a:rPr lang="en-US">
                <a:ea typeface="+mn-lt"/>
                <a:cs typeface="+mn-lt"/>
              </a:rPr>
              <a:t>Course Page (Piazza discussion and help forum): </a:t>
            </a:r>
            <a:r>
              <a:rPr lang="en-US">
                <a:ea typeface="+mn-lt"/>
                <a:cs typeface="+mn-lt"/>
                <a:hlinkClick r:id="rId4"/>
              </a:rPr>
              <a:t>Course Page</a:t>
            </a:r>
            <a:r>
              <a:rPr lang="en-US">
                <a:ea typeface="+mn-lt"/>
                <a:cs typeface="+mn-lt"/>
              </a:rPr>
              <a:t> </a:t>
            </a:r>
          </a:p>
        </p:txBody>
      </p:sp>
      <p:pic>
        <p:nvPicPr>
          <p:cNvPr id="5" name="Picture 4" descr="A black and white logo&#10;&#10;Description automatically generated">
            <a:extLst>
              <a:ext uri="{FF2B5EF4-FFF2-40B4-BE49-F238E27FC236}">
                <a16:creationId xmlns:a16="http://schemas.microsoft.com/office/drawing/2014/main" id="{784CBF0A-FF43-04D1-62CC-79E8A44C72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7" name="Slide Number Placeholder 6">
            <a:extLst>
              <a:ext uri="{FF2B5EF4-FFF2-40B4-BE49-F238E27FC236}">
                <a16:creationId xmlns:a16="http://schemas.microsoft.com/office/drawing/2014/main" id="{3A02671C-ED03-BBCE-6303-B8C7D0EC5E65}"/>
              </a:ext>
            </a:extLst>
          </p:cNvPr>
          <p:cNvSpPr>
            <a:spLocks noGrp="1"/>
          </p:cNvSpPr>
          <p:nvPr>
            <p:ph type="sldNum" sz="quarter" idx="12"/>
          </p:nvPr>
        </p:nvSpPr>
        <p:spPr/>
        <p:txBody>
          <a:bodyPr/>
          <a:lstStyle/>
          <a:p>
            <a:fld id="{008559AE-1842-40A5-A2A9-0518F39FD1A9}" type="slidenum">
              <a:rPr lang="en-US" smtClean="0"/>
              <a:t>10</a:t>
            </a:fld>
            <a:endParaRPr lang="en-GB"/>
          </a:p>
        </p:txBody>
      </p:sp>
      <p:sp>
        <p:nvSpPr>
          <p:cNvPr id="6" name="Footer Placeholder 5">
            <a:extLst>
              <a:ext uri="{FF2B5EF4-FFF2-40B4-BE49-F238E27FC236}">
                <a16:creationId xmlns:a16="http://schemas.microsoft.com/office/drawing/2014/main" id="{AB328E20-BA5D-3A60-36C8-C7F51D92808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16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760C2-9483-C7D6-EB80-A08B9A9DF1BD}"/>
              </a:ext>
            </a:extLst>
          </p:cNvPr>
          <p:cNvSpPr>
            <a:spLocks noGrp="1"/>
          </p:cNvSpPr>
          <p:nvPr>
            <p:ph type="title"/>
          </p:nvPr>
        </p:nvSpPr>
        <p:spPr/>
        <p:txBody>
          <a:bodyPr/>
          <a:lstStyle/>
          <a:p>
            <a:r>
              <a:rPr lang="en-US">
                <a:cs typeface="Calibri Light"/>
              </a:rPr>
              <a:t>Course content / Syllabus</a:t>
            </a:r>
            <a:endParaRPr lang="en-US"/>
          </a:p>
        </p:txBody>
      </p:sp>
      <p:sp>
        <p:nvSpPr>
          <p:cNvPr id="3" name="Content Placeholder 2">
            <a:extLst>
              <a:ext uri="{FF2B5EF4-FFF2-40B4-BE49-F238E27FC236}">
                <a16:creationId xmlns:a16="http://schemas.microsoft.com/office/drawing/2014/main" id="{5E0E10F8-A186-95A4-0CCB-8916C203AD56}"/>
              </a:ext>
            </a:extLst>
          </p:cNvPr>
          <p:cNvSpPr>
            <a:spLocks noGrp="1"/>
          </p:cNvSpPr>
          <p:nvPr>
            <p:ph idx="1"/>
          </p:nvPr>
        </p:nvSpPr>
        <p:spPr>
          <a:xfrm>
            <a:off x="838200" y="1653097"/>
            <a:ext cx="10515600" cy="5012696"/>
          </a:xfrm>
        </p:spPr>
        <p:txBody>
          <a:bodyPr vert="horz" lIns="91440" tIns="45720" rIns="91440" bIns="45720" rtlCol="0" anchor="t">
            <a:normAutofit/>
          </a:bodyPr>
          <a:lstStyle/>
          <a:p>
            <a:r>
              <a:rPr lang="en-US" dirty="0">
                <a:cs typeface="Calibri"/>
              </a:rPr>
              <a:t>Details can be found here: </a:t>
            </a:r>
            <a:r>
              <a:rPr lang="en-US" dirty="0">
                <a:ea typeface="+mn-lt"/>
                <a:cs typeface="+mn-lt"/>
                <a:hlinkClick r:id="rId2"/>
              </a:rPr>
              <a:t>First-Day-Handout (CFA3).docx</a:t>
            </a:r>
            <a:endParaRPr lang="en-US" dirty="0">
              <a:ea typeface="+mn-lt"/>
              <a:cs typeface="+mn-lt"/>
            </a:endParaRPr>
          </a:p>
          <a:p>
            <a:r>
              <a:rPr lang="en-US" strike="sngStrike" dirty="0">
                <a:ea typeface="+mn-lt"/>
                <a:cs typeface="+mn-lt"/>
              </a:rPr>
              <a:t>Handout will also be emailed to you at the end of today's class (first class)</a:t>
            </a:r>
          </a:p>
        </p:txBody>
      </p:sp>
      <p:pic>
        <p:nvPicPr>
          <p:cNvPr id="5" name="Picture 4" descr="A black and white logo&#10;&#10;Description automatically generated">
            <a:extLst>
              <a:ext uri="{FF2B5EF4-FFF2-40B4-BE49-F238E27FC236}">
                <a16:creationId xmlns:a16="http://schemas.microsoft.com/office/drawing/2014/main" id="{EAC5115B-9DE3-E4C5-61F4-A843A7411C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7" name="Slide Number Placeholder 6">
            <a:extLst>
              <a:ext uri="{FF2B5EF4-FFF2-40B4-BE49-F238E27FC236}">
                <a16:creationId xmlns:a16="http://schemas.microsoft.com/office/drawing/2014/main" id="{A03D5BA2-F463-7EDD-13DA-A28C72FBECAA}"/>
              </a:ext>
            </a:extLst>
          </p:cNvPr>
          <p:cNvSpPr>
            <a:spLocks noGrp="1"/>
          </p:cNvSpPr>
          <p:nvPr>
            <p:ph type="sldNum" sz="quarter" idx="12"/>
          </p:nvPr>
        </p:nvSpPr>
        <p:spPr/>
        <p:txBody>
          <a:bodyPr/>
          <a:lstStyle/>
          <a:p>
            <a:fld id="{008559AE-1842-40A5-A2A9-0518F39FD1A9}" type="slidenum">
              <a:rPr lang="en-US" smtClean="0"/>
              <a:t>11</a:t>
            </a:fld>
            <a:endParaRPr lang="en-GB"/>
          </a:p>
        </p:txBody>
      </p:sp>
      <p:sp>
        <p:nvSpPr>
          <p:cNvPr id="6" name="Footer Placeholder 5">
            <a:extLst>
              <a:ext uri="{FF2B5EF4-FFF2-40B4-BE49-F238E27FC236}">
                <a16:creationId xmlns:a16="http://schemas.microsoft.com/office/drawing/2014/main" id="{84E7FC39-FAAC-A28A-6B00-CAA8058BAD4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686329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How to get the best grade?</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825625"/>
            <a:ext cx="10515600" cy="4536953"/>
          </a:xfrm>
        </p:spPr>
        <p:txBody>
          <a:bodyPr vert="horz" lIns="91440" tIns="45720" rIns="91440" bIns="45720" rtlCol="0" anchor="t">
            <a:normAutofit fontScale="85000" lnSpcReduction="20000"/>
          </a:bodyPr>
          <a:lstStyle/>
          <a:p>
            <a:r>
              <a:rPr lang="en-US" strike="sngStrike" dirty="0">
                <a:ea typeface="+mn-lt"/>
                <a:cs typeface="+mn-lt"/>
              </a:rPr>
              <a:t>Be friends with the instructor?</a:t>
            </a:r>
          </a:p>
          <a:p>
            <a:r>
              <a:rPr lang="en-US" dirty="0">
                <a:ea typeface="+mn-lt"/>
                <a:cs typeface="+mn-lt"/>
              </a:rPr>
              <a:t>Participate in class discussion (maybe)</a:t>
            </a:r>
            <a:endParaRPr lang="en-US" dirty="0">
              <a:ea typeface="Calibri" panose="020F0502020204030204"/>
              <a:cs typeface="Calibri"/>
            </a:endParaRPr>
          </a:p>
          <a:p>
            <a:r>
              <a:rPr lang="en-US" dirty="0">
                <a:ea typeface="+mn-lt"/>
                <a:cs typeface="+mn-lt"/>
              </a:rPr>
              <a:t>Be well versed with class slides (minimum)</a:t>
            </a:r>
            <a:endParaRPr lang="en-US" dirty="0"/>
          </a:p>
          <a:p>
            <a:r>
              <a:rPr lang="en-US" b="1" dirty="0">
                <a:ea typeface="+mn-lt"/>
                <a:cs typeface="+mn-lt"/>
              </a:rPr>
              <a:t>Complete all (lab) Assignments</a:t>
            </a:r>
            <a:endParaRPr lang="en-US" b="1" dirty="0"/>
          </a:p>
          <a:p>
            <a:r>
              <a:rPr lang="en-US" b="1" dirty="0">
                <a:ea typeface="+mn-lt"/>
                <a:cs typeface="+mn-lt"/>
              </a:rPr>
              <a:t>Complete each component of course project</a:t>
            </a:r>
            <a:endParaRPr lang="en-US" b="1" dirty="0"/>
          </a:p>
          <a:p>
            <a:pPr lvl="1"/>
            <a:r>
              <a:rPr lang="en-US" dirty="0">
                <a:ea typeface="+mn-lt"/>
                <a:cs typeface="+mn-lt"/>
              </a:rPr>
              <a:t>Technical writing and documentation will also be tested here</a:t>
            </a:r>
          </a:p>
          <a:p>
            <a:pPr lvl="1"/>
            <a:r>
              <a:rPr lang="en-US" dirty="0">
                <a:ea typeface="+mn-lt"/>
                <a:cs typeface="+mn-lt"/>
              </a:rPr>
              <a:t>Understanding each phase of project will be tested here</a:t>
            </a:r>
          </a:p>
          <a:p>
            <a:r>
              <a:rPr lang="en-US" b="1" dirty="0">
                <a:ea typeface="Calibri"/>
                <a:cs typeface="Calibri"/>
              </a:rPr>
              <a:t>Exams, of course (each minor covers 5 weeks of syllabus, so easier option?)</a:t>
            </a:r>
          </a:p>
          <a:p>
            <a:r>
              <a:rPr lang="en-US" b="1" dirty="0">
                <a:ea typeface="+mn-lt"/>
                <a:cs typeface="+mn-lt"/>
              </a:rPr>
              <a:t>Reading textbook (certain sections of it)</a:t>
            </a:r>
          </a:p>
          <a:p>
            <a:r>
              <a:rPr lang="en-US" dirty="0">
                <a:ea typeface="+mn-lt"/>
                <a:cs typeface="+mn-lt"/>
              </a:rPr>
              <a:t>Programming skills (for the project*)</a:t>
            </a:r>
            <a:endParaRPr lang="en-US" dirty="0"/>
          </a:p>
          <a:p>
            <a:r>
              <a:rPr lang="en-US" b="1" dirty="0">
                <a:ea typeface="Calibri"/>
                <a:cs typeface="Calibri"/>
              </a:rPr>
              <a:t>BE PROACTIVE</a:t>
            </a:r>
            <a:r>
              <a:rPr lang="en-US" dirty="0">
                <a:ea typeface="Calibri"/>
                <a:cs typeface="Calibri"/>
              </a:rPr>
              <a:t> (Find solutions to problems – once in the industry, you are expected to use the Internet to find solutions to issues in software engineering)</a:t>
            </a: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12</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TextBox 3">
            <a:extLst>
              <a:ext uri="{FF2B5EF4-FFF2-40B4-BE49-F238E27FC236}">
                <a16:creationId xmlns:a16="http://schemas.microsoft.com/office/drawing/2014/main" id="{FAD95913-046D-D41A-E469-BF73AF41DA43}"/>
              </a:ext>
            </a:extLst>
          </p:cNvPr>
          <p:cNvSpPr txBox="1"/>
          <p:nvPr/>
        </p:nvSpPr>
        <p:spPr>
          <a:xfrm>
            <a:off x="8134858" y="1026344"/>
            <a:ext cx="405617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panose="020F0502020204030204"/>
                <a:cs typeface="Calibri" panose="020F0502020204030204"/>
              </a:rPr>
              <a:t>*more than the end product (working code/ executable), the project will focus on the process, the journey more than the destination</a:t>
            </a:r>
          </a:p>
        </p:txBody>
      </p:sp>
    </p:spTree>
    <p:extLst>
      <p:ext uri="{BB962C8B-B14F-4D97-AF65-F5344CB8AC3E}">
        <p14:creationId xmlns:p14="http://schemas.microsoft.com/office/powerpoint/2010/main" val="3927065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Purpose of term project</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90806"/>
            <a:ext cx="10515600" cy="4765544"/>
          </a:xfrm>
        </p:spPr>
        <p:txBody>
          <a:bodyPr vert="horz" lIns="91440" tIns="45720" rIns="91440" bIns="45720" rtlCol="0" anchor="t">
            <a:normAutofit fontScale="92500" lnSpcReduction="20000"/>
          </a:bodyPr>
          <a:lstStyle/>
          <a:p>
            <a:pPr fontAlgn="base"/>
            <a:r>
              <a:rPr lang="en-US" sz="2400" dirty="0"/>
              <a:t>Your ability to work as part of team</a:t>
            </a:r>
            <a:r>
              <a:rPr lang="en-GB" sz="2400" dirty="0"/>
              <a:t>​</a:t>
            </a:r>
            <a:endParaRPr lang="en-GB" sz="2400" dirty="0">
              <a:ea typeface="Calibri"/>
              <a:cs typeface="Calibri"/>
            </a:endParaRPr>
          </a:p>
          <a:p>
            <a:pPr fontAlgn="base"/>
            <a:r>
              <a:rPr lang="en-US" sz="2400" dirty="0"/>
              <a:t>Get familiar with entire software development life cycle starting from requirements gathering phase to project delivery</a:t>
            </a:r>
            <a:r>
              <a:rPr lang="en-GB" sz="2400" dirty="0"/>
              <a:t>​</a:t>
            </a:r>
            <a:endParaRPr lang="en-GB" sz="2400" dirty="0">
              <a:ea typeface="Calibri"/>
              <a:cs typeface="Calibri"/>
            </a:endParaRPr>
          </a:p>
          <a:p>
            <a:pPr fontAlgn="base"/>
            <a:r>
              <a:rPr lang="en-US" sz="2400" dirty="0"/>
              <a:t>Remember that in a real-life job (university is not real? A matrix? An alternate dimension?), you will be spending as much as 70% of your time in understanding user requirements, project design and documentation</a:t>
            </a:r>
            <a:r>
              <a:rPr lang="en-GB" sz="2400" dirty="0"/>
              <a:t>​</a:t>
            </a:r>
            <a:endParaRPr lang="en-GB" sz="2400" dirty="0">
              <a:ea typeface="Calibri"/>
              <a:cs typeface="Calibri"/>
            </a:endParaRPr>
          </a:p>
          <a:p>
            <a:r>
              <a:rPr lang="en-US" sz="2400" dirty="0">
                <a:ea typeface="Calibri" panose="020F0502020204030204"/>
                <a:cs typeface="Calibri" panose="020F0502020204030204"/>
              </a:rPr>
              <a:t>Note: </a:t>
            </a:r>
            <a:r>
              <a:rPr lang="en-US" sz="2400" u="sng" dirty="0">
                <a:ea typeface="Calibri" panose="020F0502020204030204"/>
                <a:cs typeface="Calibri" panose="020F0502020204030204"/>
              </a:rPr>
              <a:t>Programming Language workshop lab</a:t>
            </a:r>
            <a:r>
              <a:rPr lang="en-US" sz="2400" dirty="0">
                <a:ea typeface="Calibri" panose="020F0502020204030204"/>
                <a:cs typeface="Calibri" panose="020F0502020204030204"/>
              </a:rPr>
              <a:t> will also focus on Software </a:t>
            </a:r>
            <a:r>
              <a:rPr lang="en-US" sz="2400" dirty="0" err="1">
                <a:ea typeface="Calibri" panose="020F0502020204030204"/>
                <a:cs typeface="Calibri" panose="020F0502020204030204"/>
              </a:rPr>
              <a:t>Engg</a:t>
            </a:r>
            <a:r>
              <a:rPr lang="en-US" sz="2400" dirty="0">
                <a:ea typeface="Calibri" panose="020F0502020204030204"/>
                <a:cs typeface="Calibri" panose="020F0502020204030204"/>
              </a:rPr>
              <a:t>. course project</a:t>
            </a:r>
          </a:p>
          <a:p>
            <a:endParaRPr lang="en-GB">
              <a:ea typeface="Calibri" panose="020F0502020204030204"/>
              <a:cs typeface="Calibri" panose="020F0502020204030204"/>
            </a:endParaRPr>
          </a:p>
          <a:p>
            <a:pPr marL="0" indent="0" fontAlgn="base">
              <a:buNone/>
            </a:pPr>
            <a:endParaRPr lang="en-GB">
              <a:ea typeface="Calibri" panose="020F0502020204030204"/>
              <a:cs typeface="Calibri" panose="020F0502020204030204"/>
            </a:endParaRPr>
          </a:p>
          <a:p>
            <a:pPr fontAlgn="base"/>
            <a:r>
              <a:rPr lang="en-US" sz="2200" dirty="0"/>
              <a:t>The list of projects to choose from is available here: </a:t>
            </a:r>
            <a:r>
              <a:rPr lang="en-US" sz="2200" dirty="0">
                <a:hlinkClick r:id="rId3"/>
              </a:rPr>
              <a:t>Course Projects</a:t>
            </a:r>
            <a:endParaRPr lang="en-US" sz="2200" u="sng" dirty="0">
              <a:ea typeface="Calibri"/>
              <a:cs typeface="Calibri"/>
            </a:endParaRPr>
          </a:p>
          <a:p>
            <a:pPr fontAlgn="base"/>
            <a:r>
              <a:rPr lang="en-US" sz="2200" dirty="0"/>
              <a:t>Register your project team here: Registration form link will be sent in due course</a:t>
            </a:r>
            <a:endParaRPr lang="en-US" sz="2200" u="sng" dirty="0">
              <a:ea typeface="Calibri"/>
              <a:cs typeface="Calibri"/>
            </a:endParaRPr>
          </a:p>
          <a:p>
            <a:pPr fontAlgn="base"/>
            <a:r>
              <a:rPr lang="en-US" sz="2200" b="1" dirty="0"/>
              <a:t>Update 1: You can suggest your own project idea (pending a discussion/ brainstorming with me)</a:t>
            </a:r>
            <a:r>
              <a:rPr lang="en-US" sz="2200" dirty="0"/>
              <a:t>​</a:t>
            </a:r>
            <a:endParaRPr lang="en-US" sz="2200" dirty="0">
              <a:ea typeface="Calibri"/>
              <a:cs typeface="Calibri"/>
            </a:endParaRPr>
          </a:p>
          <a:p>
            <a:pPr fontAlgn="base"/>
            <a:r>
              <a:rPr lang="en-US" sz="2200" b="1" dirty="0"/>
              <a:t>Update 2: I will float a Google form for 'Project Registration' by end of week 1</a:t>
            </a:r>
            <a:r>
              <a:rPr lang="en-US" sz="2200" dirty="0"/>
              <a:t>​</a:t>
            </a:r>
            <a:endParaRPr lang="en-US" sz="2200"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13</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endParaRPr lang="en-US">
              <a:ea typeface="Calibri"/>
              <a:cs typeface="Calibri"/>
            </a:endParaRPr>
          </a:p>
        </p:txBody>
      </p:sp>
    </p:spTree>
    <p:extLst>
      <p:ext uri="{BB962C8B-B14F-4D97-AF65-F5344CB8AC3E}">
        <p14:creationId xmlns:p14="http://schemas.microsoft.com/office/powerpoint/2010/main" val="3954983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Project deadlines (tentative – subject to minor exams)</a:t>
            </a:r>
            <a:endParaRPr lang="en-GB">
              <a:ea typeface="Calibri Light"/>
              <a:cs typeface="Calibri Light"/>
            </a:endParaRPr>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p:txBody>
          <a:bodyPr vert="horz" lIns="91440" tIns="45720" rIns="91440" bIns="45720" rtlCol="0" anchor="t">
            <a:normAutofit/>
          </a:bodyPr>
          <a:lstStyle/>
          <a:p>
            <a:r>
              <a:rPr lang="en-US">
                <a:ea typeface="+mn-lt"/>
                <a:cs typeface="+mn-lt"/>
              </a:rPr>
              <a:t>Jan 28th: Team Registration</a:t>
            </a:r>
            <a:endParaRPr lang="en-GB" baseline="30000">
              <a:ea typeface="+mn-lt"/>
              <a:cs typeface="+mn-lt"/>
            </a:endParaRPr>
          </a:p>
          <a:p>
            <a:r>
              <a:rPr lang="en-US">
                <a:ea typeface="+mn-lt"/>
                <a:cs typeface="+mn-lt"/>
              </a:rPr>
              <a:t>Feb 6th: Statement of Work</a:t>
            </a:r>
            <a:endParaRPr lang="en-US"/>
          </a:p>
          <a:p>
            <a:r>
              <a:rPr lang="en-US">
                <a:ea typeface="+mn-lt"/>
                <a:cs typeface="+mn-lt"/>
              </a:rPr>
              <a:t>Mar 6th: Software Requirements Specification</a:t>
            </a:r>
            <a:endParaRPr lang="en-US"/>
          </a:p>
          <a:p>
            <a:r>
              <a:rPr lang="en-US">
                <a:ea typeface="+mn-lt"/>
                <a:cs typeface="+mn-lt"/>
              </a:rPr>
              <a:t>Apr 1st: Software Design Document</a:t>
            </a:r>
            <a:endParaRPr lang="en-US"/>
          </a:p>
          <a:p>
            <a:r>
              <a:rPr lang="en-US">
                <a:ea typeface="+mn-lt"/>
                <a:cs typeface="+mn-lt"/>
              </a:rPr>
              <a:t>May 1st: Software Test Plan</a:t>
            </a:r>
            <a:endParaRPr lang="en-GB"/>
          </a:p>
          <a:p>
            <a:r>
              <a:rPr lang="en-US">
                <a:ea typeface="+mn-lt"/>
                <a:cs typeface="+mn-lt"/>
              </a:rPr>
              <a:t>May 4th to May 8th: Project Demos</a:t>
            </a:r>
            <a:endParaRPr lang="en-GB"/>
          </a:p>
          <a:p>
            <a:pPr lvl="1"/>
            <a:endParaRPr lang="en-GB">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14</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570694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8B987-E29A-6314-C973-2ECB461C7E37}"/>
              </a:ext>
            </a:extLst>
          </p:cNvPr>
          <p:cNvSpPr>
            <a:spLocks noGrp="1"/>
          </p:cNvSpPr>
          <p:nvPr>
            <p:ph type="title"/>
          </p:nvPr>
        </p:nvSpPr>
        <p:spPr>
          <a:xfrm>
            <a:off x="838200" y="503670"/>
            <a:ext cx="10515600" cy="1325563"/>
          </a:xfrm>
        </p:spPr>
        <p:txBody>
          <a:bodyPr/>
          <a:lstStyle/>
          <a:p>
            <a:r>
              <a:rPr lang="en-US">
                <a:cs typeface="Calibri Light"/>
              </a:rPr>
              <a:t>Your expectations from the course (and how can I help?</a:t>
            </a:r>
          </a:p>
        </p:txBody>
      </p:sp>
      <p:sp>
        <p:nvSpPr>
          <p:cNvPr id="3" name="Content Placeholder 2">
            <a:extLst>
              <a:ext uri="{FF2B5EF4-FFF2-40B4-BE49-F238E27FC236}">
                <a16:creationId xmlns:a16="http://schemas.microsoft.com/office/drawing/2014/main" id="{A634020B-2571-1DAC-4AEE-69BA6FBCE290}"/>
              </a:ext>
            </a:extLst>
          </p:cNvPr>
          <p:cNvSpPr>
            <a:spLocks noGrp="1"/>
          </p:cNvSpPr>
          <p:nvPr>
            <p:ph idx="1"/>
          </p:nvPr>
        </p:nvSpPr>
        <p:spPr/>
        <p:txBody>
          <a:bodyPr vert="horz" lIns="91440" tIns="45720" rIns="91440" bIns="45720" rtlCol="0" anchor="t">
            <a:normAutofit/>
          </a:bodyPr>
          <a:lstStyle/>
          <a:p>
            <a:r>
              <a:rPr lang="en-US">
                <a:cs typeface="Calibri"/>
              </a:rPr>
              <a:t>Easiest slide to prepare!</a:t>
            </a:r>
          </a:p>
          <a:p>
            <a:r>
              <a:rPr lang="en-US">
                <a:ea typeface="Calibri"/>
                <a:cs typeface="Calibri"/>
              </a:rPr>
              <a:t>Maybe it is too early to ask this question? Remember, you can approach me anytime regarding anything related to the course (or anything, as long as you think I can help)</a:t>
            </a:r>
          </a:p>
          <a:p>
            <a:pPr marL="0" indent="0">
              <a:buNone/>
            </a:pPr>
            <a:endParaRPr lang="en-US">
              <a:ea typeface="Calibri"/>
              <a:cs typeface="Calibri"/>
            </a:endParaRPr>
          </a:p>
          <a:p>
            <a:endParaRPr lang="en-US">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616C096C-0263-E2EA-E6B0-9B8B92DBFD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E059626-34E7-1D8F-D2AC-D2BE0F0D8CAA}"/>
              </a:ext>
            </a:extLst>
          </p:cNvPr>
          <p:cNvSpPr>
            <a:spLocks noGrp="1"/>
          </p:cNvSpPr>
          <p:nvPr>
            <p:ph type="sldNum" sz="quarter" idx="12"/>
          </p:nvPr>
        </p:nvSpPr>
        <p:spPr/>
        <p:txBody>
          <a:bodyPr/>
          <a:lstStyle/>
          <a:p>
            <a:fld id="{008559AE-1842-40A5-A2A9-0518F39FD1A9}" type="slidenum">
              <a:rPr lang="en-US" smtClean="0"/>
              <a:t>15</a:t>
            </a:fld>
            <a:endParaRPr lang="en-GB"/>
          </a:p>
        </p:txBody>
      </p:sp>
      <p:sp>
        <p:nvSpPr>
          <p:cNvPr id="7" name="Footer Placeholder 6">
            <a:extLst>
              <a:ext uri="{FF2B5EF4-FFF2-40B4-BE49-F238E27FC236}">
                <a16:creationId xmlns:a16="http://schemas.microsoft.com/office/drawing/2014/main" id="{FC89F972-F99A-9251-3815-31AFFDC4622B}"/>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140380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lstStyle/>
          <a:p>
            <a:r>
              <a:rPr lang="en-GB">
                <a:cs typeface="Calibri Light"/>
              </a:rPr>
              <a:t>A software development joke?</a:t>
            </a:r>
            <a:endParaRPr lang="en-US"/>
          </a:p>
        </p:txBody>
      </p:sp>
      <p:pic>
        <p:nvPicPr>
          <p:cNvPr id="4" name="Picture 4" descr="A picture containing person, close, goggles, spectacles&#10;&#10;Description automatically generated">
            <a:extLst>
              <a:ext uri="{FF2B5EF4-FFF2-40B4-BE49-F238E27FC236}">
                <a16:creationId xmlns:a16="http://schemas.microsoft.com/office/drawing/2014/main" id="{AE6E7702-C196-D891-15FF-A4E40AF23A4E}"/>
              </a:ext>
            </a:extLst>
          </p:cNvPr>
          <p:cNvPicPr>
            <a:picLocks noGrp="1" noChangeAspect="1"/>
          </p:cNvPicPr>
          <p:nvPr>
            <p:ph idx="1"/>
          </p:nvPr>
        </p:nvPicPr>
        <p:blipFill>
          <a:blip r:embed="rId2"/>
          <a:stretch>
            <a:fillRect/>
          </a:stretch>
        </p:blipFill>
        <p:spPr>
          <a:xfrm>
            <a:off x="1981818" y="1423060"/>
            <a:ext cx="8228364" cy="4624508"/>
          </a:xfrm>
        </p:spPr>
      </p:pic>
      <p:sp>
        <p:nvSpPr>
          <p:cNvPr id="5" name="TextBox 4">
            <a:extLst>
              <a:ext uri="{FF2B5EF4-FFF2-40B4-BE49-F238E27FC236}">
                <a16:creationId xmlns:a16="http://schemas.microsoft.com/office/drawing/2014/main" id="{2A17766D-47B9-A1EF-8F16-209A5C7C06FA}"/>
              </a:ext>
            </a:extLst>
          </p:cNvPr>
          <p:cNvSpPr txBox="1"/>
          <p:nvPr/>
        </p:nvSpPr>
        <p:spPr>
          <a:xfrm>
            <a:off x="7735063" y="6050711"/>
            <a:ext cx="2505167" cy="3837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cs typeface="Calibri"/>
              </a:rPr>
              <a:t>Source: Fandango.com</a:t>
            </a:r>
            <a:endParaRPr lang="en-GB"/>
          </a:p>
        </p:txBody>
      </p:sp>
      <p:pic>
        <p:nvPicPr>
          <p:cNvPr id="8" name="Picture 7" descr="A black and white logo&#10;&#10;Description automatically generated">
            <a:extLst>
              <a:ext uri="{FF2B5EF4-FFF2-40B4-BE49-F238E27FC236}">
                <a16:creationId xmlns:a16="http://schemas.microsoft.com/office/drawing/2014/main" id="{EA318FBD-B4F7-716B-A6E2-D96D2768A2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10" name="Slide Number Placeholder 9">
            <a:extLst>
              <a:ext uri="{FF2B5EF4-FFF2-40B4-BE49-F238E27FC236}">
                <a16:creationId xmlns:a16="http://schemas.microsoft.com/office/drawing/2014/main" id="{7D5B001C-8BC7-C2AA-1BCF-D900341CD35C}"/>
              </a:ext>
            </a:extLst>
          </p:cNvPr>
          <p:cNvSpPr>
            <a:spLocks noGrp="1"/>
          </p:cNvSpPr>
          <p:nvPr>
            <p:ph type="sldNum" sz="quarter" idx="12"/>
          </p:nvPr>
        </p:nvSpPr>
        <p:spPr/>
        <p:txBody>
          <a:bodyPr/>
          <a:lstStyle/>
          <a:p>
            <a:fld id="{008559AE-1842-40A5-A2A9-0518F39FD1A9}" type="slidenum">
              <a:rPr lang="en-US" smtClean="0"/>
              <a:t>16</a:t>
            </a:fld>
            <a:endParaRPr lang="en-GB"/>
          </a:p>
        </p:txBody>
      </p:sp>
      <p:sp>
        <p:nvSpPr>
          <p:cNvPr id="9" name="Footer Placeholder 8">
            <a:extLst>
              <a:ext uri="{FF2B5EF4-FFF2-40B4-BE49-F238E27FC236}">
                <a16:creationId xmlns:a16="http://schemas.microsoft.com/office/drawing/2014/main" id="{DBD9860E-08AF-AFF0-8026-728178542A2D}"/>
              </a:ext>
            </a:extLst>
          </p:cNvPr>
          <p:cNvSpPr>
            <a:spLocks noGrp="1"/>
          </p:cNvSpPr>
          <p:nvPr>
            <p:ph type="ftr" sz="quarter" idx="11"/>
          </p:nvPr>
        </p:nvSpPr>
        <p:spPr/>
        <p:txBody>
          <a:bodyPr/>
          <a:lstStyle/>
          <a:p>
            <a:r>
              <a:rPr lang="en-US"/>
              <a:t>Software Engineering</a:t>
            </a:r>
            <a:endParaRPr lang="en-US">
              <a:ea typeface="Calibri"/>
              <a:cs typeface="Calibri"/>
            </a:endParaRPr>
          </a:p>
        </p:txBody>
      </p:sp>
    </p:spTree>
    <p:extLst>
      <p:ext uri="{BB962C8B-B14F-4D97-AF65-F5344CB8AC3E}">
        <p14:creationId xmlns:p14="http://schemas.microsoft.com/office/powerpoint/2010/main" val="934216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US"/>
              <a:t> </a:t>
            </a:r>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17</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p:txBody>
          <a:bodyPr vert="horz" lIns="91440" tIns="45720" rIns="91440" bIns="45720" rtlCol="0" anchor="t">
            <a:normAutofit fontScale="77500" lnSpcReduction="20000"/>
          </a:bodyPr>
          <a:lstStyle/>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pPr marL="0" indent="0">
              <a:buNone/>
            </a:pPr>
            <a:endParaRPr lang="en-US" sz="5400" dirty="0">
              <a:ea typeface="Calibri"/>
              <a:cs typeface="Calibri"/>
            </a:endParaRPr>
          </a:p>
          <a:p>
            <a:pPr marL="0" indent="0">
              <a:buNone/>
            </a:pPr>
            <a:endParaRPr lang="en-US" sz="5400" dirty="0">
              <a:ea typeface="Calibri"/>
              <a:cs typeface="Calibri"/>
            </a:endParaRPr>
          </a:p>
          <a:p>
            <a:pPr marL="0" indent="0">
              <a:buNone/>
            </a:pPr>
            <a:r>
              <a:rPr lang="en-US" sz="5400" dirty="0">
                <a:ea typeface="Calibri"/>
                <a:cs typeface="Calibri"/>
              </a:rPr>
              <a:t>Introduction</a:t>
            </a:r>
          </a:p>
          <a:p>
            <a:endParaRPr lang="en-US">
              <a:ea typeface="Calibri"/>
              <a:cs typeface="Calibri"/>
            </a:endParaRPr>
          </a:p>
        </p:txBody>
      </p:sp>
      <p:sp>
        <p:nvSpPr>
          <p:cNvPr id="3" name="TextBox 2">
            <a:extLst>
              <a:ext uri="{FF2B5EF4-FFF2-40B4-BE49-F238E27FC236}">
                <a16:creationId xmlns:a16="http://schemas.microsoft.com/office/drawing/2014/main" id="{C914BF4D-87B6-22A0-9025-F16869C8C02F}"/>
              </a:ext>
            </a:extLst>
          </p:cNvPr>
          <p:cNvSpPr txBox="1"/>
          <p:nvPr/>
        </p:nvSpPr>
        <p:spPr>
          <a:xfrm>
            <a:off x="357" y="62436"/>
            <a:ext cx="7246673"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ea typeface="+mn-lt"/>
                <a:cs typeface="+mn-lt"/>
              </a:rPr>
              <a:t>Under the auspices of NATO, two conferences were devoted to the topic in 1968 and 1969 (</a:t>
            </a:r>
            <a:r>
              <a:rPr lang="en-US" err="1">
                <a:ea typeface="+mn-lt"/>
                <a:cs typeface="+mn-lt"/>
              </a:rPr>
              <a:t>Naur</a:t>
            </a:r>
            <a:r>
              <a:rPr lang="en-US">
                <a:ea typeface="+mn-lt"/>
                <a:cs typeface="+mn-lt"/>
              </a:rPr>
              <a:t> and Randell, 1968), (Buxton and Randell, 1969). Here, the term ‘software engineering’ was coined in a somewhat provocative sense. Shouldn’t it be possible to build software in the way one builds bridges and houses, starting from a theoretical basis and using sound and proven design and construction techniques, as in other engineering fields?</a:t>
            </a:r>
            <a:endParaRPr lang="en-US">
              <a:ea typeface="Calibri" panose="020F0502020204030204"/>
              <a:cs typeface="Calibri" panose="020F0502020204030204"/>
            </a:endParaRPr>
          </a:p>
        </p:txBody>
      </p:sp>
      <p:pic>
        <p:nvPicPr>
          <p:cNvPr id="5" name="Picture 4" descr="A person and person talking to each other&#10;&#10;AI-generated content may be incorrect.">
            <a:extLst>
              <a:ext uri="{FF2B5EF4-FFF2-40B4-BE49-F238E27FC236}">
                <a16:creationId xmlns:a16="http://schemas.microsoft.com/office/drawing/2014/main" id="{53E3B0B2-5814-266D-14C9-85A596CD8352}"/>
              </a:ext>
            </a:extLst>
          </p:cNvPr>
          <p:cNvPicPr>
            <a:picLocks noChangeAspect="1"/>
          </p:cNvPicPr>
          <p:nvPr/>
        </p:nvPicPr>
        <p:blipFill>
          <a:blip r:embed="rId4"/>
          <a:stretch>
            <a:fillRect/>
          </a:stretch>
        </p:blipFill>
        <p:spPr>
          <a:xfrm>
            <a:off x="7155180" y="1476375"/>
            <a:ext cx="5034280" cy="5236210"/>
          </a:xfrm>
          <a:prstGeom prst="rect">
            <a:avLst/>
          </a:prstGeom>
        </p:spPr>
      </p:pic>
    </p:spTree>
    <p:extLst>
      <p:ext uri="{BB962C8B-B14F-4D97-AF65-F5344CB8AC3E}">
        <p14:creationId xmlns:p14="http://schemas.microsoft.com/office/powerpoint/2010/main" val="1186293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GB">
                <a:cs typeface="Calibri Light"/>
              </a:rPr>
              <a:t>Introduction</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18</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p:txBody>
          <a:bodyPr vert="horz" lIns="91440" tIns="45720" rIns="91440" bIns="45720" rtlCol="0" anchor="t">
            <a:normAutofit/>
          </a:bodyPr>
          <a:lstStyle/>
          <a:p>
            <a:r>
              <a:rPr lang="en-US">
                <a:ea typeface="Calibri"/>
                <a:cs typeface="Calibri"/>
              </a:rPr>
              <a:t>Lots of people write programs</a:t>
            </a:r>
          </a:p>
          <a:p>
            <a:r>
              <a:rPr lang="en-US">
                <a:ea typeface="Calibri"/>
                <a:cs typeface="Calibri"/>
              </a:rPr>
              <a:t>However, </a:t>
            </a:r>
            <a:r>
              <a:rPr lang="en-US">
                <a:ea typeface="+mn-lt"/>
                <a:cs typeface="+mn-lt"/>
              </a:rPr>
              <a:t>most </a:t>
            </a:r>
            <a:r>
              <a:rPr lang="en-US" u="sng">
                <a:ea typeface="+mn-lt"/>
                <a:cs typeface="+mn-lt"/>
              </a:rPr>
              <a:t>software development</a:t>
            </a:r>
            <a:r>
              <a:rPr lang="en-US">
                <a:ea typeface="+mn-lt"/>
                <a:cs typeface="+mn-lt"/>
              </a:rPr>
              <a:t> is a </a:t>
            </a:r>
            <a:r>
              <a:rPr lang="en-US" u="sng">
                <a:ea typeface="+mn-lt"/>
                <a:cs typeface="+mn-lt"/>
              </a:rPr>
              <a:t>professional activity</a:t>
            </a:r>
            <a:r>
              <a:rPr lang="en-US">
                <a:ea typeface="+mn-lt"/>
                <a:cs typeface="+mn-lt"/>
              </a:rPr>
              <a:t> in which software is developed for </a:t>
            </a:r>
            <a:r>
              <a:rPr lang="en-US" u="sng">
                <a:ea typeface="+mn-lt"/>
                <a:cs typeface="+mn-lt"/>
              </a:rPr>
              <a:t>business purposes, for inclusion in other devices, or as software products such as information systems, word processors, or air traffic control systems</a:t>
            </a:r>
          </a:p>
          <a:p>
            <a:r>
              <a:rPr lang="en-US">
                <a:ea typeface="+mn-lt"/>
                <a:cs typeface="+mn-lt"/>
              </a:rPr>
              <a:t>The key distinctions are that professional software is </a:t>
            </a:r>
            <a:r>
              <a:rPr lang="en-US" u="sng">
                <a:ea typeface="+mn-lt"/>
                <a:cs typeface="+mn-lt"/>
              </a:rPr>
              <a:t>intended for use by someone apart from its developer</a:t>
            </a:r>
            <a:r>
              <a:rPr lang="en-US">
                <a:ea typeface="+mn-lt"/>
                <a:cs typeface="+mn-lt"/>
              </a:rPr>
              <a:t> and that </a:t>
            </a:r>
            <a:r>
              <a:rPr lang="en-US" u="sng">
                <a:ea typeface="+mn-lt"/>
                <a:cs typeface="+mn-lt"/>
              </a:rPr>
              <a:t>teams rather than individuals usually develop</a:t>
            </a:r>
            <a:r>
              <a:rPr lang="en-US">
                <a:ea typeface="+mn-lt"/>
                <a:cs typeface="+mn-lt"/>
              </a:rPr>
              <a:t> the software. It is maintained and changed throughout its life</a:t>
            </a:r>
            <a:endParaRPr lang="en-US"/>
          </a:p>
          <a:p>
            <a:endParaRPr lang="en-US">
              <a:cs typeface="Calibri"/>
            </a:endParaRPr>
          </a:p>
          <a:p>
            <a:endParaRPr lang="en-US">
              <a:ea typeface="Calibri"/>
              <a:cs typeface="Calibri"/>
            </a:endParaRPr>
          </a:p>
        </p:txBody>
      </p:sp>
    </p:spTree>
    <p:extLst>
      <p:ext uri="{BB962C8B-B14F-4D97-AF65-F5344CB8AC3E}">
        <p14:creationId xmlns:p14="http://schemas.microsoft.com/office/powerpoint/2010/main" val="2359469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GB">
                <a:cs typeface="Calibri Light"/>
              </a:rPr>
              <a:t>Introduction</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19</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p:txBody>
          <a:bodyPr vert="horz" lIns="91440" tIns="45720" rIns="91440" bIns="45720" rtlCol="0" anchor="t">
            <a:normAutofit/>
          </a:bodyPr>
          <a:lstStyle/>
          <a:p>
            <a:r>
              <a:rPr lang="en-US">
                <a:ea typeface="Calibri"/>
                <a:cs typeface="Calibri"/>
              </a:rPr>
              <a:t>The economies of ALL developed nations are dependent on Software</a:t>
            </a:r>
          </a:p>
          <a:p>
            <a:r>
              <a:rPr lang="en-US">
                <a:ea typeface="Calibri"/>
                <a:cs typeface="Calibri"/>
              </a:rPr>
              <a:t>More and more systems are software controlled</a:t>
            </a:r>
          </a:p>
          <a:p>
            <a:r>
              <a:rPr lang="en-US">
                <a:ea typeface="Calibri"/>
                <a:cs typeface="Calibri"/>
              </a:rPr>
              <a:t>Software Engineering is concerned with theories, methods and tools for professional software development</a:t>
            </a:r>
          </a:p>
          <a:p>
            <a:r>
              <a:rPr lang="en-US">
                <a:ea typeface="Calibri"/>
                <a:cs typeface="Calibri"/>
              </a:rPr>
              <a:t>Expenditure on Software represents a significant fraction of GNP in all developed countries</a:t>
            </a:r>
          </a:p>
          <a:p>
            <a:endParaRPr lang="en-US">
              <a:ea typeface="Calibri"/>
              <a:cs typeface="Calibri"/>
            </a:endParaRPr>
          </a:p>
          <a:p>
            <a:r>
              <a:rPr lang="en-US">
                <a:ea typeface="Calibri"/>
                <a:cs typeface="Calibri"/>
              </a:rPr>
              <a:t>Point being, Software Engineering IS A BIG DEAL</a:t>
            </a:r>
          </a:p>
          <a:p>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807900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GB">
                <a:cs typeface="Calibri Light"/>
              </a:rPr>
              <a:t>Software Engineering</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20</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768116"/>
            <a:ext cx="10515600" cy="4710771"/>
          </a:xfrm>
        </p:spPr>
        <p:txBody>
          <a:bodyPr vert="horz" lIns="91440" tIns="45720" rIns="91440" bIns="45720" rtlCol="0" anchor="t">
            <a:normAutofit/>
          </a:bodyPr>
          <a:lstStyle/>
          <a:p>
            <a:r>
              <a:rPr lang="en-US">
                <a:ea typeface="+mn-lt"/>
                <a:cs typeface="+mn-lt"/>
              </a:rPr>
              <a:t>Software engineering is intended to </a:t>
            </a:r>
            <a:r>
              <a:rPr lang="en-US" u="sng">
                <a:ea typeface="+mn-lt"/>
                <a:cs typeface="+mn-lt"/>
              </a:rPr>
              <a:t>support professional software development</a:t>
            </a:r>
            <a:r>
              <a:rPr lang="en-US">
                <a:ea typeface="+mn-lt"/>
                <a:cs typeface="+mn-lt"/>
              </a:rPr>
              <a:t> rather than individual programming</a:t>
            </a:r>
          </a:p>
          <a:p>
            <a:r>
              <a:rPr lang="en-US">
                <a:ea typeface="+mn-lt"/>
                <a:cs typeface="+mn-lt"/>
              </a:rPr>
              <a:t>Includes techniques that support </a:t>
            </a:r>
            <a:r>
              <a:rPr lang="en-US" u="sng">
                <a:ea typeface="+mn-lt"/>
                <a:cs typeface="+mn-lt"/>
              </a:rPr>
              <a:t>program specification, design, and evolution</a:t>
            </a:r>
            <a:r>
              <a:rPr lang="en-US">
                <a:ea typeface="+mn-lt"/>
                <a:cs typeface="+mn-lt"/>
              </a:rPr>
              <a:t>, none of which are normally relevant for personal software development</a:t>
            </a:r>
            <a:endParaRPr lang="en-US">
              <a:ea typeface="Calibri"/>
              <a:cs typeface="Calibri"/>
            </a:endParaRPr>
          </a:p>
          <a:p>
            <a:r>
              <a:rPr lang="en-US">
                <a:ea typeface="+mn-lt"/>
                <a:cs typeface="+mn-lt"/>
              </a:rPr>
              <a:t>Many people think that software is simply another word for computer programs. However, when we are talking about software engineering, </a:t>
            </a:r>
            <a:r>
              <a:rPr lang="en-US" u="sng">
                <a:ea typeface="+mn-lt"/>
                <a:cs typeface="+mn-lt"/>
              </a:rPr>
              <a:t>software is not just the programs themselves but also all associated documentation, libraries, support websites, and configuration data</a:t>
            </a:r>
            <a:r>
              <a:rPr lang="en-US">
                <a:ea typeface="+mn-lt"/>
                <a:cs typeface="+mn-lt"/>
              </a:rPr>
              <a:t> </a:t>
            </a:r>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502777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47969" y="34630"/>
            <a:ext cx="10515600" cy="1325563"/>
          </a:xfrm>
        </p:spPr>
        <p:txBody>
          <a:bodyPr>
            <a:normAutofit/>
          </a:bodyPr>
          <a:lstStyle/>
          <a:p>
            <a:r>
              <a:rPr lang="en-GB">
                <a:ea typeface="Calibri Light"/>
                <a:cs typeface="Calibri Light"/>
              </a:rPr>
              <a:t>FAQs</a:t>
            </a:r>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21</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768116"/>
            <a:ext cx="10515600" cy="4710771"/>
          </a:xfrm>
        </p:spPr>
        <p:txBody>
          <a:bodyPr vert="horz" lIns="91440" tIns="45720" rIns="91440" bIns="45720" rtlCol="0" anchor="t">
            <a:normAutofit/>
          </a:bodyPr>
          <a:lstStyle/>
          <a:p>
            <a:pPr marL="0" indent="0">
              <a:buNone/>
            </a:pPr>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p:txBody>
      </p:sp>
      <p:pic>
        <p:nvPicPr>
          <p:cNvPr id="3" name="Picture 2" descr="A blue and yellow text on a blue background&#10;&#10;AI-generated content may be incorrect.">
            <a:extLst>
              <a:ext uri="{FF2B5EF4-FFF2-40B4-BE49-F238E27FC236}">
                <a16:creationId xmlns:a16="http://schemas.microsoft.com/office/drawing/2014/main" id="{5CBA03A0-6969-2BBD-A889-41700F64B3EA}"/>
              </a:ext>
            </a:extLst>
          </p:cNvPr>
          <p:cNvPicPr>
            <a:picLocks noChangeAspect="1"/>
          </p:cNvPicPr>
          <p:nvPr/>
        </p:nvPicPr>
        <p:blipFill>
          <a:blip r:embed="rId4"/>
          <a:stretch>
            <a:fillRect/>
          </a:stretch>
        </p:blipFill>
        <p:spPr>
          <a:xfrm>
            <a:off x="666750" y="1118507"/>
            <a:ext cx="10858500" cy="5600700"/>
          </a:xfrm>
          <a:prstGeom prst="rect">
            <a:avLst/>
          </a:prstGeom>
        </p:spPr>
      </p:pic>
    </p:spTree>
    <p:extLst>
      <p:ext uri="{BB962C8B-B14F-4D97-AF65-F5344CB8AC3E}">
        <p14:creationId xmlns:p14="http://schemas.microsoft.com/office/powerpoint/2010/main" val="42543057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47969" y="34630"/>
            <a:ext cx="10515600" cy="1325563"/>
          </a:xfrm>
        </p:spPr>
        <p:txBody>
          <a:bodyPr>
            <a:normAutofit/>
          </a:bodyPr>
          <a:lstStyle/>
          <a:p>
            <a:r>
              <a:rPr lang="en-GB">
                <a:ea typeface="Calibri Light"/>
                <a:cs typeface="Calibri Light"/>
              </a:rPr>
              <a:t>FAQs</a:t>
            </a:r>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22</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768116"/>
            <a:ext cx="10515600" cy="4710771"/>
          </a:xfrm>
        </p:spPr>
        <p:txBody>
          <a:bodyPr vert="horz" lIns="91440" tIns="45720" rIns="91440" bIns="45720" rtlCol="0" anchor="t">
            <a:normAutofit/>
          </a:bodyPr>
          <a:lstStyle/>
          <a:p>
            <a:pPr marL="0" indent="0">
              <a:buNone/>
            </a:pPr>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p:txBody>
      </p:sp>
      <p:pic>
        <p:nvPicPr>
          <p:cNvPr id="5" name="Picture 4" descr="A text on a blue background&#10;&#10;AI-generated content may be incorrect.">
            <a:extLst>
              <a:ext uri="{FF2B5EF4-FFF2-40B4-BE49-F238E27FC236}">
                <a16:creationId xmlns:a16="http://schemas.microsoft.com/office/drawing/2014/main" id="{8D59647E-E60B-1F94-67A4-324F726428CD}"/>
              </a:ext>
            </a:extLst>
          </p:cNvPr>
          <p:cNvPicPr>
            <a:picLocks noChangeAspect="1"/>
          </p:cNvPicPr>
          <p:nvPr/>
        </p:nvPicPr>
        <p:blipFill>
          <a:blip r:embed="rId4"/>
          <a:stretch>
            <a:fillRect/>
          </a:stretch>
        </p:blipFill>
        <p:spPr>
          <a:xfrm>
            <a:off x="90487" y="1877784"/>
            <a:ext cx="12032797" cy="3897087"/>
          </a:xfrm>
          <a:prstGeom prst="rect">
            <a:avLst/>
          </a:prstGeom>
        </p:spPr>
      </p:pic>
    </p:spTree>
    <p:extLst>
      <p:ext uri="{BB962C8B-B14F-4D97-AF65-F5344CB8AC3E}">
        <p14:creationId xmlns:p14="http://schemas.microsoft.com/office/powerpoint/2010/main" val="1320266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Project Lifecycle (clichéd but valid)</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r>
              <a:rPr lang="en-US">
                <a:ea typeface="Calibri" panose="020F0502020204030204"/>
                <a:cs typeface="Calibri"/>
              </a:rPr>
              <a:t> </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23</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4" name="Picture 3">
            <a:extLst>
              <a:ext uri="{FF2B5EF4-FFF2-40B4-BE49-F238E27FC236}">
                <a16:creationId xmlns:a16="http://schemas.microsoft.com/office/drawing/2014/main" id="{F6808193-31BF-4F93-8D89-5BC4537A5097}"/>
              </a:ext>
            </a:extLst>
          </p:cNvPr>
          <p:cNvPicPr>
            <a:picLocks noChangeAspect="1"/>
          </p:cNvPicPr>
          <p:nvPr/>
        </p:nvPicPr>
        <p:blipFill>
          <a:blip r:embed="rId4"/>
          <a:stretch>
            <a:fillRect/>
          </a:stretch>
        </p:blipFill>
        <p:spPr>
          <a:xfrm>
            <a:off x="2195577" y="1323996"/>
            <a:ext cx="7800845" cy="5365835"/>
          </a:xfrm>
          <a:prstGeom prst="rect">
            <a:avLst/>
          </a:prstGeom>
        </p:spPr>
      </p:pic>
      <p:sp>
        <p:nvSpPr>
          <p:cNvPr id="5" name="TextBox 4">
            <a:extLst>
              <a:ext uri="{FF2B5EF4-FFF2-40B4-BE49-F238E27FC236}">
                <a16:creationId xmlns:a16="http://schemas.microsoft.com/office/drawing/2014/main" id="{3E7049FA-69F6-4952-864C-6BEB2C910AE8}"/>
              </a:ext>
            </a:extLst>
          </p:cNvPr>
          <p:cNvSpPr txBox="1"/>
          <p:nvPr/>
        </p:nvSpPr>
        <p:spPr>
          <a:xfrm>
            <a:off x="10784928" y="5537170"/>
            <a:ext cx="1560786" cy="646331"/>
          </a:xfrm>
          <a:prstGeom prst="rect">
            <a:avLst/>
          </a:prstGeom>
          <a:noFill/>
        </p:spPr>
        <p:txBody>
          <a:bodyPr wrap="square" rtlCol="0">
            <a:spAutoFit/>
          </a:bodyPr>
          <a:lstStyle/>
          <a:p>
            <a:r>
              <a:rPr lang="en-US"/>
              <a:t>Clichés exist for a reason.</a:t>
            </a:r>
          </a:p>
        </p:txBody>
      </p:sp>
    </p:spTree>
    <p:extLst>
      <p:ext uri="{BB962C8B-B14F-4D97-AF65-F5344CB8AC3E}">
        <p14:creationId xmlns:p14="http://schemas.microsoft.com/office/powerpoint/2010/main" val="242092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GB">
                <a:cs typeface="Calibri Light"/>
              </a:rPr>
              <a:t>Software Products</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24</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768116"/>
            <a:ext cx="10515600" cy="4710771"/>
          </a:xfrm>
        </p:spPr>
        <p:txBody>
          <a:bodyPr vert="horz" lIns="91440" tIns="45720" rIns="91440" bIns="45720" rtlCol="0" anchor="t">
            <a:normAutofit/>
          </a:bodyPr>
          <a:lstStyle/>
          <a:p>
            <a:r>
              <a:rPr lang="en-US" dirty="0">
                <a:ea typeface="+mn-lt"/>
                <a:cs typeface="+mn-lt"/>
              </a:rPr>
              <a:t>Software engineers are concerned with developing software products (</a:t>
            </a:r>
            <a:r>
              <a:rPr lang="en-US" u="sng" dirty="0">
                <a:ea typeface="+mn-lt"/>
                <a:cs typeface="+mn-lt"/>
              </a:rPr>
              <a:t>software that can be sold to a customer)</a:t>
            </a:r>
            <a:r>
              <a:rPr lang="en-US" dirty="0">
                <a:ea typeface="+mn-lt"/>
                <a:cs typeface="+mn-lt"/>
              </a:rPr>
              <a:t>.</a:t>
            </a:r>
          </a:p>
          <a:p>
            <a:r>
              <a:rPr lang="en-US" dirty="0">
                <a:ea typeface="+mn-lt"/>
                <a:cs typeface="+mn-lt"/>
              </a:rPr>
              <a:t>Kinds of Software Products:</a:t>
            </a:r>
            <a:endParaRPr lang="en-US" dirty="0">
              <a:ea typeface="Calibri"/>
              <a:cs typeface="Calibri"/>
            </a:endParaRPr>
          </a:p>
          <a:p>
            <a:pPr lvl="1"/>
            <a:r>
              <a:rPr lang="en-US" dirty="0">
                <a:ea typeface="Calibri"/>
                <a:cs typeface="Calibri"/>
              </a:rPr>
              <a:t>Generic Product: These are stand-alone systems that are produced by a development organization and sold on the open market to any customer. Example: MS Word</a:t>
            </a:r>
            <a:endParaRPr lang="en-US" dirty="0"/>
          </a:p>
          <a:p>
            <a:pPr lvl="1"/>
            <a:r>
              <a:rPr lang="en-US" dirty="0">
                <a:ea typeface="Calibri"/>
                <a:cs typeface="Calibri"/>
              </a:rPr>
              <a:t>Customized (or bespoke) Product: These are systems that are commissioned by and developed for a particular customer. Example: Custom ERP, ATC software</a:t>
            </a: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p:txBody>
      </p:sp>
      <p:sp>
        <p:nvSpPr>
          <p:cNvPr id="3" name="TextBox 2">
            <a:extLst>
              <a:ext uri="{FF2B5EF4-FFF2-40B4-BE49-F238E27FC236}">
                <a16:creationId xmlns:a16="http://schemas.microsoft.com/office/drawing/2014/main" id="{1245DF86-2772-17CE-6540-A6B3FEDB8672}"/>
              </a:ext>
            </a:extLst>
          </p:cNvPr>
          <p:cNvSpPr txBox="1"/>
          <p:nvPr/>
        </p:nvSpPr>
        <p:spPr>
          <a:xfrm>
            <a:off x="719535" y="5438884"/>
            <a:ext cx="1074569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The important distinction between the two is that in Generic software, the software specification is controlled by the organization that develops the software, whereas in the second case, the specification of the software is controlled by the client or the customer buying the product (how can this be a challenge?)</a:t>
            </a:r>
          </a:p>
        </p:txBody>
      </p:sp>
    </p:spTree>
    <p:extLst>
      <p:ext uri="{BB962C8B-B14F-4D97-AF65-F5344CB8AC3E}">
        <p14:creationId xmlns:p14="http://schemas.microsoft.com/office/powerpoint/2010/main" val="3590600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GB">
                <a:ea typeface="Calibri Light"/>
                <a:cs typeface="Calibri Light"/>
              </a:rPr>
              <a:t>Essential attributes of Good Software</a:t>
            </a:r>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25</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pic>
        <p:nvPicPr>
          <p:cNvPr id="10" name="Picture 9" descr="A blue and yellow text box&#10;&#10;AI-generated content may be incorrect.">
            <a:extLst>
              <a:ext uri="{FF2B5EF4-FFF2-40B4-BE49-F238E27FC236}">
                <a16:creationId xmlns:a16="http://schemas.microsoft.com/office/drawing/2014/main" id="{54668365-CA9D-9322-32AF-9882EEA134AF}"/>
              </a:ext>
            </a:extLst>
          </p:cNvPr>
          <p:cNvPicPr>
            <a:picLocks noChangeAspect="1"/>
          </p:cNvPicPr>
          <p:nvPr/>
        </p:nvPicPr>
        <p:blipFill>
          <a:blip r:embed="rId4"/>
          <a:stretch>
            <a:fillRect/>
          </a:stretch>
        </p:blipFill>
        <p:spPr>
          <a:xfrm>
            <a:off x="834293" y="1628653"/>
            <a:ext cx="10972800" cy="4733925"/>
          </a:xfrm>
          <a:prstGeom prst="rect">
            <a:avLst/>
          </a:prstGeom>
        </p:spPr>
      </p:pic>
    </p:spTree>
    <p:extLst>
      <p:ext uri="{BB962C8B-B14F-4D97-AF65-F5344CB8AC3E}">
        <p14:creationId xmlns:p14="http://schemas.microsoft.com/office/powerpoint/2010/main" val="1004175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GB">
                <a:cs typeface="Calibri Light"/>
              </a:rPr>
              <a:t>Software Engineering, more formally</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26</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768116"/>
            <a:ext cx="10515600" cy="4710771"/>
          </a:xfrm>
        </p:spPr>
        <p:txBody>
          <a:bodyPr vert="horz" lIns="91440" tIns="45720" rIns="91440" bIns="45720" rtlCol="0" anchor="t">
            <a:normAutofit/>
          </a:bodyPr>
          <a:lstStyle/>
          <a:p>
            <a:r>
              <a:rPr lang="en-US" dirty="0">
                <a:ea typeface="+mn-lt"/>
                <a:cs typeface="+mn-lt"/>
              </a:rPr>
              <a:t>"Software engineering is an </a:t>
            </a:r>
            <a:r>
              <a:rPr lang="en-US" b="1" dirty="0">
                <a:ea typeface="+mn-lt"/>
                <a:cs typeface="+mn-lt"/>
              </a:rPr>
              <a:t>engineering discipline</a:t>
            </a:r>
            <a:r>
              <a:rPr lang="en-US" dirty="0">
                <a:ea typeface="+mn-lt"/>
                <a:cs typeface="+mn-lt"/>
              </a:rPr>
              <a:t> that is concerned with </a:t>
            </a:r>
            <a:r>
              <a:rPr lang="en-US" b="1" dirty="0">
                <a:ea typeface="+mn-lt"/>
                <a:cs typeface="+mn-lt"/>
              </a:rPr>
              <a:t>all aspects of software production</a:t>
            </a:r>
            <a:r>
              <a:rPr lang="en-US" dirty="0">
                <a:ea typeface="+mn-lt"/>
                <a:cs typeface="+mn-lt"/>
              </a:rPr>
              <a:t> from the early stages of system specification through to maintaining the system after it has gone into use" (Ian Sommerville, 10th Edition)</a:t>
            </a:r>
            <a:endParaRPr lang="en-US" dirty="0">
              <a:ea typeface="Calibri"/>
              <a:cs typeface="Calibri"/>
            </a:endParaRPr>
          </a:p>
          <a:p>
            <a:endParaRPr lang="en-US">
              <a:ea typeface="Calibri"/>
              <a:cs typeface="Calibri"/>
            </a:endParaRPr>
          </a:p>
          <a:p>
            <a:r>
              <a:rPr lang="en-US" dirty="0">
                <a:ea typeface="Calibri"/>
                <a:cs typeface="Calibri"/>
              </a:rPr>
              <a:t>Two key aspects here:</a:t>
            </a:r>
          </a:p>
          <a:p>
            <a:pPr lvl="1">
              <a:buFont typeface="Courier New" panose="020B0604020202020204" pitchFamily="34" charset="0"/>
              <a:buChar char="o"/>
            </a:pPr>
            <a:r>
              <a:rPr lang="en-US" sz="1800" dirty="0">
                <a:ea typeface="Calibri"/>
                <a:cs typeface="Calibri"/>
              </a:rPr>
              <a:t>Engineering discipline: Using appropriate theory and methods to solve problems bearing in mind the constraints and costs (</a:t>
            </a:r>
            <a:r>
              <a:rPr lang="en-US" sz="1800" dirty="0">
                <a:ea typeface="+mn-lt"/>
                <a:cs typeface="+mn-lt"/>
              </a:rPr>
              <a:t>Engineering is about getting results of the required quality within schedule and budget)</a:t>
            </a:r>
            <a:endParaRPr lang="en-US" sz="1800" dirty="0">
              <a:ea typeface="Calibri"/>
              <a:cs typeface="Calibri"/>
            </a:endParaRPr>
          </a:p>
          <a:p>
            <a:pPr lvl="1">
              <a:buFont typeface="Courier New" panose="020B0604020202020204" pitchFamily="34" charset="0"/>
              <a:buChar char="o"/>
            </a:pPr>
            <a:r>
              <a:rPr lang="en-US" sz="1800" dirty="0">
                <a:ea typeface="Calibri"/>
                <a:cs typeface="Calibri"/>
              </a:rPr>
              <a:t>All aspects of software production: </a:t>
            </a:r>
            <a:r>
              <a:rPr lang="en-US" sz="1800" dirty="0">
                <a:ea typeface="+mn-lt"/>
                <a:cs typeface="+mn-lt"/>
              </a:rPr>
              <a:t>Software engineering is not just concerned with the technical processes of software development (design and code), but also activities such as software project management and the development of tools and methods in various phases of software production</a:t>
            </a:r>
            <a:endParaRPr lang="en-US" sz="1800" dirty="0">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4200966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GB">
                <a:cs typeface="Calibri Light"/>
              </a:rPr>
              <a:t>Software Engineering v. Physical Engineering</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27</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604424"/>
            <a:ext cx="10515600" cy="4874463"/>
          </a:xfrm>
        </p:spPr>
        <p:txBody>
          <a:bodyPr vert="horz" lIns="91440" tIns="45720" rIns="91440" bIns="45720" rtlCol="0" anchor="t">
            <a:noAutofit/>
          </a:bodyPr>
          <a:lstStyle/>
          <a:p>
            <a:r>
              <a:rPr lang="en-US" sz="2400">
                <a:ea typeface="+mn-lt"/>
                <a:cs typeface="+mn-lt"/>
              </a:rPr>
              <a:t>Physical systems are often continuous in the sense that small changes in the specification lead to small changes in the product. This is not true with software</a:t>
            </a:r>
          </a:p>
          <a:p>
            <a:endParaRPr lang="en-US" sz="2400"/>
          </a:p>
          <a:p>
            <a:r>
              <a:rPr lang="en-US" sz="2400" b="1">
                <a:ea typeface="+mn-lt"/>
                <a:cs typeface="+mn-lt"/>
              </a:rPr>
              <a:t>Small changes in the specification of software may lead to considerable changes in the software itself</a:t>
            </a:r>
          </a:p>
          <a:p>
            <a:r>
              <a:rPr lang="en-US" sz="2400">
                <a:ea typeface="+mn-lt"/>
                <a:cs typeface="+mn-lt"/>
              </a:rPr>
              <a:t>In a similar way, </a:t>
            </a:r>
            <a:r>
              <a:rPr lang="en-US" sz="2400" b="1">
                <a:ea typeface="+mn-lt"/>
                <a:cs typeface="+mn-lt"/>
              </a:rPr>
              <a:t>small errors in software may have considerable effects</a:t>
            </a:r>
            <a:r>
              <a:rPr lang="en-US" sz="2400">
                <a:ea typeface="+mn-lt"/>
                <a:cs typeface="+mn-lt"/>
              </a:rPr>
              <a:t>. The Mariner space rocket to Venus, for example, got lost because of a typing error in a FORTRAN program (Read </a:t>
            </a:r>
            <a:r>
              <a:rPr lang="en-US" sz="2400">
                <a:ea typeface="+mn-lt"/>
                <a:cs typeface="+mn-lt"/>
                <a:hlinkClick r:id="rId4"/>
              </a:rPr>
              <a:t>here</a:t>
            </a:r>
            <a:r>
              <a:rPr lang="en-US" sz="2400">
                <a:ea typeface="+mn-lt"/>
                <a:cs typeface="+mn-lt"/>
              </a:rPr>
              <a:t>)</a:t>
            </a:r>
          </a:p>
          <a:p>
            <a:r>
              <a:rPr lang="en-US" sz="2400">
                <a:ea typeface="+mn-lt"/>
                <a:cs typeface="+mn-lt"/>
              </a:rPr>
              <a:t>In 1998, the Mars Climate Orbiter got lost, because one development team used English units such as inches and feet, while another team used metric units (Read case study: </a:t>
            </a:r>
            <a:r>
              <a:rPr lang="en-US" sz="2400">
                <a:ea typeface="+mn-lt"/>
                <a:cs typeface="+mn-lt"/>
                <a:hlinkClick r:id="rId5"/>
              </a:rPr>
              <a:t>Lost in Translation</a:t>
            </a:r>
            <a:r>
              <a:rPr lang="en-US" sz="2400">
                <a:ea typeface="+mn-lt"/>
                <a:cs typeface="+mn-lt"/>
              </a:rPr>
              <a:t> – no, not the 2003 Sofia </a:t>
            </a:r>
            <a:r>
              <a:rPr lang="en-US" sz="2400" err="1">
                <a:ea typeface="+mn-lt"/>
                <a:cs typeface="+mn-lt"/>
              </a:rPr>
              <a:t>Coppala</a:t>
            </a:r>
            <a:r>
              <a:rPr lang="en-US" sz="2400">
                <a:ea typeface="+mn-lt"/>
                <a:cs typeface="+mn-lt"/>
              </a:rPr>
              <a:t> film)</a:t>
            </a:r>
            <a:endParaRPr lang="en-US" sz="2400">
              <a:ea typeface="Calibri"/>
              <a:cs typeface="Calibri"/>
            </a:endParaRPr>
          </a:p>
        </p:txBody>
      </p:sp>
    </p:spTree>
    <p:extLst>
      <p:ext uri="{BB962C8B-B14F-4D97-AF65-F5344CB8AC3E}">
        <p14:creationId xmlns:p14="http://schemas.microsoft.com/office/powerpoint/2010/main" val="976430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Hardware versus Software costs</a:t>
            </a:r>
            <a:endParaRPr lang="en-US"/>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28</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9" name="Content Placeholder 8" descr="A blue line with green lines&#10;&#10;Description automatically generated">
            <a:extLst>
              <a:ext uri="{FF2B5EF4-FFF2-40B4-BE49-F238E27FC236}">
                <a16:creationId xmlns:a16="http://schemas.microsoft.com/office/drawing/2014/main" id="{E47109AA-E063-E8B5-3939-A5822DE7DDE6}"/>
              </a:ext>
            </a:extLst>
          </p:cNvPr>
          <p:cNvPicPr>
            <a:picLocks noGrp="1" noChangeAspect="1"/>
          </p:cNvPicPr>
          <p:nvPr>
            <p:ph idx="1"/>
          </p:nvPr>
        </p:nvPicPr>
        <p:blipFill>
          <a:blip r:embed="rId4"/>
          <a:stretch>
            <a:fillRect/>
          </a:stretch>
        </p:blipFill>
        <p:spPr>
          <a:xfrm>
            <a:off x="3605185" y="1389551"/>
            <a:ext cx="7320501" cy="4966799"/>
          </a:xfrm>
        </p:spPr>
      </p:pic>
      <p:sp>
        <p:nvSpPr>
          <p:cNvPr id="10" name="TextBox 9">
            <a:extLst>
              <a:ext uri="{FF2B5EF4-FFF2-40B4-BE49-F238E27FC236}">
                <a16:creationId xmlns:a16="http://schemas.microsoft.com/office/drawing/2014/main" id="{63904F8D-C7E2-4B78-B5C7-27CB4A6CE19B}"/>
              </a:ext>
            </a:extLst>
          </p:cNvPr>
          <p:cNvSpPr txBox="1"/>
          <p:nvPr/>
        </p:nvSpPr>
        <p:spPr>
          <a:xfrm>
            <a:off x="0" y="2823189"/>
            <a:ext cx="3437203" cy="1477328"/>
          </a:xfrm>
          <a:prstGeom prst="rect">
            <a:avLst/>
          </a:prstGeom>
          <a:noFill/>
        </p:spPr>
        <p:txBody>
          <a:bodyPr wrap="square" rtlCol="0">
            <a:spAutoFit/>
          </a:bodyPr>
          <a:lstStyle/>
          <a:p>
            <a:r>
              <a:rPr lang="en-US"/>
              <a:t>We are reaching the end of Moore’s Law (Read </a:t>
            </a:r>
            <a:r>
              <a:rPr lang="en-US">
                <a:solidFill>
                  <a:schemeClr val="accent1">
                    <a:lumMod val="75000"/>
                  </a:schemeClr>
                </a:solidFill>
                <a:hlinkClick r:id="rId5">
                  <a:extLst>
                    <a:ext uri="{A12FA001-AC4F-418D-AE19-62706E023703}">
                      <ahyp:hlinkClr xmlns:ahyp="http://schemas.microsoft.com/office/drawing/2018/hyperlinkcolor" val="tx"/>
                    </a:ext>
                  </a:extLst>
                </a:hlinkClick>
              </a:rPr>
              <a:t>here</a:t>
            </a:r>
            <a:r>
              <a:rPr lang="en-US"/>
              <a:t>), but hey innovation is expected to continue in hardware, of course (One example </a:t>
            </a:r>
            <a:r>
              <a:rPr lang="en-US">
                <a:solidFill>
                  <a:schemeClr val="accent1">
                    <a:lumMod val="75000"/>
                  </a:schemeClr>
                </a:solidFill>
                <a:hlinkClick r:id="rId6">
                  <a:extLst>
                    <a:ext uri="{A12FA001-AC4F-418D-AE19-62706E023703}">
                      <ahyp:hlinkClr xmlns:ahyp="http://schemas.microsoft.com/office/drawing/2018/hyperlinkcolor" val="tx"/>
                    </a:ext>
                  </a:extLst>
                </a:hlinkClick>
              </a:rPr>
              <a:t>here</a:t>
            </a:r>
            <a:r>
              <a:rPr lang="en-US"/>
              <a:t>)</a:t>
            </a:r>
          </a:p>
        </p:txBody>
      </p:sp>
    </p:spTree>
    <p:extLst>
      <p:ext uri="{BB962C8B-B14F-4D97-AF65-F5344CB8AC3E}">
        <p14:creationId xmlns:p14="http://schemas.microsoft.com/office/powerpoint/2010/main" val="13158481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Hardware versus Software costs</a:t>
            </a:r>
            <a:endParaRPr lang="en-GB">
              <a:ea typeface="Calibri Light"/>
              <a:cs typeface="Calibri Light"/>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29</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5" name="Content Placeholder 4" descr="A graph of software costs&#10;&#10;AI-generated content may be incorrect.">
            <a:extLst>
              <a:ext uri="{FF2B5EF4-FFF2-40B4-BE49-F238E27FC236}">
                <a16:creationId xmlns:a16="http://schemas.microsoft.com/office/drawing/2014/main" id="{2CB9D586-8C87-78EB-A740-FF7AE1288F2C}"/>
              </a:ext>
            </a:extLst>
          </p:cNvPr>
          <p:cNvPicPr>
            <a:picLocks noGrp="1" noChangeAspect="1"/>
          </p:cNvPicPr>
          <p:nvPr>
            <p:ph idx="1"/>
          </p:nvPr>
        </p:nvPicPr>
        <p:blipFill rotWithShape="1">
          <a:blip r:embed="rId4"/>
          <a:srcRect l="5680" b="16078"/>
          <a:stretch/>
        </p:blipFill>
        <p:spPr>
          <a:xfrm>
            <a:off x="1968883" y="1299914"/>
            <a:ext cx="7346273" cy="4554020"/>
          </a:xfrm>
        </p:spPr>
      </p:pic>
      <p:sp>
        <p:nvSpPr>
          <p:cNvPr id="9" name="TextBox 8">
            <a:extLst>
              <a:ext uri="{FF2B5EF4-FFF2-40B4-BE49-F238E27FC236}">
                <a16:creationId xmlns:a16="http://schemas.microsoft.com/office/drawing/2014/main" id="{98F0C582-A6C8-465E-BF8B-03E85A555895}"/>
              </a:ext>
            </a:extLst>
          </p:cNvPr>
          <p:cNvSpPr txBox="1"/>
          <p:nvPr/>
        </p:nvSpPr>
        <p:spPr>
          <a:xfrm>
            <a:off x="2421033" y="5787397"/>
            <a:ext cx="8182462" cy="646331"/>
          </a:xfrm>
          <a:prstGeom prst="rect">
            <a:avLst/>
          </a:prstGeom>
          <a:noFill/>
        </p:spPr>
        <p:txBody>
          <a:bodyPr wrap="square" rtlCol="0">
            <a:spAutoFit/>
          </a:bodyPr>
          <a:lstStyle/>
          <a:p>
            <a:r>
              <a:rPr lang="en-US"/>
              <a:t>Relative distribution of hardware/software costs (Source: B.W. Boehm, Software Engineering, IEEE Transactions on Computers, 1976 IEEE</a:t>
            </a:r>
          </a:p>
        </p:txBody>
      </p:sp>
      <p:sp>
        <p:nvSpPr>
          <p:cNvPr id="3" name="TextBox 2">
            <a:extLst>
              <a:ext uri="{FF2B5EF4-FFF2-40B4-BE49-F238E27FC236}">
                <a16:creationId xmlns:a16="http://schemas.microsoft.com/office/drawing/2014/main" id="{F643B6F2-E415-069E-1776-4A9A3CD31B83}"/>
              </a:ext>
            </a:extLst>
          </p:cNvPr>
          <p:cNvSpPr txBox="1"/>
          <p:nvPr/>
        </p:nvSpPr>
        <p:spPr>
          <a:xfrm>
            <a:off x="152400" y="2087879"/>
            <a:ext cx="208788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Initially, programs were in a limited domain, custom built to suit niche requirements; but in time, computers became ubiquitous and user range greater, and with more real-world incorporation, needs and requirements became more dynamic.</a:t>
            </a:r>
            <a:endParaRPr lang="en-US" dirty="0"/>
          </a:p>
        </p:txBody>
      </p:sp>
    </p:spTree>
    <p:extLst>
      <p:ext uri="{BB962C8B-B14F-4D97-AF65-F5344CB8AC3E}">
        <p14:creationId xmlns:p14="http://schemas.microsoft.com/office/powerpoint/2010/main" val="15969720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Size of programs continues to grow</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p:txBody>
          <a:bodyPr vert="horz" lIns="91440" tIns="45720" rIns="91440" bIns="45720" rtlCol="0" anchor="t">
            <a:normAutofit fontScale="85000" lnSpcReduction="20000"/>
          </a:bodyPr>
          <a:lstStyle/>
          <a:p>
            <a:r>
              <a:rPr lang="en-US">
                <a:ea typeface="+mn-lt"/>
                <a:cs typeface="+mn-lt"/>
              </a:rPr>
              <a:t>Trivial: 1 month, 1 programmer, 500 LOC,</a:t>
            </a:r>
            <a:endParaRPr lang="en-US">
              <a:ea typeface="Calibri" panose="020F0502020204030204"/>
              <a:cs typeface="Calibri" panose="020F0502020204030204"/>
            </a:endParaRPr>
          </a:p>
          <a:p>
            <a:pPr lvl="1"/>
            <a:r>
              <a:rPr lang="en-US">
                <a:ea typeface="+mn-lt"/>
                <a:cs typeface="+mn-lt"/>
              </a:rPr>
              <a:t>Intro programming assignments (???)</a:t>
            </a:r>
            <a:endParaRPr lang="en-US">
              <a:ea typeface="Calibri"/>
              <a:cs typeface="Calibri"/>
            </a:endParaRPr>
          </a:p>
          <a:p>
            <a:r>
              <a:rPr lang="en-US">
                <a:ea typeface="+mn-lt"/>
                <a:cs typeface="+mn-lt"/>
              </a:rPr>
              <a:t>Very small: 4 months, 1 programmer, 2000 LOC</a:t>
            </a:r>
          </a:p>
          <a:p>
            <a:pPr lvl="1"/>
            <a:r>
              <a:rPr lang="en-US">
                <a:ea typeface="+mn-lt"/>
                <a:cs typeface="+mn-lt"/>
              </a:rPr>
              <a:t>Course project</a:t>
            </a:r>
            <a:endParaRPr lang="en-US">
              <a:ea typeface="Calibri" panose="020F0502020204030204"/>
              <a:cs typeface="Calibri" panose="020F0502020204030204"/>
            </a:endParaRPr>
          </a:p>
          <a:p>
            <a:r>
              <a:rPr lang="en-US">
                <a:ea typeface="+mn-lt"/>
                <a:cs typeface="+mn-lt"/>
              </a:rPr>
              <a:t>Small: 2 years, 3 programmers, 50K LOC</a:t>
            </a:r>
          </a:p>
          <a:p>
            <a:pPr lvl="1"/>
            <a:r>
              <a:rPr lang="en-US">
                <a:ea typeface="+mn-lt"/>
                <a:cs typeface="+mn-lt"/>
              </a:rPr>
              <a:t>Nuclear power plant, pace maker</a:t>
            </a:r>
            <a:endParaRPr lang="en-US">
              <a:ea typeface="Calibri"/>
              <a:cs typeface="Calibri"/>
            </a:endParaRPr>
          </a:p>
          <a:p>
            <a:r>
              <a:rPr lang="en-US">
                <a:ea typeface="+mn-lt"/>
                <a:cs typeface="+mn-lt"/>
              </a:rPr>
              <a:t>Medium: 3 years, 10s of programmers, 100K LOC</a:t>
            </a:r>
          </a:p>
          <a:p>
            <a:pPr lvl="1"/>
            <a:r>
              <a:rPr lang="en-US">
                <a:ea typeface="+mn-lt"/>
                <a:cs typeface="+mn-lt"/>
              </a:rPr>
              <a:t>Optimizing compiler</a:t>
            </a:r>
            <a:endParaRPr lang="en-US">
              <a:ea typeface="Calibri" panose="020F0502020204030204"/>
              <a:cs typeface="Calibri" panose="020F0502020204030204"/>
            </a:endParaRPr>
          </a:p>
          <a:p>
            <a:r>
              <a:rPr lang="en-US">
                <a:ea typeface="+mn-lt"/>
                <a:cs typeface="+mn-lt"/>
              </a:rPr>
              <a:t>Large: 5 years, 100s of programmers, 1M LOC</a:t>
            </a:r>
          </a:p>
          <a:p>
            <a:pPr lvl="1"/>
            <a:r>
              <a:rPr lang="en-US">
                <a:ea typeface="+mn-lt"/>
                <a:cs typeface="+mn-lt"/>
              </a:rPr>
              <a:t>MS Word, Excel</a:t>
            </a:r>
            <a:endParaRPr lang="en-US">
              <a:ea typeface="Calibri"/>
              <a:cs typeface="Calibri"/>
            </a:endParaRPr>
          </a:p>
          <a:p>
            <a:r>
              <a:rPr lang="en-US">
                <a:ea typeface="+mn-lt"/>
                <a:cs typeface="+mn-lt"/>
              </a:rPr>
              <a:t>Very large: 10 years, 1000s of programmers, 10M LOC</a:t>
            </a:r>
            <a:endParaRPr lang="en-US">
              <a:ea typeface="Calibri"/>
              <a:cs typeface="Calibri"/>
            </a:endParaRPr>
          </a:p>
          <a:p>
            <a:pPr lvl="1"/>
            <a:r>
              <a:rPr lang="en-US">
                <a:ea typeface="+mn-lt"/>
                <a:cs typeface="+mn-lt"/>
              </a:rPr>
              <a:t>Air traffic control,</a:t>
            </a:r>
          </a:p>
          <a:p>
            <a:pPr lvl="1"/>
            <a:r>
              <a:rPr lang="en-US">
                <a:ea typeface="+mn-lt"/>
                <a:cs typeface="+mn-lt"/>
              </a:rPr>
              <a:t>Telecommunications, SpaceX</a:t>
            </a:r>
            <a:endParaRPr lang="en-US">
              <a:ea typeface="Calibri"/>
              <a:cs typeface="Calibri"/>
            </a:endParaRPr>
          </a:p>
          <a:p>
            <a:endParaRPr lang="en-US" alt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30</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endParaRPr lang="en-US">
              <a:ea typeface="Calibri"/>
              <a:cs typeface="Calibri"/>
            </a:endParaRPr>
          </a:p>
        </p:txBody>
      </p:sp>
    </p:spTree>
    <p:extLst>
      <p:ext uri="{BB962C8B-B14F-4D97-AF65-F5344CB8AC3E}">
        <p14:creationId xmlns:p14="http://schemas.microsoft.com/office/powerpoint/2010/main" val="3716297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More challenges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633173"/>
          </a:xfrm>
        </p:spPr>
        <p:txBody>
          <a:bodyPr vert="horz" lIns="91440" tIns="45720" rIns="91440" bIns="45720" rtlCol="0" anchor="t">
            <a:normAutofit fontScale="85000" lnSpcReduction="10000"/>
          </a:bodyPr>
          <a:lstStyle/>
          <a:p>
            <a:r>
              <a:rPr lang="en-US" dirty="0">
                <a:ea typeface="+mn-lt"/>
                <a:cs typeface="+mn-lt"/>
              </a:rPr>
              <a:t>Software cannot be built fast enough to keep up with</a:t>
            </a:r>
          </a:p>
          <a:p>
            <a:pPr lvl="1"/>
            <a:r>
              <a:rPr lang="en-US" dirty="0">
                <a:ea typeface="+mn-lt"/>
                <a:cs typeface="+mn-lt"/>
              </a:rPr>
              <a:t>Hardware advances</a:t>
            </a:r>
          </a:p>
          <a:p>
            <a:pPr lvl="1"/>
            <a:r>
              <a:rPr lang="en-US" dirty="0">
                <a:ea typeface="+mn-lt"/>
                <a:cs typeface="+mn-lt"/>
              </a:rPr>
              <a:t>Rising expectations</a:t>
            </a:r>
          </a:p>
          <a:p>
            <a:pPr lvl="1"/>
            <a:r>
              <a:rPr lang="en-US" dirty="0">
                <a:ea typeface="+mn-lt"/>
                <a:cs typeface="+mn-lt"/>
              </a:rPr>
              <a:t>Feature explosion (why though? Human avarice?)</a:t>
            </a:r>
            <a:endParaRPr lang="en-US" dirty="0">
              <a:ea typeface="Calibri" panose="020F0502020204030204"/>
              <a:cs typeface="Calibri" panose="020F0502020204030204"/>
            </a:endParaRPr>
          </a:p>
          <a:p>
            <a:r>
              <a:rPr lang="en-US" dirty="0">
                <a:ea typeface="+mn-lt"/>
                <a:cs typeface="+mn-lt"/>
              </a:rPr>
              <a:t>Increasing need for high reliability software (as software becomes integral in our lives)</a:t>
            </a:r>
            <a:endParaRPr lang="en-US" dirty="0"/>
          </a:p>
          <a:p>
            <a:r>
              <a:rPr lang="en-US" dirty="0">
                <a:ea typeface="+mn-lt"/>
                <a:cs typeface="+mn-lt"/>
              </a:rPr>
              <a:t>Software is difficult to maintain, “aging software” (see notes)</a:t>
            </a:r>
            <a:endParaRPr lang="en-US" dirty="0">
              <a:ea typeface="Calibri" panose="020F0502020204030204"/>
              <a:cs typeface="Calibri"/>
            </a:endParaRPr>
          </a:p>
          <a:p>
            <a:r>
              <a:rPr lang="en-US" dirty="0">
                <a:ea typeface="+mn-lt"/>
                <a:cs typeface="+mn-lt"/>
              </a:rPr>
              <a:t>Difficult to estimate software costs and schedules</a:t>
            </a:r>
            <a:endParaRPr lang="en-US" dirty="0"/>
          </a:p>
          <a:p>
            <a:r>
              <a:rPr lang="en-US" dirty="0">
                <a:ea typeface="+mn-lt"/>
                <a:cs typeface="+mn-lt"/>
              </a:rPr>
              <a:t>Many projects fail</a:t>
            </a:r>
          </a:p>
          <a:p>
            <a:pPr lvl="1"/>
            <a:r>
              <a:rPr lang="en-US" dirty="0">
                <a:ea typeface="+mn-lt"/>
                <a:cs typeface="+mn-lt"/>
              </a:rPr>
              <a:t>Mars Path finder stops due to a simple priority inversion error (Read </a:t>
            </a:r>
            <a:r>
              <a:rPr lang="en-US" dirty="0">
                <a:ea typeface="+mn-lt"/>
                <a:cs typeface="+mn-lt"/>
                <a:hlinkClick r:id="rId3"/>
              </a:rPr>
              <a:t>here</a:t>
            </a:r>
            <a:r>
              <a:rPr lang="en-US" dirty="0">
                <a:ea typeface="+mn-lt"/>
                <a:cs typeface="+mn-lt"/>
              </a:rPr>
              <a:t>)</a:t>
            </a:r>
            <a:endParaRPr lang="en-US" dirty="0">
              <a:ea typeface="Calibri"/>
              <a:cs typeface="Calibri"/>
            </a:endParaRPr>
          </a:p>
          <a:p>
            <a:r>
              <a:rPr lang="en-US" dirty="0">
                <a:ea typeface="+mn-lt"/>
                <a:cs typeface="+mn-lt"/>
              </a:rPr>
              <a:t>Many projects get delayed or recalled</a:t>
            </a:r>
          </a:p>
          <a:p>
            <a:pPr lvl="1"/>
            <a:r>
              <a:rPr lang="en-US" dirty="0">
                <a:ea typeface="+mn-lt"/>
                <a:cs typeface="+mn-lt"/>
              </a:rPr>
              <a:t>Boeing 737 Max got recalled – issues with MCAS system (Read </a:t>
            </a:r>
            <a:r>
              <a:rPr lang="en-US" dirty="0">
                <a:ea typeface="+mn-lt"/>
                <a:cs typeface="+mn-lt"/>
                <a:hlinkClick r:id="rId4"/>
              </a:rPr>
              <a:t>here</a:t>
            </a:r>
            <a:r>
              <a:rPr lang="en-US" dirty="0">
                <a:ea typeface="+mn-lt"/>
                <a:cs typeface="+mn-lt"/>
              </a:rPr>
              <a:t>)</a:t>
            </a:r>
            <a:endParaRPr lang="en-US" dirty="0">
              <a:ea typeface="Calibri" panose="020F0502020204030204"/>
              <a:cs typeface="Calibri" panose="020F0502020204030204"/>
            </a:endParaRPr>
          </a:p>
          <a:p>
            <a:pPr lvl="1"/>
            <a:r>
              <a:rPr lang="en-US" dirty="0">
                <a:ea typeface="+mn-lt"/>
                <a:cs typeface="+mn-lt"/>
              </a:rPr>
              <a:t>Common in automotive domain due to faulty software in ECM (Engine Control Module)</a:t>
            </a:r>
            <a:endParaRPr lang="en-US" dirty="0">
              <a:ea typeface="Calibri" panose="020F0502020204030204"/>
              <a:cs typeface="Calibri" panose="020F0502020204030204"/>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31</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6465772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Changing Nature of Software</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812560"/>
          </a:xfrm>
        </p:spPr>
        <p:txBody>
          <a:bodyPr vert="horz" lIns="91440" tIns="45720" rIns="91440" bIns="45720" rtlCol="0" anchor="t">
            <a:normAutofit/>
          </a:bodyPr>
          <a:lstStyle/>
          <a:p>
            <a:r>
              <a:rPr lang="en-US"/>
              <a:t>Software evolves over time – due to advancements in technology, changes in user needs, industry trends, and the broader technological ecosystem</a:t>
            </a:r>
          </a:p>
          <a:p>
            <a:r>
              <a:rPr lang="en-US"/>
              <a:t>This evolution impacts how software is designed, developed, deployed, and maintained</a:t>
            </a:r>
          </a:p>
          <a:p>
            <a:r>
              <a:rPr lang="en-US">
                <a:ea typeface="+mn-lt"/>
                <a:cs typeface="+mn-lt"/>
              </a:rPr>
              <a:t>Some key aspects:</a:t>
            </a:r>
          </a:p>
          <a:p>
            <a:pPr lvl="1"/>
            <a:r>
              <a:rPr lang="en-US">
                <a:ea typeface="+mn-lt"/>
                <a:cs typeface="+mn-lt"/>
              </a:rPr>
              <a:t>Shifting development paradigms</a:t>
            </a:r>
          </a:p>
          <a:p>
            <a:pPr lvl="2"/>
            <a:r>
              <a:rPr lang="en-US">
                <a:ea typeface="+mn-lt"/>
                <a:cs typeface="+mn-lt"/>
              </a:rPr>
              <a:t>Monolithic to Microservices (see slide ‘Notes’ for an example)</a:t>
            </a:r>
          </a:p>
          <a:p>
            <a:pPr lvl="2"/>
            <a:r>
              <a:rPr lang="en-US">
                <a:ea typeface="+mn-lt"/>
                <a:cs typeface="+mn-lt"/>
              </a:rPr>
              <a:t>Waterfall to Agile / DevOps</a:t>
            </a:r>
          </a:p>
          <a:p>
            <a:pPr lvl="1"/>
            <a:r>
              <a:rPr lang="en-US">
                <a:ea typeface="+mn-lt"/>
                <a:cs typeface="+mn-lt"/>
              </a:rPr>
              <a:t>Increased emphasis on user centered design</a:t>
            </a:r>
          </a:p>
          <a:p>
            <a:pPr lvl="2"/>
            <a:r>
              <a:rPr lang="en-US">
                <a:ea typeface="+mn-lt"/>
                <a:cs typeface="+mn-lt"/>
              </a:rPr>
              <a:t>Adapt to user preferences and behavior (every person has his own quirks?)</a:t>
            </a:r>
          </a:p>
          <a:p>
            <a:pPr lvl="2"/>
            <a:r>
              <a:rPr lang="en-US">
                <a:ea typeface="+mn-lt"/>
                <a:cs typeface="+mn-lt"/>
              </a:rPr>
              <a:t>As systems become more integral parts of our life, software needs to be more intuitive</a:t>
            </a: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32</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2337035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Changing Nature of Software</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949085"/>
          </a:xfrm>
        </p:spPr>
        <p:txBody>
          <a:bodyPr vert="horz" lIns="91440" tIns="45720" rIns="91440" bIns="45720" rtlCol="0" anchor="t">
            <a:normAutofit/>
          </a:bodyPr>
          <a:lstStyle/>
          <a:p>
            <a:r>
              <a:rPr lang="en-US">
                <a:ea typeface="+mn-lt"/>
                <a:cs typeface="+mn-lt"/>
              </a:rPr>
              <a:t>Some key aspects:</a:t>
            </a:r>
          </a:p>
          <a:p>
            <a:pPr lvl="1"/>
            <a:r>
              <a:rPr lang="en-US">
                <a:ea typeface="+mn-lt"/>
                <a:cs typeface="+mn-lt"/>
              </a:rPr>
              <a:t>Integration with existing (and upcoming) technologies</a:t>
            </a:r>
          </a:p>
          <a:p>
            <a:pPr lvl="2"/>
            <a:r>
              <a:rPr lang="en-US">
                <a:ea typeface="+mn-lt"/>
                <a:cs typeface="+mn-lt"/>
              </a:rPr>
              <a:t>Research driving development; Integrating AI and Machine learning; IoT; Blockchain</a:t>
            </a:r>
          </a:p>
          <a:p>
            <a:pPr lvl="1"/>
            <a:r>
              <a:rPr lang="en-US">
                <a:ea typeface="+mn-lt"/>
                <a:cs typeface="+mn-lt"/>
              </a:rPr>
              <a:t>Cloud Computing and SaaS</a:t>
            </a:r>
          </a:p>
          <a:p>
            <a:pPr lvl="2"/>
            <a:r>
              <a:rPr lang="en-US">
                <a:ea typeface="+mn-lt"/>
                <a:cs typeface="+mn-lt"/>
              </a:rPr>
              <a:t>Scale dynamically based on demand; pay as you go models</a:t>
            </a:r>
          </a:p>
          <a:p>
            <a:pPr lvl="2"/>
            <a:r>
              <a:rPr lang="en-US">
                <a:ea typeface="+mn-lt"/>
                <a:cs typeface="+mn-lt"/>
              </a:rPr>
              <a:t>SaaS makes software accessible and usable on the web</a:t>
            </a:r>
            <a:endParaRPr lang="en-GB">
              <a:ea typeface="Calibri" panose="020F0502020204030204"/>
              <a:cs typeface="Calibri"/>
            </a:endParaRPr>
          </a:p>
          <a:p>
            <a:pPr lvl="1"/>
            <a:r>
              <a:rPr lang="en-GB">
                <a:ea typeface="Calibri" panose="020F0502020204030204"/>
                <a:cs typeface="Calibri"/>
              </a:rPr>
              <a:t>Cross Platform and Mobile-First Development</a:t>
            </a:r>
          </a:p>
          <a:p>
            <a:pPr lvl="2"/>
            <a:r>
              <a:rPr lang="en-GB">
                <a:ea typeface="Calibri" panose="020F0502020204030204"/>
                <a:cs typeface="Calibri"/>
              </a:rPr>
              <a:t>Software must work seamlessly across platforms (desktop, mobile, etc.)</a:t>
            </a:r>
          </a:p>
          <a:p>
            <a:pPr lvl="2"/>
            <a:r>
              <a:rPr lang="en-GB">
                <a:ea typeface="Calibri" panose="020F0502020204030204"/>
                <a:cs typeface="Calibri"/>
              </a:rPr>
              <a:t>Mobile-First with increasing use of smart phones</a:t>
            </a:r>
          </a:p>
          <a:p>
            <a:pPr lvl="1"/>
            <a:r>
              <a:rPr lang="en-GB">
                <a:ea typeface="Calibri" panose="020F0502020204030204"/>
                <a:cs typeface="Calibri"/>
              </a:rPr>
              <a:t>Security and Privacy – more ubiquitous also implies greater focus on security</a:t>
            </a:r>
          </a:p>
          <a:p>
            <a:pPr lvl="1"/>
            <a:r>
              <a:rPr lang="en-GB">
                <a:ea typeface="Calibri" panose="020F0502020204030204"/>
                <a:cs typeface="Calibri"/>
              </a:rPr>
              <a:t>Open Source and Community Driven development</a:t>
            </a:r>
          </a:p>
          <a:p>
            <a:pPr lvl="1"/>
            <a:r>
              <a:rPr lang="en-GB">
                <a:ea typeface="Calibri" panose="020F0502020204030204"/>
                <a:cs typeface="Calibri"/>
              </a:rPr>
              <a:t>Focus on Sustainability – questions have been raised on energy requirements in resource intensive systems like AI and Big Data</a:t>
            </a: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33</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751590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Implications of Changing Nature of Software</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949085"/>
          </a:xfrm>
        </p:spPr>
        <p:txBody>
          <a:bodyPr vert="horz" lIns="91440" tIns="45720" rIns="91440" bIns="45720" rtlCol="0" anchor="t">
            <a:normAutofit/>
          </a:bodyPr>
          <a:lstStyle/>
          <a:p>
            <a:r>
              <a:rPr lang="en-US">
                <a:ea typeface="+mn-lt"/>
                <a:cs typeface="+mn-lt"/>
              </a:rPr>
              <a:t>Some key implications:</a:t>
            </a:r>
          </a:p>
          <a:p>
            <a:pPr lvl="1"/>
            <a:r>
              <a:rPr lang="en-US">
                <a:ea typeface="+mn-lt"/>
                <a:cs typeface="+mn-lt"/>
              </a:rPr>
              <a:t>Continuous Learning: This is true now more than ever, with developers needing to stay updated with new tools, frameworks, paradigms</a:t>
            </a:r>
          </a:p>
          <a:p>
            <a:pPr lvl="1"/>
            <a:r>
              <a:rPr lang="en-US">
                <a:ea typeface="+mn-lt"/>
                <a:cs typeface="+mn-lt"/>
              </a:rPr>
              <a:t>Dynamic Requirements: Software Engineers must be adaptable to changing requirements and rapid advancements</a:t>
            </a:r>
          </a:p>
          <a:p>
            <a:pPr lvl="1"/>
            <a:r>
              <a:rPr lang="en-US">
                <a:ea typeface="+mn-lt"/>
                <a:cs typeface="+mn-lt"/>
              </a:rPr>
              <a:t>Shorter Lifecycles: Software solutions these days may have shorter relevance period, require regular updates and re-engineering</a:t>
            </a:r>
          </a:p>
          <a:p>
            <a:pPr lvl="1"/>
            <a:r>
              <a:rPr lang="en-US">
                <a:ea typeface="+mn-lt"/>
                <a:cs typeface="+mn-lt"/>
              </a:rPr>
              <a:t>Collaboration and Automation: Teams rely on collaborative tools and automation to keep pace with rapid changes</a:t>
            </a:r>
          </a:p>
          <a:p>
            <a:pPr lvl="1"/>
            <a:endParaRPr lang="en-US">
              <a:ea typeface="+mn-lt"/>
              <a:cs typeface="+mn-lt"/>
            </a:endParaRPr>
          </a:p>
          <a:p>
            <a:r>
              <a:rPr lang="en-US">
                <a:ea typeface="+mn-lt"/>
                <a:cs typeface="+mn-lt"/>
              </a:rPr>
              <a:t>The changing nature of software shows its key role in shaping and adapting itself to the technological and societal transformation.</a:t>
            </a: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34</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0974240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a:xfrm>
            <a:off x="838200" y="307975"/>
            <a:ext cx="10515600" cy="1325563"/>
          </a:xfrm>
        </p:spPr>
        <p:txBody>
          <a:bodyPr/>
          <a:lstStyle/>
          <a:p>
            <a:r>
              <a:rPr lang="en-GB">
                <a:cs typeface="Calibri Light"/>
              </a:rPr>
              <a:t>Software Myths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633173"/>
          </a:xfrm>
        </p:spPr>
        <p:txBody>
          <a:bodyPr vert="horz" lIns="91440" tIns="45720" rIns="91440" bIns="45720" rtlCol="0" anchor="t">
            <a:normAutofit/>
          </a:bodyPr>
          <a:lstStyle/>
          <a:p>
            <a:r>
              <a:rPr lang="en-US">
                <a:ea typeface="+mn-lt"/>
                <a:cs typeface="+mn-lt"/>
              </a:rPr>
              <a:t>Adding more developers will speed up the project (Reality: Adding more developers in an existing project will delay it – Brook’s Law)</a:t>
            </a:r>
          </a:p>
          <a:p>
            <a:r>
              <a:rPr lang="en-US">
                <a:ea typeface="+mn-lt"/>
                <a:cs typeface="+mn-lt"/>
              </a:rPr>
              <a:t>Once requirements are gathered, they won't change (Reality: Requirements can get impacted by new insights, change in business priorities, evolving technology)</a:t>
            </a:r>
          </a:p>
          <a:p>
            <a:r>
              <a:rPr lang="en-US">
                <a:ea typeface="+mn-lt"/>
                <a:cs typeface="+mn-lt"/>
              </a:rPr>
              <a:t>Outsourcing guarantees cost and time savings (Reality: Can introduce communication barriers, cultural differences, security issues)</a:t>
            </a:r>
          </a:p>
          <a:p>
            <a:r>
              <a:rPr lang="en-US">
                <a:ea typeface="+mn-lt"/>
                <a:cs typeface="+mn-lt"/>
              </a:rPr>
              <a:t>Customers know what they want</a:t>
            </a:r>
          </a:p>
          <a:p>
            <a:r>
              <a:rPr lang="en-US">
                <a:ea typeface="+mn-lt"/>
                <a:cs typeface="+mn-lt"/>
              </a:rPr>
              <a:t>Once software is delivered, work is done</a:t>
            </a:r>
          </a:p>
          <a:p>
            <a:r>
              <a:rPr lang="en-US">
                <a:ea typeface="+mn-lt"/>
                <a:cs typeface="+mn-lt"/>
              </a:rPr>
              <a:t>Adding more features will make the Software better</a:t>
            </a:r>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35</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2897895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a:xfrm>
            <a:off x="838200" y="307975"/>
            <a:ext cx="10515600" cy="1325563"/>
          </a:xfrm>
        </p:spPr>
        <p:txBody>
          <a:bodyPr/>
          <a:lstStyle/>
          <a:p>
            <a:r>
              <a:rPr lang="en-GB">
                <a:cs typeface="Calibri Light"/>
              </a:rPr>
              <a:t>Software Myths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633173"/>
          </a:xfrm>
        </p:spPr>
        <p:txBody>
          <a:bodyPr vert="horz" lIns="91440" tIns="45720" rIns="91440" bIns="45720" rtlCol="0" anchor="t">
            <a:normAutofit/>
          </a:bodyPr>
          <a:lstStyle/>
          <a:p>
            <a:r>
              <a:rPr lang="en-US">
                <a:ea typeface="+mn-lt"/>
                <a:cs typeface="+mn-lt"/>
              </a:rPr>
              <a:t>Developers can write the perfect code (Really?!!)</a:t>
            </a:r>
          </a:p>
          <a:p>
            <a:r>
              <a:rPr lang="en-GB">
                <a:ea typeface="Calibri" panose="020F0502020204030204"/>
                <a:cs typeface="Calibri"/>
              </a:rPr>
              <a:t>Documentation is unnecessary if the code is good</a:t>
            </a:r>
          </a:p>
          <a:p>
            <a:r>
              <a:rPr lang="en-GB">
                <a:ea typeface="Calibri" panose="020F0502020204030204"/>
                <a:cs typeface="Calibri"/>
              </a:rPr>
              <a:t>Only testers are responsible for quality</a:t>
            </a:r>
          </a:p>
          <a:p>
            <a:r>
              <a:rPr lang="en-GB">
                <a:ea typeface="Calibri" panose="020F0502020204030204"/>
                <a:cs typeface="Calibri"/>
              </a:rPr>
              <a:t>Automated testing can replace manual testing</a:t>
            </a:r>
          </a:p>
          <a:p>
            <a:r>
              <a:rPr lang="en-GB">
                <a:ea typeface="Calibri" panose="020F0502020204030204"/>
                <a:cs typeface="Calibri"/>
              </a:rPr>
              <a:t>New tools and technologies will solve all problems</a:t>
            </a:r>
          </a:p>
          <a:p>
            <a:r>
              <a:rPr lang="en-GB">
                <a:ea typeface="Calibri" panose="020F0502020204030204"/>
                <a:cs typeface="Calibri"/>
              </a:rPr>
              <a:t>Open source is always free and low-risk (though I always advocate open-source technology, it is helpful to remember that w</a:t>
            </a:r>
            <a:r>
              <a:rPr lang="en-US" err="1"/>
              <a:t>hile</a:t>
            </a:r>
            <a:r>
              <a:rPr lang="en-US"/>
              <a:t> open-source software has no licensing fees, it may require effort to integrate, customize, or support, and licensing terms must be reviewed)</a:t>
            </a:r>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36</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403272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Need for Software Engineering</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633173"/>
          </a:xfrm>
        </p:spPr>
        <p:txBody>
          <a:bodyPr vert="horz" lIns="91440" tIns="45720" rIns="91440" bIns="45720" rtlCol="0" anchor="t">
            <a:normAutofit/>
          </a:bodyPr>
          <a:lstStyle/>
          <a:p>
            <a:r>
              <a:rPr lang="en-US">
                <a:ea typeface="+mn-lt"/>
                <a:cs typeface="+mn-lt"/>
              </a:rPr>
              <a:t>By now (after seeing the broad scope, challenges, myths et. al.), I hope you appreciate the need for Software Engineering</a:t>
            </a:r>
          </a:p>
          <a:p>
            <a:r>
              <a:rPr lang="en-US">
                <a:ea typeface="+mn-lt"/>
                <a:cs typeface="+mn-lt"/>
              </a:rPr>
              <a:t>Software Engineering is needed:</a:t>
            </a:r>
          </a:p>
          <a:p>
            <a:pPr lvl="1"/>
            <a:r>
              <a:rPr lang="en-US">
                <a:ea typeface="+mn-lt"/>
                <a:cs typeface="+mn-lt"/>
              </a:rPr>
              <a:t>To predict time, effort, and cost</a:t>
            </a:r>
            <a:endParaRPr lang="en-US"/>
          </a:p>
          <a:p>
            <a:pPr lvl="1"/>
            <a:r>
              <a:rPr lang="en-US">
                <a:ea typeface="+mn-lt"/>
                <a:cs typeface="+mn-lt"/>
              </a:rPr>
              <a:t>To improve software quality</a:t>
            </a:r>
            <a:endParaRPr lang="en-US"/>
          </a:p>
          <a:p>
            <a:pPr lvl="1"/>
            <a:r>
              <a:rPr lang="en-US">
                <a:ea typeface="+mn-lt"/>
                <a:cs typeface="+mn-lt"/>
              </a:rPr>
              <a:t>To improve maintainability</a:t>
            </a:r>
            <a:endParaRPr lang="en-US"/>
          </a:p>
          <a:p>
            <a:pPr lvl="1"/>
            <a:r>
              <a:rPr lang="en-US">
                <a:ea typeface="+mn-lt"/>
                <a:cs typeface="+mn-lt"/>
              </a:rPr>
              <a:t>To meet increasing demands</a:t>
            </a:r>
            <a:endParaRPr lang="en-US"/>
          </a:p>
          <a:p>
            <a:pPr lvl="1"/>
            <a:r>
              <a:rPr lang="en-US">
                <a:ea typeface="+mn-lt"/>
                <a:cs typeface="+mn-lt"/>
              </a:rPr>
              <a:t>To lower software costs</a:t>
            </a:r>
          </a:p>
          <a:p>
            <a:pPr lvl="1"/>
            <a:r>
              <a:rPr lang="en-US">
                <a:ea typeface="+mn-lt"/>
                <a:cs typeface="+mn-lt"/>
              </a:rPr>
              <a:t>To successfully build large, complex software systems</a:t>
            </a:r>
            <a:endParaRPr lang="en-US"/>
          </a:p>
          <a:p>
            <a:pPr lvl="1"/>
            <a:r>
              <a:rPr lang="en-US">
                <a:ea typeface="+mn-lt"/>
                <a:cs typeface="+mn-lt"/>
              </a:rPr>
              <a:t>To facilitate group effort in developing software</a:t>
            </a: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37</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endParaRPr lang="en-US">
              <a:ea typeface="Calibri"/>
              <a:cs typeface="Calibri"/>
            </a:endParaRPr>
          </a:p>
        </p:txBody>
      </p:sp>
    </p:spTree>
    <p:extLst>
      <p:ext uri="{BB962C8B-B14F-4D97-AF65-F5344CB8AC3E}">
        <p14:creationId xmlns:p14="http://schemas.microsoft.com/office/powerpoint/2010/main" val="494443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Need for Software Engineering</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633173"/>
          </a:xfrm>
        </p:spPr>
        <p:txBody>
          <a:bodyPr vert="horz" lIns="91440" tIns="45720" rIns="91440" bIns="45720" rtlCol="0" anchor="t">
            <a:normAutofit/>
          </a:bodyPr>
          <a:lstStyle/>
          <a:p>
            <a:r>
              <a:rPr lang="en-US">
                <a:ea typeface="+mn-lt"/>
                <a:cs typeface="+mn-lt"/>
              </a:rPr>
              <a:t>A (drastic) example to drive the point home – when a software issue almost led the world to the brink of war. Two newspaper clippings from June 6th and June 9th, 1980</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38</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endParaRPr lang="en-US">
              <a:ea typeface="Calibri"/>
              <a:cs typeface="Calibri"/>
            </a:endParaRPr>
          </a:p>
        </p:txBody>
      </p:sp>
      <p:pic>
        <p:nvPicPr>
          <p:cNvPr id="4" name="Picture 3" descr="A white background with black text&#10;&#10;AI-generated content may be incorrect.">
            <a:extLst>
              <a:ext uri="{FF2B5EF4-FFF2-40B4-BE49-F238E27FC236}">
                <a16:creationId xmlns:a16="http://schemas.microsoft.com/office/drawing/2014/main" id="{AAAE65F8-CB5E-5E44-8237-CB362C02FDE1}"/>
              </a:ext>
            </a:extLst>
          </p:cNvPr>
          <p:cNvPicPr>
            <a:picLocks noChangeAspect="1"/>
          </p:cNvPicPr>
          <p:nvPr/>
        </p:nvPicPr>
        <p:blipFill>
          <a:blip r:embed="rId4"/>
          <a:stretch>
            <a:fillRect/>
          </a:stretch>
        </p:blipFill>
        <p:spPr>
          <a:xfrm>
            <a:off x="3658093" y="2676525"/>
            <a:ext cx="7934325" cy="1504950"/>
          </a:xfrm>
          <a:prstGeom prst="rect">
            <a:avLst/>
          </a:prstGeom>
        </p:spPr>
      </p:pic>
      <p:pic>
        <p:nvPicPr>
          <p:cNvPr id="5" name="Picture 4" descr="A close up of black text&#10;&#10;AI-generated content may be incorrect.">
            <a:extLst>
              <a:ext uri="{FF2B5EF4-FFF2-40B4-BE49-F238E27FC236}">
                <a16:creationId xmlns:a16="http://schemas.microsoft.com/office/drawing/2014/main" id="{6C9182A4-E6C3-956A-1A0A-7F6F4C748840}"/>
              </a:ext>
            </a:extLst>
          </p:cNvPr>
          <p:cNvPicPr>
            <a:picLocks noChangeAspect="1"/>
          </p:cNvPicPr>
          <p:nvPr/>
        </p:nvPicPr>
        <p:blipFill>
          <a:blip r:embed="rId5"/>
          <a:stretch>
            <a:fillRect/>
          </a:stretch>
        </p:blipFill>
        <p:spPr>
          <a:xfrm>
            <a:off x="3891455" y="4244864"/>
            <a:ext cx="7467600" cy="1276350"/>
          </a:xfrm>
          <a:prstGeom prst="rect">
            <a:avLst/>
          </a:prstGeom>
        </p:spPr>
      </p:pic>
      <p:sp>
        <p:nvSpPr>
          <p:cNvPr id="9" name="TextBox 8">
            <a:extLst>
              <a:ext uri="{FF2B5EF4-FFF2-40B4-BE49-F238E27FC236}">
                <a16:creationId xmlns:a16="http://schemas.microsoft.com/office/drawing/2014/main" id="{2549D611-6A96-24A1-9E62-1E703C25CCA3}"/>
              </a:ext>
            </a:extLst>
          </p:cNvPr>
          <p:cNvSpPr txBox="1"/>
          <p:nvPr/>
        </p:nvSpPr>
        <p:spPr>
          <a:xfrm>
            <a:off x="4004441" y="6040533"/>
            <a:ext cx="82751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Read Software Engineering: Principles and Practices, 3rd Ed., Hans Vans Vliet for more.</a:t>
            </a:r>
            <a:endParaRPr lang="en-US"/>
          </a:p>
        </p:txBody>
      </p:sp>
      <p:sp>
        <p:nvSpPr>
          <p:cNvPr id="10" name="TextBox 9">
            <a:extLst>
              <a:ext uri="{FF2B5EF4-FFF2-40B4-BE49-F238E27FC236}">
                <a16:creationId xmlns:a16="http://schemas.microsoft.com/office/drawing/2014/main" id="{44088D70-09D3-41E4-B629-A3CD5C2EFB82}"/>
              </a:ext>
            </a:extLst>
          </p:cNvPr>
          <p:cNvSpPr txBox="1"/>
          <p:nvPr/>
        </p:nvSpPr>
        <p:spPr>
          <a:xfrm>
            <a:off x="126124" y="3894083"/>
            <a:ext cx="2606218" cy="1754326"/>
          </a:xfrm>
          <a:prstGeom prst="rect">
            <a:avLst/>
          </a:prstGeom>
          <a:noFill/>
        </p:spPr>
        <p:txBody>
          <a:bodyPr wrap="square" rtlCol="0">
            <a:spAutoFit/>
          </a:bodyPr>
          <a:lstStyle/>
          <a:p>
            <a:r>
              <a:rPr lang="en-US"/>
              <a:t>Has anyone seen the 80s movie, </a:t>
            </a:r>
            <a:r>
              <a:rPr lang="en-US">
                <a:hlinkClick r:id="rId6"/>
              </a:rPr>
              <a:t>War Games</a:t>
            </a:r>
            <a:r>
              <a:rPr lang="en-US"/>
              <a:t>?</a:t>
            </a:r>
          </a:p>
          <a:p>
            <a:endParaRPr lang="en-US"/>
          </a:p>
          <a:p>
            <a:r>
              <a:rPr lang="en-US"/>
              <a:t>Which also reminds me, how about Kubrick’s </a:t>
            </a:r>
            <a:r>
              <a:rPr lang="en-US">
                <a:hlinkClick r:id="rId7"/>
              </a:rPr>
              <a:t>Dr. Strangelove</a:t>
            </a:r>
            <a:r>
              <a:rPr lang="en-US"/>
              <a:t>?</a:t>
            </a:r>
          </a:p>
        </p:txBody>
      </p:sp>
    </p:spTree>
    <p:extLst>
      <p:ext uri="{BB962C8B-B14F-4D97-AF65-F5344CB8AC3E}">
        <p14:creationId xmlns:p14="http://schemas.microsoft.com/office/powerpoint/2010/main" val="26177948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Software Engineering Ethics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633173"/>
          </a:xfrm>
        </p:spPr>
        <p:txBody>
          <a:bodyPr vert="horz" lIns="91440" tIns="45720" rIns="91440" bIns="45720" rtlCol="0" anchor="t">
            <a:normAutofit lnSpcReduction="10000"/>
          </a:bodyPr>
          <a:lstStyle/>
          <a:p>
            <a:r>
              <a:rPr lang="en-US" dirty="0">
                <a:ea typeface="+mn-lt"/>
                <a:cs typeface="+mn-lt"/>
              </a:rPr>
              <a:t>Areas where acceptable behavior might not be bound by laws, but instead by the tenuous notion of professional responsibility</a:t>
            </a:r>
          </a:p>
          <a:p>
            <a:pPr lvl="1"/>
            <a:r>
              <a:rPr lang="en-US" dirty="0">
                <a:ea typeface="+mn-lt"/>
                <a:cs typeface="+mn-lt"/>
              </a:rPr>
              <a:t>Confidentiality: Respect confidentiality of employer and client whether or not a formal agreement has been signed</a:t>
            </a:r>
          </a:p>
          <a:p>
            <a:pPr lvl="1"/>
            <a:r>
              <a:rPr lang="en-US" dirty="0">
                <a:ea typeface="+mn-lt"/>
                <a:cs typeface="+mn-lt"/>
              </a:rPr>
              <a:t>Competence: Don't misrepresent competence, don't accept work outside your level of competence</a:t>
            </a:r>
          </a:p>
          <a:p>
            <a:pPr lvl="1"/>
            <a:r>
              <a:rPr lang="en-US" dirty="0">
                <a:ea typeface="+mn-lt"/>
                <a:cs typeface="+mn-lt"/>
              </a:rPr>
              <a:t>IPR: IP of employers and clients must be protected</a:t>
            </a:r>
          </a:p>
          <a:p>
            <a:pPr lvl="1"/>
            <a:r>
              <a:rPr lang="en-US" dirty="0">
                <a:ea typeface="+mn-lt"/>
                <a:cs typeface="+mn-lt"/>
              </a:rPr>
              <a:t>Computer misuse: Don't use your skills to misuse other's computers/ systems</a:t>
            </a:r>
          </a:p>
          <a:p>
            <a:r>
              <a:rPr lang="en-US" dirty="0">
                <a:ea typeface="+mn-lt"/>
                <a:cs typeface="+mn-lt"/>
              </a:rPr>
              <a:t>Organizations like ACM and IEEE have cooperated to produce a joint code of ethics and professional practice</a:t>
            </a:r>
          </a:p>
          <a:p>
            <a:r>
              <a:rPr lang="en-US" dirty="0">
                <a:ea typeface="+mn-lt"/>
                <a:cs typeface="+mn-lt"/>
              </a:rPr>
              <a:t>Refer Software Engineering, Ian Sommerville, 10th Edition, Page 28, for more</a:t>
            </a:r>
            <a:endParaRPr lang="en-US" dirty="0">
              <a:ea typeface="Calibri"/>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39</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6761047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Phases of Software Engineering (Process)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633173"/>
          </a:xfrm>
        </p:spPr>
        <p:txBody>
          <a:bodyPr vert="horz" lIns="91440" tIns="45720" rIns="91440" bIns="45720" rtlCol="0" anchor="t">
            <a:normAutofit/>
          </a:bodyPr>
          <a:lstStyle/>
          <a:p>
            <a:r>
              <a:rPr lang="en-US" dirty="0">
                <a:ea typeface="+mn-lt"/>
                <a:cs typeface="+mn-lt"/>
              </a:rPr>
              <a:t>Process falls roughly under these stages:</a:t>
            </a:r>
          </a:p>
          <a:p>
            <a:pPr lvl="1"/>
            <a:r>
              <a:rPr lang="en-US" dirty="0">
                <a:ea typeface="+mn-lt"/>
                <a:cs typeface="+mn-lt"/>
              </a:rPr>
              <a:t>Definition: What?</a:t>
            </a:r>
            <a:endParaRPr lang="en-US" dirty="0">
              <a:ea typeface="Calibri"/>
              <a:cs typeface="Calibri"/>
            </a:endParaRPr>
          </a:p>
          <a:p>
            <a:pPr lvl="1"/>
            <a:r>
              <a:rPr lang="en-US" dirty="0">
                <a:ea typeface="+mn-lt"/>
                <a:cs typeface="+mn-lt"/>
              </a:rPr>
              <a:t>Development: How?</a:t>
            </a:r>
            <a:endParaRPr lang="en-US" dirty="0">
              <a:ea typeface="Calibri"/>
              <a:cs typeface="Calibri"/>
            </a:endParaRPr>
          </a:p>
          <a:p>
            <a:pPr lvl="1"/>
            <a:r>
              <a:rPr lang="en-US" dirty="0">
                <a:ea typeface="+mn-lt"/>
                <a:cs typeface="+mn-lt"/>
              </a:rPr>
              <a:t>Maintenance: Managing change (bugs, new requirements).</a:t>
            </a:r>
            <a:endParaRPr lang="en-US" dirty="0">
              <a:ea typeface="Calibri"/>
              <a:cs typeface="Calibri"/>
            </a:endParaRPr>
          </a:p>
          <a:p>
            <a:pPr lvl="1"/>
            <a:r>
              <a:rPr lang="en-US" dirty="0">
                <a:ea typeface="+mn-lt"/>
                <a:cs typeface="+mn-lt"/>
              </a:rPr>
              <a:t>Umbrella Activities: Throughout lifecycle (tracking progress, managing resources, managing documentation, reviews, measuring metrics, etc.)</a:t>
            </a:r>
            <a:endParaRPr lang="en-US" dirty="0">
              <a:ea typeface="Calibri"/>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40</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2348182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GB">
                <a:cs typeface="Calibri Light"/>
              </a:rPr>
              <a:t>Software Process</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41</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604424"/>
            <a:ext cx="10515600" cy="4710771"/>
          </a:xfrm>
        </p:spPr>
        <p:txBody>
          <a:bodyPr vert="horz" lIns="91440" tIns="45720" rIns="91440" bIns="45720" rtlCol="0" anchor="t">
            <a:normAutofit/>
          </a:bodyPr>
          <a:lstStyle/>
          <a:p>
            <a:r>
              <a:rPr lang="en-US">
                <a:ea typeface="+mn-lt"/>
                <a:cs typeface="+mn-lt"/>
              </a:rPr>
              <a:t>The systematic approach that is used in software engineering is sometimes called a software process. Four fundamental activities are common to all software processes:</a:t>
            </a:r>
          </a:p>
          <a:p>
            <a:pPr marL="0" indent="0">
              <a:buNone/>
            </a:pPr>
            <a:endParaRPr lang="en-US">
              <a:ea typeface="Calibri" panose="020F0502020204030204"/>
              <a:cs typeface="Calibri" panose="020F0502020204030204"/>
            </a:endParaRPr>
          </a:p>
          <a:p>
            <a:pPr marL="914400" lvl="1" indent="-457200">
              <a:buAutoNum type="arabicPeriod"/>
            </a:pPr>
            <a:r>
              <a:rPr lang="en-US" b="1">
                <a:ea typeface="+mn-lt"/>
                <a:cs typeface="+mn-lt"/>
              </a:rPr>
              <a:t>Software specification</a:t>
            </a:r>
            <a:r>
              <a:rPr lang="en-US">
                <a:ea typeface="+mn-lt"/>
                <a:cs typeface="+mn-lt"/>
              </a:rPr>
              <a:t>, where customers and engineers define the software that is to be produced and the constraints on its operation</a:t>
            </a:r>
            <a:endParaRPr lang="en-US">
              <a:ea typeface="Calibri" panose="020F0502020204030204"/>
              <a:cs typeface="Calibri" panose="020F0502020204030204"/>
            </a:endParaRPr>
          </a:p>
          <a:p>
            <a:pPr marL="914400" lvl="1" indent="-457200">
              <a:buAutoNum type="arabicPeriod"/>
            </a:pPr>
            <a:r>
              <a:rPr lang="en-US" b="1">
                <a:ea typeface="+mn-lt"/>
                <a:cs typeface="+mn-lt"/>
              </a:rPr>
              <a:t>Software development</a:t>
            </a:r>
            <a:r>
              <a:rPr lang="en-US">
                <a:ea typeface="+mn-lt"/>
                <a:cs typeface="+mn-lt"/>
              </a:rPr>
              <a:t>, where the software is designed and programmed</a:t>
            </a:r>
            <a:endParaRPr lang="en-US">
              <a:ea typeface="Calibri"/>
              <a:cs typeface="Calibri"/>
            </a:endParaRPr>
          </a:p>
          <a:p>
            <a:pPr marL="914400" lvl="1" indent="-457200">
              <a:buAutoNum type="arabicPeriod"/>
            </a:pPr>
            <a:r>
              <a:rPr lang="en-US" b="1">
                <a:ea typeface="+mn-lt"/>
                <a:cs typeface="+mn-lt"/>
              </a:rPr>
              <a:t>Software validation</a:t>
            </a:r>
            <a:r>
              <a:rPr lang="en-US">
                <a:ea typeface="+mn-lt"/>
                <a:cs typeface="+mn-lt"/>
              </a:rPr>
              <a:t>, where the software is checked to ensure that it is what the customer requires</a:t>
            </a:r>
            <a:endParaRPr lang="en-US">
              <a:ea typeface="Calibri" panose="020F0502020204030204"/>
              <a:cs typeface="Calibri" panose="020F0502020204030204"/>
            </a:endParaRPr>
          </a:p>
          <a:p>
            <a:pPr marL="914400" lvl="1" indent="-457200">
              <a:buAutoNum type="arabicPeriod"/>
            </a:pPr>
            <a:r>
              <a:rPr lang="en-US" b="1">
                <a:ea typeface="+mn-lt"/>
                <a:cs typeface="+mn-lt"/>
              </a:rPr>
              <a:t>Software evolution</a:t>
            </a:r>
            <a:r>
              <a:rPr lang="en-US">
                <a:ea typeface="+mn-lt"/>
                <a:cs typeface="+mn-lt"/>
              </a:rPr>
              <a:t>, where the software is modified to reflect changing customer and market requirements</a:t>
            </a:r>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p:txBody>
      </p:sp>
      <p:sp>
        <p:nvSpPr>
          <p:cNvPr id="3" name="TextBox 2">
            <a:extLst>
              <a:ext uri="{FF2B5EF4-FFF2-40B4-BE49-F238E27FC236}">
                <a16:creationId xmlns:a16="http://schemas.microsoft.com/office/drawing/2014/main" id="{EEDF15CA-5FEA-48DF-A953-ACE8805579CB}"/>
              </a:ext>
            </a:extLst>
          </p:cNvPr>
          <p:cNvSpPr txBox="1"/>
          <p:nvPr/>
        </p:nvSpPr>
        <p:spPr>
          <a:xfrm>
            <a:off x="8381796" y="5945863"/>
            <a:ext cx="3752194" cy="369332"/>
          </a:xfrm>
          <a:prstGeom prst="rect">
            <a:avLst/>
          </a:prstGeom>
          <a:noFill/>
        </p:spPr>
        <p:txBody>
          <a:bodyPr wrap="square" rtlCol="0">
            <a:spAutoFit/>
          </a:bodyPr>
          <a:lstStyle/>
          <a:p>
            <a:r>
              <a:rPr lang="en-US"/>
              <a:t>Ian Sommerville, 10</a:t>
            </a:r>
            <a:r>
              <a:rPr lang="en-US" baseline="30000"/>
              <a:t>th</a:t>
            </a:r>
            <a:r>
              <a:rPr lang="en-US"/>
              <a:t> Ed.</a:t>
            </a:r>
          </a:p>
        </p:txBody>
      </p:sp>
    </p:spTree>
    <p:extLst>
      <p:ext uri="{BB962C8B-B14F-4D97-AF65-F5344CB8AC3E}">
        <p14:creationId xmlns:p14="http://schemas.microsoft.com/office/powerpoint/2010/main" val="16425976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119977"/>
            <a:ext cx="10515600" cy="1325563"/>
          </a:xfrm>
        </p:spPr>
        <p:txBody>
          <a:bodyPr>
            <a:normAutofit/>
          </a:bodyPr>
          <a:lstStyle/>
          <a:p>
            <a:r>
              <a:rPr lang="en-GB">
                <a:cs typeface="Calibri Light"/>
              </a:rPr>
              <a:t>Software Process</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42</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604424"/>
            <a:ext cx="10515600" cy="4710771"/>
          </a:xfrm>
        </p:spPr>
        <p:txBody>
          <a:bodyPr vert="horz" lIns="91440" tIns="45720" rIns="91440" bIns="45720" rtlCol="0" anchor="t">
            <a:normAutofit/>
          </a:bodyPr>
          <a:lstStyle/>
          <a:p>
            <a:pPr marL="0" indent="0">
              <a:buNone/>
            </a:pPr>
            <a:endParaRPr lang="en-US">
              <a:ea typeface="Calibri"/>
              <a:cs typeface="Calibri"/>
            </a:endParaRPr>
          </a:p>
          <a:p>
            <a:endParaRPr lang="en-US">
              <a:ea typeface="Calibri"/>
              <a:cs typeface="Calibri"/>
            </a:endParaRPr>
          </a:p>
          <a:p>
            <a:endParaRPr lang="en-US">
              <a:ea typeface="Calibri"/>
              <a:cs typeface="Calibri"/>
            </a:endParaRPr>
          </a:p>
        </p:txBody>
      </p:sp>
      <p:sp>
        <p:nvSpPr>
          <p:cNvPr id="5" name="TextBox 4">
            <a:extLst>
              <a:ext uri="{FF2B5EF4-FFF2-40B4-BE49-F238E27FC236}">
                <a16:creationId xmlns:a16="http://schemas.microsoft.com/office/drawing/2014/main" id="{9BC9069B-9E6A-408B-96AD-6DAEEC085453}"/>
              </a:ext>
            </a:extLst>
          </p:cNvPr>
          <p:cNvSpPr txBox="1"/>
          <p:nvPr/>
        </p:nvSpPr>
        <p:spPr>
          <a:xfrm>
            <a:off x="252248" y="3113529"/>
            <a:ext cx="11669109" cy="1785104"/>
          </a:xfrm>
          <a:prstGeom prst="rect">
            <a:avLst/>
          </a:prstGeom>
          <a:solidFill>
            <a:schemeClr val="accent1">
              <a:lumMod val="60000"/>
              <a:lumOff val="40000"/>
            </a:schemeClr>
          </a:solidFill>
        </p:spPr>
        <p:txBody>
          <a:bodyPr wrap="square" lIns="91440" tIns="45720" rIns="91440" bIns="45720" rtlCol="0" anchor="t">
            <a:spAutoFit/>
          </a:bodyPr>
          <a:lstStyle/>
          <a:p>
            <a:pPr algn="ctr"/>
            <a:r>
              <a:rPr lang="en-US" sz="2200" b="1" u="sng" dirty="0"/>
              <a:t>:Design Phase:</a:t>
            </a:r>
          </a:p>
          <a:p>
            <a:r>
              <a:rPr lang="en-US" sz="2200" b="1" u="sng" dirty="0"/>
              <a:t>Software Design:</a:t>
            </a:r>
            <a:endParaRPr lang="en-US" sz="2200" b="1" u="sng" dirty="0">
              <a:ea typeface="Calibri"/>
              <a:cs typeface="Calibri"/>
            </a:endParaRPr>
          </a:p>
          <a:p>
            <a:r>
              <a:rPr lang="en-US" sz="2200" dirty="0"/>
              <a:t>High-level Design – Define modular components (classes, interfaces), Define data structures</a:t>
            </a:r>
            <a:endParaRPr lang="en-US" sz="2200" dirty="0">
              <a:ea typeface="Calibri"/>
              <a:cs typeface="Calibri"/>
            </a:endParaRPr>
          </a:p>
          <a:p>
            <a:r>
              <a:rPr lang="en-US" sz="2200" dirty="0"/>
              <a:t>Detailed Design – how reach component works internally (functions/ interfaces, etc.), tables designed, Algorithm and logic design, sequence and interaction design, constraints</a:t>
            </a:r>
            <a:endParaRPr lang="en-US" sz="2200" dirty="0">
              <a:ea typeface="Calibri"/>
              <a:cs typeface="Calibri"/>
            </a:endParaRPr>
          </a:p>
        </p:txBody>
      </p:sp>
      <p:sp>
        <p:nvSpPr>
          <p:cNvPr id="9" name="TextBox 8">
            <a:extLst>
              <a:ext uri="{FF2B5EF4-FFF2-40B4-BE49-F238E27FC236}">
                <a16:creationId xmlns:a16="http://schemas.microsoft.com/office/drawing/2014/main" id="{EED49F78-60A0-4435-BD3E-CA3412050AC2}"/>
              </a:ext>
            </a:extLst>
          </p:cNvPr>
          <p:cNvSpPr txBox="1"/>
          <p:nvPr/>
        </p:nvSpPr>
        <p:spPr>
          <a:xfrm>
            <a:off x="252248" y="905906"/>
            <a:ext cx="11669109" cy="2123658"/>
          </a:xfrm>
          <a:prstGeom prst="rect">
            <a:avLst/>
          </a:prstGeom>
          <a:solidFill>
            <a:schemeClr val="accent1">
              <a:lumMod val="60000"/>
              <a:lumOff val="40000"/>
            </a:schemeClr>
          </a:solidFill>
        </p:spPr>
        <p:txBody>
          <a:bodyPr wrap="square" rtlCol="0">
            <a:spAutoFit/>
          </a:bodyPr>
          <a:lstStyle/>
          <a:p>
            <a:pPr algn="ctr"/>
            <a:r>
              <a:rPr lang="en-US" sz="2200" b="1" u="sng"/>
              <a:t>:Definition Phase: (Specification)</a:t>
            </a:r>
          </a:p>
          <a:p>
            <a:r>
              <a:rPr lang="en-US" sz="2200" b="1" u="sng"/>
              <a:t>Requirements Definition and Analysis:</a:t>
            </a:r>
          </a:p>
          <a:p>
            <a:r>
              <a:rPr lang="en-US" sz="2200" b="1"/>
              <a:t>Developer must understand</a:t>
            </a:r>
            <a:r>
              <a:rPr lang="en-US" sz="2200"/>
              <a:t> – Application Domain, Required Functionality, Required Performance, User Interface  (might require one or several meetings with client)</a:t>
            </a:r>
          </a:p>
          <a:p>
            <a:r>
              <a:rPr lang="en-US" sz="2200" b="1"/>
              <a:t>Project Planning</a:t>
            </a:r>
            <a:r>
              <a:rPr lang="en-US" sz="2200"/>
              <a:t> – Allocate resources, Estimate costs, Define work tasks, Define schedule</a:t>
            </a:r>
          </a:p>
          <a:p>
            <a:r>
              <a:rPr lang="en-US" sz="2200" b="1"/>
              <a:t>System Analysis</a:t>
            </a:r>
            <a:r>
              <a:rPr lang="en-US" sz="2200"/>
              <a:t> – Allocate system resources to hardware, software, users, etc.</a:t>
            </a:r>
          </a:p>
        </p:txBody>
      </p:sp>
      <p:sp>
        <p:nvSpPr>
          <p:cNvPr id="10" name="TextBox 9">
            <a:extLst>
              <a:ext uri="{FF2B5EF4-FFF2-40B4-BE49-F238E27FC236}">
                <a16:creationId xmlns:a16="http://schemas.microsoft.com/office/drawing/2014/main" id="{94353C05-5356-4AEB-A317-96BFA0363D42}"/>
              </a:ext>
            </a:extLst>
          </p:cNvPr>
          <p:cNvSpPr txBox="1"/>
          <p:nvPr/>
        </p:nvSpPr>
        <p:spPr>
          <a:xfrm>
            <a:off x="270641" y="4982598"/>
            <a:ext cx="11650716" cy="1785104"/>
          </a:xfrm>
          <a:prstGeom prst="rect">
            <a:avLst/>
          </a:prstGeom>
          <a:solidFill>
            <a:schemeClr val="accent1">
              <a:lumMod val="60000"/>
              <a:lumOff val="40000"/>
            </a:schemeClr>
          </a:solidFill>
        </p:spPr>
        <p:txBody>
          <a:bodyPr wrap="square" rtlCol="0">
            <a:spAutoFit/>
          </a:bodyPr>
          <a:lstStyle/>
          <a:p>
            <a:pPr algn="ctr"/>
            <a:r>
              <a:rPr lang="en-US" sz="2200" b="1" u="sng"/>
              <a:t>:Development Phase:</a:t>
            </a:r>
          </a:p>
          <a:p>
            <a:r>
              <a:rPr lang="en-US" sz="2200" b="1" u="sng"/>
              <a:t>Coding:</a:t>
            </a:r>
            <a:endParaRPr lang="en-US" sz="2200"/>
          </a:p>
          <a:p>
            <a:r>
              <a:rPr lang="en-US" sz="2200"/>
              <a:t>Develop code for each module, Unit Testing</a:t>
            </a:r>
          </a:p>
          <a:p>
            <a:r>
              <a:rPr lang="en-US" sz="2200" b="1" u="sng"/>
              <a:t>Integration:</a:t>
            </a:r>
          </a:p>
          <a:p>
            <a:r>
              <a:rPr lang="en-US" sz="2200"/>
              <a:t>Combine modules, System Testing</a:t>
            </a:r>
          </a:p>
        </p:txBody>
      </p:sp>
    </p:spTree>
    <p:extLst>
      <p:ext uri="{BB962C8B-B14F-4D97-AF65-F5344CB8AC3E}">
        <p14:creationId xmlns:p14="http://schemas.microsoft.com/office/powerpoint/2010/main" val="15107429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119977"/>
            <a:ext cx="10515600" cy="1325563"/>
          </a:xfrm>
        </p:spPr>
        <p:txBody>
          <a:bodyPr>
            <a:normAutofit/>
          </a:bodyPr>
          <a:lstStyle/>
          <a:p>
            <a:r>
              <a:rPr lang="en-GB">
                <a:cs typeface="Calibri Light"/>
              </a:rPr>
              <a:t>Software Process</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43</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604424"/>
            <a:ext cx="10515600" cy="4710771"/>
          </a:xfrm>
        </p:spPr>
        <p:txBody>
          <a:bodyPr vert="horz" lIns="91440" tIns="45720" rIns="91440" bIns="45720" rtlCol="0" anchor="t">
            <a:normAutofit/>
          </a:bodyPr>
          <a:lstStyle/>
          <a:p>
            <a:pPr marL="0" indent="0">
              <a:buNone/>
            </a:pPr>
            <a:endParaRPr lang="en-US">
              <a:ea typeface="Calibri"/>
              <a:cs typeface="Calibri"/>
            </a:endParaRPr>
          </a:p>
          <a:p>
            <a:endParaRPr lang="en-US">
              <a:ea typeface="Calibri"/>
              <a:cs typeface="Calibri"/>
            </a:endParaRPr>
          </a:p>
          <a:p>
            <a:endParaRPr lang="en-US">
              <a:ea typeface="Calibri"/>
              <a:cs typeface="Calibri"/>
            </a:endParaRPr>
          </a:p>
        </p:txBody>
      </p:sp>
      <p:sp>
        <p:nvSpPr>
          <p:cNvPr id="5" name="TextBox 4">
            <a:extLst>
              <a:ext uri="{FF2B5EF4-FFF2-40B4-BE49-F238E27FC236}">
                <a16:creationId xmlns:a16="http://schemas.microsoft.com/office/drawing/2014/main" id="{9BC9069B-9E6A-408B-96AD-6DAEEC085453}"/>
              </a:ext>
            </a:extLst>
          </p:cNvPr>
          <p:cNvSpPr txBox="1"/>
          <p:nvPr/>
        </p:nvSpPr>
        <p:spPr>
          <a:xfrm>
            <a:off x="270640" y="2569299"/>
            <a:ext cx="11650717" cy="1785104"/>
          </a:xfrm>
          <a:prstGeom prst="rect">
            <a:avLst/>
          </a:prstGeom>
          <a:solidFill>
            <a:schemeClr val="accent1">
              <a:lumMod val="60000"/>
              <a:lumOff val="40000"/>
            </a:schemeClr>
          </a:solidFill>
        </p:spPr>
        <p:txBody>
          <a:bodyPr wrap="square" lIns="91440" tIns="45720" rIns="91440" bIns="45720" rtlCol="0" anchor="t">
            <a:spAutoFit/>
          </a:bodyPr>
          <a:lstStyle/>
          <a:p>
            <a:pPr algn="ctr"/>
            <a:r>
              <a:rPr lang="en-US" sz="2200" b="1" u="sng" dirty="0"/>
              <a:t>:Software Evolution: (Maintenance)</a:t>
            </a:r>
          </a:p>
          <a:p>
            <a:r>
              <a:rPr lang="en-US" sz="2200" dirty="0"/>
              <a:t>Correction – Fix Software defects</a:t>
            </a:r>
            <a:endParaRPr lang="en-US" sz="2200" dirty="0">
              <a:ea typeface="Calibri"/>
              <a:cs typeface="Calibri"/>
            </a:endParaRPr>
          </a:p>
          <a:p>
            <a:r>
              <a:rPr lang="en-US" sz="2200" dirty="0"/>
              <a:t>Adaptation – Accommodate changes and new features (and new company policy)</a:t>
            </a:r>
            <a:endParaRPr lang="en-US" sz="2200" dirty="0">
              <a:ea typeface="Calibri"/>
              <a:cs typeface="Calibri"/>
            </a:endParaRPr>
          </a:p>
          <a:p>
            <a:r>
              <a:rPr lang="en-US" sz="2200" dirty="0"/>
              <a:t>Enhancements – new features</a:t>
            </a:r>
            <a:endParaRPr lang="en-US" sz="2200" dirty="0">
              <a:ea typeface="Calibri"/>
              <a:cs typeface="Calibri"/>
            </a:endParaRPr>
          </a:p>
          <a:p>
            <a:r>
              <a:rPr lang="en-US" sz="2200" dirty="0"/>
              <a:t>Prevention – Identify areas to improve software and make it more maintainable</a:t>
            </a:r>
          </a:p>
        </p:txBody>
      </p:sp>
      <p:sp>
        <p:nvSpPr>
          <p:cNvPr id="9" name="TextBox 8">
            <a:extLst>
              <a:ext uri="{FF2B5EF4-FFF2-40B4-BE49-F238E27FC236}">
                <a16:creationId xmlns:a16="http://schemas.microsoft.com/office/drawing/2014/main" id="{EED49F78-60A0-4435-BD3E-CA3412050AC2}"/>
              </a:ext>
            </a:extLst>
          </p:cNvPr>
          <p:cNvSpPr txBox="1"/>
          <p:nvPr/>
        </p:nvSpPr>
        <p:spPr>
          <a:xfrm>
            <a:off x="270640" y="905906"/>
            <a:ext cx="11650717" cy="1446550"/>
          </a:xfrm>
          <a:prstGeom prst="rect">
            <a:avLst/>
          </a:prstGeom>
          <a:solidFill>
            <a:schemeClr val="accent1">
              <a:lumMod val="60000"/>
              <a:lumOff val="40000"/>
            </a:schemeClr>
          </a:solidFill>
        </p:spPr>
        <p:txBody>
          <a:bodyPr wrap="square" rtlCol="0">
            <a:spAutoFit/>
          </a:bodyPr>
          <a:lstStyle/>
          <a:p>
            <a:pPr algn="ctr"/>
            <a:r>
              <a:rPr lang="en-US" sz="2200" b="1" u="sng"/>
              <a:t>:Validation:</a:t>
            </a:r>
          </a:p>
          <a:p>
            <a:r>
              <a:rPr lang="en-US" sz="2200"/>
              <a:t>Requirements Analysis and Test Case development, Test Case Execution and Defect Tracking</a:t>
            </a:r>
          </a:p>
          <a:p>
            <a:r>
              <a:rPr lang="en-US" sz="2200" b="1" u="sng"/>
              <a:t>Types</a:t>
            </a:r>
            <a:r>
              <a:rPr lang="en-US" sz="2200"/>
              <a:t> - System Integration Testing (how software interacts with other software); User Acceptance Testing (tests if it works as per user req.); Quality Assurance Testing (meets quality standards)</a:t>
            </a:r>
          </a:p>
        </p:txBody>
      </p:sp>
      <p:sp>
        <p:nvSpPr>
          <p:cNvPr id="10" name="TextBox 9">
            <a:extLst>
              <a:ext uri="{FF2B5EF4-FFF2-40B4-BE49-F238E27FC236}">
                <a16:creationId xmlns:a16="http://schemas.microsoft.com/office/drawing/2014/main" id="{EA9BDB7A-8579-4AF9-BC15-81E44FD530F7}"/>
              </a:ext>
            </a:extLst>
          </p:cNvPr>
          <p:cNvSpPr txBox="1"/>
          <p:nvPr/>
        </p:nvSpPr>
        <p:spPr>
          <a:xfrm>
            <a:off x="270640" y="4571246"/>
            <a:ext cx="11669109" cy="1785104"/>
          </a:xfrm>
          <a:prstGeom prst="rect">
            <a:avLst/>
          </a:prstGeom>
          <a:solidFill>
            <a:schemeClr val="accent1">
              <a:lumMod val="60000"/>
              <a:lumOff val="40000"/>
            </a:schemeClr>
          </a:solidFill>
        </p:spPr>
        <p:txBody>
          <a:bodyPr wrap="square" lIns="91440" tIns="45720" rIns="91440" bIns="45720" rtlCol="0" anchor="t">
            <a:spAutoFit/>
          </a:bodyPr>
          <a:lstStyle/>
          <a:p>
            <a:pPr algn="ctr"/>
            <a:r>
              <a:rPr lang="en-US" sz="2200" b="1" u="sng" dirty="0"/>
              <a:t>:Umbrella Activities:</a:t>
            </a:r>
          </a:p>
          <a:p>
            <a:r>
              <a:rPr lang="en-US" sz="2200" dirty="0"/>
              <a:t>Reviews – Assure Quality (Documents review, Code review, etc.)</a:t>
            </a:r>
            <a:endParaRPr lang="en-US" sz="2200" dirty="0">
              <a:ea typeface="Calibri"/>
              <a:cs typeface="Calibri"/>
            </a:endParaRPr>
          </a:p>
          <a:p>
            <a:r>
              <a:rPr lang="en-US" sz="2200" dirty="0"/>
              <a:t>Documentation – Improves communication across teams and maintainability</a:t>
            </a:r>
            <a:endParaRPr lang="en-US" sz="2200" dirty="0">
              <a:ea typeface="Calibri"/>
              <a:cs typeface="Calibri"/>
            </a:endParaRPr>
          </a:p>
          <a:p>
            <a:r>
              <a:rPr lang="en-US" sz="2200" dirty="0"/>
              <a:t>Version Control – Track changes</a:t>
            </a:r>
            <a:endParaRPr lang="en-US" sz="2200" dirty="0">
              <a:ea typeface="Calibri"/>
              <a:cs typeface="Calibri"/>
            </a:endParaRPr>
          </a:p>
          <a:p>
            <a:r>
              <a:rPr lang="en-US" sz="2200" dirty="0"/>
              <a:t>Configuration Management – track of various versions and associated documentation</a:t>
            </a:r>
          </a:p>
        </p:txBody>
      </p:sp>
    </p:spTree>
    <p:extLst>
      <p:ext uri="{BB962C8B-B14F-4D97-AF65-F5344CB8AC3E}">
        <p14:creationId xmlns:p14="http://schemas.microsoft.com/office/powerpoint/2010/main" val="14970568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process&#10;&#10;AI-generated content may be incorrect.">
            <a:extLst>
              <a:ext uri="{FF2B5EF4-FFF2-40B4-BE49-F238E27FC236}">
                <a16:creationId xmlns:a16="http://schemas.microsoft.com/office/drawing/2014/main" id="{2267F00D-1DF1-EA96-D152-FF490806829C}"/>
              </a:ext>
            </a:extLst>
          </p:cNvPr>
          <p:cNvPicPr>
            <a:picLocks noChangeAspect="1"/>
          </p:cNvPicPr>
          <p:nvPr/>
        </p:nvPicPr>
        <p:blipFill>
          <a:blip r:embed="rId3"/>
          <a:stretch>
            <a:fillRect/>
          </a:stretch>
        </p:blipFill>
        <p:spPr>
          <a:xfrm>
            <a:off x="4040688" y="229122"/>
            <a:ext cx="5029200" cy="6629400"/>
          </a:xfrm>
          <a:prstGeom prst="rect">
            <a:avLst/>
          </a:prstGeom>
        </p:spPr>
      </p:pic>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GB">
                <a:cs typeface="Calibri Light"/>
              </a:rPr>
              <a:t>Software Process</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44</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768116"/>
            <a:ext cx="10515600" cy="4710771"/>
          </a:xfrm>
        </p:spPr>
        <p:txBody>
          <a:bodyPr vert="horz" lIns="91440" tIns="45720" rIns="91440" bIns="45720" rtlCol="0" anchor="t">
            <a:normAutofit/>
          </a:bodyPr>
          <a:lstStyle/>
          <a:p>
            <a:pPr marL="0" indent="0">
              <a:buNone/>
            </a:pPr>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a:ea typeface="Calibri" panose="020F0502020204030204"/>
              <a:cs typeface="Calibri" panose="020F0502020204030204"/>
            </a:endParaRPr>
          </a:p>
        </p:txBody>
      </p:sp>
      <p:sp>
        <p:nvSpPr>
          <p:cNvPr id="9" name="TextBox 8">
            <a:extLst>
              <a:ext uri="{FF2B5EF4-FFF2-40B4-BE49-F238E27FC236}">
                <a16:creationId xmlns:a16="http://schemas.microsoft.com/office/drawing/2014/main" id="{EB0D02B1-F8CB-491B-8698-7833F897D1D1}"/>
              </a:ext>
            </a:extLst>
          </p:cNvPr>
          <p:cNvSpPr txBox="1"/>
          <p:nvPr/>
        </p:nvSpPr>
        <p:spPr>
          <a:xfrm>
            <a:off x="8610600" y="5993413"/>
            <a:ext cx="3752194" cy="369332"/>
          </a:xfrm>
          <a:prstGeom prst="rect">
            <a:avLst/>
          </a:prstGeom>
          <a:noFill/>
        </p:spPr>
        <p:txBody>
          <a:bodyPr wrap="square" rtlCol="0">
            <a:spAutoFit/>
          </a:bodyPr>
          <a:lstStyle/>
          <a:p>
            <a:r>
              <a:rPr lang="en-US"/>
              <a:t>Hans Van Vliet, 3rd Ed.</a:t>
            </a:r>
          </a:p>
        </p:txBody>
      </p:sp>
    </p:spTree>
    <p:extLst>
      <p:ext uri="{BB962C8B-B14F-4D97-AF65-F5344CB8AC3E}">
        <p14:creationId xmlns:p14="http://schemas.microsoft.com/office/powerpoint/2010/main" val="39287915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GB">
                <a:cs typeface="Calibri Light"/>
              </a:rPr>
              <a:t>Issues that affect Software process</a:t>
            </a:r>
            <a:endParaRPr lang="en-GB">
              <a:ea typeface="Calibri Light"/>
              <a:cs typeface="Calibri Light"/>
            </a:endParaRPr>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45</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768116"/>
            <a:ext cx="10515600" cy="4710771"/>
          </a:xfrm>
        </p:spPr>
        <p:txBody>
          <a:bodyPr vert="horz" lIns="91440" tIns="45720" rIns="91440" bIns="45720" rtlCol="0" anchor="t">
            <a:normAutofit/>
          </a:bodyPr>
          <a:lstStyle/>
          <a:p>
            <a:r>
              <a:rPr lang="en-US">
                <a:ea typeface="Calibri" panose="020F0502020204030204"/>
                <a:cs typeface="Calibri" panose="020F0502020204030204"/>
              </a:rPr>
              <a:t>Many different types of software, no universal method for software engineering, however, following four issues can affect software, and software development:</a:t>
            </a:r>
          </a:p>
          <a:p>
            <a:pPr marL="0" indent="0">
              <a:buNone/>
            </a:pPr>
            <a:endParaRPr lang="en-US">
              <a:ea typeface="Calibri" panose="020F0502020204030204"/>
              <a:cs typeface="Calibri" panose="020F0502020204030204"/>
            </a:endParaRPr>
          </a:p>
          <a:p>
            <a:pPr lvl="1">
              <a:buAutoNum type="arabicPeriod"/>
            </a:pPr>
            <a:r>
              <a:rPr lang="en-US">
                <a:ea typeface="Calibri" panose="020F0502020204030204"/>
                <a:cs typeface="Calibri" panose="020F0502020204030204"/>
              </a:rPr>
              <a:t>Heterogeneity: Where the software must operate, off late software is expected to operate in a distributed fashion across various device types</a:t>
            </a:r>
          </a:p>
          <a:p>
            <a:pPr lvl="1">
              <a:buAutoNum type="arabicPeriod"/>
            </a:pPr>
            <a:r>
              <a:rPr lang="en-US">
                <a:ea typeface="Calibri" panose="020F0502020204030204"/>
                <a:cs typeface="Calibri" panose="020F0502020204030204"/>
              </a:rPr>
              <a:t>Business and Social Change: Business requirements change over time, software should be able to accommodate it</a:t>
            </a:r>
          </a:p>
          <a:p>
            <a:pPr lvl="1">
              <a:buAutoNum type="arabicPeriod"/>
            </a:pPr>
            <a:r>
              <a:rPr lang="en-US">
                <a:ea typeface="Calibri" panose="020F0502020204030204"/>
                <a:cs typeface="Calibri" panose="020F0502020204030204"/>
              </a:rPr>
              <a:t>Security and Trust: The more software becomes a part of our lives, the more software security and trust become important parameters to consider</a:t>
            </a:r>
          </a:p>
          <a:p>
            <a:pPr lvl="1">
              <a:buAutoNum type="arabicPeriod"/>
            </a:pPr>
            <a:r>
              <a:rPr lang="en-US">
                <a:ea typeface="Calibri" panose="020F0502020204030204"/>
                <a:cs typeface="Calibri" panose="020F0502020204030204"/>
              </a:rPr>
              <a:t>Scale: Software should serve an individual, a group, or a entire nation</a:t>
            </a:r>
          </a:p>
          <a:p>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a:ea typeface="Calibri" panose="020F0502020204030204"/>
              <a:cs typeface="Calibri" panose="020F0502020204030204"/>
            </a:endParaRPr>
          </a:p>
        </p:txBody>
      </p:sp>
    </p:spTree>
    <p:extLst>
      <p:ext uri="{BB962C8B-B14F-4D97-AF65-F5344CB8AC3E}">
        <p14:creationId xmlns:p14="http://schemas.microsoft.com/office/powerpoint/2010/main" val="2022427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GB">
                <a:cs typeface="Calibri Light"/>
              </a:rPr>
              <a:t>Application Types</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46</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437040"/>
            <a:ext cx="10515600" cy="4710771"/>
          </a:xfrm>
        </p:spPr>
        <p:txBody>
          <a:bodyPr vert="horz" lIns="91440" tIns="45720" rIns="91440" bIns="45720" rtlCol="0" anchor="t">
            <a:normAutofit/>
          </a:bodyPr>
          <a:lstStyle/>
          <a:p>
            <a:r>
              <a:rPr lang="en-US" dirty="0">
                <a:ea typeface="Calibri" panose="020F0502020204030204"/>
                <a:cs typeface="Calibri" panose="020F0502020204030204"/>
              </a:rPr>
              <a:t>Perhaps the most significant factor in determining the type of software engineering method applied is the type of application:</a:t>
            </a:r>
          </a:p>
          <a:p>
            <a:pPr marL="0" indent="0">
              <a:buNone/>
            </a:pPr>
            <a:endParaRPr lang="en-US">
              <a:ea typeface="Calibri" panose="020F0502020204030204"/>
              <a:cs typeface="Calibri" panose="020F0502020204030204"/>
            </a:endParaRPr>
          </a:p>
          <a:p>
            <a:pPr lvl="1"/>
            <a:r>
              <a:rPr lang="en-US" dirty="0">
                <a:ea typeface="Calibri" panose="020F0502020204030204"/>
                <a:cs typeface="Calibri" panose="020F0502020204030204"/>
              </a:rPr>
              <a:t>Stand-alone applications</a:t>
            </a:r>
          </a:p>
          <a:p>
            <a:pPr lvl="1"/>
            <a:r>
              <a:rPr lang="en-US" dirty="0">
                <a:ea typeface="Calibri" panose="020F0502020204030204"/>
                <a:cs typeface="Calibri" panose="020F0502020204030204"/>
              </a:rPr>
              <a:t>Interactive transaction-based applications</a:t>
            </a:r>
          </a:p>
          <a:p>
            <a:pPr lvl="1"/>
            <a:r>
              <a:rPr lang="en-US" dirty="0">
                <a:ea typeface="Calibri" panose="020F0502020204030204"/>
                <a:cs typeface="Calibri" panose="020F0502020204030204"/>
              </a:rPr>
              <a:t>Embedded Control Systems</a:t>
            </a:r>
          </a:p>
          <a:p>
            <a:pPr lvl="1"/>
            <a:r>
              <a:rPr lang="en-US" dirty="0">
                <a:ea typeface="Calibri" panose="020F0502020204030204"/>
                <a:cs typeface="Calibri" panose="020F0502020204030204"/>
              </a:rPr>
              <a:t>Batch processing systems</a:t>
            </a:r>
          </a:p>
          <a:p>
            <a:pPr lvl="1"/>
            <a:r>
              <a:rPr lang="en-US" dirty="0">
                <a:ea typeface="Calibri" panose="020F0502020204030204"/>
                <a:cs typeface="Calibri" panose="020F0502020204030204"/>
              </a:rPr>
              <a:t>Entertainment systems</a:t>
            </a:r>
          </a:p>
          <a:p>
            <a:pPr lvl="1"/>
            <a:r>
              <a:rPr lang="en-US" dirty="0">
                <a:ea typeface="Calibri" panose="020F0502020204030204"/>
                <a:cs typeface="Calibri" panose="020F0502020204030204"/>
              </a:rPr>
              <a:t>Systems for modelling and simulation</a:t>
            </a:r>
          </a:p>
          <a:p>
            <a:pPr lvl="1"/>
            <a:r>
              <a:rPr lang="en-US" dirty="0">
                <a:ea typeface="Calibri" panose="020F0502020204030204"/>
                <a:cs typeface="Calibri" panose="020F0502020204030204"/>
              </a:rPr>
              <a:t>Data collection systems</a:t>
            </a:r>
            <a:endParaRPr lang="en-US" sz="2800" dirty="0">
              <a:ea typeface="Calibri" panose="020F0502020204030204"/>
              <a:cs typeface="Calibri" panose="020F0502020204030204"/>
            </a:endParaRPr>
          </a:p>
          <a:p>
            <a:pPr lvl="1"/>
            <a:r>
              <a:rPr lang="en-US" dirty="0">
                <a:ea typeface="Calibri" panose="020F0502020204030204"/>
                <a:cs typeface="Calibri" panose="020F0502020204030204"/>
              </a:rPr>
              <a:t>System of systems</a:t>
            </a:r>
          </a:p>
          <a:p>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a:ea typeface="Calibri" panose="020F0502020204030204"/>
              <a:cs typeface="Calibri" panose="020F0502020204030204"/>
            </a:endParaRPr>
          </a:p>
        </p:txBody>
      </p:sp>
    </p:spTree>
    <p:extLst>
      <p:ext uri="{BB962C8B-B14F-4D97-AF65-F5344CB8AC3E}">
        <p14:creationId xmlns:p14="http://schemas.microsoft.com/office/powerpoint/2010/main" val="30926686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5CE-4472-7C1F-30FF-BD40A31E7229}"/>
              </a:ext>
            </a:extLst>
          </p:cNvPr>
          <p:cNvSpPr>
            <a:spLocks noGrp="1"/>
          </p:cNvSpPr>
          <p:nvPr>
            <p:ph type="title"/>
          </p:nvPr>
        </p:nvSpPr>
        <p:spPr>
          <a:xfrm>
            <a:off x="838200" y="278861"/>
            <a:ext cx="10515600" cy="1325563"/>
          </a:xfrm>
        </p:spPr>
        <p:txBody>
          <a:bodyPr>
            <a:normAutofit/>
          </a:bodyPr>
          <a:lstStyle/>
          <a:p>
            <a:r>
              <a:rPr lang="en-GB">
                <a:cs typeface="Calibri Light"/>
              </a:rPr>
              <a:t>Software Engineering Fundamentals</a:t>
            </a:r>
            <a:endParaRPr lang="en-US"/>
          </a:p>
        </p:txBody>
      </p:sp>
      <p:pic>
        <p:nvPicPr>
          <p:cNvPr id="6" name="Picture 5" descr="A black and white logo&#10;&#10;Description automatically generated">
            <a:extLst>
              <a:ext uri="{FF2B5EF4-FFF2-40B4-BE49-F238E27FC236}">
                <a16:creationId xmlns:a16="http://schemas.microsoft.com/office/drawing/2014/main" id="{003D2E7A-D968-3013-9E20-2A2C85D40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ACC80A3-F19E-C683-67EA-52B3F53F64DD}"/>
              </a:ext>
            </a:extLst>
          </p:cNvPr>
          <p:cNvSpPr>
            <a:spLocks noGrp="1"/>
          </p:cNvSpPr>
          <p:nvPr>
            <p:ph type="sldNum" sz="quarter" idx="12"/>
          </p:nvPr>
        </p:nvSpPr>
        <p:spPr/>
        <p:txBody>
          <a:bodyPr/>
          <a:lstStyle/>
          <a:p>
            <a:fld id="{008559AE-1842-40A5-A2A9-0518F39FD1A9}" type="slidenum">
              <a:rPr lang="en-US" smtClean="0"/>
              <a:t>47</a:t>
            </a:fld>
            <a:endParaRPr lang="en-GB"/>
          </a:p>
        </p:txBody>
      </p:sp>
      <p:sp>
        <p:nvSpPr>
          <p:cNvPr id="7" name="Footer Placeholder 6">
            <a:extLst>
              <a:ext uri="{FF2B5EF4-FFF2-40B4-BE49-F238E27FC236}">
                <a16:creationId xmlns:a16="http://schemas.microsoft.com/office/drawing/2014/main" id="{6371CA56-B820-8241-48F3-7E3D4B65ABFA}"/>
              </a:ext>
            </a:extLst>
          </p:cNvPr>
          <p:cNvSpPr>
            <a:spLocks noGrp="1"/>
          </p:cNvSpPr>
          <p:nvPr>
            <p:ph type="ftr" sz="quarter" idx="11"/>
          </p:nvPr>
        </p:nvSpPr>
        <p:spPr/>
        <p:txBody>
          <a:bodyPr/>
          <a:lstStyle/>
          <a:p>
            <a:r>
              <a:rPr lang="en-US"/>
              <a:t>Software Engineering</a:t>
            </a:r>
            <a:endParaRPr lang="en-US">
              <a:ea typeface="Calibri"/>
              <a:cs typeface="Calibri"/>
            </a:endParaRPr>
          </a:p>
        </p:txBody>
      </p:sp>
      <p:sp>
        <p:nvSpPr>
          <p:cNvPr id="4" name="Content Placeholder 3">
            <a:extLst>
              <a:ext uri="{FF2B5EF4-FFF2-40B4-BE49-F238E27FC236}">
                <a16:creationId xmlns:a16="http://schemas.microsoft.com/office/drawing/2014/main" id="{2E764C1F-989C-4491-AAF6-D9B5FCAAD213}"/>
              </a:ext>
            </a:extLst>
          </p:cNvPr>
          <p:cNvSpPr>
            <a:spLocks noGrp="1"/>
          </p:cNvSpPr>
          <p:nvPr>
            <p:ph idx="1"/>
          </p:nvPr>
        </p:nvSpPr>
        <p:spPr>
          <a:xfrm>
            <a:off x="838200" y="1768116"/>
            <a:ext cx="10515600" cy="4710771"/>
          </a:xfrm>
        </p:spPr>
        <p:txBody>
          <a:bodyPr vert="horz" lIns="91440" tIns="45720" rIns="91440" bIns="45720" rtlCol="0" anchor="t">
            <a:normAutofit/>
          </a:bodyPr>
          <a:lstStyle/>
          <a:p>
            <a:r>
              <a:rPr lang="en-US">
                <a:ea typeface="Calibri" panose="020F0502020204030204"/>
                <a:cs typeface="Calibri" panose="020F0502020204030204"/>
              </a:rPr>
              <a:t>Some </a:t>
            </a:r>
            <a:r>
              <a:rPr lang="en-US" b="1">
                <a:ea typeface="Calibri" panose="020F0502020204030204"/>
                <a:cs typeface="Calibri" panose="020F0502020204030204"/>
              </a:rPr>
              <a:t>fundamental principles</a:t>
            </a:r>
            <a:r>
              <a:rPr lang="en-US">
                <a:ea typeface="Calibri" panose="020F0502020204030204"/>
                <a:cs typeface="Calibri" panose="020F0502020204030204"/>
              </a:rPr>
              <a:t> apply to all types of Software system, irrespective of the development techniques used:</a:t>
            </a:r>
          </a:p>
          <a:p>
            <a:pPr marL="0" indent="0">
              <a:buNone/>
            </a:pPr>
            <a:endParaRPr lang="en-US">
              <a:ea typeface="Calibri" panose="020F0502020204030204"/>
              <a:cs typeface="Calibri" panose="020F0502020204030204"/>
            </a:endParaRPr>
          </a:p>
          <a:p>
            <a:pPr lvl="1"/>
            <a:r>
              <a:rPr lang="en-US">
                <a:ea typeface="Calibri" panose="020F0502020204030204"/>
                <a:cs typeface="Calibri" panose="020F0502020204030204"/>
              </a:rPr>
              <a:t>Systems should be developed using a </a:t>
            </a:r>
            <a:r>
              <a:rPr lang="en-US" b="1">
                <a:ea typeface="Calibri" panose="020F0502020204030204"/>
                <a:cs typeface="Calibri" panose="020F0502020204030204"/>
              </a:rPr>
              <a:t>managed and understood development process</a:t>
            </a:r>
            <a:r>
              <a:rPr lang="en-US">
                <a:ea typeface="Calibri" panose="020F0502020204030204"/>
                <a:cs typeface="Calibri" panose="020F0502020204030204"/>
              </a:rPr>
              <a:t>. Of course, different types of processes are used for different types of software</a:t>
            </a:r>
          </a:p>
          <a:p>
            <a:pPr lvl="1"/>
            <a:r>
              <a:rPr lang="en-US" b="1">
                <a:ea typeface="Calibri" panose="020F0502020204030204"/>
                <a:cs typeface="Calibri" panose="020F0502020204030204"/>
              </a:rPr>
              <a:t>Dependability and performance</a:t>
            </a:r>
            <a:r>
              <a:rPr lang="en-US">
                <a:ea typeface="Calibri" panose="020F0502020204030204"/>
                <a:cs typeface="Calibri" panose="020F0502020204030204"/>
              </a:rPr>
              <a:t> are important for all types of system</a:t>
            </a:r>
          </a:p>
          <a:p>
            <a:pPr lvl="1"/>
            <a:r>
              <a:rPr lang="en-US">
                <a:ea typeface="Calibri" panose="020F0502020204030204"/>
                <a:cs typeface="Calibri" panose="020F0502020204030204"/>
              </a:rPr>
              <a:t>Understanding and managing the </a:t>
            </a:r>
            <a:r>
              <a:rPr lang="en-US" b="1">
                <a:ea typeface="Calibri" panose="020F0502020204030204"/>
                <a:cs typeface="Calibri" panose="020F0502020204030204"/>
              </a:rPr>
              <a:t>software specification and requirements</a:t>
            </a:r>
            <a:r>
              <a:rPr lang="en-US">
                <a:ea typeface="Calibri" panose="020F0502020204030204"/>
                <a:cs typeface="Calibri" panose="020F0502020204030204"/>
              </a:rPr>
              <a:t> (what the software should do) are important</a:t>
            </a:r>
          </a:p>
          <a:p>
            <a:pPr lvl="1"/>
            <a:r>
              <a:rPr lang="en-US">
                <a:ea typeface="Calibri" panose="020F0502020204030204"/>
                <a:cs typeface="Calibri" panose="020F0502020204030204"/>
              </a:rPr>
              <a:t>When appropriate, you should </a:t>
            </a:r>
            <a:r>
              <a:rPr lang="en-US" b="1">
                <a:ea typeface="Calibri" panose="020F0502020204030204"/>
                <a:cs typeface="Calibri" panose="020F0502020204030204"/>
              </a:rPr>
              <a:t>reuse software</a:t>
            </a:r>
            <a:r>
              <a:rPr lang="en-US">
                <a:ea typeface="Calibri" panose="020F0502020204030204"/>
                <a:cs typeface="Calibri" panose="020F0502020204030204"/>
              </a:rPr>
              <a:t> that has already been developed rather than write new software</a:t>
            </a:r>
          </a:p>
          <a:p>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a:ea typeface="Calibri" panose="020F0502020204030204"/>
              <a:cs typeface="Calibri" panose="020F0502020204030204"/>
            </a:endParaRPr>
          </a:p>
        </p:txBody>
      </p:sp>
    </p:spTree>
    <p:extLst>
      <p:ext uri="{BB962C8B-B14F-4D97-AF65-F5344CB8AC3E}">
        <p14:creationId xmlns:p14="http://schemas.microsoft.com/office/powerpoint/2010/main" val="6632227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Case study 1 – Insulin pump control system</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633173"/>
          </a:xfrm>
        </p:spPr>
        <p:txBody>
          <a:bodyPr vert="horz" lIns="91440" tIns="45720" rIns="91440" bIns="45720" rtlCol="0" anchor="t">
            <a:normAutofit/>
          </a:bodyPr>
          <a:lstStyle/>
          <a:p>
            <a:r>
              <a:rPr lang="en-US">
                <a:ea typeface="Calibri" panose="020F0502020204030204"/>
                <a:cs typeface="Calibri"/>
              </a:rPr>
              <a:t>This is an Embedded Control System – Software Controls a hardware device and is embedded (stored in permanent memory) inside the device</a:t>
            </a:r>
          </a:p>
          <a:p>
            <a:r>
              <a:rPr lang="en-US">
                <a:ea typeface="Calibri" panose="020F0502020204030204"/>
                <a:cs typeface="Calibri"/>
              </a:rPr>
              <a:t>Important factors in general embedded systems:</a:t>
            </a:r>
          </a:p>
          <a:p>
            <a:pPr lvl="1"/>
            <a:r>
              <a:rPr lang="en-US">
                <a:ea typeface="Calibri" panose="020F0502020204030204"/>
                <a:cs typeface="Calibri"/>
              </a:rPr>
              <a:t>Size: Cannot to too large, since memory limited</a:t>
            </a:r>
          </a:p>
          <a:p>
            <a:pPr lvl="1"/>
            <a:r>
              <a:rPr lang="en-US">
                <a:ea typeface="Calibri" panose="020F0502020204030204"/>
                <a:cs typeface="Calibri"/>
              </a:rPr>
              <a:t>Responsiveness: Since it is interacting with a user via a physical device, must be fast / real time (Ex: Command to display turn right on display should not happen after the lane/ road has passed by)</a:t>
            </a:r>
          </a:p>
          <a:p>
            <a:pPr lvl="1"/>
            <a:r>
              <a:rPr lang="en-US">
                <a:ea typeface="Calibri" panose="020F0502020204030204"/>
                <a:cs typeface="Calibri"/>
              </a:rPr>
              <a:t>Power Management: Many a device run on battery, and in that case, power should be managed efficiently (Ex: In a sensor node that sends indoor temp. readings, better send data less frequently to save radio transmissions and battery)</a:t>
            </a:r>
          </a:p>
          <a:p>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48</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6272418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Case study 1 – Insulin pump control system</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633173"/>
          </a:xfrm>
        </p:spPr>
        <p:txBody>
          <a:bodyPr vert="horz" lIns="91440" tIns="45720" rIns="91440" bIns="45720" rtlCol="0" anchor="t">
            <a:normAutofit/>
          </a:bodyPr>
          <a:lstStyle/>
          <a:p>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pPr marL="0" indent="0">
              <a:buNone/>
            </a:pPr>
            <a:r>
              <a:rPr lang="en-US">
                <a:ea typeface="Calibri" panose="020F0502020204030204"/>
                <a:cs typeface="Calibri"/>
              </a:rPr>
              <a:t>                                         Hardware Architecture</a:t>
            </a:r>
          </a:p>
          <a:p>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49</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4" name="Picture 3" descr="A diagram of a system&#10;&#10;AI-generated content may be incorrect.">
            <a:extLst>
              <a:ext uri="{FF2B5EF4-FFF2-40B4-BE49-F238E27FC236}">
                <a16:creationId xmlns:a16="http://schemas.microsoft.com/office/drawing/2014/main" id="{DCEBF19A-2D9A-F22D-3290-02D2A75BED96}"/>
              </a:ext>
            </a:extLst>
          </p:cNvPr>
          <p:cNvPicPr>
            <a:picLocks noChangeAspect="1"/>
          </p:cNvPicPr>
          <p:nvPr/>
        </p:nvPicPr>
        <p:blipFill>
          <a:blip r:embed="rId4"/>
          <a:stretch>
            <a:fillRect/>
          </a:stretch>
        </p:blipFill>
        <p:spPr>
          <a:xfrm>
            <a:off x="3052082" y="1347107"/>
            <a:ext cx="7067550" cy="4163786"/>
          </a:xfrm>
          <a:prstGeom prst="rect">
            <a:avLst/>
          </a:prstGeom>
        </p:spPr>
      </p:pic>
    </p:spTree>
    <p:extLst>
      <p:ext uri="{BB962C8B-B14F-4D97-AF65-F5344CB8AC3E}">
        <p14:creationId xmlns:p14="http://schemas.microsoft.com/office/powerpoint/2010/main" val="35383984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Case study 1 – Insulin pump control system</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633173"/>
          </a:xfrm>
        </p:spPr>
        <p:txBody>
          <a:bodyPr vert="horz" lIns="91440" tIns="45720" rIns="91440" bIns="45720" rtlCol="0" anchor="t">
            <a:normAutofit/>
          </a:bodyPr>
          <a:lstStyle/>
          <a:p>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pPr marL="0" indent="0">
              <a:buNone/>
            </a:pPr>
            <a:r>
              <a:rPr lang="en-US">
                <a:ea typeface="Calibri" panose="020F0502020204030204"/>
                <a:cs typeface="Calibri"/>
              </a:rPr>
              <a:t>                                              Activity Diagram</a:t>
            </a:r>
          </a:p>
          <a:p>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50</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5" name="Picture 4" descr="A diagram of a blood sugar test&#10;&#10;AI-generated content may be incorrect.">
            <a:extLst>
              <a:ext uri="{FF2B5EF4-FFF2-40B4-BE49-F238E27FC236}">
                <a16:creationId xmlns:a16="http://schemas.microsoft.com/office/drawing/2014/main" id="{395F1C7C-9EF3-9F1B-90C1-F56E3D39AD36}"/>
              </a:ext>
            </a:extLst>
          </p:cNvPr>
          <p:cNvPicPr>
            <a:picLocks noChangeAspect="1"/>
          </p:cNvPicPr>
          <p:nvPr/>
        </p:nvPicPr>
        <p:blipFill>
          <a:blip r:embed="rId4"/>
          <a:stretch>
            <a:fillRect/>
          </a:stretch>
        </p:blipFill>
        <p:spPr>
          <a:xfrm>
            <a:off x="1066800" y="1681163"/>
            <a:ext cx="10058400" cy="3495675"/>
          </a:xfrm>
          <a:prstGeom prst="rect">
            <a:avLst/>
          </a:prstGeom>
        </p:spPr>
      </p:pic>
    </p:spTree>
    <p:extLst>
      <p:ext uri="{BB962C8B-B14F-4D97-AF65-F5344CB8AC3E}">
        <p14:creationId xmlns:p14="http://schemas.microsoft.com/office/powerpoint/2010/main" val="36981925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Case study 1 – Insulin pump control system</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633173"/>
          </a:xfrm>
        </p:spPr>
        <p:txBody>
          <a:bodyPr vert="horz" lIns="91440" tIns="45720" rIns="91440" bIns="45720" rtlCol="0" anchor="t">
            <a:normAutofit lnSpcReduction="10000"/>
          </a:bodyPr>
          <a:lstStyle/>
          <a:p>
            <a:r>
              <a:rPr lang="en-US">
                <a:ea typeface="Calibri" panose="020F0502020204030204"/>
                <a:cs typeface="Calibri"/>
              </a:rPr>
              <a:t>Important factors to consider here:</a:t>
            </a:r>
            <a:endParaRPr lang="en-US"/>
          </a:p>
          <a:p>
            <a:pPr lvl="1"/>
            <a:r>
              <a:rPr lang="en-US">
                <a:ea typeface="Calibri" panose="020F0502020204030204"/>
                <a:cs typeface="Calibri"/>
              </a:rPr>
              <a:t>Size: Cannot to too large, since memory limited</a:t>
            </a:r>
          </a:p>
          <a:p>
            <a:pPr lvl="1"/>
            <a:r>
              <a:rPr lang="en-US">
                <a:ea typeface="Calibri" panose="020F0502020204030204"/>
                <a:cs typeface="Calibri"/>
              </a:rPr>
              <a:t>Responsiveness: Time between sensor reading and trigger of insulin minimal</a:t>
            </a:r>
          </a:p>
          <a:p>
            <a:pPr lvl="1"/>
            <a:r>
              <a:rPr lang="en-US">
                <a:ea typeface="Calibri" panose="020F0502020204030204"/>
                <a:cs typeface="Calibri"/>
              </a:rPr>
              <a:t>Availability: Should be monitoring round the clock</a:t>
            </a:r>
          </a:p>
          <a:p>
            <a:pPr lvl="1"/>
            <a:r>
              <a:rPr lang="en-US">
                <a:ea typeface="Calibri" panose="020F0502020204030204"/>
                <a:cs typeface="Calibri"/>
              </a:rPr>
              <a:t>Power Management: Cumbersome to change battery so should use less power</a:t>
            </a:r>
          </a:p>
          <a:p>
            <a:pPr lvl="1"/>
            <a:r>
              <a:rPr lang="en-US">
                <a:ea typeface="Calibri" panose="020F0502020204030204"/>
                <a:cs typeface="Calibri"/>
              </a:rPr>
              <a:t>Reliability: System should make accurate readings</a:t>
            </a:r>
          </a:p>
          <a:p>
            <a:r>
              <a:rPr lang="en-US">
                <a:ea typeface="Calibri" panose="020F0502020204030204"/>
                <a:cs typeface="Calibri"/>
              </a:rPr>
              <a:t>High level requirements:</a:t>
            </a:r>
          </a:p>
          <a:p>
            <a:pPr lvl="1"/>
            <a:r>
              <a:rPr lang="en-US">
                <a:ea typeface="+mn-lt"/>
                <a:cs typeface="+mn-lt"/>
              </a:rPr>
              <a:t>The system shall be available to deliver insulin when required</a:t>
            </a:r>
          </a:p>
          <a:p>
            <a:pPr lvl="1"/>
            <a:r>
              <a:rPr lang="en-US">
                <a:ea typeface="+mn-lt"/>
                <a:cs typeface="+mn-lt"/>
              </a:rPr>
              <a:t>The system shall perform reliably and deliver the correct amount of insulin to counteract the current level of blood sugar</a:t>
            </a:r>
          </a:p>
          <a:p>
            <a:pPr lvl="1"/>
            <a:r>
              <a:rPr lang="en-US">
                <a:ea typeface="+mn-lt"/>
                <a:cs typeface="+mn-lt"/>
              </a:rPr>
              <a:t>And more….</a:t>
            </a:r>
            <a:endParaRPr lang="en-US">
              <a:ea typeface="Calibri" panose="020F0502020204030204"/>
              <a:cs typeface="Calibri" panose="020F0502020204030204"/>
            </a:endParaRPr>
          </a:p>
          <a:p>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51</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323382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Case study 2 – A patient information system for mental health care</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a:ea typeface="Calibri" panose="020F0502020204030204"/>
                <a:cs typeface="Calibri"/>
              </a:rPr>
              <a:t>Homework</a:t>
            </a:r>
          </a:p>
          <a:p>
            <a:r>
              <a:rPr lang="en-US">
                <a:ea typeface="Calibri" panose="020F0502020204030204"/>
                <a:cs typeface="Calibri"/>
              </a:rPr>
              <a:t>Refer Ian Sommerville, Software Engineering. 10th Ed. Page 34</a:t>
            </a:r>
          </a:p>
          <a:p>
            <a:r>
              <a:rPr lang="en-US">
                <a:ea typeface="Calibri" panose="020F0502020204030204"/>
                <a:cs typeface="Calibri"/>
              </a:rPr>
              <a:t>Read description, and list down key factors and high-level requirements of the system</a:t>
            </a:r>
          </a:p>
          <a:p>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52</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3534006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Case study 3 – A wilderness weather station</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a:ea typeface="Calibri" panose="020F0502020204030204"/>
                <a:cs typeface="Calibri"/>
              </a:rPr>
              <a:t>Classwork</a:t>
            </a:r>
          </a:p>
          <a:p>
            <a:r>
              <a:rPr lang="en-US">
                <a:ea typeface="Calibri" panose="020F0502020204030204"/>
                <a:cs typeface="Calibri"/>
              </a:rPr>
              <a:t>Role play – Mimic the people involved and the artefacts needed throughout the entire software lifecycle towards delivery of efficient working product</a:t>
            </a:r>
            <a:endParaRPr lang="en-US"/>
          </a:p>
          <a:p>
            <a:r>
              <a:rPr lang="en-US">
                <a:ea typeface="Calibri" panose="020F0502020204030204"/>
                <a:cs typeface="Calibri"/>
              </a:rPr>
              <a:t>Will be taken up in an upcoming class</a:t>
            </a:r>
          </a:p>
          <a:p>
            <a:endParaRPr lang="en-US">
              <a:ea typeface="Calibri" panose="020F0502020204030204"/>
              <a:cs typeface="Calibri"/>
            </a:endParaRP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53</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585465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ea typeface="Calibri Light"/>
                <a:cs typeface="Calibri Light"/>
              </a:rPr>
              <a:t> </a:t>
            </a:r>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633173"/>
          </a:xfrm>
        </p:spPr>
        <p:txBody>
          <a:bodyPr vert="horz" lIns="91440" tIns="45720" rIns="91440" bIns="45720" rtlCol="0" anchor="t">
            <a:normAutofit/>
          </a:bodyPr>
          <a:lstStyle/>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r>
              <a:rPr lang="en-US" sz="5400">
                <a:ea typeface="Calibri" panose="020F0502020204030204"/>
                <a:cs typeface="Calibri" panose="020F0502020204030204"/>
              </a:rPr>
              <a:t>Thank you!</a:t>
            </a: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54</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3994428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1834713A0238B47A82B49BB61910BB7" ma:contentTypeVersion="4" ma:contentTypeDescription="Create a new document." ma:contentTypeScope="" ma:versionID="6d4706a53c2ea577fa6530616b401942">
  <xsd:schema xmlns:xsd="http://www.w3.org/2001/XMLSchema" xmlns:xs="http://www.w3.org/2001/XMLSchema" xmlns:p="http://schemas.microsoft.com/office/2006/metadata/properties" xmlns:ns3="5036cfa6-d0e1-4902-a771-3c3912700344" targetNamespace="http://schemas.microsoft.com/office/2006/metadata/properties" ma:root="true" ma:fieldsID="a1d272197f808f89f8a24a3fbeb7e316" ns3:_="">
    <xsd:import namespace="5036cfa6-d0e1-4902-a771-3c39127003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6cfa6-d0e1-4902-a771-3c39127003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2CE482-82E1-495F-A096-31F88599D290}">
  <ds:schemaRefs>
    <ds:schemaRef ds:uri="5036cfa6-d0e1-4902-a771-3c39127003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0ED4F75-3CD7-45A8-9549-E613B31DDB2A}">
  <ds:schemaRefs>
    <ds:schemaRef ds:uri="5036cfa6-d0e1-4902-a771-3c39127003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4292D93-FF2A-4DA5-8E8B-A42F52EE7A2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54</Slides>
  <Notes>41</Notes>
  <HiddenSlides>0</HiddenSlides>
  <ScaleCrop>false</ScaleCrop>
  <HeadingPairs>
    <vt:vector size="4" baseType="variant">
      <vt:variant>
        <vt:lpstr>Theme</vt:lpstr>
      </vt:variant>
      <vt:variant>
        <vt:i4>2</vt:i4>
      </vt:variant>
      <vt:variant>
        <vt:lpstr>Slide Titles</vt:lpstr>
      </vt:variant>
      <vt:variant>
        <vt:i4>54</vt:i4>
      </vt:variant>
    </vt:vector>
  </HeadingPairs>
  <TitlesOfParts>
    <vt:vector size="56" baseType="lpstr">
      <vt:lpstr>Office Theme</vt:lpstr>
      <vt:lpstr>Office Theme</vt:lpstr>
      <vt:lpstr>Software Engineering (CS3201) Introduction to Software Engineering </vt:lpstr>
      <vt:lpstr> </vt:lpstr>
      <vt:lpstr>Teaching Assistants</vt:lpstr>
      <vt:lpstr>Course overview</vt:lpstr>
      <vt:lpstr>Course outcomes</vt:lpstr>
      <vt:lpstr>When do we meet?</vt:lpstr>
      <vt:lpstr>Course policy</vt:lpstr>
      <vt:lpstr>Course policy</vt:lpstr>
      <vt:lpstr>Evaluation / Grading policy</vt:lpstr>
      <vt:lpstr>Course content (One Drive and Piazza)</vt:lpstr>
      <vt:lpstr>Course content / Syllabus</vt:lpstr>
      <vt:lpstr>How to get the best grade?</vt:lpstr>
      <vt:lpstr>Purpose of term project</vt:lpstr>
      <vt:lpstr>Project deadlines (tentative – subject to minor exams)</vt:lpstr>
      <vt:lpstr>Your expectations from the course (and how can I help?</vt:lpstr>
      <vt:lpstr>A software development joke?</vt:lpstr>
      <vt:lpstr> </vt:lpstr>
      <vt:lpstr>Introduction</vt:lpstr>
      <vt:lpstr>Introduction</vt:lpstr>
      <vt:lpstr>Software Engineering</vt:lpstr>
      <vt:lpstr>FAQs</vt:lpstr>
      <vt:lpstr>FAQs</vt:lpstr>
      <vt:lpstr>Project Lifecycle (clichéd but valid)</vt:lpstr>
      <vt:lpstr>Software Products</vt:lpstr>
      <vt:lpstr>Essential attributes of Good Software</vt:lpstr>
      <vt:lpstr>Software Engineering, more formally</vt:lpstr>
      <vt:lpstr>Software Engineering v. Physical Engineering</vt:lpstr>
      <vt:lpstr>Hardware versus Software costs</vt:lpstr>
      <vt:lpstr>Hardware versus Software costs</vt:lpstr>
      <vt:lpstr>Size of programs continues to grow</vt:lpstr>
      <vt:lpstr>More challenges</vt:lpstr>
      <vt:lpstr>Changing Nature of Software</vt:lpstr>
      <vt:lpstr>Changing Nature of Software</vt:lpstr>
      <vt:lpstr>Implications of Changing Nature of Software</vt:lpstr>
      <vt:lpstr>Software Myths</vt:lpstr>
      <vt:lpstr>Software Myths</vt:lpstr>
      <vt:lpstr>Need for Software Engineering</vt:lpstr>
      <vt:lpstr>Need for Software Engineering</vt:lpstr>
      <vt:lpstr>Software Engineering Ethics</vt:lpstr>
      <vt:lpstr>Phases of Software Engineering (Process)</vt:lpstr>
      <vt:lpstr>Software Process</vt:lpstr>
      <vt:lpstr>Software Process</vt:lpstr>
      <vt:lpstr>Software Process</vt:lpstr>
      <vt:lpstr>Software Process</vt:lpstr>
      <vt:lpstr>Issues that affect Software process</vt:lpstr>
      <vt:lpstr>Application Types</vt:lpstr>
      <vt:lpstr>Software Engineering Fundamentals</vt:lpstr>
      <vt:lpstr>Case study 1 – Insulin pump control system</vt:lpstr>
      <vt:lpstr>Case study 1 – Insulin pump control system</vt:lpstr>
      <vt:lpstr>Case study 1 – Insulin pump control system</vt:lpstr>
      <vt:lpstr>Case study 1 – Insulin pump control system</vt:lpstr>
      <vt:lpstr>Case study 2 – A patient information system for mental health care</vt:lpstr>
      <vt:lpstr>Case study 3 – A wilderness weather station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  CS 475</dc:title>
  <dc:creator>Avinash Arun Chauhan</dc:creator>
  <cp:revision>160</cp:revision>
  <dcterms:created xsi:type="dcterms:W3CDTF">2022-08-02T06:42:39Z</dcterms:created>
  <dcterms:modified xsi:type="dcterms:W3CDTF">2026-01-27T06:08:26Z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0x01010051834713A0238B47A82B49BB61910BB7</vt:lpwstr>
  </property>
</Properties>
</file>