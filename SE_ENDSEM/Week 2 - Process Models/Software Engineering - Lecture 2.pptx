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5"/>
  </p:notesMasterIdLst>
  <p:sldIdLst>
    <p:sldId id="256" r:id="rId5"/>
    <p:sldId id="338" r:id="rId6"/>
    <p:sldId id="339" r:id="rId7"/>
    <p:sldId id="330" r:id="rId8"/>
    <p:sldId id="318" r:id="rId9"/>
    <p:sldId id="336" r:id="rId10"/>
    <p:sldId id="364" r:id="rId11"/>
    <p:sldId id="365" r:id="rId12"/>
    <p:sldId id="367" r:id="rId13"/>
    <p:sldId id="368" r:id="rId14"/>
    <p:sldId id="371" r:id="rId15"/>
    <p:sldId id="366" r:id="rId16"/>
    <p:sldId id="340" r:id="rId17"/>
    <p:sldId id="341" r:id="rId18"/>
    <p:sldId id="342" r:id="rId19"/>
    <p:sldId id="363" r:id="rId20"/>
    <p:sldId id="361" r:id="rId21"/>
    <p:sldId id="362" r:id="rId22"/>
    <p:sldId id="343" r:id="rId23"/>
    <p:sldId id="344" r:id="rId24"/>
    <p:sldId id="345" r:id="rId25"/>
    <p:sldId id="346" r:id="rId26"/>
    <p:sldId id="348" r:id="rId27"/>
    <p:sldId id="347" r:id="rId28"/>
    <p:sldId id="349" r:id="rId29"/>
    <p:sldId id="358" r:id="rId30"/>
    <p:sldId id="351" r:id="rId31"/>
    <p:sldId id="352" r:id="rId32"/>
    <p:sldId id="353" r:id="rId33"/>
    <p:sldId id="354" r:id="rId34"/>
    <p:sldId id="372" r:id="rId35"/>
    <p:sldId id="355" r:id="rId36"/>
    <p:sldId id="357" r:id="rId37"/>
    <p:sldId id="359" r:id="rId38"/>
    <p:sldId id="360" r:id="rId39"/>
    <p:sldId id="369" r:id="rId40"/>
    <p:sldId id="370" r:id="rId41"/>
    <p:sldId id="356" r:id="rId42"/>
    <p:sldId id="373" r:id="rId43"/>
    <p:sldId id="31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5210F-6329-17EB-F397-BB78AF5A0AAA}" v="2" dt="2026-01-31T14:27:45.260"/>
    <p1510:client id="{EF4A0AD5-A13A-D13A-41A8-C43B2E7BDFCB}" v="13" dt="2026-02-02T09:14:55.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7A443582-12F2-C7F9-85F5-6043FBB5F862}"/>
    <pc:docChg chg="delSld modSld">
      <pc:chgData name="Avinash Arun Chauhan" userId="S::avinash.chauhan@mahindrauniversity.edu.in::241b5f3e-36f4-4c61-9553-90e6a1c1b8a6" providerId="AD" clId="Web-{7A443582-12F2-C7F9-85F5-6043FBB5F862}" dt="2026-01-20T10:55:42.961" v="2"/>
      <pc:docMkLst>
        <pc:docMk/>
      </pc:docMkLst>
      <pc:sldChg chg="modSp">
        <pc:chgData name="Avinash Arun Chauhan" userId="S::avinash.chauhan@mahindrauniversity.edu.in::241b5f3e-36f4-4c61-9553-90e6a1c1b8a6" providerId="AD" clId="Web-{7A443582-12F2-C7F9-85F5-6043FBB5F862}" dt="2026-01-20T10:53:38.626" v="1" actId="20577"/>
        <pc:sldMkLst>
          <pc:docMk/>
          <pc:sldMk cId="3011812231" sldId="366"/>
        </pc:sldMkLst>
        <pc:spChg chg="mod">
          <ac:chgData name="Avinash Arun Chauhan" userId="S::avinash.chauhan@mahindrauniversity.edu.in::241b5f3e-36f4-4c61-9553-90e6a1c1b8a6" providerId="AD" clId="Web-{7A443582-12F2-C7F9-85F5-6043FBB5F862}" dt="2026-01-20T10:53:38.626" v="1" actId="20577"/>
          <ac:spMkLst>
            <pc:docMk/>
            <pc:sldMk cId="3011812231" sldId="366"/>
            <ac:spMk id="3" creationId="{712CE3DE-516D-536F-B692-856904E12035}"/>
          </ac:spMkLst>
        </pc:spChg>
      </pc:sldChg>
    </pc:docChg>
  </pc:docChgLst>
  <pc:docChgLst>
    <pc:chgData name="Avinash Arun Chauhan" userId="S::avinash.chauhan@mahindrauniversity.edu.in::241b5f3e-36f4-4c61-9553-90e6a1c1b8a6" providerId="AD" clId="Web-{8495210F-6329-17EB-F397-BB78AF5A0AAA}"/>
    <pc:docChg chg="modSld">
      <pc:chgData name="Avinash Arun Chauhan" userId="S::avinash.chauhan@mahindrauniversity.edu.in::241b5f3e-36f4-4c61-9553-90e6a1c1b8a6" providerId="AD" clId="Web-{8495210F-6329-17EB-F397-BB78AF5A0AAA}" dt="2026-01-31T14:27:45.260" v="1" actId="1076"/>
      <pc:docMkLst>
        <pc:docMk/>
      </pc:docMkLst>
      <pc:sldChg chg="delSp modSp">
        <pc:chgData name="Avinash Arun Chauhan" userId="S::avinash.chauhan@mahindrauniversity.edu.in::241b5f3e-36f4-4c61-9553-90e6a1c1b8a6" providerId="AD" clId="Web-{8495210F-6329-17EB-F397-BB78AF5A0AAA}" dt="2026-01-31T14:27:45.260" v="1" actId="1076"/>
        <pc:sldMkLst>
          <pc:docMk/>
          <pc:sldMk cId="1491116084" sldId="362"/>
        </pc:sldMkLst>
        <pc:picChg chg="mod">
          <ac:chgData name="Avinash Arun Chauhan" userId="S::avinash.chauhan@mahindrauniversity.edu.in::241b5f3e-36f4-4c61-9553-90e6a1c1b8a6" providerId="AD" clId="Web-{8495210F-6329-17EB-F397-BB78AF5A0AAA}" dt="2026-01-31T14:27:45.260" v="1" actId="1076"/>
          <ac:picMkLst>
            <pc:docMk/>
            <pc:sldMk cId="1491116084" sldId="362"/>
            <ac:picMk id="4" creationId="{22B6E82A-B756-4D7B-9234-B284C626C43D}"/>
          </ac:picMkLst>
        </pc:picChg>
      </pc:sldChg>
    </pc:docChg>
  </pc:docChgLst>
  <pc:docChgLst>
    <pc:chgData name="Avinash Arun Chauhan" userId="S::avinash.chauhan@mahindrauniversity.edu.in::241b5f3e-36f4-4c61-9553-90e6a1c1b8a6" providerId="AD" clId="Web-{DCFE2AFE-AA9D-2A79-2A97-F82D442F22EC}"/>
    <pc:docChg chg="modSld">
      <pc:chgData name="Avinash Arun Chauhan" userId="S::avinash.chauhan@mahindrauniversity.edu.in::241b5f3e-36f4-4c61-9553-90e6a1c1b8a6" providerId="AD" clId="Web-{DCFE2AFE-AA9D-2A79-2A97-F82D442F22EC}" dt="2026-01-27T06:35:13.382" v="200"/>
      <pc:docMkLst>
        <pc:docMk/>
      </pc:docMkLst>
      <pc:sldChg chg="modNotes">
        <pc:chgData name="Avinash Arun Chauhan" userId="S::avinash.chauhan@mahindrauniversity.edu.in::241b5f3e-36f4-4c61-9553-90e6a1c1b8a6" providerId="AD" clId="Web-{DCFE2AFE-AA9D-2A79-2A97-F82D442F22EC}" dt="2026-01-27T06:35:13.382" v="200"/>
        <pc:sldMkLst>
          <pc:docMk/>
          <pc:sldMk cId="770928017" sldId="347"/>
        </pc:sldMkLst>
      </pc:sldChg>
      <pc:sldChg chg="addSp delSp modSp">
        <pc:chgData name="Avinash Arun Chauhan" userId="S::avinash.chauhan@mahindrauniversity.edu.in::241b5f3e-36f4-4c61-9553-90e6a1c1b8a6" providerId="AD" clId="Web-{DCFE2AFE-AA9D-2A79-2A97-F82D442F22EC}" dt="2026-01-27T06:28:02.415" v="125" actId="1076"/>
        <pc:sldMkLst>
          <pc:docMk/>
          <pc:sldMk cId="1104067534" sldId="361"/>
        </pc:sldMkLst>
        <pc:spChg chg="mod">
          <ac:chgData name="Avinash Arun Chauhan" userId="S::avinash.chauhan@mahindrauniversity.edu.in::241b5f3e-36f4-4c61-9553-90e6a1c1b8a6" providerId="AD" clId="Web-{DCFE2AFE-AA9D-2A79-2A97-F82D442F22EC}" dt="2026-01-27T06:24:59.809" v="12" actId="20577"/>
          <ac:spMkLst>
            <pc:docMk/>
            <pc:sldMk cId="1104067534" sldId="361"/>
            <ac:spMk id="2" creationId="{74CCB0E3-725D-C667-8357-C0B2090AD0EB}"/>
          </ac:spMkLst>
        </pc:spChg>
        <pc:spChg chg="add mod">
          <ac:chgData name="Avinash Arun Chauhan" userId="S::avinash.chauhan@mahindrauniversity.edu.in::241b5f3e-36f4-4c61-9553-90e6a1c1b8a6" providerId="AD" clId="Web-{DCFE2AFE-AA9D-2A79-2A97-F82D442F22EC}" dt="2026-01-27T06:28:02.415" v="125" actId="1076"/>
          <ac:spMkLst>
            <pc:docMk/>
            <pc:sldMk cId="1104067534" sldId="361"/>
            <ac:spMk id="5" creationId="{D3A95C0F-1A52-B1B7-02D0-AAFA6A105C7C}"/>
          </ac:spMkLst>
        </pc:spChg>
      </pc:sldChg>
      <pc:sldChg chg="modSp">
        <pc:chgData name="Avinash Arun Chauhan" userId="S::avinash.chauhan@mahindrauniversity.edu.in::241b5f3e-36f4-4c61-9553-90e6a1c1b8a6" providerId="AD" clId="Web-{DCFE2AFE-AA9D-2A79-2A97-F82D442F22EC}" dt="2026-01-27T06:25:30.768" v="21" actId="1076"/>
        <pc:sldMkLst>
          <pc:docMk/>
          <pc:sldMk cId="1491116084" sldId="362"/>
        </pc:sldMkLst>
        <pc:spChg chg="mod">
          <ac:chgData name="Avinash Arun Chauhan" userId="S::avinash.chauhan@mahindrauniversity.edu.in::241b5f3e-36f4-4c61-9553-90e6a1c1b8a6" providerId="AD" clId="Web-{DCFE2AFE-AA9D-2A79-2A97-F82D442F22EC}" dt="2026-01-27T06:25:07.014" v="15" actId="20577"/>
          <ac:spMkLst>
            <pc:docMk/>
            <pc:sldMk cId="1491116084" sldId="362"/>
            <ac:spMk id="2" creationId="{74CCB0E3-725D-C667-8357-C0B2090AD0EB}"/>
          </ac:spMkLst>
        </pc:spChg>
        <pc:picChg chg="mod">
          <ac:chgData name="Avinash Arun Chauhan" userId="S::avinash.chauhan@mahindrauniversity.edu.in::241b5f3e-36f4-4c61-9553-90e6a1c1b8a6" providerId="AD" clId="Web-{DCFE2AFE-AA9D-2A79-2A97-F82D442F22EC}" dt="2026-01-27T06:25:30.768" v="21" actId="1076"/>
          <ac:picMkLst>
            <pc:docMk/>
            <pc:sldMk cId="1491116084" sldId="362"/>
            <ac:picMk id="4" creationId="{22B6E82A-B756-4D7B-9234-B284C626C43D}"/>
          </ac:picMkLst>
        </pc:picChg>
      </pc:sldChg>
    </pc:docChg>
  </pc:docChgLst>
  <pc:docChgLst>
    <pc:chgData name="Avinash Arun Chauhan" userId="S::avinash.chauhan@mahindrauniversity.edu.in::241b5f3e-36f4-4c61-9553-90e6a1c1b8a6" providerId="AD" clId="Web-{EF4A0AD5-A13A-D13A-41A8-C43B2E7BDFCB}"/>
    <pc:docChg chg="modSld">
      <pc:chgData name="Avinash Arun Chauhan" userId="S::avinash.chauhan@mahindrauniversity.edu.in::241b5f3e-36f4-4c61-9553-90e6a1c1b8a6" providerId="AD" clId="Web-{EF4A0AD5-A13A-D13A-41A8-C43B2E7BDFCB}" dt="2026-02-02T09:14:52.726" v="11" actId="20577"/>
      <pc:docMkLst>
        <pc:docMk/>
      </pc:docMkLst>
      <pc:sldChg chg="modSp">
        <pc:chgData name="Avinash Arun Chauhan" userId="S::avinash.chauhan@mahindrauniversity.edu.in::241b5f3e-36f4-4c61-9553-90e6a1c1b8a6" providerId="AD" clId="Web-{EF4A0AD5-A13A-D13A-41A8-C43B2E7BDFCB}" dt="2026-02-02T09:14:52.726" v="11" actId="20577"/>
        <pc:sldMkLst>
          <pc:docMk/>
          <pc:sldMk cId="3401666456" sldId="356"/>
        </pc:sldMkLst>
        <pc:spChg chg="mod">
          <ac:chgData name="Avinash Arun Chauhan" userId="S::avinash.chauhan@mahindrauniversity.edu.in::241b5f3e-36f4-4c61-9553-90e6a1c1b8a6" providerId="AD" clId="Web-{EF4A0AD5-A13A-D13A-41A8-C43B2E7BDFCB}" dt="2026-02-02T09:14:52.726" v="11" actId="20577"/>
          <ac:spMkLst>
            <pc:docMk/>
            <pc:sldMk cId="3401666456" sldId="356"/>
            <ac:spMk id="3" creationId="{712CE3DE-516D-536F-B692-856904E12035}"/>
          </ac:spMkLst>
        </pc:spChg>
      </pc:sldChg>
    </pc:docChg>
  </pc:docChgLst>
  <pc:docChgLst>
    <pc:chgData name="Avinash Arun Chauhan" userId="S::avinash.chauhan@mahindrauniversity.edu.in::241b5f3e-36f4-4c61-9553-90e6a1c1b8a6" providerId="AD" clId="Web-{90BE58C9-227D-31BA-8C49-E7E05ECF2DEE}"/>
    <pc:docChg chg="modSld">
      <pc:chgData name="Avinash Arun Chauhan" userId="S::avinash.chauhan@mahindrauniversity.edu.in::241b5f3e-36f4-4c61-9553-90e6a1c1b8a6" providerId="AD" clId="Web-{90BE58C9-227D-31BA-8C49-E7E05ECF2DEE}" dt="2026-01-20T06:11:04.811" v="116" actId="20577"/>
      <pc:docMkLst>
        <pc:docMk/>
      </pc:docMkLst>
      <pc:sldChg chg="modSp modNotes">
        <pc:chgData name="Avinash Arun Chauhan" userId="S::avinash.chauhan@mahindrauniversity.edu.in::241b5f3e-36f4-4c61-9553-90e6a1c1b8a6" providerId="AD" clId="Web-{90BE58C9-227D-31BA-8C49-E7E05ECF2DEE}" dt="2026-01-20T06:08:55.917" v="85" actId="20577"/>
        <pc:sldMkLst>
          <pc:docMk/>
          <pc:sldMk cId="3075298093" sldId="338"/>
        </pc:sldMkLst>
        <pc:spChg chg="mod">
          <ac:chgData name="Avinash Arun Chauhan" userId="S::avinash.chauhan@mahindrauniversity.edu.in::241b5f3e-36f4-4c61-9553-90e6a1c1b8a6" providerId="AD" clId="Web-{90BE58C9-227D-31BA-8C49-E7E05ECF2DEE}" dt="2026-01-20T06:08:55.917" v="85" actId="20577"/>
          <ac:spMkLst>
            <pc:docMk/>
            <pc:sldMk cId="3075298093" sldId="338"/>
            <ac:spMk id="5" creationId="{9BC9069B-9E6A-408B-96AD-6DAEEC085453}"/>
          </ac:spMkLst>
        </pc:spChg>
      </pc:sldChg>
      <pc:sldChg chg="modSp">
        <pc:chgData name="Avinash Arun Chauhan" userId="S::avinash.chauhan@mahindrauniversity.edu.in::241b5f3e-36f4-4c61-9553-90e6a1c1b8a6" providerId="AD" clId="Web-{90BE58C9-227D-31BA-8C49-E7E05ECF2DEE}" dt="2026-01-20T06:11:04.811" v="116" actId="20577"/>
        <pc:sldMkLst>
          <pc:docMk/>
          <pc:sldMk cId="3210930401" sldId="339"/>
        </pc:sldMkLst>
        <pc:spChg chg="mod">
          <ac:chgData name="Avinash Arun Chauhan" userId="S::avinash.chauhan@mahindrauniversity.edu.in::241b5f3e-36f4-4c61-9553-90e6a1c1b8a6" providerId="AD" clId="Web-{90BE58C9-227D-31BA-8C49-E7E05ECF2DEE}" dt="2026-01-20T06:10:04.091" v="94" actId="20577"/>
          <ac:spMkLst>
            <pc:docMk/>
            <pc:sldMk cId="3210930401" sldId="339"/>
            <ac:spMk id="5" creationId="{9BC9069B-9E6A-408B-96AD-6DAEEC085453}"/>
          </ac:spMkLst>
        </pc:spChg>
        <pc:spChg chg="mod">
          <ac:chgData name="Avinash Arun Chauhan" userId="S::avinash.chauhan@mahindrauniversity.edu.in::241b5f3e-36f4-4c61-9553-90e6a1c1b8a6" providerId="AD" clId="Web-{90BE58C9-227D-31BA-8C49-E7E05ECF2DEE}" dt="2026-01-20T06:11:04.811" v="116" actId="20577"/>
          <ac:spMkLst>
            <pc:docMk/>
            <pc:sldMk cId="3210930401" sldId="339"/>
            <ac:spMk id="10" creationId="{EA9BDB7A-8579-4AF9-BC15-81E44FD530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design says what components exist and how they interact,</a:t>
            </a:r>
            <a:br>
              <a:rPr lang="en-US" dirty="0">
                <a:cs typeface="+mn-lt"/>
              </a:rPr>
            </a:br>
            <a:r>
              <a:rPr lang="en-US" dirty="0"/>
              <a:t>Detailed design says how each component works internally.</a:t>
            </a:r>
            <a:endParaRPr lang="en-US">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677088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2863716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351863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2395964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2193850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2473507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3081289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838837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612080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2115413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126018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401985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1511943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4101091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508628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2585242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1932694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1315350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3997503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3097406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hardware development, where high manufacturing costs are involved, this makes sense. However, for software development, these stages overlap and feed information to each other. During design, problems with requirements are identified; during coding design problems are found, and so on. The software process, in practice, is never a simple linear model but involves feedback from one phase to another</a:t>
            </a:r>
          </a:p>
        </p:txBody>
      </p:sp>
      <p:sp>
        <p:nvSpPr>
          <p:cNvPr id="4" name="Slide Number Placeholder 3"/>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120860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1053197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Example usage of waterfall model:</a:t>
            </a:r>
          </a:p>
          <a:p>
            <a:pPr marL="228600" indent="-228600">
              <a:buAutoNum type="arabicPeriod"/>
            </a:pPr>
            <a:r>
              <a:rPr lang="en-US"/>
              <a:t>Embedded systems where the software has to interface with hardware systems. Because of the inflexibility of hardware, it is not usually possible to delay decisions on the software’s functionality until it is being implemented.</a:t>
            </a:r>
            <a:endParaRPr lang="en-US" dirty="0"/>
          </a:p>
          <a:p>
            <a:pPr marL="228600" indent="-228600">
              <a:buAutoNum type="arabicPeriod"/>
            </a:pPr>
            <a:r>
              <a:rPr lang="en-US"/>
              <a:t>Critical systems where there is a need for extensive safety and security analysis of the software specification and design. In these systems, the specification and design documents must be complete so that this analysis is possible. Safety-related problems in the specification and design are usually very expensive to correct at the implementation stage.</a:t>
            </a:r>
            <a:endParaRPr lang="en-US">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28185616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increment or version of the system incorporates some of the functionality that is needed by the customer. Generally, the early increments of the system include the most important or most urgently required functionality. This means that the customer or user can evaluate the system at a relatively early stage in the development to see if it delivers what is required. If not, then only the current increment has to be changed and, possibly, new functionality defined for later increments</a:t>
            </a:r>
          </a:p>
        </p:txBody>
      </p:sp>
      <p:sp>
        <p:nvSpPr>
          <p:cNvPr id="4" name="Slide Number Placeholder 3"/>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242502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2429776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86063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2520055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1889271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1614733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39823819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Incremental process model is also an evolutionary model.</a:t>
            </a:r>
            <a:endParaRPr lang="en-US" dirty="0"/>
          </a:p>
        </p:txBody>
      </p:sp>
      <p:sp>
        <p:nvSpPr>
          <p:cNvPr id="4" name="Slide Number Placeholder 3"/>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8872768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39973360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3380224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39422240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39057247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10743829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16827313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8A6BE-7C48-C2B6-83A9-09342102E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81581-8DDF-0B5D-2370-8C716EC6B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B2EEE1-5281-507D-68B1-120ED8B031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66902C-AA41-A373-CE2E-C554FDEBF3D9}"/>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28974829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20143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2/2/2026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2/2/2026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2/2/2026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2/2/2026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2/2/2026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2/2/2026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2/2/2026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2/2/2026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2/2/2026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2/2/2026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2/2/2026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2/2/2026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IgCHJClsC3uiQLrDIYRjkHIUAfQYGfJu2ICNkNsf6x_Ko3Y?e=ZrdfP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buzzfeed.com/andyneuenschwander/people-are-sharing-what-their-wealthiest-friend-does-for"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Ev2WtQnQM1NEhgOY9r4LkAoBjHij7HZUSdlGV2s2a8VGAw?e=WfzmTJ"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568061"/>
            <a:ext cx="9144000" cy="2387600"/>
          </a:xfrm>
        </p:spPr>
        <p:txBody>
          <a:bodyPr>
            <a:normAutofit/>
          </a:bodyPr>
          <a:lstStyle/>
          <a:p>
            <a:r>
              <a:rPr lang="en-US" dirty="0"/>
              <a:t>Software Engineering</a:t>
            </a:r>
            <a:br>
              <a:rPr lang="en-US" dirty="0"/>
            </a:br>
            <a:r>
              <a:rPr lang="en-US" sz="4000" dirty="0"/>
              <a:t>(CS3201)</a:t>
            </a:r>
            <a:br>
              <a:rPr lang="en-US" sz="4000" dirty="0">
                <a:ea typeface="Calibri Light"/>
                <a:cs typeface="Calibri Light"/>
              </a:rPr>
            </a:br>
            <a:r>
              <a:rPr lang="en-US" sz="2500" dirty="0">
                <a:ea typeface="Calibri Light"/>
                <a:cs typeface="Calibri Light"/>
              </a:rPr>
              <a:t>Process Models</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119977"/>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9BC9069B-9E6A-408B-96AD-6DAEEC085453}"/>
              </a:ext>
            </a:extLst>
          </p:cNvPr>
          <p:cNvSpPr txBox="1"/>
          <p:nvPr/>
        </p:nvSpPr>
        <p:spPr>
          <a:xfrm>
            <a:off x="252248" y="3113529"/>
            <a:ext cx="11669109"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:Design Phase:</a:t>
            </a:r>
          </a:p>
          <a:p>
            <a:r>
              <a:rPr lang="en-US" sz="2200" b="1" u="sng" dirty="0"/>
              <a:t>Software Design:</a:t>
            </a:r>
            <a:endParaRPr lang="en-US" sz="2200" b="1" u="sng" dirty="0">
              <a:ea typeface="Calibri"/>
              <a:cs typeface="Calibri"/>
            </a:endParaRPr>
          </a:p>
          <a:p>
            <a:r>
              <a:rPr lang="en-US" sz="2200" dirty="0"/>
              <a:t>High-level Design – Define modular components (classes, interfaces), Define data structures</a:t>
            </a:r>
            <a:endParaRPr lang="en-US" sz="2200" dirty="0">
              <a:ea typeface="Calibri"/>
              <a:cs typeface="Calibri"/>
            </a:endParaRPr>
          </a:p>
          <a:p>
            <a:r>
              <a:rPr lang="en-US" sz="2200" dirty="0"/>
              <a:t>Detailed Design – how reach component works internally (functions/ interfaces, etc.), tables designed, Algorithm and logic design, sequence and interaction design, constraints</a:t>
            </a:r>
            <a:endParaRPr lang="en-US" sz="2200" dirty="0">
              <a:ea typeface="Calibri"/>
              <a:cs typeface="Calibri"/>
            </a:endParaRPr>
          </a:p>
        </p:txBody>
      </p:sp>
      <p:sp>
        <p:nvSpPr>
          <p:cNvPr id="9" name="TextBox 8">
            <a:extLst>
              <a:ext uri="{FF2B5EF4-FFF2-40B4-BE49-F238E27FC236}">
                <a16:creationId xmlns:a16="http://schemas.microsoft.com/office/drawing/2014/main" id="{EED49F78-60A0-4435-BD3E-CA3412050AC2}"/>
              </a:ext>
            </a:extLst>
          </p:cNvPr>
          <p:cNvSpPr txBox="1"/>
          <p:nvPr/>
        </p:nvSpPr>
        <p:spPr>
          <a:xfrm>
            <a:off x="252248" y="905906"/>
            <a:ext cx="11669109" cy="2123658"/>
          </a:xfrm>
          <a:prstGeom prst="rect">
            <a:avLst/>
          </a:prstGeom>
          <a:solidFill>
            <a:schemeClr val="accent1">
              <a:lumMod val="60000"/>
              <a:lumOff val="40000"/>
            </a:schemeClr>
          </a:solidFill>
        </p:spPr>
        <p:txBody>
          <a:bodyPr wrap="square" rtlCol="0">
            <a:spAutoFit/>
          </a:bodyPr>
          <a:lstStyle/>
          <a:p>
            <a:pPr algn="ctr"/>
            <a:r>
              <a:rPr lang="en-US" sz="2200" b="1" u="sng"/>
              <a:t>:Definition Phase: (Specification)</a:t>
            </a:r>
          </a:p>
          <a:p>
            <a:r>
              <a:rPr lang="en-US" sz="2200" b="1" u="sng"/>
              <a:t>Requirements Definition and Analysis:</a:t>
            </a:r>
          </a:p>
          <a:p>
            <a:r>
              <a:rPr lang="en-US" sz="2200" b="1"/>
              <a:t>Developer must understand</a:t>
            </a:r>
            <a:r>
              <a:rPr lang="en-US" sz="2200"/>
              <a:t> – Application Domain, Required Functionality, Required Performance, User Interface  (might require one or several meetings with client)</a:t>
            </a:r>
          </a:p>
          <a:p>
            <a:r>
              <a:rPr lang="en-US" sz="2200" b="1"/>
              <a:t>Project Planning</a:t>
            </a:r>
            <a:r>
              <a:rPr lang="en-US" sz="2200"/>
              <a:t> – Allocate resources, Estimate costs, Define work tasks, Define schedule</a:t>
            </a:r>
          </a:p>
          <a:p>
            <a:r>
              <a:rPr lang="en-US" sz="2200" b="1"/>
              <a:t>System Analysis</a:t>
            </a:r>
            <a:r>
              <a:rPr lang="en-US" sz="2200"/>
              <a:t> – Allocate system resources to hardware, software, users, etc.</a:t>
            </a:r>
          </a:p>
        </p:txBody>
      </p:sp>
      <p:sp>
        <p:nvSpPr>
          <p:cNvPr id="10" name="TextBox 9">
            <a:extLst>
              <a:ext uri="{FF2B5EF4-FFF2-40B4-BE49-F238E27FC236}">
                <a16:creationId xmlns:a16="http://schemas.microsoft.com/office/drawing/2014/main" id="{94353C05-5356-4AEB-A317-96BFA0363D42}"/>
              </a:ext>
            </a:extLst>
          </p:cNvPr>
          <p:cNvSpPr txBox="1"/>
          <p:nvPr/>
        </p:nvSpPr>
        <p:spPr>
          <a:xfrm>
            <a:off x="270641" y="4982598"/>
            <a:ext cx="11650716" cy="1785104"/>
          </a:xfrm>
          <a:prstGeom prst="rect">
            <a:avLst/>
          </a:prstGeom>
          <a:solidFill>
            <a:schemeClr val="accent1">
              <a:lumMod val="60000"/>
              <a:lumOff val="40000"/>
            </a:schemeClr>
          </a:solidFill>
        </p:spPr>
        <p:txBody>
          <a:bodyPr wrap="square" rtlCol="0">
            <a:spAutoFit/>
          </a:bodyPr>
          <a:lstStyle/>
          <a:p>
            <a:pPr algn="ctr"/>
            <a:r>
              <a:rPr lang="en-US" sz="2200" b="1" u="sng"/>
              <a:t>:Development Phase:</a:t>
            </a:r>
          </a:p>
          <a:p>
            <a:r>
              <a:rPr lang="en-US" sz="2200" b="1" u="sng"/>
              <a:t>Coding:</a:t>
            </a:r>
            <a:endParaRPr lang="en-US" sz="2200"/>
          </a:p>
          <a:p>
            <a:r>
              <a:rPr lang="en-US" sz="2200"/>
              <a:t>Develop code for each module, Unit Testing</a:t>
            </a:r>
          </a:p>
          <a:p>
            <a:r>
              <a:rPr lang="en-US" sz="2200" b="1" u="sng"/>
              <a:t>Integration:</a:t>
            </a:r>
          </a:p>
          <a:p>
            <a:r>
              <a:rPr lang="en-US" sz="2200"/>
              <a:t>Combine modules, System Testing</a:t>
            </a:r>
          </a:p>
        </p:txBody>
      </p:sp>
    </p:spTree>
    <p:extLst>
      <p:ext uri="{BB962C8B-B14F-4D97-AF65-F5344CB8AC3E}">
        <p14:creationId xmlns:p14="http://schemas.microsoft.com/office/powerpoint/2010/main" val="3075298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119977"/>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9BC9069B-9E6A-408B-96AD-6DAEEC085453}"/>
              </a:ext>
            </a:extLst>
          </p:cNvPr>
          <p:cNvSpPr txBox="1"/>
          <p:nvPr/>
        </p:nvSpPr>
        <p:spPr>
          <a:xfrm>
            <a:off x="270640" y="2569299"/>
            <a:ext cx="11650717"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:Software Evolution: (Maintenance)</a:t>
            </a:r>
          </a:p>
          <a:p>
            <a:r>
              <a:rPr lang="en-US" sz="2200" dirty="0"/>
              <a:t>Correction – Fix Software defects</a:t>
            </a:r>
            <a:endParaRPr lang="en-US" sz="2200" dirty="0">
              <a:ea typeface="Calibri"/>
              <a:cs typeface="Calibri"/>
            </a:endParaRPr>
          </a:p>
          <a:p>
            <a:r>
              <a:rPr lang="en-US" sz="2200" dirty="0"/>
              <a:t>Adaptation – Accommodate changes and new features (and new company policy)</a:t>
            </a:r>
            <a:endParaRPr lang="en-US" sz="2200" dirty="0">
              <a:ea typeface="Calibri"/>
              <a:cs typeface="Calibri"/>
            </a:endParaRPr>
          </a:p>
          <a:p>
            <a:r>
              <a:rPr lang="en-US" sz="2200" dirty="0"/>
              <a:t>Enhancements – new features</a:t>
            </a:r>
            <a:endParaRPr lang="en-US" sz="2200" dirty="0">
              <a:ea typeface="Calibri"/>
              <a:cs typeface="Calibri"/>
            </a:endParaRPr>
          </a:p>
          <a:p>
            <a:r>
              <a:rPr lang="en-US" sz="2200" dirty="0"/>
              <a:t>Prevention – Identify areas to improve software and make it more maintainable</a:t>
            </a:r>
          </a:p>
        </p:txBody>
      </p:sp>
      <p:sp>
        <p:nvSpPr>
          <p:cNvPr id="9" name="TextBox 8">
            <a:extLst>
              <a:ext uri="{FF2B5EF4-FFF2-40B4-BE49-F238E27FC236}">
                <a16:creationId xmlns:a16="http://schemas.microsoft.com/office/drawing/2014/main" id="{EED49F78-60A0-4435-BD3E-CA3412050AC2}"/>
              </a:ext>
            </a:extLst>
          </p:cNvPr>
          <p:cNvSpPr txBox="1"/>
          <p:nvPr/>
        </p:nvSpPr>
        <p:spPr>
          <a:xfrm>
            <a:off x="270640" y="905906"/>
            <a:ext cx="11650717" cy="1446550"/>
          </a:xfrm>
          <a:prstGeom prst="rect">
            <a:avLst/>
          </a:prstGeom>
          <a:solidFill>
            <a:schemeClr val="accent1">
              <a:lumMod val="60000"/>
              <a:lumOff val="40000"/>
            </a:schemeClr>
          </a:solidFill>
        </p:spPr>
        <p:txBody>
          <a:bodyPr wrap="square" rtlCol="0">
            <a:spAutoFit/>
          </a:bodyPr>
          <a:lstStyle/>
          <a:p>
            <a:pPr algn="ctr"/>
            <a:r>
              <a:rPr lang="en-US" sz="2200" b="1" u="sng"/>
              <a:t>:Validation:</a:t>
            </a:r>
          </a:p>
          <a:p>
            <a:r>
              <a:rPr lang="en-US" sz="2200"/>
              <a:t>Requirements Analysis and Test Case development, Test Case Execution and Defect Tracking</a:t>
            </a:r>
          </a:p>
          <a:p>
            <a:r>
              <a:rPr lang="en-US" sz="2200" b="1" u="sng"/>
              <a:t>Types</a:t>
            </a:r>
            <a:r>
              <a:rPr lang="en-US" sz="2200"/>
              <a:t> - System Integration Testing (how software interacts with other software); User Acceptance Testing (tests if it works as per user req.); Quality Assurance Testing (meets quality standards)</a:t>
            </a:r>
          </a:p>
        </p:txBody>
      </p:sp>
      <p:sp>
        <p:nvSpPr>
          <p:cNvPr id="10" name="TextBox 9">
            <a:extLst>
              <a:ext uri="{FF2B5EF4-FFF2-40B4-BE49-F238E27FC236}">
                <a16:creationId xmlns:a16="http://schemas.microsoft.com/office/drawing/2014/main" id="{EA9BDB7A-8579-4AF9-BC15-81E44FD530F7}"/>
              </a:ext>
            </a:extLst>
          </p:cNvPr>
          <p:cNvSpPr txBox="1"/>
          <p:nvPr/>
        </p:nvSpPr>
        <p:spPr>
          <a:xfrm>
            <a:off x="270640" y="4571246"/>
            <a:ext cx="11669109"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:Umbrella Activities:</a:t>
            </a:r>
          </a:p>
          <a:p>
            <a:r>
              <a:rPr lang="en-US" sz="2200" dirty="0"/>
              <a:t>Reviews – Assure Quality (Documents review, Code review, etc.)</a:t>
            </a:r>
            <a:endParaRPr lang="en-US" sz="2200" dirty="0">
              <a:ea typeface="Calibri"/>
              <a:cs typeface="Calibri"/>
            </a:endParaRPr>
          </a:p>
          <a:p>
            <a:r>
              <a:rPr lang="en-US" sz="2200" dirty="0"/>
              <a:t>Documentation – Improves communication across teams and maintainability</a:t>
            </a:r>
            <a:endParaRPr lang="en-US" sz="2200" dirty="0">
              <a:ea typeface="Calibri"/>
              <a:cs typeface="Calibri"/>
            </a:endParaRPr>
          </a:p>
          <a:p>
            <a:r>
              <a:rPr lang="en-US" sz="2200" dirty="0"/>
              <a:t>Version Control – Track changes</a:t>
            </a:r>
            <a:endParaRPr lang="en-US" sz="2200" dirty="0">
              <a:ea typeface="Calibri"/>
              <a:cs typeface="Calibri"/>
            </a:endParaRPr>
          </a:p>
          <a:p>
            <a:r>
              <a:rPr lang="en-US" sz="2200" dirty="0"/>
              <a:t>Configuration Management – track of various versions and associated documentation</a:t>
            </a:r>
          </a:p>
        </p:txBody>
      </p:sp>
    </p:spTree>
    <p:extLst>
      <p:ext uri="{BB962C8B-B14F-4D97-AF65-F5344CB8AC3E}">
        <p14:creationId xmlns:p14="http://schemas.microsoft.com/office/powerpoint/2010/main" val="321093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2267F00D-1DF1-EA96-D152-FF490806829C}"/>
              </a:ext>
            </a:extLst>
          </p:cNvPr>
          <p:cNvPicPr>
            <a:picLocks noChangeAspect="1"/>
          </p:cNvPicPr>
          <p:nvPr/>
        </p:nvPicPr>
        <p:blipFill>
          <a:blip r:embed="rId3"/>
          <a:stretch>
            <a:fillRect/>
          </a:stretch>
        </p:blipFill>
        <p:spPr>
          <a:xfrm>
            <a:off x="4040688" y="229122"/>
            <a:ext cx="5029200" cy="6629400"/>
          </a:xfrm>
          <a:prstGeom prst="rect">
            <a:avLst/>
          </a:prstGeom>
        </p:spPr>
      </p:pic>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9" name="TextBox 8">
            <a:extLst>
              <a:ext uri="{FF2B5EF4-FFF2-40B4-BE49-F238E27FC236}">
                <a16:creationId xmlns:a16="http://schemas.microsoft.com/office/drawing/2014/main" id="{EB0D02B1-F8CB-491B-8698-7833F897D1D1}"/>
              </a:ext>
            </a:extLst>
          </p:cNvPr>
          <p:cNvSpPr txBox="1"/>
          <p:nvPr/>
        </p:nvSpPr>
        <p:spPr>
          <a:xfrm>
            <a:off x="8610600" y="5993413"/>
            <a:ext cx="3752194" cy="369332"/>
          </a:xfrm>
          <a:prstGeom prst="rect">
            <a:avLst/>
          </a:prstGeom>
          <a:noFill/>
        </p:spPr>
        <p:txBody>
          <a:bodyPr wrap="square" rtlCol="0">
            <a:spAutoFit/>
          </a:bodyPr>
          <a:lstStyle/>
          <a:p>
            <a:r>
              <a:rPr lang="en-US"/>
              <a:t>Hans Van Vliet, 3rd Ed.</a:t>
            </a:r>
          </a:p>
        </p:txBody>
      </p:sp>
    </p:spTree>
    <p:extLst>
      <p:ext uri="{BB962C8B-B14F-4D97-AF65-F5344CB8AC3E}">
        <p14:creationId xmlns:p14="http://schemas.microsoft.com/office/powerpoint/2010/main" val="3928791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Engineering Fundamentals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a:ea typeface="Calibri" panose="020F0502020204030204"/>
                <a:cs typeface="Calibri" panose="020F0502020204030204"/>
              </a:rPr>
              <a:t>Some </a:t>
            </a:r>
            <a:r>
              <a:rPr lang="en-US" b="1">
                <a:ea typeface="Calibri" panose="020F0502020204030204"/>
                <a:cs typeface="Calibri" panose="020F0502020204030204"/>
              </a:rPr>
              <a:t>fundamental principles</a:t>
            </a:r>
            <a:r>
              <a:rPr lang="en-US">
                <a:ea typeface="Calibri" panose="020F0502020204030204"/>
                <a:cs typeface="Calibri" panose="020F0502020204030204"/>
              </a:rPr>
              <a:t> apply to all types of Software system, irrespective of the development techniques used:</a:t>
            </a:r>
          </a:p>
          <a:p>
            <a:pPr marL="0" indent="0">
              <a:buNone/>
            </a:pPr>
            <a:endParaRPr lang="en-US">
              <a:ea typeface="Calibri" panose="020F0502020204030204"/>
              <a:cs typeface="Calibri" panose="020F0502020204030204"/>
            </a:endParaRPr>
          </a:p>
          <a:p>
            <a:pPr lvl="1"/>
            <a:r>
              <a:rPr lang="en-US">
                <a:ea typeface="Calibri" panose="020F0502020204030204"/>
                <a:cs typeface="Calibri" panose="020F0502020204030204"/>
              </a:rPr>
              <a:t>Systems should be developed using a </a:t>
            </a:r>
            <a:r>
              <a:rPr lang="en-US" b="1">
                <a:ea typeface="Calibri" panose="020F0502020204030204"/>
                <a:cs typeface="Calibri" panose="020F0502020204030204"/>
              </a:rPr>
              <a:t>managed and understood development process</a:t>
            </a:r>
            <a:r>
              <a:rPr lang="en-US">
                <a:ea typeface="Calibri" panose="020F0502020204030204"/>
                <a:cs typeface="Calibri" panose="020F0502020204030204"/>
              </a:rPr>
              <a:t>. Of course, different types of processes are used for different types of software</a:t>
            </a:r>
          </a:p>
          <a:p>
            <a:pPr lvl="1"/>
            <a:r>
              <a:rPr lang="en-US" b="1">
                <a:ea typeface="Calibri" panose="020F0502020204030204"/>
                <a:cs typeface="Calibri" panose="020F0502020204030204"/>
              </a:rPr>
              <a:t>Dependability and performance</a:t>
            </a:r>
            <a:r>
              <a:rPr lang="en-US">
                <a:ea typeface="Calibri" panose="020F0502020204030204"/>
                <a:cs typeface="Calibri" panose="020F0502020204030204"/>
              </a:rPr>
              <a:t> are important for all types of system</a:t>
            </a:r>
          </a:p>
          <a:p>
            <a:pPr lvl="1"/>
            <a:r>
              <a:rPr lang="en-US">
                <a:ea typeface="Calibri" panose="020F0502020204030204"/>
                <a:cs typeface="Calibri" panose="020F0502020204030204"/>
              </a:rPr>
              <a:t>Understanding and managing the </a:t>
            </a:r>
            <a:r>
              <a:rPr lang="en-US" b="1">
                <a:ea typeface="Calibri" panose="020F0502020204030204"/>
                <a:cs typeface="Calibri" panose="020F0502020204030204"/>
              </a:rPr>
              <a:t>software specification and requirements</a:t>
            </a:r>
            <a:r>
              <a:rPr lang="en-US">
                <a:ea typeface="Calibri" panose="020F0502020204030204"/>
                <a:cs typeface="Calibri" panose="020F0502020204030204"/>
              </a:rPr>
              <a:t> (what the software should do) are important</a:t>
            </a:r>
          </a:p>
          <a:p>
            <a:pPr lvl="1"/>
            <a:r>
              <a:rPr lang="en-US">
                <a:ea typeface="Calibri" panose="020F0502020204030204"/>
                <a:cs typeface="Calibri" panose="020F0502020204030204"/>
              </a:rPr>
              <a:t>When appropriate, you should </a:t>
            </a:r>
            <a:r>
              <a:rPr lang="en-US" b="1">
                <a:ea typeface="Calibri" panose="020F0502020204030204"/>
                <a:cs typeface="Calibri" panose="020F0502020204030204"/>
              </a:rPr>
              <a:t>reuse software</a:t>
            </a:r>
            <a:r>
              <a:rPr lang="en-US">
                <a:ea typeface="Calibri" panose="020F0502020204030204"/>
                <a:cs typeface="Calibri" panose="020F0502020204030204"/>
              </a:rPr>
              <a:t> that has already been developed rather than write new software</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66322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Classwork</a:t>
            </a:r>
          </a:p>
          <a:p>
            <a:r>
              <a:rPr lang="en-US">
                <a:ea typeface="Calibri" panose="020F0502020204030204"/>
                <a:cs typeface="Calibri"/>
              </a:rPr>
              <a:t>Role play (tentative) – Mimic the people involved and the artefacts needed throughout the entire software lifecycle towards delivery of efficient working product</a:t>
            </a:r>
            <a:endParaRPr lang="en-US"/>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58546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10" name="Picture 9" descr="A diagram of a system&#10;&#10;AI-generated content may be incorrect.">
            <a:extLst>
              <a:ext uri="{FF2B5EF4-FFF2-40B4-BE49-F238E27FC236}">
                <a16:creationId xmlns:a16="http://schemas.microsoft.com/office/drawing/2014/main" id="{CF240D2F-8B6E-921D-4621-97850738837F}"/>
              </a:ext>
            </a:extLst>
          </p:cNvPr>
          <p:cNvPicPr>
            <a:picLocks noChangeAspect="1"/>
          </p:cNvPicPr>
          <p:nvPr/>
        </p:nvPicPr>
        <p:blipFill>
          <a:blip r:embed="rId4"/>
          <a:stretch>
            <a:fillRect/>
          </a:stretch>
        </p:blipFill>
        <p:spPr>
          <a:xfrm>
            <a:off x="2380801" y="2045180"/>
            <a:ext cx="7459153" cy="3400244"/>
          </a:xfrm>
          <a:prstGeom prst="rect">
            <a:avLst/>
          </a:prstGeom>
        </p:spPr>
      </p:pic>
      <p:sp>
        <p:nvSpPr>
          <p:cNvPr id="3" name="TextBox 2">
            <a:extLst>
              <a:ext uri="{FF2B5EF4-FFF2-40B4-BE49-F238E27FC236}">
                <a16:creationId xmlns:a16="http://schemas.microsoft.com/office/drawing/2014/main" id="{FE689F52-573D-7647-2BF9-8F8E18B84C4A}"/>
              </a:ext>
            </a:extLst>
          </p:cNvPr>
          <p:cNvSpPr txBox="1"/>
          <p:nvPr/>
        </p:nvSpPr>
        <p:spPr>
          <a:xfrm>
            <a:off x="8198555" y="5150556"/>
            <a:ext cx="39369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UML Package Diagram showing the systems in the Software, where each system is a collection of components – for instance, classes.</a:t>
            </a:r>
          </a:p>
        </p:txBody>
      </p:sp>
    </p:spTree>
    <p:extLst>
      <p:ext uri="{BB962C8B-B14F-4D97-AF65-F5344CB8AC3E}">
        <p14:creationId xmlns:p14="http://schemas.microsoft.com/office/powerpoint/2010/main" val="377978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fontScale="92500"/>
          </a:bodyPr>
          <a:lstStyle/>
          <a:p>
            <a:r>
              <a:rPr lang="en-US">
                <a:ea typeface="+mn-lt"/>
                <a:cs typeface="+mn-lt"/>
              </a:rPr>
              <a:t>The weather station system: This system is responsible for collecting weather data, carrying out some initial data processing, and transmitting it to the data management system</a:t>
            </a:r>
            <a:endParaRPr lang="en-US">
              <a:ea typeface="Calibri"/>
              <a:cs typeface="Calibri"/>
            </a:endParaRPr>
          </a:p>
          <a:p>
            <a:r>
              <a:rPr lang="en-US">
                <a:ea typeface="+mn-lt"/>
                <a:cs typeface="+mn-lt"/>
              </a:rPr>
              <a:t>The data management and archiving system: This system collects the data from all of the wilderness weather stations, carries out data processing and analysis, and archives the data in a form that can be retrieved by other systems, such as weather forecasting systems</a:t>
            </a:r>
            <a:endParaRPr lang="en-US">
              <a:ea typeface="Calibri" panose="020F0502020204030204"/>
              <a:cs typeface="Calibri"/>
            </a:endParaRPr>
          </a:p>
          <a:p>
            <a:r>
              <a:rPr lang="en-US">
                <a:ea typeface="+mn-lt"/>
                <a:cs typeface="+mn-lt"/>
              </a:rPr>
              <a:t>The station maintenance system: This system can communicate by satellite with all wilderness weather stations to monitor the health of these systems and provide reports of problems. It can update the embedded software in these systems. In the event of system problems, this system can also be used to remotely control weather station</a:t>
            </a:r>
            <a:endParaRPr lang="en-US"/>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567046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Requirements:</a:t>
            </a:r>
          </a:p>
          <a:p>
            <a:r>
              <a:rPr lang="en-US">
                <a:ea typeface="Calibri" panose="020F0502020204030204"/>
                <a:cs typeface="Calibri"/>
              </a:rPr>
              <a:t>People involved – Primary stakeholders (Project Sponsors, End users); Secondary stakeholders (Regulatory authorities, Local community representatives); Technical team (Project Manager, Systems Architect, Hardware Engineers, Software Developers, Network Engineers, Data Analysts); Operations specialists (Deployment and Maintenance teams, IT security); Cross Discipline experts (Environmental scientists, GIS experts)</a:t>
            </a:r>
          </a:p>
          <a:p>
            <a:r>
              <a:rPr lang="en-US">
                <a:ea typeface="Calibri" panose="020F0502020204030204"/>
                <a:cs typeface="Calibri"/>
              </a:rPr>
              <a:t>Use documents, mockups, prototypes, user stories, etc. to aid communication. Can have a requirements gathering workshop (with agenda, objective and plan in place to draw up requirements)</a:t>
            </a:r>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88618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Design:</a:t>
            </a:r>
          </a:p>
          <a:p>
            <a:r>
              <a:rPr lang="en-US">
                <a:ea typeface="Calibri" panose="020F0502020204030204"/>
                <a:cs typeface="Calibri"/>
              </a:rPr>
              <a:t>People involved – Core Design team (System Architect, hardware engineers, software engineers – backend developer, frontend developer, network engineers, data analysts, UI/UX designers), Support team (Project manager, environmental scientists, deployment and maintenance teams, IT security team)</a:t>
            </a:r>
          </a:p>
          <a:p>
            <a:endParaRPr lang="en-US">
              <a:ea typeface="Calibri" panose="020F0502020204030204"/>
              <a:cs typeface="Calibri"/>
            </a:endParaRPr>
          </a:p>
          <a:p>
            <a:r>
              <a:rPr lang="en-US">
                <a:ea typeface="Calibri" panose="020F0502020204030204"/>
                <a:cs typeface="Calibri"/>
              </a:rPr>
              <a:t>By now, I think you are able to appreciate or get a flavor of what goes into software development on a large scale</a:t>
            </a:r>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89753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Now let's look at testing (an example to give a better idea)</a:t>
            </a:r>
          </a:p>
          <a:p>
            <a:r>
              <a:rPr lang="en-US">
                <a:ea typeface="Calibri" panose="020F0502020204030204"/>
                <a:cs typeface="Calibri"/>
              </a:rPr>
              <a:t>Testing:</a:t>
            </a:r>
            <a:endParaRPr lang="en-US"/>
          </a:p>
          <a:p>
            <a:pPr lvl="1"/>
            <a:r>
              <a:rPr lang="en-US">
                <a:ea typeface="Calibri" panose="020F0502020204030204"/>
                <a:cs typeface="Calibri"/>
              </a:rPr>
              <a:t>Unit Testing: Individual components like sensor readings, transmission, storage</a:t>
            </a:r>
          </a:p>
          <a:p>
            <a:pPr lvl="1"/>
            <a:r>
              <a:rPr lang="en-US">
                <a:ea typeface="Calibri" panose="020F0502020204030204"/>
                <a:cs typeface="Calibri"/>
              </a:rPr>
              <a:t>Integration Testing: How sensors interact with each other and server</a:t>
            </a:r>
          </a:p>
          <a:p>
            <a:pPr lvl="1"/>
            <a:r>
              <a:rPr lang="en-US">
                <a:ea typeface="Calibri" panose="020F0502020204030204"/>
                <a:cs typeface="Calibri"/>
              </a:rPr>
              <a:t>System Testing: Deploy in controlled environment and test end-to-end</a:t>
            </a:r>
          </a:p>
          <a:p>
            <a:pPr lvl="1"/>
            <a:r>
              <a:rPr lang="en-US">
                <a:ea typeface="Calibri" panose="020F0502020204030204"/>
                <a:cs typeface="Calibri"/>
              </a:rPr>
              <a:t>Performance Testing: Performance under stress (high loads)</a:t>
            </a:r>
          </a:p>
          <a:p>
            <a:pPr lvl="1"/>
            <a:r>
              <a:rPr lang="en-US">
                <a:ea typeface="Calibri" panose="020F0502020204030204"/>
                <a:cs typeface="Calibri"/>
              </a:rPr>
              <a:t>Field Testing: Deploy prototype in real world and test</a:t>
            </a:r>
          </a:p>
          <a:p>
            <a:pPr lvl="1"/>
            <a:r>
              <a:rPr lang="en-US">
                <a:ea typeface="Calibri" panose="020F0502020204030204"/>
                <a:cs typeface="Calibri"/>
              </a:rPr>
              <a:t>Failover and Recovery Testing: Simulate failures to see how system deals with failure (how it recovers from a power failure, for instance)</a:t>
            </a:r>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84808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Calibri" panose="020F0502020204030204"/>
                <a:cs typeface="Calibri"/>
              </a:rPr>
              <a:t>Document showcasing a structured approach needed to designing, implementing and deploying the wilderness weather station: See </a:t>
            </a:r>
            <a:r>
              <a:rPr lang="en-US" dirty="0">
                <a:ea typeface="Calibri" panose="020F0502020204030204"/>
                <a:cs typeface="Calibri"/>
                <a:hlinkClick r:id="rId3"/>
              </a:rPr>
              <a:t>here</a:t>
            </a:r>
          </a:p>
          <a:p>
            <a:pPr marL="0" indent="0">
              <a:buNone/>
            </a:pPr>
            <a:endParaRPr lang="en-US">
              <a:ea typeface="Calibri" panose="020F0502020204030204"/>
              <a:cs typeface="Calibri"/>
            </a:endParaRP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1181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Summary of Software Engineering Process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Requirements Analysis</a:t>
            </a:r>
          </a:p>
          <a:p>
            <a:r>
              <a:rPr lang="en-US">
                <a:ea typeface="Calibri" panose="020F0502020204030204"/>
                <a:cs typeface="Calibri"/>
              </a:rPr>
              <a:t>Design</a:t>
            </a:r>
          </a:p>
          <a:p>
            <a:r>
              <a:rPr lang="en-US">
                <a:ea typeface="Calibri" panose="020F0502020204030204"/>
                <a:cs typeface="Calibri"/>
              </a:rPr>
              <a:t>Coding / Implementation</a:t>
            </a:r>
          </a:p>
          <a:p>
            <a:r>
              <a:rPr lang="en-US">
                <a:ea typeface="Calibri" panose="020F0502020204030204"/>
                <a:cs typeface="Calibri"/>
              </a:rPr>
              <a:t>Validation / Testing</a:t>
            </a:r>
          </a:p>
          <a:p>
            <a:r>
              <a:rPr lang="en-US">
                <a:ea typeface="Calibri" panose="020F0502020204030204"/>
                <a:cs typeface="Calibri"/>
              </a:rPr>
              <a:t>Maintenance</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42694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Maintenance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"A family friend retired after being a COBOL programmer for 30 years. About two years after his retirement, a company came to him and said, 'Name your salary,' and he requested around $1.5 million/year. He was hired on the spot and still works there.“</a:t>
            </a:r>
          </a:p>
          <a:p>
            <a:r>
              <a:rPr lang="en-US"/>
              <a:t>"Pick an obscure programming language, write lots of important code, and don’t comment or document anything.“</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
        <p:nvSpPr>
          <p:cNvPr id="9" name="TextBox 8">
            <a:extLst>
              <a:ext uri="{FF2B5EF4-FFF2-40B4-BE49-F238E27FC236}">
                <a16:creationId xmlns:a16="http://schemas.microsoft.com/office/drawing/2014/main" id="{DCAD6412-7D40-439B-AA1D-FC6D728A2B92}"/>
              </a:ext>
            </a:extLst>
          </p:cNvPr>
          <p:cNvSpPr txBox="1"/>
          <p:nvPr/>
        </p:nvSpPr>
        <p:spPr>
          <a:xfrm>
            <a:off x="1093076" y="5785928"/>
            <a:ext cx="11098924" cy="369332"/>
          </a:xfrm>
          <a:prstGeom prst="rect">
            <a:avLst/>
          </a:prstGeom>
          <a:noFill/>
        </p:spPr>
        <p:txBody>
          <a:bodyPr wrap="square" rtlCol="0">
            <a:spAutoFit/>
          </a:bodyPr>
          <a:lstStyle/>
          <a:p>
            <a:r>
              <a:rPr lang="en-US"/>
              <a:t>Source: </a:t>
            </a:r>
            <a:r>
              <a:rPr lang="en-US">
                <a:hlinkClick r:id="rId4"/>
              </a:rPr>
              <a:t>https://www.buzzfeed.com/andyneuenschwander/people-are-sharing-what-their-wealthiest-friend-does-for</a:t>
            </a:r>
            <a:endParaRPr lang="en-US"/>
          </a:p>
        </p:txBody>
      </p:sp>
    </p:spTree>
    <p:extLst>
      <p:ext uri="{BB962C8B-B14F-4D97-AF65-F5344CB8AC3E}">
        <p14:creationId xmlns:p14="http://schemas.microsoft.com/office/powerpoint/2010/main" val="3703910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Software Engineering Costs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5D595E24-2589-4811-97F6-34B9B5820E5B}"/>
              </a:ext>
            </a:extLst>
          </p:cNvPr>
          <p:cNvPicPr>
            <a:picLocks noChangeAspect="1"/>
          </p:cNvPicPr>
          <p:nvPr/>
        </p:nvPicPr>
        <p:blipFill>
          <a:blip r:embed="rId4"/>
          <a:stretch>
            <a:fillRect/>
          </a:stretch>
        </p:blipFill>
        <p:spPr>
          <a:xfrm>
            <a:off x="2409693" y="1440429"/>
            <a:ext cx="7373379" cy="4143953"/>
          </a:xfrm>
          <a:prstGeom prst="rect">
            <a:avLst/>
          </a:prstGeom>
        </p:spPr>
      </p:pic>
      <p:sp>
        <p:nvSpPr>
          <p:cNvPr id="5" name="TextBox 4">
            <a:extLst>
              <a:ext uri="{FF2B5EF4-FFF2-40B4-BE49-F238E27FC236}">
                <a16:creationId xmlns:a16="http://schemas.microsoft.com/office/drawing/2014/main" id="{82AD2C25-DBAA-49AA-AB7A-E046C6C3F66A}"/>
              </a:ext>
            </a:extLst>
          </p:cNvPr>
          <p:cNvSpPr txBox="1"/>
          <p:nvPr/>
        </p:nvSpPr>
        <p:spPr>
          <a:xfrm>
            <a:off x="7298032" y="6123543"/>
            <a:ext cx="4970079" cy="369332"/>
          </a:xfrm>
          <a:prstGeom prst="rect">
            <a:avLst/>
          </a:prstGeom>
          <a:noFill/>
        </p:spPr>
        <p:txBody>
          <a:bodyPr wrap="square" rtlCol="0">
            <a:spAutoFit/>
          </a:bodyPr>
          <a:lstStyle/>
          <a:p>
            <a:r>
              <a:rPr lang="en-US"/>
              <a:t>Figure source: SE CS3204, Raghu </a:t>
            </a:r>
            <a:r>
              <a:rPr lang="en-US" err="1"/>
              <a:t>Kisore</a:t>
            </a:r>
            <a:r>
              <a:rPr lang="en-US"/>
              <a:t>, MEC, 2024</a:t>
            </a:r>
          </a:p>
        </p:txBody>
      </p:sp>
    </p:spTree>
    <p:extLst>
      <p:ext uri="{BB962C8B-B14F-4D97-AF65-F5344CB8AC3E}">
        <p14:creationId xmlns:p14="http://schemas.microsoft.com/office/powerpoint/2010/main" val="1499174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panose="020F0502020204030204"/>
                <a:cs typeface="Calibri"/>
              </a:rPr>
              <a:t>Process Models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659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Generic Process Models / Process Flows (Refer Pressman, pg. 33)</a:t>
            </a:r>
            <a:endParaRPr lang="en-US" dirty="0"/>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9" name="Picture 8">
            <a:extLst>
              <a:ext uri="{FF2B5EF4-FFF2-40B4-BE49-F238E27FC236}">
                <a16:creationId xmlns:a16="http://schemas.microsoft.com/office/drawing/2014/main" id="{65A2B603-8013-4CDC-BFCC-D75510E1E66D}"/>
              </a:ext>
            </a:extLst>
          </p:cNvPr>
          <p:cNvPicPr>
            <a:picLocks noChangeAspect="1"/>
          </p:cNvPicPr>
          <p:nvPr/>
        </p:nvPicPr>
        <p:blipFill>
          <a:blip r:embed="rId4"/>
          <a:stretch>
            <a:fillRect/>
          </a:stretch>
        </p:blipFill>
        <p:spPr>
          <a:xfrm>
            <a:off x="615046" y="2171281"/>
            <a:ext cx="10961908" cy="3671266"/>
          </a:xfrm>
          <a:prstGeom prst="rect">
            <a:avLst/>
          </a:prstGeom>
        </p:spPr>
      </p:pic>
      <p:sp>
        <p:nvSpPr>
          <p:cNvPr id="5" name="TextBox 4">
            <a:extLst>
              <a:ext uri="{FF2B5EF4-FFF2-40B4-BE49-F238E27FC236}">
                <a16:creationId xmlns:a16="http://schemas.microsoft.com/office/drawing/2014/main" id="{D3A95C0F-1A52-B1B7-02D0-AAFA6A105C7C}"/>
              </a:ext>
            </a:extLst>
          </p:cNvPr>
          <p:cNvSpPr txBox="1"/>
          <p:nvPr/>
        </p:nvSpPr>
        <p:spPr>
          <a:xfrm>
            <a:off x="538031" y="5940405"/>
            <a:ext cx="1080091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 Though Pressman uses the term Process flows, I would you rather NOT USE the term Process flow, since it can be misunderstood for 'flow or usage pattern of a software'. !!!</a:t>
            </a:r>
            <a:endParaRPr lang="en-US" dirty="0"/>
          </a:p>
        </p:txBody>
      </p:sp>
    </p:spTree>
    <p:extLst>
      <p:ext uri="{BB962C8B-B14F-4D97-AF65-F5344CB8AC3E}">
        <p14:creationId xmlns:p14="http://schemas.microsoft.com/office/powerpoint/2010/main" val="1104067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Generic Process Models / Process Flows (Refer Pressman, pg. 33)</a:t>
            </a:r>
            <a:endParaRPr lang="en-US" dirty="0">
              <a:cs typeface="Calibri Light"/>
            </a:endParaRP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22B6E82A-B756-4D7B-9234-B284C626C43D}"/>
              </a:ext>
            </a:extLst>
          </p:cNvPr>
          <p:cNvPicPr>
            <a:picLocks noChangeAspect="1"/>
          </p:cNvPicPr>
          <p:nvPr/>
        </p:nvPicPr>
        <p:blipFill rotWithShape="1">
          <a:blip r:embed="rId4"/>
          <a:srcRect l="3865"/>
          <a:stretch/>
        </p:blipFill>
        <p:spPr>
          <a:xfrm>
            <a:off x="2820243" y="2527821"/>
            <a:ext cx="6560533" cy="2950445"/>
          </a:xfrm>
          <a:prstGeom prst="rect">
            <a:avLst/>
          </a:prstGeom>
        </p:spPr>
      </p:pic>
    </p:spTree>
    <p:extLst>
      <p:ext uri="{BB962C8B-B14F-4D97-AF65-F5344CB8AC3E}">
        <p14:creationId xmlns:p14="http://schemas.microsoft.com/office/powerpoint/2010/main" val="1491116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Software Engineering Process Models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t>As explained earlier, a software process model (sometimes called a Software Development Life Cycle or SDLC model) is a simplified representation of a software process</a:t>
            </a:r>
          </a:p>
          <a:p>
            <a:r>
              <a:rPr lang="en-US"/>
              <a:t>In this section, we introduce a number of very general process models (sometimes called process paradigms) and present these from an architectural perspective. That is, we see the framework of the process but not the details of process activities</a:t>
            </a:r>
          </a:p>
          <a:p>
            <a:r>
              <a:rPr lang="en-US">
                <a:ea typeface="Calibri" panose="020F0502020204030204"/>
                <a:cs typeface="Calibri"/>
              </a:rPr>
              <a:t>These can be thought of as process frameworks, and can be extended and adapted to create more specific software engineering processes</a:t>
            </a:r>
          </a:p>
          <a:p>
            <a:r>
              <a:rPr lang="en-US">
                <a:ea typeface="Calibri" panose="020F0502020204030204"/>
                <a:cs typeface="Calibri"/>
              </a:rPr>
              <a:t>There is no universal process model which works for all kinds of software development</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62289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Software Engineering Process Models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Types:</a:t>
            </a:r>
          </a:p>
          <a:p>
            <a:pPr lvl="1"/>
            <a:r>
              <a:rPr lang="en-US" b="1" i="1" u="sng"/>
              <a:t>The waterfall model:</a:t>
            </a:r>
            <a:r>
              <a:rPr lang="en-US"/>
              <a:t> This takes the fundamental process activities of specification, development, validation, and evolution and represents them as separate process phases such as requirements specification, software design, implementation, and testing</a:t>
            </a:r>
          </a:p>
          <a:p>
            <a:pPr lvl="1"/>
            <a:r>
              <a:rPr lang="en-US" b="1" i="1" u="sng"/>
              <a:t>Incremental development:</a:t>
            </a:r>
            <a:r>
              <a:rPr lang="en-US"/>
              <a:t> This approach interleaves the activities of specification, development, and validation. The system is developed as a series of versions (increments), with each version adding functionality to the previous version</a:t>
            </a:r>
          </a:p>
          <a:p>
            <a:pPr lvl="1"/>
            <a:r>
              <a:rPr lang="en-US" b="1" i="1" u="sng"/>
              <a:t>Integration and configuration:</a:t>
            </a:r>
            <a:r>
              <a:rPr lang="en-US"/>
              <a:t> This approach relies on the availability of reusable components or systems. The system development process focuses on configuring these components for use in a new setting and integrating them into a system</a:t>
            </a:r>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79929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Software Engineering Process Models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Calibri" panose="020F0502020204030204"/>
                <a:cs typeface="Calibri"/>
              </a:rPr>
              <a:t>Many practical software projects tend to combine the best bits from different general models (previous slide)</a:t>
            </a:r>
          </a:p>
          <a:p>
            <a:r>
              <a:rPr lang="en-US" dirty="0">
                <a:ea typeface="Calibri" panose="020F0502020204030204"/>
                <a:cs typeface="Calibri"/>
              </a:rPr>
              <a:t>Attempts have also been made to come up with an universal process model, the best known among these is the Rational Unified Process – RUP</a:t>
            </a:r>
          </a:p>
          <a:p>
            <a:r>
              <a:rPr lang="en-US" dirty="0">
                <a:ea typeface="Calibri" panose="020F0502020204030204"/>
                <a:cs typeface="Calibri"/>
              </a:rPr>
              <a:t>RUP can be modified in different ways such that can resemble any of the general models</a:t>
            </a:r>
          </a:p>
          <a:p>
            <a:r>
              <a:rPr lang="en-US" dirty="0">
                <a:ea typeface="Calibri" panose="020F0502020204030204"/>
                <a:cs typeface="Calibri"/>
              </a:rPr>
              <a:t>Adopted by some companies, notably IBM, but not widespread</a:t>
            </a:r>
            <a:endParaRPr lang="en-GB"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04487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Waterfall Model (Refer Sommerville, pg. 47)</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Derived from large military systems engineering</a:t>
            </a:r>
          </a:p>
          <a:p>
            <a:r>
              <a:rPr lang="en-US">
                <a:ea typeface="Calibri" panose="020F0502020204030204"/>
                <a:cs typeface="Calibri"/>
              </a:rPr>
              <a:t>Plan driven process – you plan and schedule in advance</a:t>
            </a:r>
          </a:p>
          <a:p>
            <a:r>
              <a:rPr lang="en-US">
                <a:ea typeface="Calibri" panose="020F0502020204030204"/>
                <a:cs typeface="Calibri"/>
              </a:rPr>
              <a:t>Stages of Waterfall model directly reflect the fundamental software engineering activities</a:t>
            </a:r>
          </a:p>
          <a:p>
            <a:r>
              <a:rPr lang="en-US">
                <a:ea typeface="Calibri" panose="020F0502020204030204"/>
                <a:cs typeface="Calibri"/>
              </a:rPr>
              <a:t>Result of each phase is one or more documents which are “signed off” (approved). The next phase does not start until the previous phase completes</a:t>
            </a:r>
          </a:p>
          <a:p>
            <a:r>
              <a:rPr lang="en-US">
                <a:ea typeface="Calibri" panose="020F0502020204030204"/>
                <a:cs typeface="Calibri"/>
              </a:rPr>
              <a:t>This approach works better for hardware solutions, but is not practical (at least in most cases) for software solutions</a:t>
            </a:r>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50131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Waterfall Model</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10" name="Picture 9">
            <a:extLst>
              <a:ext uri="{FF2B5EF4-FFF2-40B4-BE49-F238E27FC236}">
                <a16:creationId xmlns:a16="http://schemas.microsoft.com/office/drawing/2014/main" id="{05914267-1002-4052-9E2A-680E4E80DA3D}"/>
              </a:ext>
            </a:extLst>
          </p:cNvPr>
          <p:cNvPicPr>
            <a:picLocks noChangeAspect="1"/>
          </p:cNvPicPr>
          <p:nvPr/>
        </p:nvPicPr>
        <p:blipFill>
          <a:blip r:embed="rId4"/>
          <a:stretch>
            <a:fillRect/>
          </a:stretch>
        </p:blipFill>
        <p:spPr>
          <a:xfrm>
            <a:off x="1753956" y="1511151"/>
            <a:ext cx="8684088" cy="4845199"/>
          </a:xfrm>
          <a:prstGeom prst="rect">
            <a:avLst/>
          </a:prstGeom>
        </p:spPr>
      </p:pic>
    </p:spTree>
    <p:extLst>
      <p:ext uri="{BB962C8B-B14F-4D97-AF65-F5344CB8AC3E}">
        <p14:creationId xmlns:p14="http://schemas.microsoft.com/office/powerpoint/2010/main" val="4166520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Waterfall Model</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Drawbacks:</a:t>
            </a:r>
          </a:p>
          <a:p>
            <a:pPr lvl="1"/>
            <a:r>
              <a:rPr lang="en-US">
                <a:ea typeface="Calibri" panose="020F0502020204030204"/>
                <a:cs typeface="Calibri"/>
              </a:rPr>
              <a:t>Sequential flow from stage to stage rarely possible, especially hard to envisage the end product in the requirements analysis stage</a:t>
            </a:r>
          </a:p>
          <a:p>
            <a:pPr lvl="1"/>
            <a:r>
              <a:rPr lang="en-US">
                <a:ea typeface="Calibri" panose="020F0502020204030204"/>
                <a:cs typeface="Calibri"/>
              </a:rPr>
              <a:t>No option to come back and modify, forces teams to freeze prematurely at different stages</a:t>
            </a:r>
          </a:p>
          <a:p>
            <a:r>
              <a:rPr lang="en-US">
                <a:ea typeface="Calibri" panose="020F0502020204030204"/>
                <a:cs typeface="Calibri"/>
              </a:rPr>
              <a:t>When to use:</a:t>
            </a:r>
          </a:p>
          <a:p>
            <a:pPr lvl="1"/>
            <a:r>
              <a:rPr lang="en-US">
                <a:ea typeface="Calibri" panose="020F0502020204030204"/>
                <a:cs typeface="Calibri"/>
              </a:rPr>
              <a:t>Only in situations where – Requirements well understood, Technology is stable, No ambiguity at any stage</a:t>
            </a:r>
          </a:p>
          <a:p>
            <a:r>
              <a:rPr lang="en-US">
                <a:ea typeface="Calibri" panose="020F0502020204030204"/>
                <a:cs typeface="Calibri"/>
              </a:rPr>
              <a:t>Example usage:</a:t>
            </a:r>
          </a:p>
          <a:p>
            <a:pPr lvl="1"/>
            <a:r>
              <a:rPr lang="en-US">
                <a:ea typeface="Calibri" panose="020F0502020204030204"/>
                <a:cs typeface="Calibri"/>
              </a:rPr>
              <a:t>Embedded Systems</a:t>
            </a:r>
          </a:p>
          <a:p>
            <a:pPr lvl="1"/>
            <a:r>
              <a:rPr lang="en-US">
                <a:ea typeface="Calibri" panose="020F0502020204030204"/>
                <a:cs typeface="Calibri"/>
              </a:rPr>
              <a:t>Critical Systems</a:t>
            </a:r>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70928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Incremental Development (Refer Sommerville, pg. 49)</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802547"/>
          </a:xfrm>
        </p:spPr>
        <p:txBody>
          <a:bodyPr vert="horz" lIns="91440" tIns="45720" rIns="91440" bIns="45720" rtlCol="0" anchor="t">
            <a:normAutofit lnSpcReduction="10000"/>
          </a:bodyPr>
          <a:lstStyle/>
          <a:p>
            <a:r>
              <a:rPr lang="en-US"/>
              <a:t>Incremental development is based on the idea of developing an initial implementation, getting feedback from users and others, and evolving the software through several versions until the required system has been developed</a:t>
            </a:r>
          </a:p>
          <a:p>
            <a:r>
              <a:rPr lang="en-US">
                <a:ea typeface="Calibri" panose="020F0502020204030204"/>
                <a:cs typeface="Calibri"/>
              </a:rPr>
              <a:t>Therefore, here, specification, development and validation are interleaved, rather than separate, with rapid feedback across activities</a:t>
            </a:r>
          </a:p>
          <a:p>
            <a:r>
              <a:rPr lang="en-US"/>
              <a:t>Incremental development reflects the way that we solve problems. We rarely work out a complete problem solution in advance but move toward a solution in a series of steps, backtracking when we realize that we have made a mistake. By developing the software incrementally, it is cheaper and easier to make changes in the software as it is being developed</a:t>
            </a:r>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115772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Incremental Model (Refer Pressman, pg. 43)</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3" name="Picture 2">
            <a:extLst>
              <a:ext uri="{FF2B5EF4-FFF2-40B4-BE49-F238E27FC236}">
                <a16:creationId xmlns:a16="http://schemas.microsoft.com/office/drawing/2014/main" id="{47BD1D3A-AB54-4C50-A8E9-05DCA2279FBA}"/>
              </a:ext>
            </a:extLst>
          </p:cNvPr>
          <p:cNvPicPr>
            <a:picLocks noChangeAspect="1"/>
          </p:cNvPicPr>
          <p:nvPr/>
        </p:nvPicPr>
        <p:blipFill>
          <a:blip r:embed="rId4"/>
          <a:stretch>
            <a:fillRect/>
          </a:stretch>
        </p:blipFill>
        <p:spPr>
          <a:xfrm>
            <a:off x="1414955" y="1336913"/>
            <a:ext cx="9362090" cy="5487147"/>
          </a:xfrm>
          <a:prstGeom prst="rect">
            <a:avLst/>
          </a:prstGeom>
        </p:spPr>
      </p:pic>
    </p:spTree>
    <p:extLst>
      <p:ext uri="{BB962C8B-B14F-4D97-AF65-F5344CB8AC3E}">
        <p14:creationId xmlns:p14="http://schemas.microsoft.com/office/powerpoint/2010/main" val="1406407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Incremental Development</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Major advantages over waterfall:</a:t>
            </a:r>
          </a:p>
          <a:p>
            <a:pPr lvl="1"/>
            <a:r>
              <a:rPr lang="en-US">
                <a:ea typeface="Calibri" panose="020F0502020204030204"/>
                <a:cs typeface="Calibri"/>
              </a:rPr>
              <a:t>Cost of implementing requirements changes is reduced</a:t>
            </a:r>
          </a:p>
          <a:p>
            <a:pPr lvl="1"/>
            <a:r>
              <a:rPr lang="en-US">
                <a:ea typeface="Calibri" panose="020F0502020204030204"/>
                <a:cs typeface="Calibri"/>
              </a:rPr>
              <a:t>Easier to get customer feedback on tangible work (customer can give better feedback on a working prototype than on a set of documents)</a:t>
            </a:r>
          </a:p>
          <a:p>
            <a:pPr lvl="1"/>
            <a:r>
              <a:rPr lang="en-US">
                <a:ea typeface="Calibri" panose="020F0502020204030204"/>
                <a:cs typeface="Calibri"/>
              </a:rPr>
              <a:t>Early delivery and deployment of “useful” software is possible, customers gain value faster from the software</a:t>
            </a:r>
          </a:p>
          <a:p>
            <a:r>
              <a:rPr lang="en-US">
                <a:ea typeface="Calibri" panose="020F0502020204030204"/>
                <a:cs typeface="Calibri"/>
              </a:rPr>
              <a:t>Drawbacks (managerial):</a:t>
            </a:r>
          </a:p>
          <a:p>
            <a:pPr lvl="1"/>
            <a:r>
              <a:rPr lang="en-GB">
                <a:ea typeface="Calibri" panose="020F0502020204030204"/>
                <a:cs typeface="Calibri"/>
              </a:rPr>
              <a:t>Process not visible, therefore difficult to track (and since versions are developed quickly, it is not viable to produce documents for every version)</a:t>
            </a:r>
          </a:p>
          <a:p>
            <a:pPr lvl="1"/>
            <a:r>
              <a:rPr lang="en-GB">
                <a:ea typeface="Calibri" panose="020F0502020204030204"/>
                <a:cs typeface="Calibri"/>
              </a:rPr>
              <a:t>System structure tends to degrade as new features are added (however, agile methods suggest that you regularly refactor, i.e., improve and restructure, the software</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179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Integration and Configuration (re-use)</a:t>
            </a:r>
            <a:br>
              <a:rPr lang="en-GB">
                <a:cs typeface="Calibri Light"/>
              </a:rPr>
            </a:br>
            <a:r>
              <a:rPr lang="en-GB">
                <a:cs typeface="Calibri Light"/>
              </a:rPr>
              <a:t>(Refer Sommerville, pg. 52)</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a:ea typeface="Calibri" panose="020F0502020204030204"/>
                <a:cs typeface="Calibri"/>
              </a:rPr>
              <a:t>Informally, there is some amount of software reuse always</a:t>
            </a:r>
            <a:r>
              <a:rPr lang="en-GB">
                <a:ea typeface="Calibri" panose="020F0502020204030204"/>
                <a:cs typeface="Calibri"/>
              </a:rPr>
              <a:t> (regardless of process type)</a:t>
            </a:r>
          </a:p>
          <a:p>
            <a:r>
              <a:rPr lang="en-US"/>
              <a:t>Reuse-oriented approaches rely on a base of reusable software components and an integrating framework</a:t>
            </a:r>
          </a:p>
          <a:p>
            <a:r>
              <a:rPr lang="en-US">
                <a:ea typeface="Calibri" panose="020F0502020204030204"/>
                <a:cs typeface="Calibri"/>
              </a:rPr>
              <a:t>Three types of software components are frequently reused: Stand-alone application systems, collection of objects as part of a component or package, web services developed following some standard and can be accessed by remote invocation over the Internet</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807025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Integration and Configuration (re-use)</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9DD76396-A852-4DFC-B91D-DCA3041A8120}"/>
              </a:ext>
            </a:extLst>
          </p:cNvPr>
          <p:cNvPicPr>
            <a:picLocks noChangeAspect="1"/>
          </p:cNvPicPr>
          <p:nvPr/>
        </p:nvPicPr>
        <p:blipFill>
          <a:blip r:embed="rId4"/>
          <a:stretch>
            <a:fillRect/>
          </a:stretch>
        </p:blipFill>
        <p:spPr>
          <a:xfrm>
            <a:off x="163636" y="2021873"/>
            <a:ext cx="11864727" cy="3749575"/>
          </a:xfrm>
          <a:prstGeom prst="rect">
            <a:avLst/>
          </a:prstGeom>
        </p:spPr>
      </p:pic>
    </p:spTree>
    <p:extLst>
      <p:ext uri="{BB962C8B-B14F-4D97-AF65-F5344CB8AC3E}">
        <p14:creationId xmlns:p14="http://schemas.microsoft.com/office/powerpoint/2010/main" val="3509781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Integration and Configuration (re-use)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fontScale="92500"/>
          </a:bodyPr>
          <a:lstStyle/>
          <a:p>
            <a:r>
              <a:rPr lang="en-US">
                <a:ea typeface="Calibri" panose="020F0502020204030204"/>
                <a:cs typeface="Calibri"/>
              </a:rPr>
              <a:t>Stages:</a:t>
            </a:r>
          </a:p>
          <a:p>
            <a:pPr lvl="1"/>
            <a:r>
              <a:rPr lang="en-US" i="1">
                <a:ea typeface="Calibri" panose="020F0502020204030204"/>
                <a:cs typeface="Calibri"/>
              </a:rPr>
              <a:t>Requirements Specification:</a:t>
            </a:r>
            <a:r>
              <a:rPr lang="en-US">
                <a:ea typeface="Calibri" panose="020F0502020204030204"/>
                <a:cs typeface="Calibri"/>
              </a:rPr>
              <a:t> </a:t>
            </a:r>
            <a:r>
              <a:rPr lang="en-US"/>
              <a:t>Initial requirements proposed. These do not have to be elaborated in detail but should include brief descriptions of essential requirements and desirable system features</a:t>
            </a:r>
          </a:p>
          <a:p>
            <a:pPr lvl="1"/>
            <a:r>
              <a:rPr lang="en-US" i="1"/>
              <a:t>Software discovery and evaluation:</a:t>
            </a:r>
            <a:r>
              <a:rPr lang="en-US"/>
              <a:t> A search is made for components and systems that provide the functionality required. Candidate components and systems are evaluated</a:t>
            </a:r>
          </a:p>
          <a:p>
            <a:pPr lvl="1"/>
            <a:r>
              <a:rPr lang="en-US" i="1"/>
              <a:t>Requirements refinement:</a:t>
            </a:r>
            <a:r>
              <a:rPr lang="en-US"/>
              <a:t> During this stage, the requirements are refined using information about the reusable components and applications that have been discovered</a:t>
            </a:r>
          </a:p>
          <a:p>
            <a:pPr lvl="1"/>
            <a:r>
              <a:rPr lang="en-US" i="1"/>
              <a:t>Application system configuration:</a:t>
            </a:r>
            <a:r>
              <a:rPr lang="en-US"/>
              <a:t> If an off-the-shelf application system that meets the requirements is available, it may then be configured for use to create new system</a:t>
            </a:r>
          </a:p>
          <a:p>
            <a:pPr lvl="1"/>
            <a:r>
              <a:rPr lang="en-US" i="1"/>
              <a:t>Component adaptation and integration:</a:t>
            </a:r>
            <a:r>
              <a:rPr lang="en-US"/>
              <a:t> If there is no off-the-shelf system, individual reusable components may be modified, then integrated to create the system</a:t>
            </a:r>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91515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ea typeface="Calibri Light"/>
                <a:cs typeface="Calibri Light"/>
              </a:rPr>
              <a:t>Examples on each of the process models</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Sample software engineering examples utilizing each of the three process models can be found here: </a:t>
            </a:r>
            <a:r>
              <a:rPr lang="en-US">
                <a:ea typeface="+mn-lt"/>
                <a:cs typeface="+mn-lt"/>
                <a:hlinkClick r:id="rId3"/>
              </a:rPr>
              <a:t>Additional handouts</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38744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Additional Models (based on the 3 paradigms)</a:t>
            </a:r>
            <a:endParaRPr lang="en-US" dirty="0"/>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Calibri" panose="020F0502020204030204"/>
                <a:cs typeface="Calibri"/>
              </a:rPr>
              <a:t>V model</a:t>
            </a:r>
          </a:p>
          <a:p>
            <a:r>
              <a:rPr lang="en-US" dirty="0">
                <a:ea typeface="Calibri" panose="020F0502020204030204"/>
                <a:cs typeface="Calibri"/>
              </a:rPr>
              <a:t>Evolutionary Process Models</a:t>
            </a:r>
          </a:p>
          <a:p>
            <a:pPr lvl="1"/>
            <a:r>
              <a:rPr lang="en-US" dirty="0">
                <a:ea typeface="Calibri" panose="020F0502020204030204"/>
                <a:cs typeface="Calibri"/>
              </a:rPr>
              <a:t>Prototyping Model</a:t>
            </a:r>
          </a:p>
          <a:p>
            <a:pPr lvl="1"/>
            <a:r>
              <a:rPr lang="en-US" dirty="0">
                <a:ea typeface="Calibri" panose="020F0502020204030204"/>
                <a:cs typeface="Calibri"/>
              </a:rPr>
              <a:t>Spiral Model</a:t>
            </a:r>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53999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V Model (Refer Pressman, pg. 42)</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9E9DD978-404D-4AC8-829B-B103F7777071}"/>
              </a:ext>
            </a:extLst>
          </p:cNvPr>
          <p:cNvPicPr>
            <a:picLocks noChangeAspect="1"/>
          </p:cNvPicPr>
          <p:nvPr/>
        </p:nvPicPr>
        <p:blipFill>
          <a:blip r:embed="rId4"/>
          <a:stretch>
            <a:fillRect/>
          </a:stretch>
        </p:blipFill>
        <p:spPr>
          <a:xfrm>
            <a:off x="3247631" y="1270709"/>
            <a:ext cx="5361380" cy="5448380"/>
          </a:xfrm>
          <a:prstGeom prst="rect">
            <a:avLst/>
          </a:prstGeom>
        </p:spPr>
      </p:pic>
      <p:sp>
        <p:nvSpPr>
          <p:cNvPr id="3" name="TextBox 2">
            <a:extLst>
              <a:ext uri="{FF2B5EF4-FFF2-40B4-BE49-F238E27FC236}">
                <a16:creationId xmlns:a16="http://schemas.microsoft.com/office/drawing/2014/main" id="{B128480B-2968-864D-6DED-EECBBEFA11E0}"/>
              </a:ext>
            </a:extLst>
          </p:cNvPr>
          <p:cNvSpPr txBox="1"/>
          <p:nvPr/>
        </p:nvSpPr>
        <p:spPr>
          <a:xfrm>
            <a:off x="124690" y="1496290"/>
            <a:ext cx="24799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Wait, what is happening here?!</a:t>
            </a:r>
            <a:endParaRPr lang="en-US"/>
          </a:p>
        </p:txBody>
      </p:sp>
      <p:sp>
        <p:nvSpPr>
          <p:cNvPr id="5" name="TextBox 4">
            <a:extLst>
              <a:ext uri="{FF2B5EF4-FFF2-40B4-BE49-F238E27FC236}">
                <a16:creationId xmlns:a16="http://schemas.microsoft.com/office/drawing/2014/main" id="{0A0300CE-0EF1-25D6-0877-5DE75F57CFCE}"/>
              </a:ext>
            </a:extLst>
          </p:cNvPr>
          <p:cNvSpPr txBox="1"/>
          <p:nvPr/>
        </p:nvSpPr>
        <p:spPr>
          <a:xfrm>
            <a:off x="124692" y="2230582"/>
            <a:ext cx="277090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Just look at the left arm (or leg) of the V, and it is nothing but your simple waterfall model.</a:t>
            </a:r>
            <a:endParaRPr lang="en-US"/>
          </a:p>
        </p:txBody>
      </p:sp>
      <p:sp>
        <p:nvSpPr>
          <p:cNvPr id="9" name="TextBox 8">
            <a:extLst>
              <a:ext uri="{FF2B5EF4-FFF2-40B4-BE49-F238E27FC236}">
                <a16:creationId xmlns:a16="http://schemas.microsoft.com/office/drawing/2014/main" id="{C5CBF18D-F0D0-F605-ED83-4BD425224C1C}"/>
              </a:ext>
            </a:extLst>
          </p:cNvPr>
          <p:cNvSpPr txBox="1"/>
          <p:nvPr/>
        </p:nvSpPr>
        <p:spPr>
          <a:xfrm>
            <a:off x="124692" y="3616036"/>
            <a:ext cx="292330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The right arm (or leg) of the V symbolizes the fact that the V model focuses on testing artefacts produced at every single stage / phase of project lifecycle.</a:t>
            </a:r>
          </a:p>
        </p:txBody>
      </p:sp>
      <p:sp>
        <p:nvSpPr>
          <p:cNvPr id="10" name="TextBox 9">
            <a:extLst>
              <a:ext uri="{FF2B5EF4-FFF2-40B4-BE49-F238E27FC236}">
                <a16:creationId xmlns:a16="http://schemas.microsoft.com/office/drawing/2014/main" id="{3F7457B7-0810-EA41-4650-5CC0CAA30B61}"/>
              </a:ext>
            </a:extLst>
          </p:cNvPr>
          <p:cNvSpPr txBox="1"/>
          <p:nvPr/>
        </p:nvSpPr>
        <p:spPr>
          <a:xfrm>
            <a:off x="8714510" y="1496289"/>
            <a:ext cx="308956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Do other models not focus on testing? How is V different?</a:t>
            </a:r>
          </a:p>
          <a:p>
            <a:r>
              <a:rPr lang="en-US">
                <a:ea typeface="Calibri"/>
                <a:cs typeface="Calibri"/>
              </a:rPr>
              <a:t>It integrates testing ALONGSIDE each phase of process lifecycle.</a:t>
            </a:r>
          </a:p>
        </p:txBody>
      </p:sp>
      <p:sp>
        <p:nvSpPr>
          <p:cNvPr id="11" name="TextBox 10">
            <a:extLst>
              <a:ext uri="{FF2B5EF4-FFF2-40B4-BE49-F238E27FC236}">
                <a16:creationId xmlns:a16="http://schemas.microsoft.com/office/drawing/2014/main" id="{4DC84307-14C0-3D4B-E6C0-9A010DDC5E2F}"/>
              </a:ext>
            </a:extLst>
          </p:cNvPr>
          <p:cNvSpPr txBox="1"/>
          <p:nvPr/>
        </p:nvSpPr>
        <p:spPr>
          <a:xfrm>
            <a:off x="8714510" y="3103417"/>
            <a:ext cx="3352798" cy="3167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How do you test requirements modelling?</a:t>
            </a:r>
            <a:br>
              <a:rPr lang="en-US">
                <a:ea typeface="Calibri"/>
                <a:cs typeface="Calibri"/>
              </a:rPr>
            </a:br>
            <a:r>
              <a:rPr lang="en-US">
                <a:ea typeface="Calibri"/>
                <a:cs typeface="Calibri"/>
              </a:rPr>
              <a:t>Here, testing does not happen in a conventional sense, rather you do something like requirements review, where documents are verified across all stakeholders. You could also start developing test cases and work on Requirements Traceability Matrix (RTM)</a:t>
            </a:r>
            <a:endParaRPr lang="en-US"/>
          </a:p>
        </p:txBody>
      </p:sp>
    </p:spTree>
    <p:extLst>
      <p:ext uri="{BB962C8B-B14F-4D97-AF65-F5344CB8AC3E}">
        <p14:creationId xmlns:p14="http://schemas.microsoft.com/office/powerpoint/2010/main" val="4056035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Prototyping Model (Refer Pressman, pg. 45)</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EA2ABE48-12CE-43EF-9FBD-06F638E57F5F}"/>
              </a:ext>
            </a:extLst>
          </p:cNvPr>
          <p:cNvPicPr>
            <a:picLocks noChangeAspect="1"/>
          </p:cNvPicPr>
          <p:nvPr/>
        </p:nvPicPr>
        <p:blipFill>
          <a:blip r:embed="rId4"/>
          <a:stretch>
            <a:fillRect/>
          </a:stretch>
        </p:blipFill>
        <p:spPr>
          <a:xfrm>
            <a:off x="2940108" y="1395128"/>
            <a:ext cx="6311783" cy="5326347"/>
          </a:xfrm>
          <a:prstGeom prst="rect">
            <a:avLst/>
          </a:prstGeom>
        </p:spPr>
      </p:pic>
      <p:sp>
        <p:nvSpPr>
          <p:cNvPr id="3" name="TextBox 2">
            <a:extLst>
              <a:ext uri="{FF2B5EF4-FFF2-40B4-BE49-F238E27FC236}">
                <a16:creationId xmlns:a16="http://schemas.microsoft.com/office/drawing/2014/main" id="{EB08F2B3-EC22-16B6-DD3B-276972013765}"/>
              </a:ext>
            </a:extLst>
          </p:cNvPr>
          <p:cNvSpPr txBox="1"/>
          <p:nvPr/>
        </p:nvSpPr>
        <p:spPr>
          <a:xfrm>
            <a:off x="177306" y="1691408"/>
            <a:ext cx="267442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Oi! </a:t>
            </a:r>
            <a:r>
              <a:rPr lang="en-US" sz="1600" err="1">
                <a:ea typeface="Calibri"/>
                <a:cs typeface="Calibri"/>
              </a:rPr>
              <a:t>Whats</a:t>
            </a:r>
            <a:r>
              <a:rPr lang="en-US" sz="1600" dirty="0">
                <a:ea typeface="Calibri"/>
                <a:cs typeface="Calibri"/>
              </a:rPr>
              <a:t> happening here?! Is this life? (maybe it is, maybe it isn't – refer </a:t>
            </a:r>
            <a:r>
              <a:rPr lang="en-US" sz="1600" err="1">
                <a:ea typeface="Calibri"/>
                <a:cs typeface="Calibri"/>
              </a:rPr>
              <a:t>Parminedes</a:t>
            </a:r>
            <a:r>
              <a:rPr lang="en-US" sz="1600" dirty="0">
                <a:ea typeface="Calibri"/>
                <a:cs typeface="Calibri"/>
              </a:rPr>
              <a:t> and </a:t>
            </a:r>
            <a:r>
              <a:rPr lang="en-US" sz="1600" err="1">
                <a:ea typeface="Calibri"/>
                <a:cs typeface="Calibri"/>
              </a:rPr>
              <a:t>Neitzsche</a:t>
            </a:r>
            <a:r>
              <a:rPr lang="en-US" sz="1600" dirty="0">
                <a:ea typeface="Calibri"/>
                <a:cs typeface="Calibri"/>
              </a:rPr>
              <a:t>)</a:t>
            </a:r>
          </a:p>
        </p:txBody>
      </p:sp>
      <p:sp>
        <p:nvSpPr>
          <p:cNvPr id="5" name="TextBox 4">
            <a:extLst>
              <a:ext uri="{FF2B5EF4-FFF2-40B4-BE49-F238E27FC236}">
                <a16:creationId xmlns:a16="http://schemas.microsoft.com/office/drawing/2014/main" id="{4BCFD32D-3E85-9C00-ACF1-7724E6341589}"/>
              </a:ext>
            </a:extLst>
          </p:cNvPr>
          <p:cNvSpPr txBox="1"/>
          <p:nvPr/>
        </p:nvSpPr>
        <p:spPr>
          <a:xfrm>
            <a:off x="89890" y="3673104"/>
            <a:ext cx="275771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Okay, so coming back, prototyping involves building a quick prototype (simple version of software), to gather ideas and feedback, and get a consensus on the product before building it in detail.</a:t>
            </a:r>
            <a:endParaRPr lang="en-US" sz="1600">
              <a:ea typeface="Calibri"/>
              <a:cs typeface="Calibri"/>
            </a:endParaRPr>
          </a:p>
        </p:txBody>
      </p:sp>
      <p:sp>
        <p:nvSpPr>
          <p:cNvPr id="9" name="TextBox 8">
            <a:extLst>
              <a:ext uri="{FF2B5EF4-FFF2-40B4-BE49-F238E27FC236}">
                <a16:creationId xmlns:a16="http://schemas.microsoft.com/office/drawing/2014/main" id="{643BDCBD-E983-7031-9722-84546BB47292}"/>
              </a:ext>
            </a:extLst>
          </p:cNvPr>
          <p:cNvSpPr txBox="1"/>
          <p:nvPr/>
        </p:nvSpPr>
        <p:spPr>
          <a:xfrm>
            <a:off x="9252032" y="1613889"/>
            <a:ext cx="275771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General life cycle of a prototype:</a:t>
            </a:r>
          </a:p>
          <a:p>
            <a:r>
              <a:rPr lang="en-US" sz="1600" dirty="0">
                <a:ea typeface="Calibri"/>
                <a:cs typeface="Calibri"/>
              </a:rPr>
              <a:t>-Understand the Basics</a:t>
            </a:r>
          </a:p>
          <a:p>
            <a:r>
              <a:rPr lang="en-US" sz="1600" dirty="0">
                <a:ea typeface="Calibri"/>
                <a:cs typeface="Calibri"/>
              </a:rPr>
              <a:t>-Build a simple version (prototype)</a:t>
            </a:r>
          </a:p>
          <a:p>
            <a:r>
              <a:rPr lang="en-US" sz="1600" dirty="0">
                <a:ea typeface="Calibri"/>
                <a:cs typeface="Calibri"/>
              </a:rPr>
              <a:t>-Get feedback</a:t>
            </a:r>
          </a:p>
          <a:p>
            <a:r>
              <a:rPr lang="en-US" sz="1600" dirty="0">
                <a:ea typeface="Calibri"/>
                <a:cs typeface="Calibri"/>
              </a:rPr>
              <a:t>-Improve the prototype</a:t>
            </a:r>
          </a:p>
          <a:p>
            <a:r>
              <a:rPr lang="en-US" sz="1600" dirty="0">
                <a:ea typeface="Calibri"/>
                <a:cs typeface="Calibri"/>
              </a:rPr>
              <a:t>-Build the final product</a:t>
            </a:r>
          </a:p>
        </p:txBody>
      </p:sp>
      <p:sp>
        <p:nvSpPr>
          <p:cNvPr id="10" name="TextBox 9">
            <a:extLst>
              <a:ext uri="{FF2B5EF4-FFF2-40B4-BE49-F238E27FC236}">
                <a16:creationId xmlns:a16="http://schemas.microsoft.com/office/drawing/2014/main" id="{3F59CCB0-5E0E-5F95-DD4C-67BE0F527C04}"/>
              </a:ext>
            </a:extLst>
          </p:cNvPr>
          <p:cNvSpPr txBox="1"/>
          <p:nvPr/>
        </p:nvSpPr>
        <p:spPr>
          <a:xfrm>
            <a:off x="9252031" y="3863602"/>
            <a:ext cx="2757713"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One gray area in this process is what one can do with the prototype? Do we build on top of it, or build the final product from scratch. In my experience, prototypes do not follow rigor while building, and then it becomes risky to build final product on top of prototype (but that is just my 2 </a:t>
            </a:r>
            <a:r>
              <a:rPr lang="en-US" sz="1600">
                <a:ea typeface="Calibri"/>
                <a:cs typeface="Calibri"/>
              </a:rPr>
              <a:t>cents)</a:t>
            </a:r>
          </a:p>
        </p:txBody>
      </p:sp>
    </p:spTree>
    <p:extLst>
      <p:ext uri="{BB962C8B-B14F-4D97-AF65-F5344CB8AC3E}">
        <p14:creationId xmlns:p14="http://schemas.microsoft.com/office/powerpoint/2010/main" val="2151911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Spiral Model (Refer Pressman, pg. 45)</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3" name="Picture 2">
            <a:extLst>
              <a:ext uri="{FF2B5EF4-FFF2-40B4-BE49-F238E27FC236}">
                <a16:creationId xmlns:a16="http://schemas.microsoft.com/office/drawing/2014/main" id="{1D198768-D461-4BE1-BAC3-D3ABA4F020D3}"/>
              </a:ext>
            </a:extLst>
          </p:cNvPr>
          <p:cNvPicPr>
            <a:picLocks noChangeAspect="1"/>
          </p:cNvPicPr>
          <p:nvPr/>
        </p:nvPicPr>
        <p:blipFill>
          <a:blip r:embed="rId4"/>
          <a:stretch>
            <a:fillRect/>
          </a:stretch>
        </p:blipFill>
        <p:spPr>
          <a:xfrm>
            <a:off x="1989361" y="1480865"/>
            <a:ext cx="8213278" cy="5240610"/>
          </a:xfrm>
          <a:prstGeom prst="rect">
            <a:avLst/>
          </a:prstGeom>
        </p:spPr>
      </p:pic>
      <p:sp>
        <p:nvSpPr>
          <p:cNvPr id="4" name="TextBox 3">
            <a:extLst>
              <a:ext uri="{FF2B5EF4-FFF2-40B4-BE49-F238E27FC236}">
                <a16:creationId xmlns:a16="http://schemas.microsoft.com/office/drawing/2014/main" id="{68D0BDDA-27DF-2B84-D33B-521AFAE9066D}"/>
              </a:ext>
            </a:extLst>
          </p:cNvPr>
          <p:cNvSpPr txBox="1"/>
          <p:nvPr/>
        </p:nvSpPr>
        <p:spPr>
          <a:xfrm>
            <a:off x="110506" y="1693057"/>
            <a:ext cx="293914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Okay, now what? A vinyl?</a:t>
            </a:r>
            <a:endParaRPr lang="en-US" sz="1600">
              <a:ea typeface="Calibri"/>
              <a:cs typeface="Calibri"/>
            </a:endParaRPr>
          </a:p>
        </p:txBody>
      </p:sp>
      <p:sp>
        <p:nvSpPr>
          <p:cNvPr id="5" name="TextBox 4">
            <a:extLst>
              <a:ext uri="{FF2B5EF4-FFF2-40B4-BE49-F238E27FC236}">
                <a16:creationId xmlns:a16="http://schemas.microsoft.com/office/drawing/2014/main" id="{51329075-68E3-6E28-6001-CC80DE66338C}"/>
              </a:ext>
            </a:extLst>
          </p:cNvPr>
          <p:cNvSpPr txBox="1"/>
          <p:nvPr/>
        </p:nvSpPr>
        <p:spPr>
          <a:xfrm>
            <a:off x="110505" y="4514272"/>
            <a:ext cx="307521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Then how it is different from incremental?</a:t>
            </a:r>
          </a:p>
          <a:p>
            <a:r>
              <a:rPr lang="en-US" sz="1600" dirty="0">
                <a:ea typeface="Calibri"/>
                <a:cs typeface="Calibri"/>
              </a:rPr>
              <a:t>Here, there is a lot of focus on risk analysis and management.</a:t>
            </a:r>
          </a:p>
        </p:txBody>
      </p:sp>
      <p:sp>
        <p:nvSpPr>
          <p:cNvPr id="9" name="TextBox 8">
            <a:extLst>
              <a:ext uri="{FF2B5EF4-FFF2-40B4-BE49-F238E27FC236}">
                <a16:creationId xmlns:a16="http://schemas.microsoft.com/office/drawing/2014/main" id="{676F1324-54B4-68BD-D3D6-796022C670E2}"/>
              </a:ext>
            </a:extLst>
          </p:cNvPr>
          <p:cNvSpPr txBox="1"/>
          <p:nvPr/>
        </p:nvSpPr>
        <p:spPr>
          <a:xfrm>
            <a:off x="110504" y="2291770"/>
            <a:ext cx="307521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Think of it as baking a cake? First build the base, if it tastes okay, add a layer on top of it, and so on. Unlike prototyping, every intermediate product is well executed and follows engineering rigor.</a:t>
            </a:r>
          </a:p>
        </p:txBody>
      </p:sp>
      <p:sp>
        <p:nvSpPr>
          <p:cNvPr id="10" name="TextBox 9">
            <a:extLst>
              <a:ext uri="{FF2B5EF4-FFF2-40B4-BE49-F238E27FC236}">
                <a16:creationId xmlns:a16="http://schemas.microsoft.com/office/drawing/2014/main" id="{E2756681-34DE-2B5F-95F6-707D3832E340}"/>
              </a:ext>
            </a:extLst>
          </p:cNvPr>
          <p:cNvSpPr txBox="1"/>
          <p:nvPr/>
        </p:nvSpPr>
        <p:spPr>
          <a:xfrm>
            <a:off x="7848433" y="1384626"/>
            <a:ext cx="428171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Building software step by step, focusing on reducing risks and improving the product as you go. It’s like combining planning, building, and testing in small loops (or spirals) until the software is finished. Each loop adds more details and features to the software</a:t>
            </a:r>
            <a:endParaRPr lang="en-US" dirty="0"/>
          </a:p>
        </p:txBody>
      </p:sp>
      <p:sp>
        <p:nvSpPr>
          <p:cNvPr id="11" name="TextBox 10">
            <a:extLst>
              <a:ext uri="{FF2B5EF4-FFF2-40B4-BE49-F238E27FC236}">
                <a16:creationId xmlns:a16="http://schemas.microsoft.com/office/drawing/2014/main" id="{E6238A7E-23A3-3883-37C0-0F5983536865}"/>
              </a:ext>
            </a:extLst>
          </p:cNvPr>
          <p:cNvSpPr txBox="1"/>
          <p:nvPr/>
        </p:nvSpPr>
        <p:spPr>
          <a:xfrm>
            <a:off x="107208" y="5785097"/>
            <a:ext cx="305789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Calibri"/>
                <a:cs typeface="Calibri"/>
              </a:rPr>
              <a:t>The crucial difference between this model and the others is that here, '</a:t>
            </a:r>
            <a:r>
              <a:rPr lang="en-US" sz="1600" b="1" dirty="0">
                <a:ea typeface="Calibri"/>
                <a:cs typeface="Calibri"/>
              </a:rPr>
              <a:t>Risk Analysis</a:t>
            </a:r>
            <a:r>
              <a:rPr lang="en-US" sz="1600" dirty="0">
                <a:ea typeface="Calibri"/>
                <a:cs typeface="Calibri"/>
              </a:rPr>
              <a:t>' happens in 'Planning' stage</a:t>
            </a:r>
            <a:endParaRPr lang="en-US" sz="1600">
              <a:ea typeface="Calibri"/>
              <a:cs typeface="Calibri"/>
            </a:endParaRPr>
          </a:p>
        </p:txBody>
      </p:sp>
      <p:sp>
        <p:nvSpPr>
          <p:cNvPr id="12" name="TextBox 11">
            <a:extLst>
              <a:ext uri="{FF2B5EF4-FFF2-40B4-BE49-F238E27FC236}">
                <a16:creationId xmlns:a16="http://schemas.microsoft.com/office/drawing/2014/main" id="{1117DE4B-4169-81AE-C795-4BE55A7EEC58}"/>
              </a:ext>
            </a:extLst>
          </p:cNvPr>
          <p:cNvSpPr txBox="1"/>
          <p:nvPr/>
        </p:nvSpPr>
        <p:spPr>
          <a:xfrm>
            <a:off x="9031019" y="5046188"/>
            <a:ext cx="31073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Risk analysis is the process of identifying, evaluating, and prioritizing potential problems or uncertainties in a project to minimize their impact.</a:t>
            </a:r>
            <a:endParaRPr lang="en-US" sz="1600" dirty="0">
              <a:ea typeface="Calibri"/>
              <a:cs typeface="Calibri"/>
            </a:endParaRPr>
          </a:p>
        </p:txBody>
      </p:sp>
    </p:spTree>
    <p:extLst>
      <p:ext uri="{BB962C8B-B14F-4D97-AF65-F5344CB8AC3E}">
        <p14:creationId xmlns:p14="http://schemas.microsoft.com/office/powerpoint/2010/main" val="1387188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Selecting a process model (Pressman pg. 47)</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5" name="Picture 4" descr="A blue and white page with text&#10;&#10;AI-generated content may be incorrect.">
            <a:extLst>
              <a:ext uri="{FF2B5EF4-FFF2-40B4-BE49-F238E27FC236}">
                <a16:creationId xmlns:a16="http://schemas.microsoft.com/office/drawing/2014/main" id="{D98186A4-CFD4-C9FA-AB41-7C0FA657D2BE}"/>
              </a:ext>
            </a:extLst>
          </p:cNvPr>
          <p:cNvPicPr>
            <a:picLocks noChangeAspect="1"/>
          </p:cNvPicPr>
          <p:nvPr/>
        </p:nvPicPr>
        <p:blipFill>
          <a:blip r:embed="rId4"/>
          <a:stretch>
            <a:fillRect/>
          </a:stretch>
        </p:blipFill>
        <p:spPr>
          <a:xfrm>
            <a:off x="2669587" y="1371600"/>
            <a:ext cx="6867201" cy="5351252"/>
          </a:xfrm>
          <a:prstGeom prst="rect">
            <a:avLst/>
          </a:prstGeom>
        </p:spPr>
      </p:pic>
    </p:spTree>
    <p:extLst>
      <p:ext uri="{BB962C8B-B14F-4D97-AF65-F5344CB8AC3E}">
        <p14:creationId xmlns:p14="http://schemas.microsoft.com/office/powerpoint/2010/main" val="2898864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Selecting a process model (Pressman pg. 50)</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3" name="Picture 2" descr="A blue and black text&#10;&#10;AI-generated content may be incorrect.">
            <a:extLst>
              <a:ext uri="{FF2B5EF4-FFF2-40B4-BE49-F238E27FC236}">
                <a16:creationId xmlns:a16="http://schemas.microsoft.com/office/drawing/2014/main" id="{6F5E78AA-DAEC-A378-61E8-3B0B9F2B579D}"/>
              </a:ext>
            </a:extLst>
          </p:cNvPr>
          <p:cNvPicPr>
            <a:picLocks noChangeAspect="1"/>
          </p:cNvPicPr>
          <p:nvPr/>
        </p:nvPicPr>
        <p:blipFill>
          <a:blip r:embed="rId4"/>
          <a:stretch>
            <a:fillRect/>
          </a:stretch>
        </p:blipFill>
        <p:spPr>
          <a:xfrm>
            <a:off x="1825924" y="1902826"/>
            <a:ext cx="8540150" cy="4202535"/>
          </a:xfrm>
          <a:prstGeom prst="rect">
            <a:avLst/>
          </a:prstGeom>
        </p:spPr>
      </p:pic>
    </p:spTree>
    <p:extLst>
      <p:ext uri="{BB962C8B-B14F-4D97-AF65-F5344CB8AC3E}">
        <p14:creationId xmlns:p14="http://schemas.microsoft.com/office/powerpoint/2010/main" val="1949490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Processes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Calibri" panose="020F0502020204030204"/>
                <a:cs typeface="Calibri"/>
              </a:rPr>
              <a:t>Next set of slides</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01666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9A30-DE38-63E0-257E-40C709AA5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F0CCC-9ACB-2624-5634-F4525FA92D61}"/>
              </a:ext>
            </a:extLst>
          </p:cNvPr>
          <p:cNvSpPr>
            <a:spLocks noGrp="1"/>
          </p:cNvSpPr>
          <p:nvPr>
            <p:ph type="title"/>
          </p:nvPr>
        </p:nvSpPr>
        <p:spPr/>
        <p:txBody>
          <a:bodyPr/>
          <a:lstStyle/>
          <a:p>
            <a:r>
              <a:rPr lang="en-GB">
                <a:ea typeface="Calibri Light"/>
                <a:cs typeface="Calibri Light"/>
              </a:rPr>
              <a:t>Cue cards: Which Software Process to use</a:t>
            </a:r>
          </a:p>
        </p:txBody>
      </p:sp>
      <p:pic>
        <p:nvPicPr>
          <p:cNvPr id="6" name="Picture 5" descr="A black and white logo&#10;&#10;Description automatically generated">
            <a:extLst>
              <a:ext uri="{FF2B5EF4-FFF2-40B4-BE49-F238E27FC236}">
                <a16:creationId xmlns:a16="http://schemas.microsoft.com/office/drawing/2014/main" id="{6FFCF72B-5866-B15F-A959-39C79EAE5D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A99F769-2D5E-7752-B815-290EBA86D1F6}"/>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7E6D8702-CCD8-3319-4B17-8D28552ED22A}"/>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B05845B0-D846-DB61-F08A-1F7F24BEFDD0}"/>
              </a:ext>
            </a:extLst>
          </p:cNvPr>
          <p:cNvSpPr txBox="1"/>
          <p:nvPr/>
        </p:nvSpPr>
        <p:spPr>
          <a:xfrm>
            <a:off x="1279846" y="1696527"/>
            <a:ext cx="351905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Waterfall model: Best for projects with clear requirements, fixed scope and predictable timelines.</a:t>
            </a:r>
          </a:p>
        </p:txBody>
      </p:sp>
      <p:sp>
        <p:nvSpPr>
          <p:cNvPr id="5" name="TextBox 4">
            <a:extLst>
              <a:ext uri="{FF2B5EF4-FFF2-40B4-BE49-F238E27FC236}">
                <a16:creationId xmlns:a16="http://schemas.microsoft.com/office/drawing/2014/main" id="{0582F38D-A7CE-A4A2-6C07-A2633D18CF2A}"/>
              </a:ext>
            </a:extLst>
          </p:cNvPr>
          <p:cNvSpPr txBox="1"/>
          <p:nvPr/>
        </p:nvSpPr>
        <p:spPr>
          <a:xfrm>
            <a:off x="1279845" y="2889847"/>
            <a:ext cx="3519054"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Iterative Model: Suitable for complex projects where requirements may change during development, allowing for incremental refinement.</a:t>
            </a:r>
            <a:endParaRPr lang="en-US">
              <a:solidFill>
                <a:schemeClr val="tx1"/>
              </a:solidFill>
            </a:endParaRPr>
          </a:p>
        </p:txBody>
      </p:sp>
      <p:sp>
        <p:nvSpPr>
          <p:cNvPr id="9" name="TextBox 8">
            <a:extLst>
              <a:ext uri="{FF2B5EF4-FFF2-40B4-BE49-F238E27FC236}">
                <a16:creationId xmlns:a16="http://schemas.microsoft.com/office/drawing/2014/main" id="{8E3C4782-622F-593E-9AFA-00547C575273}"/>
              </a:ext>
            </a:extLst>
          </p:cNvPr>
          <p:cNvSpPr txBox="1"/>
          <p:nvPr/>
        </p:nvSpPr>
        <p:spPr>
          <a:xfrm>
            <a:off x="6843884" y="1696527"/>
            <a:ext cx="3519054" cy="120032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Spiral Model: Used for high-risk projects where thorough risk assessment and mitigation are crucial.</a:t>
            </a:r>
            <a:endParaRPr lang="en-US">
              <a:solidFill>
                <a:schemeClr val="tx1"/>
              </a:solidFill>
            </a:endParaRPr>
          </a:p>
        </p:txBody>
      </p:sp>
      <p:sp>
        <p:nvSpPr>
          <p:cNvPr id="10" name="TextBox 9">
            <a:extLst>
              <a:ext uri="{FF2B5EF4-FFF2-40B4-BE49-F238E27FC236}">
                <a16:creationId xmlns:a16="http://schemas.microsoft.com/office/drawing/2014/main" id="{49A182BB-05DC-41FA-4A2B-02C20FA6A1C2}"/>
              </a:ext>
            </a:extLst>
          </p:cNvPr>
          <p:cNvSpPr txBox="1"/>
          <p:nvPr/>
        </p:nvSpPr>
        <p:spPr>
          <a:xfrm>
            <a:off x="6843883" y="3292413"/>
            <a:ext cx="351905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V-model: Emphasizes rigorous testing at each development phase, ensuring high quality software.</a:t>
            </a:r>
            <a:endParaRPr lang="en-US">
              <a:solidFill>
                <a:schemeClr val="tx1"/>
              </a:solidFill>
            </a:endParaRPr>
          </a:p>
        </p:txBody>
      </p:sp>
      <p:sp>
        <p:nvSpPr>
          <p:cNvPr id="11" name="TextBox 10">
            <a:extLst>
              <a:ext uri="{FF2B5EF4-FFF2-40B4-BE49-F238E27FC236}">
                <a16:creationId xmlns:a16="http://schemas.microsoft.com/office/drawing/2014/main" id="{C61DE2F8-A5AE-DAF0-75C3-4D244BC94C1D}"/>
              </a:ext>
            </a:extLst>
          </p:cNvPr>
          <p:cNvSpPr txBox="1"/>
          <p:nvPr/>
        </p:nvSpPr>
        <p:spPr>
          <a:xfrm>
            <a:off x="6843883" y="4600753"/>
            <a:ext cx="3519054" cy="120032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Agile Model: Ideal for projects with evolving requirements, frequent customer feedback, and a need for flexibility.</a:t>
            </a:r>
          </a:p>
        </p:txBody>
      </p:sp>
      <p:sp>
        <p:nvSpPr>
          <p:cNvPr id="13" name="TextBox 12">
            <a:extLst>
              <a:ext uri="{FF2B5EF4-FFF2-40B4-BE49-F238E27FC236}">
                <a16:creationId xmlns:a16="http://schemas.microsoft.com/office/drawing/2014/main" id="{7E0C85DB-7E8A-57E6-D28B-54F769E279C0}"/>
              </a:ext>
            </a:extLst>
          </p:cNvPr>
          <p:cNvSpPr txBox="1"/>
          <p:nvPr/>
        </p:nvSpPr>
        <p:spPr>
          <a:xfrm>
            <a:off x="1279845" y="4600753"/>
            <a:ext cx="3519054"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ea typeface="Calibri"/>
                <a:cs typeface="Calibri"/>
              </a:rPr>
              <a:t>I &amp; C Model: </a:t>
            </a:r>
            <a:r>
              <a:rPr lang="en-US">
                <a:solidFill>
                  <a:schemeClr val="tx1"/>
                </a:solidFill>
                <a:ea typeface="+mn-lt"/>
                <a:cs typeface="+mn-lt"/>
              </a:rPr>
              <a:t>When system can be built using reusable components, when time is critical, requirements are well defined, and minimal custom development.</a:t>
            </a:r>
            <a:endParaRPr lang="en-US">
              <a:solidFill>
                <a:schemeClr val="tx1"/>
              </a:solidFill>
              <a:ea typeface="Calibri"/>
              <a:cs typeface="Calibri"/>
            </a:endParaRPr>
          </a:p>
        </p:txBody>
      </p:sp>
    </p:spTree>
    <p:extLst>
      <p:ext uri="{BB962C8B-B14F-4D97-AF65-F5344CB8AC3E}">
        <p14:creationId xmlns:p14="http://schemas.microsoft.com/office/powerpoint/2010/main" val="1313524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ea typeface="Calibri Light"/>
                <a:cs typeface="Calibri Light"/>
              </a:rPr>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r>
              <a:rPr lang="en-US" sz="5400">
                <a:ea typeface="Calibri" panose="020F0502020204030204"/>
                <a:cs typeface="Calibri" panose="020F0502020204030204"/>
              </a:rPr>
              <a:t>Thank you!</a:t>
            </a: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99442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40</Slides>
  <Notes>39</Notes>
  <HiddenSlides>0</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Software Engineering (CS3201) Process Models </vt:lpstr>
      <vt:lpstr>Software Process</vt:lpstr>
      <vt:lpstr>Software Process</vt:lpstr>
      <vt:lpstr>Software Process</vt:lpstr>
      <vt:lpstr>Software Engineering Fundamentals</vt:lpstr>
      <vt:lpstr>Case study 3 – A wilderness weather station</vt:lpstr>
      <vt:lpstr>Case study 3 – A wilderness weather station</vt:lpstr>
      <vt:lpstr>Case study 3 – A wilderness weather station</vt:lpstr>
      <vt:lpstr>Case study 3 – A wilderness weather station</vt:lpstr>
      <vt:lpstr>Case study 3 – A wilderness weather station</vt:lpstr>
      <vt:lpstr>Case study 3 – A wilderness weather station</vt:lpstr>
      <vt:lpstr>Case study 3 – A wilderness weather station</vt:lpstr>
      <vt:lpstr>Summary of Software Engineering Process</vt:lpstr>
      <vt:lpstr>Maintenance</vt:lpstr>
      <vt:lpstr>Software Engineering Costs</vt:lpstr>
      <vt:lpstr> </vt:lpstr>
      <vt:lpstr>Generic Process Models / Process Flows (Refer Pressman, pg. 33)</vt:lpstr>
      <vt:lpstr>Generic Process Models / Process Flows (Refer Pressman, pg. 33)</vt:lpstr>
      <vt:lpstr>Software Engineering Process Models</vt:lpstr>
      <vt:lpstr>Software Engineering Process Models</vt:lpstr>
      <vt:lpstr>Software Engineering Process Models</vt:lpstr>
      <vt:lpstr>Waterfall Model (Refer Sommerville, pg. 47)</vt:lpstr>
      <vt:lpstr>Waterfall Model</vt:lpstr>
      <vt:lpstr>Waterfall Model</vt:lpstr>
      <vt:lpstr>Incremental Development (Refer Sommerville, pg. 49)</vt:lpstr>
      <vt:lpstr>Incremental Model (Refer Pressman, pg. 43)</vt:lpstr>
      <vt:lpstr>Incremental Development</vt:lpstr>
      <vt:lpstr>Integration and Configuration (re-use) (Refer Sommerville, pg. 52)</vt:lpstr>
      <vt:lpstr>Integration and Configuration (re-use)</vt:lpstr>
      <vt:lpstr>Integration and Configuration (re-use)</vt:lpstr>
      <vt:lpstr>Examples on each of the process models</vt:lpstr>
      <vt:lpstr>Additional Models (based on the 3 paradigms)</vt:lpstr>
      <vt:lpstr>V Model (Refer Pressman, pg. 42)</vt:lpstr>
      <vt:lpstr>Prototyping Model (Refer Pressman, pg. 45)</vt:lpstr>
      <vt:lpstr>Spiral Model (Refer Pressman, pg. 45)</vt:lpstr>
      <vt:lpstr>Selecting a process model (Pressman pg. 47)</vt:lpstr>
      <vt:lpstr>Selecting a process model (Pressman pg. 50)</vt:lpstr>
      <vt:lpstr>Agile Processes</vt:lpstr>
      <vt:lpstr>Cue cards: Which Software Process to use</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179</cp:revision>
  <dcterms:created xsi:type="dcterms:W3CDTF">2022-08-02T06:42:39Z</dcterms:created>
  <dcterms:modified xsi:type="dcterms:W3CDTF">2026-02-02T09:14:56Z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