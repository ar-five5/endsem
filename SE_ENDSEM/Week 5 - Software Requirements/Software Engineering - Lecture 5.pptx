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8"/>
  </p:notesMasterIdLst>
  <p:sldIdLst>
    <p:sldId id="256" r:id="rId5"/>
    <p:sldId id="363" r:id="rId6"/>
    <p:sldId id="425" r:id="rId7"/>
    <p:sldId id="426" r:id="rId8"/>
    <p:sldId id="427" r:id="rId9"/>
    <p:sldId id="428" r:id="rId10"/>
    <p:sldId id="429" r:id="rId11"/>
    <p:sldId id="430" r:id="rId12"/>
    <p:sldId id="447" r:id="rId13"/>
    <p:sldId id="432" r:id="rId14"/>
    <p:sldId id="431" r:id="rId15"/>
    <p:sldId id="448" r:id="rId16"/>
    <p:sldId id="433" r:id="rId17"/>
    <p:sldId id="434" r:id="rId18"/>
    <p:sldId id="435" r:id="rId19"/>
    <p:sldId id="436" r:id="rId20"/>
    <p:sldId id="438" r:id="rId21"/>
    <p:sldId id="439" r:id="rId22"/>
    <p:sldId id="440" r:id="rId23"/>
    <p:sldId id="437" r:id="rId24"/>
    <p:sldId id="441" r:id="rId25"/>
    <p:sldId id="442" r:id="rId26"/>
    <p:sldId id="443" r:id="rId27"/>
    <p:sldId id="444" r:id="rId28"/>
    <p:sldId id="449" r:id="rId29"/>
    <p:sldId id="450" r:id="rId30"/>
    <p:sldId id="451" r:id="rId31"/>
    <p:sldId id="452" r:id="rId32"/>
    <p:sldId id="446" r:id="rId33"/>
    <p:sldId id="453" r:id="rId34"/>
    <p:sldId id="454" r:id="rId35"/>
    <p:sldId id="455" r:id="rId36"/>
    <p:sldId id="456" r:id="rId37"/>
    <p:sldId id="460" r:id="rId38"/>
    <p:sldId id="461" r:id="rId39"/>
    <p:sldId id="462" r:id="rId40"/>
    <p:sldId id="457" r:id="rId41"/>
    <p:sldId id="466" r:id="rId42"/>
    <p:sldId id="458" r:id="rId43"/>
    <p:sldId id="463" r:id="rId44"/>
    <p:sldId id="464" r:id="rId45"/>
    <p:sldId id="465" r:id="rId46"/>
    <p:sldId id="44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11C17-7C7A-3962-F2B9-960F2AB6B9C1}" v="201" dt="2026-02-27T07:30:00.7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F8611C17-7C7A-3962-F2B9-960F2AB6B9C1}"/>
    <pc:docChg chg="addSld modSld">
      <pc:chgData name="Avinash Arun Chauhan" userId="S::avinash.chauhan@mahindrauniversity.edu.in::241b5f3e-36f4-4c61-9553-90e6a1c1b8a6" providerId="AD" clId="Web-{F8611C17-7C7A-3962-F2B9-960F2AB6B9C1}" dt="2026-02-27T07:29:59.170" v="199" actId="20577"/>
      <pc:docMkLst>
        <pc:docMk/>
      </pc:docMkLst>
      <pc:sldChg chg="modSp">
        <pc:chgData name="Avinash Arun Chauhan" userId="S::avinash.chauhan@mahindrauniversity.edu.in::241b5f3e-36f4-4c61-9553-90e6a1c1b8a6" providerId="AD" clId="Web-{F8611C17-7C7A-3962-F2B9-960F2AB6B9C1}" dt="2026-02-27T07:23:52.498" v="8" actId="20577"/>
        <pc:sldMkLst>
          <pc:docMk/>
          <pc:sldMk cId="603496316" sldId="453"/>
        </pc:sldMkLst>
        <pc:spChg chg="mod">
          <ac:chgData name="Avinash Arun Chauhan" userId="S::avinash.chauhan@mahindrauniversity.edu.in::241b5f3e-36f4-4c61-9553-90e6a1c1b8a6" providerId="AD" clId="Web-{F8611C17-7C7A-3962-F2B9-960F2AB6B9C1}" dt="2026-02-27T07:23:52.498" v="8" actId="20577"/>
          <ac:spMkLst>
            <pc:docMk/>
            <pc:sldMk cId="603496316" sldId="453"/>
            <ac:spMk id="3" creationId="{33DC89FF-2088-5910-9818-D7A9236FF916}"/>
          </ac:spMkLst>
        </pc:spChg>
      </pc:sldChg>
      <pc:sldChg chg="modSp">
        <pc:chgData name="Avinash Arun Chauhan" userId="S::avinash.chauhan@mahindrauniversity.edu.in::241b5f3e-36f4-4c61-9553-90e6a1c1b8a6" providerId="AD" clId="Web-{F8611C17-7C7A-3962-F2B9-960F2AB6B9C1}" dt="2026-02-27T07:25:36.239" v="16" actId="20577"/>
        <pc:sldMkLst>
          <pc:docMk/>
          <pc:sldMk cId="1913081862" sldId="457"/>
        </pc:sldMkLst>
        <pc:spChg chg="mod">
          <ac:chgData name="Avinash Arun Chauhan" userId="S::avinash.chauhan@mahindrauniversity.edu.in::241b5f3e-36f4-4c61-9553-90e6a1c1b8a6" providerId="AD" clId="Web-{F8611C17-7C7A-3962-F2B9-960F2AB6B9C1}" dt="2026-02-27T07:25:36.239" v="16" actId="20577"/>
          <ac:spMkLst>
            <pc:docMk/>
            <pc:sldMk cId="1913081862" sldId="457"/>
            <ac:spMk id="2" creationId="{29B938DA-9C4A-29AC-E745-F45BD90AA5D9}"/>
          </ac:spMkLst>
        </pc:spChg>
      </pc:sldChg>
      <pc:sldChg chg="modSp add replId">
        <pc:chgData name="Avinash Arun Chauhan" userId="S::avinash.chauhan@mahindrauniversity.edu.in::241b5f3e-36f4-4c61-9553-90e6a1c1b8a6" providerId="AD" clId="Web-{F8611C17-7C7A-3962-F2B9-960F2AB6B9C1}" dt="2026-02-27T07:29:59.170" v="199" actId="20577"/>
        <pc:sldMkLst>
          <pc:docMk/>
          <pc:sldMk cId="3975052708" sldId="466"/>
        </pc:sldMkLst>
        <pc:spChg chg="mod">
          <ac:chgData name="Avinash Arun Chauhan" userId="S::avinash.chauhan@mahindrauniversity.edu.in::241b5f3e-36f4-4c61-9553-90e6a1c1b8a6" providerId="AD" clId="Web-{F8611C17-7C7A-3962-F2B9-960F2AB6B9C1}" dt="2026-02-27T07:25:49.224" v="25" actId="20577"/>
          <ac:spMkLst>
            <pc:docMk/>
            <pc:sldMk cId="3975052708" sldId="466"/>
            <ac:spMk id="2" creationId="{819F2642-D5EE-3307-8C31-5B892F53AFC1}"/>
          </ac:spMkLst>
        </pc:spChg>
        <pc:spChg chg="mod">
          <ac:chgData name="Avinash Arun Chauhan" userId="S::avinash.chauhan@mahindrauniversity.edu.in::241b5f3e-36f4-4c61-9553-90e6a1c1b8a6" providerId="AD" clId="Web-{F8611C17-7C7A-3962-F2B9-960F2AB6B9C1}" dt="2026-02-27T07:29:59.170" v="199" actId="20577"/>
          <ac:spMkLst>
            <pc:docMk/>
            <pc:sldMk cId="3975052708" sldId="466"/>
            <ac:spMk id="3" creationId="{D8DECCE3-7161-78E5-D312-222C5DFF75F9}"/>
          </ac:spMkLst>
        </pc:spChg>
      </pc:sldChg>
    </pc:docChg>
  </pc:docChgLst>
  <pc:docChgLst>
    <pc:chgData name="Avinash Arun Chauhan" userId="S::avinash.chauhan@mahindrauniversity.edu.in::241b5f3e-36f4-4c61-9553-90e6a1c1b8a6" providerId="AD" clId="Web-{0D5F90E0-FA70-2322-878E-116352B79360}"/>
    <pc:docChg chg="modSld">
      <pc:chgData name="Avinash Arun Chauhan" userId="S::avinash.chauhan@mahindrauniversity.edu.in::241b5f3e-36f4-4c61-9553-90e6a1c1b8a6" providerId="AD" clId="Web-{0D5F90E0-FA70-2322-878E-116352B79360}" dt="2026-02-09T11:32:50.774" v="7" actId="20577"/>
      <pc:docMkLst>
        <pc:docMk/>
      </pc:docMkLst>
      <pc:sldChg chg="modSp">
        <pc:chgData name="Avinash Arun Chauhan" userId="S::avinash.chauhan@mahindrauniversity.edu.in::241b5f3e-36f4-4c61-9553-90e6a1c1b8a6" providerId="AD" clId="Web-{0D5F90E0-FA70-2322-878E-116352B79360}" dt="2026-02-09T11:32:50.774" v="7" actId="20577"/>
        <pc:sldMkLst>
          <pc:docMk/>
          <pc:sldMk cId="2802681030" sldId="425"/>
        </pc:sldMkLst>
        <pc:spChg chg="mod">
          <ac:chgData name="Avinash Arun Chauhan" userId="S::avinash.chauhan@mahindrauniversity.edu.in::241b5f3e-36f4-4c61-9553-90e6a1c1b8a6" providerId="AD" clId="Web-{0D5F90E0-FA70-2322-878E-116352B79360}" dt="2026-02-09T11:32:50.774" v="7" actId="20577"/>
          <ac:spMkLst>
            <pc:docMk/>
            <pc:sldMk cId="2802681030" sldId="425"/>
            <ac:spMk id="3" creationId="{5F1B5996-8BAC-958F-3C6A-8DE33772D6E7}"/>
          </ac:spMkLst>
        </pc:spChg>
      </pc:sldChg>
    </pc:docChg>
  </pc:docChgLst>
  <pc:docChgLst>
    <pc:chgData name="Avinash Arun Chauhan" userId="S::avinash.chauhan@mahindrauniversity.edu.in::241b5f3e-36f4-4c61-9553-90e6a1c1b8a6" providerId="AD" clId="Web-{6D239F8F-4EF6-38A5-AD31-97DE50491E4D}"/>
    <pc:docChg chg="modSld">
      <pc:chgData name="Avinash Arun Chauhan" userId="S::avinash.chauhan@mahindrauniversity.edu.in::241b5f3e-36f4-4c61-9553-90e6a1c1b8a6" providerId="AD" clId="Web-{6D239F8F-4EF6-38A5-AD31-97DE50491E4D}" dt="2026-02-16T05:49:44.754" v="51" actId="20577"/>
      <pc:docMkLst>
        <pc:docMk/>
      </pc:docMkLst>
      <pc:sldChg chg="modSp">
        <pc:chgData name="Avinash Arun Chauhan" userId="S::avinash.chauhan@mahindrauniversity.edu.in::241b5f3e-36f4-4c61-9553-90e6a1c1b8a6" providerId="AD" clId="Web-{6D239F8F-4EF6-38A5-AD31-97DE50491E4D}" dt="2026-02-16T05:39:38.034" v="40" actId="20577"/>
        <pc:sldMkLst>
          <pc:docMk/>
          <pc:sldMk cId="2802681030" sldId="425"/>
        </pc:sldMkLst>
        <pc:spChg chg="mod">
          <ac:chgData name="Avinash Arun Chauhan" userId="S::avinash.chauhan@mahindrauniversity.edu.in::241b5f3e-36f4-4c61-9553-90e6a1c1b8a6" providerId="AD" clId="Web-{6D239F8F-4EF6-38A5-AD31-97DE50491E4D}" dt="2026-02-16T05:39:38.034" v="40" actId="20577"/>
          <ac:spMkLst>
            <pc:docMk/>
            <pc:sldMk cId="2802681030" sldId="425"/>
            <ac:spMk id="3" creationId="{5F1B5996-8BAC-958F-3C6A-8DE33772D6E7}"/>
          </ac:spMkLst>
        </pc:spChg>
      </pc:sldChg>
      <pc:sldChg chg="modSp">
        <pc:chgData name="Avinash Arun Chauhan" userId="S::avinash.chauhan@mahindrauniversity.edu.in::241b5f3e-36f4-4c61-9553-90e6a1c1b8a6" providerId="AD" clId="Web-{6D239F8F-4EF6-38A5-AD31-97DE50491E4D}" dt="2026-02-16T05:06:45.943" v="3" actId="20577"/>
        <pc:sldMkLst>
          <pc:docMk/>
          <pc:sldMk cId="448871923" sldId="431"/>
        </pc:sldMkLst>
        <pc:spChg chg="mod">
          <ac:chgData name="Avinash Arun Chauhan" userId="S::avinash.chauhan@mahindrauniversity.edu.in::241b5f3e-36f4-4c61-9553-90e6a1c1b8a6" providerId="AD" clId="Web-{6D239F8F-4EF6-38A5-AD31-97DE50491E4D}" dt="2026-02-16T05:06:45.943" v="3" actId="20577"/>
          <ac:spMkLst>
            <pc:docMk/>
            <pc:sldMk cId="448871923" sldId="431"/>
            <ac:spMk id="3" creationId="{1A08DD61-030D-7CC9-4A31-E737365E7202}"/>
          </ac:spMkLst>
        </pc:spChg>
      </pc:sldChg>
      <pc:sldChg chg="modSp">
        <pc:chgData name="Avinash Arun Chauhan" userId="S::avinash.chauhan@mahindrauniversity.edu.in::241b5f3e-36f4-4c61-9553-90e6a1c1b8a6" providerId="AD" clId="Web-{6D239F8F-4EF6-38A5-AD31-97DE50491E4D}" dt="2026-02-16T05:49:44.754" v="51" actId="20577"/>
        <pc:sldMkLst>
          <pc:docMk/>
          <pc:sldMk cId="2336727406" sldId="433"/>
        </pc:sldMkLst>
        <pc:spChg chg="mod">
          <ac:chgData name="Avinash Arun Chauhan" userId="S::avinash.chauhan@mahindrauniversity.edu.in::241b5f3e-36f4-4c61-9553-90e6a1c1b8a6" providerId="AD" clId="Web-{6D239F8F-4EF6-38A5-AD31-97DE50491E4D}" dt="2026-02-16T05:49:44.754" v="51" actId="20577"/>
          <ac:spMkLst>
            <pc:docMk/>
            <pc:sldMk cId="2336727406" sldId="433"/>
            <ac:spMk id="3" creationId="{1235D573-B319-D394-8C62-AD46C17E68DC}"/>
          </ac:spMkLst>
        </pc:spChg>
      </pc:sldChg>
    </pc:docChg>
  </pc:docChgLst>
  <pc:docChgLst>
    <pc:chgData name="Avinash Arun Chauhan" userId="S::avinash.chauhan@mahindrauniversity.edu.in::241b5f3e-36f4-4c61-9553-90e6a1c1b8a6" providerId="AD" clId="Web-{5EB7EF2C-713C-3449-540B-B32015AEDB93}"/>
    <pc:docChg chg="modSld">
      <pc:chgData name="Avinash Arun Chauhan" userId="S::avinash.chauhan@mahindrauniversity.edu.in::241b5f3e-36f4-4c61-9553-90e6a1c1b8a6" providerId="AD" clId="Web-{5EB7EF2C-713C-3449-540B-B32015AEDB93}" dt="2026-02-10T10:52:05.768" v="40" actId="20577"/>
      <pc:docMkLst>
        <pc:docMk/>
      </pc:docMkLst>
      <pc:sldChg chg="modSp">
        <pc:chgData name="Avinash Arun Chauhan" userId="S::avinash.chauhan@mahindrauniversity.edu.in::241b5f3e-36f4-4c61-9553-90e6a1c1b8a6" providerId="AD" clId="Web-{5EB7EF2C-713C-3449-540B-B32015AEDB93}" dt="2026-02-10T10:43:57.689" v="1" actId="20577"/>
        <pc:sldMkLst>
          <pc:docMk/>
          <pc:sldMk cId="3811169343" sldId="426"/>
        </pc:sldMkLst>
        <pc:spChg chg="mod">
          <ac:chgData name="Avinash Arun Chauhan" userId="S::avinash.chauhan@mahindrauniversity.edu.in::241b5f3e-36f4-4c61-9553-90e6a1c1b8a6" providerId="AD" clId="Web-{5EB7EF2C-713C-3449-540B-B32015AEDB93}" dt="2026-02-10T10:43:57.689" v="1"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5EB7EF2C-713C-3449-540B-B32015AEDB93}" dt="2026-02-10T10:44:34.751" v="3" actId="20577"/>
        <pc:sldMkLst>
          <pc:docMk/>
          <pc:sldMk cId="227902600" sldId="427"/>
        </pc:sldMkLst>
        <pc:spChg chg="mod">
          <ac:chgData name="Avinash Arun Chauhan" userId="S::avinash.chauhan@mahindrauniversity.edu.in::241b5f3e-36f4-4c61-9553-90e6a1c1b8a6" providerId="AD" clId="Web-{5EB7EF2C-713C-3449-540B-B32015AEDB93}" dt="2026-02-10T10:44:34.751" v="3" actId="20577"/>
          <ac:spMkLst>
            <pc:docMk/>
            <pc:sldMk cId="227902600" sldId="427"/>
            <ac:spMk id="3" creationId="{B4C28467-3EEF-5261-4922-5278D869ABAF}"/>
          </ac:spMkLst>
        </pc:spChg>
      </pc:sldChg>
      <pc:sldChg chg="modSp">
        <pc:chgData name="Avinash Arun Chauhan" userId="S::avinash.chauhan@mahindrauniversity.edu.in::241b5f3e-36f4-4c61-9553-90e6a1c1b8a6" providerId="AD" clId="Web-{5EB7EF2C-713C-3449-540B-B32015AEDB93}" dt="2026-02-10T10:45:06.001" v="6" actId="20577"/>
        <pc:sldMkLst>
          <pc:docMk/>
          <pc:sldMk cId="3686490617" sldId="429"/>
        </pc:sldMkLst>
        <pc:spChg chg="mod">
          <ac:chgData name="Avinash Arun Chauhan" userId="S::avinash.chauhan@mahindrauniversity.edu.in::241b5f3e-36f4-4c61-9553-90e6a1c1b8a6" providerId="AD" clId="Web-{5EB7EF2C-713C-3449-540B-B32015AEDB93}" dt="2026-02-10T10:45:06.001" v="6" actId="20577"/>
          <ac:spMkLst>
            <pc:docMk/>
            <pc:sldMk cId="3686490617" sldId="429"/>
            <ac:spMk id="3" creationId="{98166934-C9A5-7350-04AB-480D4B7475D7}"/>
          </ac:spMkLst>
        </pc:spChg>
      </pc:sldChg>
      <pc:sldChg chg="modSp">
        <pc:chgData name="Avinash Arun Chauhan" userId="S::avinash.chauhan@mahindrauniversity.edu.in::241b5f3e-36f4-4c61-9553-90e6a1c1b8a6" providerId="AD" clId="Web-{5EB7EF2C-713C-3449-540B-B32015AEDB93}" dt="2026-02-10T10:46:00.861" v="9" actId="20577"/>
        <pc:sldMkLst>
          <pc:docMk/>
          <pc:sldMk cId="430656824" sldId="432"/>
        </pc:sldMkLst>
        <pc:spChg chg="mod">
          <ac:chgData name="Avinash Arun Chauhan" userId="S::avinash.chauhan@mahindrauniversity.edu.in::241b5f3e-36f4-4c61-9553-90e6a1c1b8a6" providerId="AD" clId="Web-{5EB7EF2C-713C-3449-540B-B32015AEDB93}" dt="2026-02-10T10:46:00.861" v="9" actId="20577"/>
          <ac:spMkLst>
            <pc:docMk/>
            <pc:sldMk cId="430656824" sldId="432"/>
            <ac:spMk id="3" creationId="{F4C9908E-5D56-4D42-E608-3DC831CC6D0D}"/>
          </ac:spMkLst>
        </pc:spChg>
      </pc:sldChg>
      <pc:sldChg chg="modSp">
        <pc:chgData name="Avinash Arun Chauhan" userId="S::avinash.chauhan@mahindrauniversity.edu.in::241b5f3e-36f4-4c61-9553-90e6a1c1b8a6" providerId="AD" clId="Web-{5EB7EF2C-713C-3449-540B-B32015AEDB93}" dt="2026-02-10T10:47:24.111" v="12" actId="20577"/>
        <pc:sldMkLst>
          <pc:docMk/>
          <pc:sldMk cId="2336727406" sldId="433"/>
        </pc:sldMkLst>
        <pc:spChg chg="mod">
          <ac:chgData name="Avinash Arun Chauhan" userId="S::avinash.chauhan@mahindrauniversity.edu.in::241b5f3e-36f4-4c61-9553-90e6a1c1b8a6" providerId="AD" clId="Web-{5EB7EF2C-713C-3449-540B-B32015AEDB93}" dt="2026-02-10T10:47:24.111" v="12" actId="20577"/>
          <ac:spMkLst>
            <pc:docMk/>
            <pc:sldMk cId="2336727406" sldId="433"/>
            <ac:spMk id="3" creationId="{1235D573-B319-D394-8C62-AD46C17E68DC}"/>
          </ac:spMkLst>
        </pc:spChg>
      </pc:sldChg>
      <pc:sldChg chg="modSp">
        <pc:chgData name="Avinash Arun Chauhan" userId="S::avinash.chauhan@mahindrauniversity.edu.in::241b5f3e-36f4-4c61-9553-90e6a1c1b8a6" providerId="AD" clId="Web-{5EB7EF2C-713C-3449-540B-B32015AEDB93}" dt="2026-02-10T10:48:52.846" v="16" actId="20577"/>
        <pc:sldMkLst>
          <pc:docMk/>
          <pc:sldMk cId="859797520" sldId="434"/>
        </pc:sldMkLst>
        <pc:spChg chg="mod">
          <ac:chgData name="Avinash Arun Chauhan" userId="S::avinash.chauhan@mahindrauniversity.edu.in::241b5f3e-36f4-4c61-9553-90e6a1c1b8a6" providerId="AD" clId="Web-{5EB7EF2C-713C-3449-540B-B32015AEDB93}" dt="2026-02-10T10:48:52.846" v="16" actId="20577"/>
          <ac:spMkLst>
            <pc:docMk/>
            <pc:sldMk cId="859797520" sldId="434"/>
            <ac:spMk id="3" creationId="{87502209-3300-4156-7410-A7F3C50B59D2}"/>
          </ac:spMkLst>
        </pc:spChg>
      </pc:sldChg>
      <pc:sldChg chg="modSp">
        <pc:chgData name="Avinash Arun Chauhan" userId="S::avinash.chauhan@mahindrauniversity.edu.in::241b5f3e-36f4-4c61-9553-90e6a1c1b8a6" providerId="AD" clId="Web-{5EB7EF2C-713C-3449-540B-B32015AEDB93}" dt="2026-02-10T10:52:05.768" v="40" actId="20577"/>
        <pc:sldMkLst>
          <pc:docMk/>
          <pc:sldMk cId="1125462947" sldId="438"/>
        </pc:sldMkLst>
        <pc:spChg chg="mod">
          <ac:chgData name="Avinash Arun Chauhan" userId="S::avinash.chauhan@mahindrauniversity.edu.in::241b5f3e-36f4-4c61-9553-90e6a1c1b8a6" providerId="AD" clId="Web-{5EB7EF2C-713C-3449-540B-B32015AEDB93}" dt="2026-02-10T10:52:05.768" v="40" actId="20577"/>
          <ac:spMkLst>
            <pc:docMk/>
            <pc:sldMk cId="1125462947" sldId="438"/>
            <ac:spMk id="3" creationId="{FB000BA3-8D96-71CB-3191-0DF9296E1454}"/>
          </ac:spMkLst>
        </pc:spChg>
      </pc:sldChg>
    </pc:docChg>
  </pc:docChgLst>
  <pc:docChgLst>
    <pc:chgData name="Avinash Arun Chauhan" userId="S::avinash.chauhan@mahindrauniversity.edu.in::241b5f3e-36f4-4c61-9553-90e6a1c1b8a6" providerId="AD" clId="Web-{97A123DD-1358-5296-B6AC-C592731CFE13}"/>
    <pc:docChg chg="modSld">
      <pc:chgData name="Avinash Arun Chauhan" userId="S::avinash.chauhan@mahindrauniversity.edu.in::241b5f3e-36f4-4c61-9553-90e6a1c1b8a6" providerId="AD" clId="Web-{97A123DD-1358-5296-B6AC-C592731CFE13}" dt="2026-02-17T06:05:30.927" v="34" actId="20577"/>
      <pc:docMkLst>
        <pc:docMk/>
      </pc:docMkLst>
      <pc:sldChg chg="modSp">
        <pc:chgData name="Avinash Arun Chauhan" userId="S::avinash.chauhan@mahindrauniversity.edu.in::241b5f3e-36f4-4c61-9553-90e6a1c1b8a6" providerId="AD" clId="Web-{97A123DD-1358-5296-B6AC-C592731CFE13}" dt="2026-02-17T05:55:05.141" v="1" actId="20577"/>
        <pc:sldMkLst>
          <pc:docMk/>
          <pc:sldMk cId="2554666538" sldId="435"/>
        </pc:sldMkLst>
        <pc:spChg chg="mod">
          <ac:chgData name="Avinash Arun Chauhan" userId="S::avinash.chauhan@mahindrauniversity.edu.in::241b5f3e-36f4-4c61-9553-90e6a1c1b8a6" providerId="AD" clId="Web-{97A123DD-1358-5296-B6AC-C592731CFE13}" dt="2026-02-17T05:55:05.141" v="1" actId="20577"/>
          <ac:spMkLst>
            <pc:docMk/>
            <pc:sldMk cId="2554666538" sldId="435"/>
            <ac:spMk id="3" creationId="{2A5C6179-7AB1-97D3-1798-0577E93D2880}"/>
          </ac:spMkLst>
        </pc:spChg>
      </pc:sldChg>
      <pc:sldChg chg="modSp">
        <pc:chgData name="Avinash Arun Chauhan" userId="S::avinash.chauhan@mahindrauniversity.edu.in::241b5f3e-36f4-4c61-9553-90e6a1c1b8a6" providerId="AD" clId="Web-{97A123DD-1358-5296-B6AC-C592731CFE13}" dt="2026-02-17T05:57:36.712" v="4" actId="20577"/>
        <pc:sldMkLst>
          <pc:docMk/>
          <pc:sldMk cId="2422187861" sldId="444"/>
        </pc:sldMkLst>
        <pc:spChg chg="mod">
          <ac:chgData name="Avinash Arun Chauhan" userId="S::avinash.chauhan@mahindrauniversity.edu.in::241b5f3e-36f4-4c61-9553-90e6a1c1b8a6" providerId="AD" clId="Web-{97A123DD-1358-5296-B6AC-C592731CFE13}" dt="2026-02-17T05:57:36.712" v="4" actId="20577"/>
          <ac:spMkLst>
            <pc:docMk/>
            <pc:sldMk cId="2422187861" sldId="444"/>
            <ac:spMk id="3" creationId="{81F936AF-27CA-FC8A-C1CF-3B2AA77D5DAF}"/>
          </ac:spMkLst>
        </pc:spChg>
      </pc:sldChg>
      <pc:sldChg chg="modSp">
        <pc:chgData name="Avinash Arun Chauhan" userId="S::avinash.chauhan@mahindrauniversity.edu.in::241b5f3e-36f4-4c61-9553-90e6a1c1b8a6" providerId="AD" clId="Web-{97A123DD-1358-5296-B6AC-C592731CFE13}" dt="2026-02-17T05:59:05.434" v="7" actId="20577"/>
        <pc:sldMkLst>
          <pc:docMk/>
          <pc:sldMk cId="603496316" sldId="453"/>
        </pc:sldMkLst>
        <pc:spChg chg="mod">
          <ac:chgData name="Avinash Arun Chauhan" userId="S::avinash.chauhan@mahindrauniversity.edu.in::241b5f3e-36f4-4c61-9553-90e6a1c1b8a6" providerId="AD" clId="Web-{97A123DD-1358-5296-B6AC-C592731CFE13}" dt="2026-02-17T05:59:05.434" v="7" actId="20577"/>
          <ac:spMkLst>
            <pc:docMk/>
            <pc:sldMk cId="603496316" sldId="453"/>
            <ac:spMk id="3" creationId="{33DC89FF-2088-5910-9818-D7A9236FF916}"/>
          </ac:spMkLst>
        </pc:spChg>
      </pc:sldChg>
      <pc:sldChg chg="modSp">
        <pc:chgData name="Avinash Arun Chauhan" userId="S::avinash.chauhan@mahindrauniversity.edu.in::241b5f3e-36f4-4c61-9553-90e6a1c1b8a6" providerId="AD" clId="Web-{97A123DD-1358-5296-B6AC-C592731CFE13}" dt="2026-02-17T06:00:35.562" v="12" actId="20577"/>
        <pc:sldMkLst>
          <pc:docMk/>
          <pc:sldMk cId="2023183045" sldId="455"/>
        </pc:sldMkLst>
        <pc:spChg chg="mod">
          <ac:chgData name="Avinash Arun Chauhan" userId="S::avinash.chauhan@mahindrauniversity.edu.in::241b5f3e-36f4-4c61-9553-90e6a1c1b8a6" providerId="AD" clId="Web-{97A123DD-1358-5296-B6AC-C592731CFE13}" dt="2026-02-17T06:00:35.562" v="12" actId="20577"/>
          <ac:spMkLst>
            <pc:docMk/>
            <pc:sldMk cId="2023183045" sldId="455"/>
            <ac:spMk id="3" creationId="{05697942-345F-D7A0-36FF-1D3A356DE707}"/>
          </ac:spMkLst>
        </pc:spChg>
      </pc:sldChg>
      <pc:sldChg chg="modSp">
        <pc:chgData name="Avinash Arun Chauhan" userId="S::avinash.chauhan@mahindrauniversity.edu.in::241b5f3e-36f4-4c61-9553-90e6a1c1b8a6" providerId="AD" clId="Web-{97A123DD-1358-5296-B6AC-C592731CFE13}" dt="2026-02-17T06:01:27.204" v="17" actId="20577"/>
        <pc:sldMkLst>
          <pc:docMk/>
          <pc:sldMk cId="963676731" sldId="456"/>
        </pc:sldMkLst>
        <pc:spChg chg="mod">
          <ac:chgData name="Avinash Arun Chauhan" userId="S::avinash.chauhan@mahindrauniversity.edu.in::241b5f3e-36f4-4c61-9553-90e6a1c1b8a6" providerId="AD" clId="Web-{97A123DD-1358-5296-B6AC-C592731CFE13}" dt="2026-02-17T06:01:27.204" v="17" actId="20577"/>
          <ac:spMkLst>
            <pc:docMk/>
            <pc:sldMk cId="963676731" sldId="456"/>
            <ac:spMk id="3" creationId="{5A72BA99-7E1C-A5D4-DEE4-67BDB3F6CB36}"/>
          </ac:spMkLst>
        </pc:spChg>
      </pc:sldChg>
      <pc:sldChg chg="modSp">
        <pc:chgData name="Avinash Arun Chauhan" userId="S::avinash.chauhan@mahindrauniversity.edu.in::241b5f3e-36f4-4c61-9553-90e6a1c1b8a6" providerId="AD" clId="Web-{97A123DD-1358-5296-B6AC-C592731CFE13}" dt="2026-02-17T06:05:30.927" v="34" actId="20577"/>
        <pc:sldMkLst>
          <pc:docMk/>
          <pc:sldMk cId="76133212" sldId="458"/>
        </pc:sldMkLst>
        <pc:spChg chg="mod">
          <ac:chgData name="Avinash Arun Chauhan" userId="S::avinash.chauhan@mahindrauniversity.edu.in::241b5f3e-36f4-4c61-9553-90e6a1c1b8a6" providerId="AD" clId="Web-{97A123DD-1358-5296-B6AC-C592731CFE13}" dt="2026-02-17T06:05:30.927" v="34" actId="20577"/>
          <ac:spMkLst>
            <pc:docMk/>
            <pc:sldMk cId="76133212" sldId="458"/>
            <ac:spMk id="3" creationId="{DC9789E3-2160-BF1A-B4B5-EA194432FD75}"/>
          </ac:spMkLst>
        </pc:spChg>
      </pc:sldChg>
      <pc:sldChg chg="modSp">
        <pc:chgData name="Avinash Arun Chauhan" userId="S::avinash.chauhan@mahindrauniversity.edu.in::241b5f3e-36f4-4c61-9553-90e6a1c1b8a6" providerId="AD" clId="Web-{97A123DD-1358-5296-B6AC-C592731CFE13}" dt="2026-02-17T06:03:04.409" v="25" actId="20577"/>
        <pc:sldMkLst>
          <pc:docMk/>
          <pc:sldMk cId="2619648002" sldId="460"/>
        </pc:sldMkLst>
        <pc:spChg chg="mod">
          <ac:chgData name="Avinash Arun Chauhan" userId="S::avinash.chauhan@mahindrauniversity.edu.in::241b5f3e-36f4-4c61-9553-90e6a1c1b8a6" providerId="AD" clId="Web-{97A123DD-1358-5296-B6AC-C592731CFE13}" dt="2026-02-17T06:03:04.409" v="25" actId="20577"/>
          <ac:spMkLst>
            <pc:docMk/>
            <pc:sldMk cId="2619648002" sldId="460"/>
            <ac:spMk id="3" creationId="{5918E22A-F94B-A1BB-3B86-6E41459457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508628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B354A-43D0-6AC3-1B92-120FA7A5A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3556C-50FE-0773-21C4-257E0F627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9EDAF-42EB-2E3F-30FD-AB32F2CD7D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E23A8-F49B-448F-9972-DC68584B092F}"/>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3397782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0503-B36F-1A15-5202-781705967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5B43A-EF74-E7AF-BE37-D1DF665DA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B672-A9A0-B139-7872-66BBD86080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706F1C-C8AB-7FF1-B6DF-C3C96D26250B}"/>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811732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D350-CF18-714B-023C-88891DF97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3F54E-C3CF-F78C-0043-97AE3A299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08B89-4433-CF89-A0C9-2CCD7DC8CB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F49436-7764-171B-5BCB-9EBD8251075B}"/>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81039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BB82-06EA-DD2D-FCE1-F71CBC70D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291D5-B28A-E4D6-4B4C-A6E85DE1D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CF879-8BE6-D368-5123-244DEB9C6A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EC984B-C168-6523-6A96-93B52AC91147}"/>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02817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C3663-1F57-A735-1B07-7D3E28AB7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6B2017-B72B-5862-328A-3E3FD3D8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20632-FB87-7158-648F-314EC4A6349F}"/>
              </a:ext>
            </a:extLst>
          </p:cNvPr>
          <p:cNvSpPr>
            <a:spLocks noGrp="1"/>
          </p:cNvSpPr>
          <p:nvPr>
            <p:ph type="body" idx="1"/>
          </p:nvPr>
        </p:nvSpPr>
        <p:spPr/>
        <p:txBody>
          <a:bodyPr/>
          <a:lstStyle/>
          <a:p>
            <a:r>
              <a:rPr lang="en-US"/>
              <a:t>For example, the first </a:t>
            </a:r>
            <a:r>
              <a:rPr lang="en-US" err="1"/>
              <a:t>Mentcare</a:t>
            </a:r>
            <a:r>
              <a:rPr lang="en-US"/>
              <a:t> system requirement in the above list states that a user shall be able to search the appointments lists for all clinics. The rationale for this requirement is that patients with mental health problems are sometimes confused. They may have an appointment at one clinic but actually go to a different clinic. If they have an appointment, they will be recorded as having attended, regardless of the clinic. A medical staff member specifying a search requirement may expect “search” to mean that, given a patient name, the system looks for that name in all appointments at all clinics. However, this is not explicit in the requirement. System developers may interpret the requirement so that it is easier to implement. Their search function may require the user to choose a clinic and then carry out the search of the patients who attended that clinic. This involves more user input and so takes longer to complete the search.</a:t>
            </a:r>
          </a:p>
        </p:txBody>
      </p:sp>
      <p:sp>
        <p:nvSpPr>
          <p:cNvPr id="4" name="Slide Number Placeholder 3">
            <a:extLst>
              <a:ext uri="{FF2B5EF4-FFF2-40B4-BE49-F238E27FC236}">
                <a16:creationId xmlns:a16="http://schemas.microsoft.com/office/drawing/2014/main" id="{79995F6E-E1D2-AB34-57C2-C15BF3DEF113}"/>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148961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330C4-90B7-A7BD-285A-59BD140F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28E35-E569-FF71-AE93-A90189862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1C3E57-E2EC-6FF0-274E-F5AFD8ACE704}"/>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5EBD92F-A0F8-5E96-02E1-523613F48FD4}"/>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3769394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E34F-B222-7E44-BA7D-E0A87E455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A6503-EDC4-ACCE-800A-BDC1AA7F5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0FA2A6-DC57-5334-688D-9A3CBB688B6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10843EC-78BA-71F7-D0DE-0B6B03B4D15C}"/>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3618395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E69F-6AFD-E2A6-EB82-2FE6048A3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46751-593B-2A94-A60F-913EA6912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0A202-5A0A-3AE9-BCB1-121CA97DA67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CC924D4-2579-2B6F-AA08-BB381684F547}"/>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2451642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17C7-BE67-7D2D-4518-360BC1038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6CEB2-65CB-ADA7-B396-F72BB610B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4B0BF-FAC8-5361-FB5B-174FC99B5B2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E3740B1B-F642-05C3-4A6F-388771990775}"/>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603294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B95E1-B48D-01CB-C07B-23464D88C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7F736-9378-244E-EF94-3C9A2B6C2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387B8-6875-02BD-FEA0-C31C9A76FF69}"/>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531952E-068F-3E6E-8930-B453DC18925D}"/>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2089267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3A4C-6857-3FEC-B582-E4D645C0F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FDF6F-11D0-8B0E-2876-48E47CF58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AFCA7-CEB5-B14C-8623-C1E8FEA5EB8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78E5A87-8749-81EF-3A81-2BBB87714A34}"/>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63859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A811F-1B1D-4AA5-4BFC-364DD0A74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997B8-0A21-79D4-9BDE-31CEFE7F37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13FC1-5B99-3C01-250D-84C0E22D23B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5615D5D-4A60-A760-7B96-45CF834D151C}"/>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1006191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D3F10-69FC-5B7E-0419-4036221E5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AA8FC-61B5-6152-B5BA-02A88F940B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16C8F8-CB0D-B31B-8CE5-B2737ABD1E7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DFEE922-BFF8-3E37-9AC3-F7555A2D635B}"/>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2758778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756DD-BD97-A115-1F66-9E3490ED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D2F65-C179-2247-DC7D-8DC01C24E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3BC2B-A50E-B115-8EB5-2CF8AD87AB9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F327888-BFBF-CCA3-96B1-72F4710B58DE}"/>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912265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D3F6-151F-6563-42D9-48B89CA6D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D1BE1-CEEB-8CA4-DD11-C502C8157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9CFF5-BDE8-180C-3C6A-D3E228A27FE6}"/>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DD2C041-85E0-2CD2-4A51-DAA5B785A6EE}"/>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568561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723D2-1E34-4D4A-BE93-6FEC3E673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68D0D-EFF7-6327-5709-C6A6F6A71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31127-B7FE-CE1C-7564-E226A2E872B5}"/>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FD90A4B-5E49-363C-09F4-AF4AD0CBD012}"/>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3967082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F6DB-9581-F6EF-622E-2C56FBFB2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7ADB7-B9B1-0D49-5D7F-E349088D85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DF6BD-2466-14A9-D55F-329508022136}"/>
              </a:ext>
            </a:extLst>
          </p:cNvPr>
          <p:cNvSpPr>
            <a:spLocks noGrp="1"/>
          </p:cNvSpPr>
          <p:nvPr>
            <p:ph type="body" idx="1"/>
          </p:nvPr>
        </p:nvSpPr>
        <p:spPr/>
        <p:txBody>
          <a:bodyPr/>
          <a:lstStyle/>
          <a:p>
            <a:r>
              <a:rPr lang="en-US">
                <a:ea typeface="Calibri"/>
                <a:cs typeface="Calibri"/>
              </a:rPr>
              <a:t>The product requirement </a:t>
            </a:r>
            <a:r>
              <a:rPr lang="en-US"/>
              <a:t>is an availability requirement that defines when the system has to be available and the allowed downtime each day. It says nothing about the functionality of the </a:t>
            </a:r>
            <a:r>
              <a:rPr lang="en-US" err="1"/>
              <a:t>Mentcare</a:t>
            </a:r>
            <a:r>
              <a:rPr lang="en-US"/>
              <a:t> system and clearly identifies a constraint that has to be considered by the system designers.</a:t>
            </a:r>
          </a:p>
          <a:p>
            <a:endParaRPr lang="en-US">
              <a:ea typeface="Calibri"/>
              <a:cs typeface="Calibri"/>
            </a:endParaRPr>
          </a:p>
          <a:p>
            <a:r>
              <a:rPr lang="en-US"/>
              <a:t>The organizational requirement specifies how users authenticate themselves to the system. The health authority that operates the system is moving to a standard </a:t>
            </a:r>
          </a:p>
          <a:p>
            <a:r>
              <a:rPr lang="en-US"/>
              <a:t>authentication procedure for all software where, instead of users having a login name, they swipe their identity card through a reader to identify themselves. The </a:t>
            </a:r>
          </a:p>
          <a:p>
            <a:r>
              <a:rPr lang="en-US"/>
              <a:t>external requirement is derived from the need for the system to conform to privacy legislation. Privacy is obviously a very important issue in health care systems, and the requirement specifies that the system should be developed in accordance with a national privacy standard</a:t>
            </a: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910CEEF-F195-24EB-8BEA-2C24B164E510}"/>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1720785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B252-5F14-7CFC-311C-6C953B534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4A415-C787-05E6-D2BE-D1DC41497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4E7E7-EE88-A016-5125-7BEAD557D46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78E136A-73D9-FF1C-04F7-EF4D06A3CD71}"/>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2397296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AA41-896B-0A83-6CED-88EC2E1D3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483E5-1459-9F2B-3047-AC6BCC146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2DD5A-D507-4562-A333-ABCDB5D8023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31143EA-15A5-6EA2-3EAA-54798BBD5480}"/>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4463308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A65EB-27EF-581E-A215-C82DE83DEA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8D838-252F-F8CD-C3D4-179888AF3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D98544-AA83-367C-9AAA-5AEB61D45E8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226DAC36-1D98-93CE-5F84-DA1CC8BE76EF}"/>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3761038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51F1-79D4-D947-5AE9-1C043AB05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072EC-9E4C-89F0-B282-49D67EDA6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1F7FF-5F79-F730-307F-689186FE15A8}"/>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933B222F-3496-DD68-B781-901665640CBB}"/>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4567918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BC88-E81F-8E4D-354D-FD315953D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AF7E5-C4F1-5ADD-0476-FFABE7B08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603A7-612C-FEC4-AFA9-18D6DC0B4C7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AF3B5F7-193E-AEDD-61A9-E998315DC722}"/>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3186117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E619-06D2-20C8-87DB-E53567B91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0C077-A147-991A-2B33-AB191F26C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C5D311-FFA9-F174-D94B-E1D44D313B7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7BF7F08-D6A2-0A2F-EAE3-8976D4A6DE5D}"/>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191575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7B52-05D5-DDA4-7744-14DB39F6D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AA4B1-7442-91DA-64A4-BB1BD30A5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A26C8-71A4-79E1-93D6-01C1439A565C}"/>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238D954-0A0D-1E44-6B5A-26A099B0985F}"/>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214029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E40DC-42A9-2A50-46DA-20E20017F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4BDD9-C945-894C-0CD8-FB4810F81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72C19-7855-927D-0957-C95AE5019922}"/>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662FA13-7977-89DA-93A8-8B4BD393DE2F}"/>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14063274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3D0A-579C-6BAF-75B2-02E644973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764BE-FCDA-6C6F-5D78-BDE30078D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2D417-FCE5-51D2-4E18-806DCB1AD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6D5C2E-C304-F281-3C3A-509011629AB5}"/>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1969332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19C57-007E-1800-DB92-0AB2C8150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92EDE-00BB-0A72-7186-12DC5E92B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D53CC-1601-0AEF-C03C-3F1C5100D4B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B91F3162-3870-D4B2-A8F7-6DC42B460D1D}"/>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4005352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246F9-2B09-63AF-7EA1-C9F853342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E0B88-0774-4554-7724-52B02A97D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E4A63-EBCF-A659-8442-AF71863EFE9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3B459BAE-B610-9B4F-E168-A976910A58FD}"/>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34489190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EB44-C933-6463-3F94-ED316C69E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E0CD0-A96C-1979-29CC-C8C94A851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CECB4-F03A-3BA8-986F-6D8A24B753F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2E8EA10-B6E4-7A67-E860-07EB77FC9853}"/>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32041570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CD6A1-974E-14D4-AB01-25084B90B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BF06-4675-14F8-5548-BB593521E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6D2AA-6ED3-9738-B941-8FEF9835B9E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E08C1F53-FBEA-3324-60DA-B2D0EAD984A7}"/>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33505363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0B790-6C65-91E6-2C0C-112C8A210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364EFD-4745-8B5D-E32D-BC6F38B49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C20AB-5F5C-BB92-575D-39DBB491F18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1B1EA8D-C4E7-24B8-9F7E-DB77C399F95A}"/>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2976444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E449-DE9F-58CD-FB3A-ECAF7D090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6FC91-CD84-C46F-D836-C348FCAF4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C2144-9131-BE57-BD81-33FC9584BB7E}"/>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0DA9972E-F880-B81C-70C3-0AC89177D9FB}"/>
              </a:ext>
            </a:extLst>
          </p:cNvPr>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35651967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283DF-12CD-94F8-6548-10C762AEF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2B1BB-2F2F-68CB-B915-1C638C1C5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49C68-E0BD-8F25-D476-B7A9B80CD608}"/>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9B77BBF-C775-C546-4C18-3B06143D2E0E}"/>
              </a:ext>
            </a:extLst>
          </p:cNvPr>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10546847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9D2F-C0DC-51CD-955B-70E41A7AE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59DFE-BE4B-CBDE-B306-5BC650535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B3177-6C61-28F2-EE57-597635F4522F}"/>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592D660-B803-6494-A011-8E397DAFB170}"/>
              </a:ext>
            </a:extLst>
          </p:cNvPr>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3597578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35F5A-1C73-A0AC-7DF8-CC0F83015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26ABD-7200-262D-1BAE-689575F9D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00F5D-2118-849A-864C-07274DC46171}"/>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8C22292D-8756-790D-D7A6-BAE7CBD080F5}"/>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30390178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C8D95-F39B-7ABE-298A-363C7247D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CAD33-BDBB-3E1F-5ED0-EFD4F349C9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7B21A-6C7B-3F34-67B0-E518217F0A6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DCC5D043-1C7A-343A-804B-2D12A20D0843}"/>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933120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CD8C-4658-010C-B4E6-192F9F1DE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0E8B5-89B0-4762-E449-A08F03705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1D42D-C0FE-ED91-DDC8-5F4904F370C7}"/>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09B3CC5-BEE5-7FCF-5077-80B0D035999F}"/>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3702340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17543-47F8-0AE3-CF5D-02A7F5294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FA79-FF41-FFFD-C684-BDAC3D25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4C41A-B451-4380-F9B5-79AA49E1B196}"/>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B23FB64-FCDA-6182-D672-F1D4B9157510}"/>
              </a:ext>
            </a:extLst>
          </p:cNvPr>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1209770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D85C6-F8EF-4EBE-7373-24CD7F249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EDBEE-1633-A2FB-FF5E-86994A0905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2DF25-46B4-B82C-F2D2-060DA788C16D}"/>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C8478C1E-3D02-C95A-7719-04E0AE9D9244}"/>
              </a:ext>
            </a:extLst>
          </p:cNvPr>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40208425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EC4F-CE24-7037-D3E0-E6B58204E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85646-4BF4-C513-2DFA-864F0C616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FC7B3-8FE4-72F6-F45F-5DEFB6175C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C7271-B4BC-B00B-3018-11D6403CB820}"/>
              </a:ext>
            </a:extLst>
          </p:cNvPr>
          <p:cNvSpPr>
            <a:spLocks noGrp="1"/>
          </p:cNvSpPr>
          <p:nvPr>
            <p:ph type="sldNum" sz="quarter" idx="5"/>
          </p:nvPr>
        </p:nvSpPr>
        <p:spPr/>
        <p:txBody>
          <a:bodyPr/>
          <a:lstStyle/>
          <a:p>
            <a:fld id="{2E5A36BE-6307-4311-8670-04B167AD63B7}" type="slidenum">
              <a:rPr lang="en-US" smtClean="0"/>
              <a:t>42</a:t>
            </a:fld>
            <a:endParaRPr lang="en-US"/>
          </a:p>
        </p:txBody>
      </p:sp>
    </p:spTree>
    <p:extLst>
      <p:ext uri="{BB962C8B-B14F-4D97-AF65-F5344CB8AC3E}">
        <p14:creationId xmlns:p14="http://schemas.microsoft.com/office/powerpoint/2010/main" val="2037932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2/26/2026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2/26/2026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2/26/2026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2/26/2026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2/26/2026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2/26/2026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2/26/2026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2/26/2026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2/26/2026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2/26/2026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2/26/2026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2/26/2026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a:bodyPr>
          <a:lstStyle/>
          <a:p>
            <a:r>
              <a:rPr lang="en-US"/>
              <a:t>Software Engineering</a:t>
            </a:r>
            <a:br>
              <a:rPr lang="en-US"/>
            </a:br>
            <a:r>
              <a:rPr lang="en-US" sz="4000"/>
              <a:t>(CS3201)</a:t>
            </a:r>
            <a:br>
              <a:rPr lang="en-US" sz="4000">
                <a:ea typeface="Calibri Light"/>
                <a:cs typeface="Calibri Light"/>
              </a:rPr>
            </a:br>
            <a:r>
              <a:rPr lang="en-US" sz="2500">
                <a:ea typeface="Calibri Light"/>
                <a:cs typeface="Calibri Light"/>
              </a:rPr>
              <a:t>Software Requirements</a:t>
            </a:r>
            <a:br>
              <a:rPr lang="en-US"/>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Functional and Non-functional Requirements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6591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3AFA5-A56D-A6C0-9DA0-6EBA42217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7B7D4-FAF1-9FC4-48E2-D32C47D54C4B}"/>
              </a:ext>
            </a:extLst>
          </p:cNvPr>
          <p:cNvSpPr>
            <a:spLocks noGrp="1"/>
          </p:cNvSpPr>
          <p:nvPr>
            <p:ph type="title"/>
          </p:nvPr>
        </p:nvSpPr>
        <p:spPr/>
        <p:txBody>
          <a:bodyPr/>
          <a:lstStyle/>
          <a:p>
            <a:r>
              <a:rPr lang="en-GB">
                <a:ea typeface="Calibri Light"/>
                <a:cs typeface="Calibri Light"/>
              </a:rPr>
              <a:t>Introduction (formal definition)</a:t>
            </a:r>
          </a:p>
        </p:txBody>
      </p:sp>
      <p:sp>
        <p:nvSpPr>
          <p:cNvPr id="3" name="Content Placeholder 2">
            <a:extLst>
              <a:ext uri="{FF2B5EF4-FFF2-40B4-BE49-F238E27FC236}">
                <a16:creationId xmlns:a16="http://schemas.microsoft.com/office/drawing/2014/main" id="{5F1B5996-8BAC-958F-3C6A-8DE33772D6E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Software system requirements are often classified as functional or non-functional requirements</a:t>
            </a:r>
            <a:endParaRPr lang="en-US" dirty="0">
              <a:ea typeface="Calibri" panose="020F0502020204030204"/>
              <a:cs typeface="Calibri"/>
            </a:endParaRPr>
          </a:p>
          <a:p>
            <a:pPr lvl="1"/>
            <a:r>
              <a:rPr lang="en-US" b="1" dirty="0">
                <a:ea typeface="Calibri" panose="020F0502020204030204"/>
                <a:cs typeface="Calibri"/>
              </a:rPr>
              <a:t>Functional Requirements:</a:t>
            </a:r>
            <a:r>
              <a:rPr lang="en-US" dirty="0">
                <a:ea typeface="Calibri" panose="020F0502020204030204"/>
                <a:cs typeface="Calibri"/>
              </a:rPr>
              <a:t> </a:t>
            </a:r>
            <a:r>
              <a:rPr lang="en-US" dirty="0">
                <a:ea typeface="+mn-lt"/>
                <a:cs typeface="+mn-lt"/>
              </a:rPr>
              <a:t>These are </a:t>
            </a:r>
            <a:r>
              <a:rPr lang="en-US" u="sng" dirty="0">
                <a:highlight>
                  <a:srgbClr val="FFFF00"/>
                </a:highlight>
                <a:ea typeface="+mn-lt"/>
                <a:cs typeface="+mn-lt"/>
              </a:rPr>
              <a:t>statements of services the system should provide</a:t>
            </a:r>
            <a:r>
              <a:rPr lang="en-US" dirty="0">
                <a:ea typeface="+mn-lt"/>
                <a:cs typeface="+mn-lt"/>
              </a:rPr>
              <a:t>, how the system should </a:t>
            </a:r>
            <a:r>
              <a:rPr lang="en-US" u="sng" dirty="0">
                <a:highlight>
                  <a:srgbClr val="FFFF00"/>
                </a:highlight>
                <a:ea typeface="+mn-lt"/>
                <a:cs typeface="+mn-lt"/>
              </a:rPr>
              <a:t>react to particular inputs</a:t>
            </a:r>
            <a:r>
              <a:rPr lang="en-US" dirty="0">
                <a:ea typeface="+mn-lt"/>
                <a:cs typeface="+mn-lt"/>
              </a:rPr>
              <a:t>, and how the system should </a:t>
            </a:r>
            <a:r>
              <a:rPr lang="en-US" u="sng" dirty="0">
                <a:highlight>
                  <a:srgbClr val="FFFF00"/>
                </a:highlight>
                <a:ea typeface="+mn-lt"/>
                <a:cs typeface="+mn-lt"/>
              </a:rPr>
              <a:t>behave in particular situations</a:t>
            </a:r>
            <a:r>
              <a:rPr lang="en-US" dirty="0">
                <a:ea typeface="+mn-lt"/>
                <a:cs typeface="+mn-lt"/>
              </a:rPr>
              <a:t>. In some cases, the functional requirements </a:t>
            </a:r>
            <a:r>
              <a:rPr lang="en-US" u="sng" dirty="0">
                <a:ea typeface="+mn-lt"/>
                <a:cs typeface="+mn-lt"/>
              </a:rPr>
              <a:t>may also explicitly </a:t>
            </a:r>
            <a:r>
              <a:rPr lang="en-US" u="sng" dirty="0">
                <a:highlight>
                  <a:srgbClr val="FFFF00"/>
                </a:highlight>
                <a:ea typeface="+mn-lt"/>
                <a:cs typeface="+mn-lt"/>
              </a:rPr>
              <a:t>state what the system should not do</a:t>
            </a:r>
          </a:p>
          <a:p>
            <a:pPr lvl="1"/>
            <a:endParaRPr lang="en-US">
              <a:ea typeface="Calibri" panose="020F0502020204030204"/>
              <a:cs typeface="Calibri"/>
            </a:endParaRPr>
          </a:p>
          <a:p>
            <a:pPr lvl="1"/>
            <a:r>
              <a:rPr lang="en-US" b="1" dirty="0">
                <a:ea typeface="Calibri" panose="020F0502020204030204"/>
                <a:cs typeface="Calibri"/>
              </a:rPr>
              <a:t>Non-functional Requirements:</a:t>
            </a:r>
            <a:r>
              <a:rPr lang="en-US" dirty="0">
                <a:ea typeface="Calibri" panose="020F0502020204030204"/>
                <a:cs typeface="Calibri"/>
              </a:rPr>
              <a:t> </a:t>
            </a:r>
            <a:r>
              <a:rPr lang="en-US" dirty="0">
                <a:ea typeface="+mn-lt"/>
                <a:cs typeface="+mn-lt"/>
              </a:rPr>
              <a:t>These are </a:t>
            </a:r>
            <a:r>
              <a:rPr lang="en-US" u="sng" dirty="0">
                <a:highlight>
                  <a:srgbClr val="FFFF00"/>
                </a:highlight>
                <a:ea typeface="+mn-lt"/>
                <a:cs typeface="+mn-lt"/>
              </a:rPr>
              <a:t>constraints on the services or functions</a:t>
            </a:r>
            <a:r>
              <a:rPr lang="en-US" dirty="0">
                <a:ea typeface="+mn-lt"/>
                <a:cs typeface="+mn-lt"/>
              </a:rPr>
              <a:t> offered /imposed by the environment. They include </a:t>
            </a:r>
            <a:r>
              <a:rPr lang="en-US" u="sng" dirty="0">
                <a:highlight>
                  <a:srgbClr val="FFFF00"/>
                </a:highlight>
                <a:ea typeface="+mn-lt"/>
                <a:cs typeface="+mn-lt"/>
              </a:rPr>
              <a:t>timing constraints, constraints on the development process, and constraints imposed by standards</a:t>
            </a:r>
            <a:r>
              <a:rPr lang="en-US" dirty="0">
                <a:ea typeface="+mn-lt"/>
                <a:cs typeface="+mn-lt"/>
              </a:rPr>
              <a:t>. Non-functional requirements often </a:t>
            </a:r>
            <a:r>
              <a:rPr lang="en-US" dirty="0">
                <a:highlight>
                  <a:srgbClr val="FFFF00"/>
                </a:highlight>
                <a:ea typeface="+mn-lt"/>
                <a:cs typeface="+mn-lt"/>
              </a:rPr>
              <a:t>apply to the system as a whole rather than individual system features</a:t>
            </a:r>
            <a:r>
              <a:rPr lang="en-US" dirty="0">
                <a:ea typeface="+mn-lt"/>
                <a:cs typeface="+mn-lt"/>
              </a:rPr>
              <a:t> or services</a:t>
            </a:r>
            <a:endParaRPr lang="en-US" dirty="0">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BBA8AAA-7FA6-92CA-EDEE-75F559415D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6E51B4D-A1D1-5911-8E08-F1375AEF7DBF}"/>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EE21092A-DC48-2A26-D045-0ADE5F2C77CE}"/>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33D69E2C-9116-51DE-5B74-25877F7C2742}"/>
              </a:ext>
            </a:extLst>
          </p:cNvPr>
          <p:cNvSpPr txBox="1"/>
          <p:nvPr/>
        </p:nvSpPr>
        <p:spPr>
          <a:xfrm>
            <a:off x="7821283" y="6484187"/>
            <a:ext cx="43707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Constraint (noun): a limitation or restriction</a:t>
            </a:r>
            <a:endParaRPr lang="en-US"/>
          </a:p>
        </p:txBody>
      </p:sp>
    </p:spTree>
    <p:extLst>
      <p:ext uri="{BB962C8B-B14F-4D97-AF65-F5344CB8AC3E}">
        <p14:creationId xmlns:p14="http://schemas.microsoft.com/office/powerpoint/2010/main" val="2802681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mn-lt"/>
                <a:cs typeface="+mn-lt"/>
              </a:rPr>
              <a:t>Functional requirements (of a system) </a:t>
            </a:r>
            <a:r>
              <a:rPr lang="en-US" dirty="0">
                <a:highlight>
                  <a:srgbClr val="FFFF00"/>
                </a:highlight>
                <a:ea typeface="+mn-lt"/>
                <a:cs typeface="+mn-lt"/>
              </a:rPr>
              <a:t>describe what the system should do</a:t>
            </a:r>
          </a:p>
          <a:p>
            <a:r>
              <a:rPr lang="en-US" dirty="0">
                <a:ea typeface="Calibri" panose="020F0502020204030204"/>
                <a:cs typeface="Calibri"/>
              </a:rPr>
              <a:t>Functional requirements depend on:</a:t>
            </a:r>
          </a:p>
          <a:p>
            <a:pPr lvl="1"/>
            <a:r>
              <a:rPr lang="en-US" dirty="0">
                <a:ea typeface="Calibri" panose="020F0502020204030204"/>
                <a:cs typeface="Calibri"/>
              </a:rPr>
              <a:t>The kind of software being developed (cannot have 7" LED screen UI on an embedded insulin delivery application)</a:t>
            </a:r>
          </a:p>
          <a:p>
            <a:pPr lvl="1"/>
            <a:r>
              <a:rPr lang="en-US" dirty="0">
                <a:ea typeface="Calibri" panose="020F0502020204030204"/>
                <a:cs typeface="Calibri"/>
              </a:rPr>
              <a:t>Expected users (An app for senior citizens should have icons accordingly)</a:t>
            </a:r>
          </a:p>
          <a:p>
            <a:pPr lvl="1"/>
            <a:r>
              <a:rPr lang="en-US" dirty="0">
                <a:ea typeface="Calibri" panose="020F0502020204030204"/>
                <a:cs typeface="Calibri"/>
              </a:rPr>
              <a:t>Organizational approach (User stories vs. SRS, IEEE 830 (SRS) vs. Custom, etc.)</a:t>
            </a:r>
          </a:p>
          <a:p>
            <a:r>
              <a:rPr lang="en-US" dirty="0">
                <a:ea typeface="Calibri" panose="020F0502020204030204"/>
                <a:cs typeface="Calibri"/>
              </a:rPr>
              <a:t>Functional requirements can be expressed either as </a:t>
            </a:r>
            <a:r>
              <a:rPr lang="en-US" b="1" u="sng" dirty="0">
                <a:ea typeface="Calibri" panose="020F0502020204030204"/>
                <a:cs typeface="Calibri"/>
              </a:rPr>
              <a:t>user</a:t>
            </a:r>
            <a:r>
              <a:rPr lang="en-US" dirty="0">
                <a:ea typeface="Calibri" panose="020F0502020204030204"/>
                <a:cs typeface="Calibri"/>
              </a:rPr>
              <a:t> or </a:t>
            </a:r>
            <a:r>
              <a:rPr lang="en-US" b="1" u="sng" dirty="0">
                <a:ea typeface="Calibri" panose="020F0502020204030204"/>
                <a:cs typeface="Calibri"/>
              </a:rPr>
              <a:t>system</a:t>
            </a:r>
            <a:r>
              <a:rPr lang="en-US" dirty="0">
                <a:ea typeface="Calibri" panose="020F0502020204030204"/>
                <a:cs typeface="Calibri"/>
              </a:rPr>
              <a:t> requirements (depending on the granularity of expression)</a:t>
            </a:r>
            <a:endParaRPr lang="en-US" dirty="0"/>
          </a:p>
          <a:p>
            <a:r>
              <a:rPr lang="en-US" dirty="0">
                <a:ea typeface="Calibri" panose="020F0502020204030204"/>
                <a:cs typeface="Calibri"/>
              </a:rPr>
              <a:t>Therefore, functional requirements can be one of two types:</a:t>
            </a:r>
          </a:p>
          <a:p>
            <a:pPr lvl="1"/>
            <a:r>
              <a:rPr lang="en-US" dirty="0">
                <a:ea typeface="Calibri" panose="020F0502020204030204"/>
                <a:cs typeface="Calibri"/>
              </a:rPr>
              <a:t>Functional user requirements</a:t>
            </a:r>
          </a:p>
          <a:p>
            <a:pPr lvl="1"/>
            <a:r>
              <a:rPr lang="en-US" dirty="0">
                <a:ea typeface="Calibri" panose="020F0502020204030204"/>
                <a:cs typeface="Calibri"/>
              </a:rPr>
              <a:t>Functional system requirements </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11169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4C5A4-8BC8-2A3E-A506-A2387A323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482FC-C9CD-8B14-8619-428ADB287B18}"/>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B4C28467-3EEF-5261-4922-5278D869ABAF}"/>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mn-lt"/>
                <a:cs typeface="+mn-lt"/>
              </a:rPr>
              <a:t>When expressed as user requirements, functional requirements should be written in natural language</a:t>
            </a:r>
          </a:p>
          <a:p>
            <a:r>
              <a:rPr lang="en-US" dirty="0">
                <a:ea typeface="+mn-lt"/>
                <a:cs typeface="+mn-lt"/>
              </a:rPr>
              <a:t>Functional system requirements expand the user requirements and are written for system developers (describe the system functions, their inputs and outputs, and exceptions in detail)</a:t>
            </a:r>
            <a:endParaRPr lang="en-US" dirty="0">
              <a:ea typeface="Calibri" panose="020F0502020204030204"/>
              <a:cs typeface="Calibri" panose="020F0502020204030204"/>
            </a:endParaRPr>
          </a:p>
          <a:p>
            <a:endParaRPr lang="en-US">
              <a:ea typeface="Calibri" panose="020F0502020204030204"/>
              <a:cs typeface="Calibri" panose="020F0502020204030204"/>
            </a:endParaRPr>
          </a:p>
          <a:p>
            <a:r>
              <a:rPr lang="en-US" dirty="0">
                <a:ea typeface="Calibri" panose="020F0502020204030204"/>
                <a:cs typeface="Calibri" panose="020F0502020204030204"/>
              </a:rPr>
              <a:t>Note: Functional user requirements </a:t>
            </a:r>
            <a:r>
              <a:rPr lang="en-US" dirty="0">
                <a:highlight>
                  <a:srgbClr val="FFFF00"/>
                </a:highlight>
                <a:ea typeface="Calibri" panose="020F0502020204030204"/>
                <a:cs typeface="Calibri" panose="020F0502020204030204"/>
              </a:rPr>
              <a:t>can vary in level of level of detail</a:t>
            </a:r>
            <a:r>
              <a:rPr lang="en-US" dirty="0">
                <a:ea typeface="Calibri" panose="020F0502020204030204"/>
                <a:cs typeface="Calibri" panose="020F0502020204030204"/>
              </a:rPr>
              <a:t>. Example:</a:t>
            </a:r>
            <a:endParaRPr lang="en-US" dirty="0">
              <a:ea typeface="+mn-lt"/>
              <a:cs typeface="+mn-lt"/>
            </a:endParaRPr>
          </a:p>
          <a:p>
            <a:pPr lvl="1"/>
            <a:r>
              <a:rPr lang="en-US" dirty="0">
                <a:ea typeface="+mn-lt"/>
                <a:cs typeface="+mn-lt"/>
              </a:rPr>
              <a:t>A user shall be able to search the appointments lists for all clinics</a:t>
            </a:r>
            <a:endParaRPr lang="en-US" dirty="0">
              <a:ea typeface="Calibri" panose="020F0502020204030204"/>
              <a:cs typeface="Calibri" panose="020F0502020204030204"/>
            </a:endParaRPr>
          </a:p>
          <a:p>
            <a:pPr lvl="1"/>
            <a:r>
              <a:rPr lang="en-US" dirty="0">
                <a:ea typeface="+mn-lt"/>
                <a:cs typeface="+mn-lt"/>
              </a:rPr>
              <a:t>The system shall generate each day, for each clinic, a list of patients who are expected to attend appointments that day</a:t>
            </a:r>
            <a:endParaRPr lang="en-US" dirty="0">
              <a:ea typeface="Calibri"/>
              <a:cs typeface="Calibri"/>
            </a:endParaRPr>
          </a:p>
          <a:p>
            <a:pPr lvl="1"/>
            <a:r>
              <a:rPr lang="en-US" dirty="0">
                <a:ea typeface="+mn-lt"/>
                <a:cs typeface="+mn-lt"/>
              </a:rPr>
              <a:t>Each staff member using the system shall be uniquely identified by his or her eight-digit employee number</a:t>
            </a:r>
            <a:endParaRPr lang="en-US" dirty="0">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11B9393-5D7C-8BBB-CDD8-797739CAB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34CDA30-630C-A082-80DF-171BA90E8EA8}"/>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8FBE08D1-C199-11DC-C4BD-3E3070F3B49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7902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15F6-91EA-F0E3-66F8-404BE29BB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2D9A9-079C-B3FA-2D9C-0F5A56BA9EF6}"/>
              </a:ext>
            </a:extLst>
          </p:cNvPr>
          <p:cNvSpPr>
            <a:spLocks noGrp="1"/>
          </p:cNvSpPr>
          <p:nvPr>
            <p:ph type="title"/>
          </p:nvPr>
        </p:nvSpPr>
        <p:spPr/>
        <p:txBody>
          <a:bodyPr/>
          <a:lstStyle/>
          <a:p>
            <a:r>
              <a:rPr lang="en-GB">
                <a:ea typeface="Calibri Light"/>
                <a:cs typeface="Calibri Light"/>
              </a:rPr>
              <a:t>Requirements this and requirements that!!</a:t>
            </a:r>
          </a:p>
        </p:txBody>
      </p:sp>
      <p:sp>
        <p:nvSpPr>
          <p:cNvPr id="3" name="Content Placeholder 2">
            <a:extLst>
              <a:ext uri="{FF2B5EF4-FFF2-40B4-BE49-F238E27FC236}">
                <a16:creationId xmlns:a16="http://schemas.microsoft.com/office/drawing/2014/main" id="{201F10DC-557D-E8B3-1FB3-D03D23794F1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Requirements: Can be </a:t>
            </a:r>
            <a:r>
              <a:rPr lang="en-US" u="sng">
                <a:ea typeface="Calibri" panose="020F0502020204030204"/>
                <a:cs typeface="Calibri"/>
              </a:rPr>
              <a:t>user</a:t>
            </a:r>
            <a:r>
              <a:rPr lang="en-US">
                <a:ea typeface="Calibri" panose="020F0502020204030204"/>
                <a:cs typeface="Calibri"/>
              </a:rPr>
              <a:t> (more generic) or </a:t>
            </a:r>
            <a:r>
              <a:rPr lang="en-US" u="sng">
                <a:ea typeface="Calibri" panose="020F0502020204030204"/>
                <a:cs typeface="Calibri"/>
              </a:rPr>
              <a:t>system</a:t>
            </a:r>
            <a:r>
              <a:rPr lang="en-US">
                <a:ea typeface="Calibri" panose="020F0502020204030204"/>
                <a:cs typeface="Calibri"/>
              </a:rPr>
              <a:t> (more specific)</a:t>
            </a:r>
          </a:p>
          <a:p>
            <a:endParaRPr lang="en-US">
              <a:ea typeface="Calibri" panose="020F0502020204030204"/>
              <a:cs typeface="Calibri"/>
            </a:endParaRPr>
          </a:p>
          <a:p>
            <a:r>
              <a:rPr lang="en-US">
                <a:ea typeface="Calibri" panose="020F0502020204030204"/>
                <a:cs typeface="Calibri"/>
              </a:rPr>
              <a:t>Example:</a:t>
            </a:r>
          </a:p>
          <a:p>
            <a:pPr lvl="1"/>
            <a:r>
              <a:rPr lang="en-US">
                <a:ea typeface="Calibri" panose="020F0502020204030204"/>
                <a:cs typeface="Calibri"/>
              </a:rPr>
              <a:t>User Requirement: We need a login page where users enter their credentials and login</a:t>
            </a:r>
          </a:p>
          <a:p>
            <a:pPr lvl="1"/>
            <a:endParaRPr lang="en-US">
              <a:ea typeface="Calibri" panose="020F0502020204030204"/>
              <a:cs typeface="Calibri"/>
            </a:endParaRPr>
          </a:p>
          <a:p>
            <a:pPr lvl="1"/>
            <a:r>
              <a:rPr lang="en-US">
                <a:ea typeface="Calibri" panose="020F0502020204030204"/>
                <a:cs typeface="Calibri"/>
              </a:rPr>
              <a:t>System Requirement: The login page must consist of two textboxes, each of width 250 </a:t>
            </a:r>
            <a:r>
              <a:rPr lang="en-US" err="1">
                <a:ea typeface="Calibri" panose="020F0502020204030204"/>
                <a:cs typeface="Calibri"/>
              </a:rPr>
              <a:t>px</a:t>
            </a:r>
            <a:r>
              <a:rPr lang="en-US">
                <a:ea typeface="Calibri" panose="020F0502020204030204"/>
                <a:cs typeface="Calibri"/>
              </a:rPr>
              <a:t> and height 20 </a:t>
            </a:r>
            <a:r>
              <a:rPr lang="en-US" err="1">
                <a:ea typeface="Calibri" panose="020F0502020204030204"/>
                <a:cs typeface="Calibri"/>
              </a:rPr>
              <a:t>px</a:t>
            </a:r>
            <a:r>
              <a:rPr lang="en-US">
                <a:ea typeface="Calibri" panose="020F0502020204030204"/>
                <a:cs typeface="Calibri"/>
              </a:rPr>
              <a:t>. The password textbook should hide the characters using </a:t>
            </a:r>
            <a:r>
              <a:rPr lang="en-US" err="1">
                <a:ea typeface="Calibri" panose="020F0502020204030204"/>
                <a:cs typeface="Calibri"/>
              </a:rPr>
              <a:t>asterick</a:t>
            </a:r>
            <a:r>
              <a:rPr lang="en-US">
                <a:ea typeface="Calibri" panose="020F0502020204030204"/>
                <a:cs typeface="Calibri"/>
              </a:rPr>
              <a:t>. There should be a login button which when clicked checks the credentials entered in the two textboxes against a database, and while this happens, a loading icon must be displayed</a:t>
            </a:r>
          </a:p>
          <a:p>
            <a:endParaRPr lang="en-US" u="sng">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54382B0-9500-A452-7CCD-29501A183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D4DF730-42EB-4B00-0D57-623240E1E470}"/>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76C96F93-0ACC-D778-5080-5A9EE03455E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4081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FD16-3111-5CC2-B5CB-2DE766D8B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D487F-1DFB-44DE-1524-49C1DBDE95BE}"/>
              </a:ext>
            </a:extLst>
          </p:cNvPr>
          <p:cNvSpPr>
            <a:spLocks noGrp="1"/>
          </p:cNvSpPr>
          <p:nvPr>
            <p:ph type="title"/>
          </p:nvPr>
        </p:nvSpPr>
        <p:spPr/>
        <p:txBody>
          <a:bodyPr/>
          <a:lstStyle/>
          <a:p>
            <a:r>
              <a:rPr lang="en-GB">
                <a:ea typeface="Calibri Light"/>
                <a:cs typeface="Calibri Light"/>
              </a:rPr>
              <a:t>Requirements this and requirements that!!</a:t>
            </a:r>
          </a:p>
        </p:txBody>
      </p:sp>
      <p:sp>
        <p:nvSpPr>
          <p:cNvPr id="3" name="Content Placeholder 2">
            <a:extLst>
              <a:ext uri="{FF2B5EF4-FFF2-40B4-BE49-F238E27FC236}">
                <a16:creationId xmlns:a16="http://schemas.microsoft.com/office/drawing/2014/main" id="{98166934-C9A5-7350-04AB-480D4B7475D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Requirements: Can be functional (express what software must do) or non-functional (not related to the software per se, but is a requirement of the ecosystem where the software runs)</a:t>
            </a:r>
            <a:endParaRPr lang="en-US" dirty="0"/>
          </a:p>
          <a:p>
            <a:endParaRPr lang="en-US">
              <a:ea typeface="Calibri" panose="020F0502020204030204"/>
              <a:cs typeface="Calibri"/>
            </a:endParaRPr>
          </a:p>
          <a:p>
            <a:r>
              <a:rPr lang="en-US" dirty="0">
                <a:ea typeface="Calibri" panose="020F0502020204030204"/>
                <a:cs typeface="Calibri"/>
              </a:rPr>
              <a:t>"Ecosystem where the software runs"?!? An example: If you develop an application that is meant to automatically administer insulin, the non-functional requirement here is </a:t>
            </a:r>
            <a:r>
              <a:rPr lang="en-US" u="sng" dirty="0">
                <a:ea typeface="Calibri" panose="020F0502020204030204"/>
                <a:cs typeface="Calibri"/>
              </a:rPr>
              <a:t>that the application must be reliable (another requirement can be that it use less energy)</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8641071-FADD-5383-588C-31B74746B4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D5E0E3B-8DE4-8EC9-2886-C68B558B7877}"/>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EC4E74C1-E75B-5485-E48A-70C6F5DFB4D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8649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A1056-0581-F52B-8073-B11EAB758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53BE1-9759-F76F-C1C7-8BFCC0305D18}"/>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CB5EE682-1F1C-8549-1D0C-CFB5741E1DB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You must have understood by now that different types of requirements have different levels of expressional granularity (let's call it that)</a:t>
            </a:r>
            <a:endParaRPr lang="en-US"/>
          </a:p>
          <a:p>
            <a:r>
              <a:rPr lang="en-US">
                <a:ea typeface="Calibri" panose="020F0502020204030204"/>
                <a:cs typeface="Calibri"/>
              </a:rPr>
              <a:t>Due to this differences in expression, errors might creep in (check 'notes' of this slide for an example from textbook)</a:t>
            </a:r>
            <a:endParaRPr lang="en-US"/>
          </a:p>
          <a:p>
            <a:r>
              <a:rPr lang="en-US">
                <a:ea typeface="+mn-lt"/>
                <a:cs typeface="+mn-lt"/>
              </a:rPr>
              <a:t>Imprecision in the requirements specification can lead to disputes between customers and software developers</a:t>
            </a:r>
          </a:p>
          <a:p>
            <a:r>
              <a:rPr lang="en-US">
                <a:ea typeface="+mn-lt"/>
                <a:cs typeface="+mn-lt"/>
              </a:rPr>
              <a:t>Natural for a system developer to interpret an ambiguous requirement in a way that simplifies its implementation </a:t>
            </a:r>
            <a:endParaRPr lang="en-US"/>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B0A3797-D131-DC44-73F8-7849C1179C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612A78B-9329-E1DB-638C-E24DE3435E73}"/>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DA6D0876-930E-8196-B82D-3318BCD59EF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6552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FBD29-DD39-9E83-7604-4AFC20862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2C1F7-D757-3B9D-E5FE-11F1B87206DD}"/>
              </a:ext>
            </a:extLst>
          </p:cNvPr>
          <p:cNvSpPr>
            <a:spLocks noGrp="1"/>
          </p:cNvSpPr>
          <p:nvPr>
            <p:ph type="title"/>
          </p:nvPr>
        </p:nvSpPr>
        <p:spPr/>
        <p:txBody>
          <a:bodyPr/>
          <a:lstStyle/>
          <a:p>
            <a:r>
              <a:rPr lang="en-GB">
                <a:ea typeface="Calibri Light"/>
                <a:cs typeface="Calibri Light"/>
              </a:rPr>
              <a:t>Functional Requirements- Example on imprecision</a:t>
            </a:r>
            <a:endParaRPr lang="en-US"/>
          </a:p>
        </p:txBody>
      </p:sp>
      <p:sp>
        <p:nvSpPr>
          <p:cNvPr id="3" name="Content Placeholder 2">
            <a:extLst>
              <a:ext uri="{FF2B5EF4-FFF2-40B4-BE49-F238E27FC236}">
                <a16:creationId xmlns:a16="http://schemas.microsoft.com/office/drawing/2014/main" id="{69266742-5245-1C0F-8ED6-A861663F7E18}"/>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i="1">
                <a:ea typeface="+mn-lt"/>
                <a:cs typeface="+mn-lt"/>
              </a:rPr>
              <a:t>"The system should allow users to book appointments."</a:t>
            </a:r>
            <a:endParaRPr lang="en-US" i="1">
              <a:ea typeface="Calibri" panose="020F0502020204030204"/>
              <a:cs typeface="Calibri"/>
            </a:endParaRPr>
          </a:p>
          <a:p>
            <a:r>
              <a:rPr lang="en-US"/>
              <a:t>Why is this a Problem?</a:t>
            </a:r>
            <a:endParaRPr lang="en-US">
              <a:ea typeface="Calibri" panose="020F0502020204030204"/>
              <a:cs typeface="Calibri"/>
            </a:endParaRPr>
          </a:p>
          <a:p>
            <a:pPr lvl="1"/>
            <a:r>
              <a:rPr lang="en-US" b="1">
                <a:ea typeface="+mn-lt"/>
                <a:cs typeface="+mn-lt"/>
              </a:rPr>
              <a:t>What does "booking" mean?</a:t>
            </a:r>
            <a:r>
              <a:rPr lang="en-US">
                <a:ea typeface="+mn-lt"/>
                <a:cs typeface="+mn-lt"/>
              </a:rPr>
              <a:t> (One-click booking? Should it have a calendar view?)</a:t>
            </a:r>
            <a:endParaRPr lang="en-US">
              <a:ea typeface="Calibri"/>
              <a:cs typeface="Calibri"/>
            </a:endParaRPr>
          </a:p>
          <a:p>
            <a:pPr lvl="1"/>
            <a:r>
              <a:rPr lang="en-US" b="1">
                <a:ea typeface="+mn-lt"/>
                <a:cs typeface="+mn-lt"/>
              </a:rPr>
              <a:t>What type of appointments?</a:t>
            </a:r>
            <a:r>
              <a:rPr lang="en-US">
                <a:ea typeface="+mn-lt"/>
                <a:cs typeface="+mn-lt"/>
              </a:rPr>
              <a:t> (Doctor, in person, consultancy?)</a:t>
            </a:r>
            <a:endParaRPr lang="en-US">
              <a:ea typeface="Calibri"/>
              <a:cs typeface="Calibri"/>
            </a:endParaRPr>
          </a:p>
          <a:p>
            <a:pPr lvl="1"/>
            <a:r>
              <a:rPr lang="en-US" b="1">
                <a:ea typeface="+mn-lt"/>
                <a:cs typeface="+mn-lt"/>
              </a:rPr>
              <a:t>Can users cancel or reschedule?</a:t>
            </a:r>
            <a:endParaRPr lang="en-US">
              <a:ea typeface="Calibri"/>
              <a:cs typeface="Calibri"/>
            </a:endParaRPr>
          </a:p>
          <a:p>
            <a:pPr lvl="1"/>
            <a:r>
              <a:rPr lang="en-US" b="1">
                <a:ea typeface="+mn-lt"/>
                <a:cs typeface="+mn-lt"/>
              </a:rPr>
              <a:t>Is there a limit on how many appointments a user can book?</a:t>
            </a:r>
            <a:endParaRPr lang="en-US">
              <a:ea typeface="Calibri"/>
              <a:cs typeface="Calibri"/>
            </a:endParaRPr>
          </a:p>
          <a:p>
            <a:pPr lvl="1"/>
            <a:r>
              <a:rPr lang="en-US" b="1">
                <a:ea typeface="+mn-lt"/>
                <a:cs typeface="+mn-lt"/>
              </a:rPr>
              <a:t>Should users receive reminders? If yes, how? (Email, SMS, push notification?)</a:t>
            </a:r>
            <a:endParaRPr lang="en-US">
              <a:ea typeface="Calibri"/>
              <a:cs typeface="Calibri"/>
            </a:endParaRPr>
          </a:p>
          <a:p>
            <a:r>
              <a:rPr lang="en-US">
                <a:ea typeface="Calibri"/>
                <a:cs typeface="Calibri"/>
              </a:rPr>
              <a:t>Better way - </a:t>
            </a:r>
            <a:r>
              <a:rPr lang="en-US" i="1">
                <a:ea typeface="+mn-lt"/>
                <a:cs typeface="+mn-lt"/>
              </a:rPr>
              <a:t>"The system shall allow users to book, cancel, and reschedule appointments through a calendar interface. Users will receive automated email and SMS reminders 24 hours before their appointment."</a:t>
            </a:r>
            <a:endParaRPr lang="en-US" i="1">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FA97C80-7C84-101C-1D07-D88F82DB4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CE06246-191E-9E91-AC9B-4CA2B08A1055}"/>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BEBB010D-F2F0-C5C3-A547-9A8EDDFC29C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1829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06B99-CA24-E580-E8F1-A2E19D627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3AC68-2394-CD9A-B1A8-E90BEA53CCE4}"/>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F4C9908E-5D56-4D42-E608-3DC831CC6D0D}"/>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dirty="0">
                <a:ea typeface="+mn-lt"/>
                <a:cs typeface="+mn-lt"/>
              </a:rPr>
              <a:t>Key Takeaway:</a:t>
            </a:r>
            <a:r>
              <a:rPr lang="en-US" dirty="0">
                <a:ea typeface="+mn-lt"/>
                <a:cs typeface="+mn-lt"/>
              </a:rPr>
              <a:t> Imprecise requirements lead to mismatched expectations, rework, and disputes. Always be </a:t>
            </a:r>
            <a:r>
              <a:rPr lang="en-US" b="1" dirty="0">
                <a:ea typeface="+mn-lt"/>
                <a:cs typeface="+mn-lt"/>
              </a:rPr>
              <a:t>clear, detailed, and specific</a:t>
            </a:r>
            <a:r>
              <a:rPr lang="en-US" dirty="0">
                <a:ea typeface="+mn-lt"/>
                <a:cs typeface="+mn-lt"/>
              </a:rPr>
              <a:t> in functional requirements!</a:t>
            </a:r>
          </a:p>
          <a:p>
            <a:pPr marL="0" indent="0">
              <a:buNone/>
            </a:pPr>
            <a:endParaRPr lang="en-US">
              <a:ea typeface="+mn-lt"/>
              <a:cs typeface="+mn-lt"/>
            </a:endParaRPr>
          </a:p>
          <a:p>
            <a:r>
              <a:rPr lang="en-US" dirty="0">
                <a:ea typeface="+mn-lt"/>
                <a:cs typeface="+mn-lt"/>
              </a:rPr>
              <a:t>Ideally, the functional requirements specification of a system should be both </a:t>
            </a:r>
            <a:r>
              <a:rPr lang="en-US" b="1" dirty="0">
                <a:highlight>
                  <a:srgbClr val="FFFF00"/>
                </a:highlight>
                <a:ea typeface="+mn-lt"/>
                <a:cs typeface="+mn-lt"/>
              </a:rPr>
              <a:t>complete</a:t>
            </a:r>
            <a:r>
              <a:rPr lang="en-US" dirty="0">
                <a:ea typeface="+mn-lt"/>
                <a:cs typeface="+mn-lt"/>
              </a:rPr>
              <a:t> and </a:t>
            </a:r>
            <a:r>
              <a:rPr lang="en-US" b="1" dirty="0">
                <a:highlight>
                  <a:srgbClr val="FFFF00"/>
                </a:highlight>
                <a:ea typeface="+mn-lt"/>
                <a:cs typeface="+mn-lt"/>
              </a:rPr>
              <a:t>consistent</a:t>
            </a:r>
            <a:endParaRPr lang="en-US">
              <a:highlight>
                <a:srgbClr val="FFFF00"/>
              </a:highlight>
              <a:ea typeface="+mn-lt"/>
              <a:cs typeface="+mn-lt"/>
            </a:endParaRPr>
          </a:p>
          <a:p>
            <a:r>
              <a:rPr lang="en-US" dirty="0">
                <a:ea typeface="+mn-lt"/>
                <a:cs typeface="+mn-lt"/>
              </a:rPr>
              <a:t>Completeness means that all services and information required by the user should be defined</a:t>
            </a:r>
          </a:p>
          <a:p>
            <a:r>
              <a:rPr lang="en-US" dirty="0">
                <a:ea typeface="+mn-lt"/>
                <a:cs typeface="+mn-lt"/>
              </a:rPr>
              <a:t>Consistency means that requirements should not be contradictory</a:t>
            </a:r>
            <a:endParaRPr lang="en-US" dirty="0">
              <a:ea typeface="Calibri"/>
              <a:cs typeface="Calibri"/>
            </a:endParaRPr>
          </a:p>
          <a:p>
            <a:endParaRPr lang="en-US">
              <a:ea typeface="Calibri"/>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DF622BB-F038-EEA5-A5CC-ADA393047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FB9D522-5EC6-C125-E060-2A08CF38FA81}"/>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0664F514-FD51-FAED-0F3F-E6FF3218FB9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30656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65895-894A-F6D6-C0AC-CF3FDAB62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5CA2B-46A6-572B-9922-1E2513DD5831}"/>
              </a:ext>
            </a:extLst>
          </p:cNvPr>
          <p:cNvSpPr>
            <a:spLocks noGrp="1"/>
          </p:cNvSpPr>
          <p:nvPr>
            <p:ph type="title"/>
          </p:nvPr>
        </p:nvSpPr>
        <p:spPr/>
        <p:txBody>
          <a:bodyPr/>
          <a:lstStyle/>
          <a:p>
            <a:r>
              <a:rPr lang="en-GB">
                <a:ea typeface="Calibri Light"/>
                <a:cs typeface="Calibri Light"/>
              </a:rPr>
              <a:t>Functional Requirements</a:t>
            </a:r>
            <a:endParaRPr lang="en-US"/>
          </a:p>
        </p:txBody>
      </p:sp>
      <p:sp>
        <p:nvSpPr>
          <p:cNvPr id="3" name="Content Placeholder 2">
            <a:extLst>
              <a:ext uri="{FF2B5EF4-FFF2-40B4-BE49-F238E27FC236}">
                <a16:creationId xmlns:a16="http://schemas.microsoft.com/office/drawing/2014/main" id="{1A08DD61-030D-7CC9-4A31-E737365E720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In practice, it is only possible to achieve requirements consistency and completeness for very small software systems</a:t>
            </a:r>
          </a:p>
          <a:p>
            <a:r>
              <a:rPr lang="en-US" dirty="0">
                <a:ea typeface="+mn-lt"/>
                <a:cs typeface="+mn-lt"/>
              </a:rPr>
              <a:t>It is easy to make mistakes and omissions when writing specifications for large, complex systems</a:t>
            </a:r>
          </a:p>
          <a:p>
            <a:r>
              <a:rPr lang="en-US">
                <a:ea typeface="+mn-lt"/>
                <a:cs typeface="+mn-lt"/>
              </a:rPr>
              <a:t>Additionally, </a:t>
            </a:r>
            <a:r>
              <a:rPr lang="en-US">
                <a:highlight>
                  <a:srgbClr val="FFFF00"/>
                </a:highlight>
                <a:ea typeface="+mn-lt"/>
                <a:cs typeface="+mn-lt"/>
              </a:rPr>
              <a:t>large systems have many stakeholders, with different backgrounds and expectations</a:t>
            </a:r>
          </a:p>
          <a:p>
            <a:r>
              <a:rPr lang="en-US" dirty="0">
                <a:ea typeface="+mn-lt"/>
                <a:cs typeface="+mn-lt"/>
              </a:rPr>
              <a:t>Stakeholders are likely to have different—and often inconsistent—needs</a:t>
            </a:r>
          </a:p>
          <a:p>
            <a:r>
              <a:rPr lang="en-US" dirty="0">
                <a:ea typeface="+mn-lt"/>
                <a:cs typeface="+mn-lt"/>
              </a:rPr>
              <a:t>Inconsistencies may not be obvious when the requirements are originally specified, and the inconsistent requirements may only be discovered after deeper analysis or during system development</a:t>
            </a:r>
            <a:endParaRPr lang="en-US" dirty="0">
              <a:ea typeface="Calibri"/>
              <a:cs typeface="Calibri"/>
            </a:endParaRPr>
          </a:p>
          <a:p>
            <a:endParaRPr lang="en-US">
              <a:ea typeface="Calibri"/>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C8DF232-B03E-F73D-1908-307618D8D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DE7E560-1A41-A1BC-D4F1-C26288469E3F}"/>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54FE2B58-5FE1-AF3D-5A0A-B7BCB3D0020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4887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EDE1-345D-6823-B9E0-70BB4F5D9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340B9-8486-BE4B-2F63-CB834C375BD6}"/>
              </a:ext>
            </a:extLst>
          </p:cNvPr>
          <p:cNvSpPr>
            <a:spLocks noGrp="1"/>
          </p:cNvSpPr>
          <p:nvPr>
            <p:ph type="title"/>
          </p:nvPr>
        </p:nvSpPr>
        <p:spPr/>
        <p:txBody>
          <a:bodyPr/>
          <a:lstStyle/>
          <a:p>
            <a:r>
              <a:rPr lang="en-GB">
                <a:ea typeface="Calibri Light"/>
                <a:cs typeface="Calibri Light"/>
              </a:rPr>
              <a:t>Functional Requirements – Example of inconsistent needs</a:t>
            </a:r>
            <a:endParaRPr lang="en-US"/>
          </a:p>
        </p:txBody>
      </p:sp>
      <p:sp>
        <p:nvSpPr>
          <p:cNvPr id="3" name="Content Placeholder 2">
            <a:extLst>
              <a:ext uri="{FF2B5EF4-FFF2-40B4-BE49-F238E27FC236}">
                <a16:creationId xmlns:a16="http://schemas.microsoft.com/office/drawing/2014/main" id="{9731C900-A411-98FE-C294-FB5A0EA5DF1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b="1">
                <a:ea typeface="Calibri"/>
                <a:cs typeface="Calibri"/>
              </a:rPr>
              <a:t>E-commerce website:</a:t>
            </a:r>
            <a:endParaRPr lang="en-US" b="1"/>
          </a:p>
          <a:p>
            <a:pPr marL="0" indent="0">
              <a:buNone/>
            </a:pPr>
            <a:endParaRPr lang="en-US" b="1">
              <a:ea typeface="Calibri" panose="020F0502020204030204"/>
              <a:cs typeface="Calibri" panose="020F0502020204030204"/>
            </a:endParaRPr>
          </a:p>
          <a:p>
            <a:r>
              <a:rPr lang="en-US" b="1"/>
              <a:t>Stakeholder 1: Marketing Team</a:t>
            </a:r>
            <a:endParaRPr lang="en-US">
              <a:ea typeface="Calibri" panose="020F0502020204030204"/>
              <a:cs typeface="Calibri"/>
            </a:endParaRPr>
          </a:p>
          <a:p>
            <a:pPr lvl="1"/>
            <a:r>
              <a:rPr lang="en-US">
                <a:ea typeface="+mn-lt"/>
                <a:cs typeface="+mn-lt"/>
              </a:rPr>
              <a:t>Wants a </a:t>
            </a:r>
            <a:r>
              <a:rPr lang="en-US" b="1">
                <a:ea typeface="+mn-lt"/>
                <a:cs typeface="+mn-lt"/>
              </a:rPr>
              <a:t>one-click checkout</a:t>
            </a:r>
            <a:r>
              <a:rPr lang="en-US">
                <a:ea typeface="+mn-lt"/>
                <a:cs typeface="+mn-lt"/>
              </a:rPr>
              <a:t> option to make the purchasing process </a:t>
            </a:r>
            <a:r>
              <a:rPr lang="en-US" b="1">
                <a:ea typeface="+mn-lt"/>
                <a:cs typeface="+mn-lt"/>
              </a:rPr>
              <a:t>fast and seamless</a:t>
            </a:r>
            <a:r>
              <a:rPr lang="en-US">
                <a:ea typeface="+mn-lt"/>
                <a:cs typeface="+mn-lt"/>
              </a:rPr>
              <a:t> for customers.</a:t>
            </a:r>
            <a:endParaRPr lang="en-US">
              <a:ea typeface="Calibri" panose="020F0502020204030204"/>
              <a:cs typeface="Calibri" panose="020F0502020204030204"/>
            </a:endParaRPr>
          </a:p>
          <a:p>
            <a:pPr lvl="1"/>
            <a:r>
              <a:rPr lang="en-US">
                <a:ea typeface="+mn-lt"/>
                <a:cs typeface="+mn-lt"/>
              </a:rPr>
              <a:t>Believes fewer steps = </a:t>
            </a:r>
            <a:r>
              <a:rPr lang="en-US" b="1">
                <a:ea typeface="+mn-lt"/>
                <a:cs typeface="+mn-lt"/>
              </a:rPr>
              <a:t>higher conversion rates</a:t>
            </a:r>
            <a:r>
              <a:rPr lang="en-US">
                <a:ea typeface="+mn-lt"/>
                <a:cs typeface="+mn-lt"/>
              </a:rPr>
              <a:t> and more sales.</a:t>
            </a:r>
            <a:endParaRPr lang="en-US">
              <a:ea typeface="Calibri"/>
              <a:cs typeface="Calibri"/>
            </a:endParaRPr>
          </a:p>
          <a:p>
            <a:r>
              <a:rPr lang="en-US" b="1"/>
              <a:t>Stakeholder 2: Finance &amp; Security Team</a:t>
            </a:r>
            <a:endParaRPr lang="en-US"/>
          </a:p>
          <a:p>
            <a:pPr lvl="1"/>
            <a:r>
              <a:rPr lang="en-US">
                <a:ea typeface="+mn-lt"/>
                <a:cs typeface="+mn-lt"/>
              </a:rPr>
              <a:t>Wants a </a:t>
            </a:r>
            <a:r>
              <a:rPr lang="en-US" b="1">
                <a:ea typeface="+mn-lt"/>
                <a:cs typeface="+mn-lt"/>
              </a:rPr>
              <a:t>multi-step verification process</a:t>
            </a:r>
            <a:r>
              <a:rPr lang="en-US">
                <a:ea typeface="+mn-lt"/>
                <a:cs typeface="+mn-lt"/>
              </a:rPr>
              <a:t> for payments, including </a:t>
            </a:r>
            <a:r>
              <a:rPr lang="en-US" b="1">
                <a:ea typeface="+mn-lt"/>
                <a:cs typeface="+mn-lt"/>
              </a:rPr>
              <a:t>OTP (one-time password) and CAPTCHA</a:t>
            </a:r>
            <a:r>
              <a:rPr lang="en-US">
                <a:ea typeface="+mn-lt"/>
                <a:cs typeface="+mn-lt"/>
              </a:rPr>
              <a:t>, to </a:t>
            </a:r>
            <a:r>
              <a:rPr lang="en-US" b="1">
                <a:ea typeface="+mn-lt"/>
                <a:cs typeface="+mn-lt"/>
              </a:rPr>
              <a:t>prevent fraud and chargebacks</a:t>
            </a:r>
            <a:r>
              <a:rPr lang="en-US">
                <a:ea typeface="+mn-lt"/>
                <a:cs typeface="+mn-lt"/>
              </a:rPr>
              <a:t>.</a:t>
            </a:r>
            <a:endParaRPr lang="en-US">
              <a:ea typeface="Calibri"/>
              <a:cs typeface="Calibri"/>
            </a:endParaRPr>
          </a:p>
          <a:p>
            <a:pPr lvl="1"/>
            <a:r>
              <a:rPr lang="en-US">
                <a:ea typeface="+mn-lt"/>
                <a:cs typeface="+mn-lt"/>
              </a:rPr>
              <a:t>Prefers additional security, even if it makes the checkout process longer.</a:t>
            </a:r>
            <a:endParaRPr lang="en-US">
              <a:ea typeface="Calibri"/>
              <a:cs typeface="Calibri"/>
            </a:endParaRPr>
          </a:p>
          <a:p>
            <a:endParaRPr lang="en-US">
              <a:ea typeface="Calibri"/>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B76A3FA-6220-4190-6DD5-37822E81F6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F1060D0-ADAE-012F-9932-EAAEFDF68695}"/>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321BE402-9974-3DB1-C1CA-AD8C669D1A4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68902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4FE5-1B42-7BE7-81FF-2F8DF90CA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C042C-CBC5-AF05-CF1B-77AD7F7D1834}"/>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1235D573-B319-D394-8C62-AD46C17E68DC}"/>
              </a:ext>
            </a:extLst>
          </p:cNvPr>
          <p:cNvSpPr>
            <a:spLocks noGrp="1"/>
          </p:cNvSpPr>
          <p:nvPr>
            <p:ph idx="1"/>
          </p:nvPr>
        </p:nvSpPr>
        <p:spPr>
          <a:xfrm>
            <a:off x="838200" y="1690328"/>
            <a:ext cx="10515600" cy="5031147"/>
          </a:xfrm>
        </p:spPr>
        <p:txBody>
          <a:bodyPr vert="horz" lIns="91440" tIns="45720" rIns="91440" bIns="45720" rtlCol="0" anchor="t">
            <a:normAutofit fontScale="92500"/>
          </a:bodyPr>
          <a:lstStyle/>
          <a:p>
            <a:r>
              <a:rPr lang="en-US" dirty="0">
                <a:ea typeface="Calibri" panose="020F0502020204030204"/>
                <a:cs typeface="Calibri"/>
              </a:rPr>
              <a:t>Not directly concerned with the services needed / delivered by the system to users</a:t>
            </a:r>
          </a:p>
          <a:p>
            <a:r>
              <a:rPr lang="en-US" dirty="0">
                <a:ea typeface="Calibri" panose="020F0502020204030204"/>
                <a:cs typeface="Calibri"/>
              </a:rPr>
              <a:t>Usually </a:t>
            </a:r>
            <a:r>
              <a:rPr lang="en-US" dirty="0">
                <a:highlight>
                  <a:srgbClr val="FFFF00"/>
                </a:highlight>
                <a:ea typeface="Calibri" panose="020F0502020204030204"/>
                <a:cs typeface="Calibri"/>
              </a:rPr>
              <a:t>specify or constrain characteristics of the system</a:t>
            </a:r>
            <a:r>
              <a:rPr lang="en-US" dirty="0">
                <a:ea typeface="Calibri" panose="020F0502020204030204"/>
                <a:cs typeface="Calibri"/>
              </a:rPr>
              <a:t> as a whole</a:t>
            </a:r>
          </a:p>
          <a:p>
            <a:r>
              <a:rPr lang="en-US" dirty="0">
                <a:ea typeface="Calibri" panose="020F0502020204030204"/>
                <a:cs typeface="Calibri"/>
              </a:rPr>
              <a:t>In simple words – </a:t>
            </a:r>
            <a:r>
              <a:rPr lang="en-US" dirty="0">
                <a:highlight>
                  <a:srgbClr val="FFFF00"/>
                </a:highlight>
                <a:ea typeface="Calibri" panose="020F0502020204030204"/>
                <a:cs typeface="Calibri"/>
              </a:rPr>
              <a:t>Requirements enforced by the system/ environment</a:t>
            </a:r>
          </a:p>
          <a:p>
            <a:r>
              <a:rPr lang="en-US" dirty="0">
                <a:ea typeface="Calibri" panose="020F0502020204030204"/>
                <a:cs typeface="Calibri"/>
              </a:rPr>
              <a:t>Examples:</a:t>
            </a:r>
          </a:p>
          <a:p>
            <a:pPr lvl="1"/>
            <a:r>
              <a:rPr lang="en-US" dirty="0">
                <a:ea typeface="Calibri" panose="020F0502020204030204"/>
                <a:cs typeface="Calibri"/>
              </a:rPr>
              <a:t>Emergent system properties: Reliability, Response time, Memory use</a:t>
            </a:r>
          </a:p>
          <a:p>
            <a:pPr lvl="1"/>
            <a:r>
              <a:rPr lang="en-US" dirty="0">
                <a:ea typeface="Calibri" panose="020F0502020204030204"/>
                <a:cs typeface="Calibri"/>
              </a:rPr>
              <a:t>Constraints on the system: I/O device capabilities, data representation</a:t>
            </a:r>
          </a:p>
          <a:p>
            <a:r>
              <a:rPr lang="en-US" dirty="0">
                <a:ea typeface="Calibri" panose="020F0502020204030204"/>
                <a:cs typeface="Calibri"/>
              </a:rPr>
              <a:t>Non-functional requirements (ironically, because "non-functional") are more critical than functional requirements (you can drop a functional requirement if need be)</a:t>
            </a:r>
          </a:p>
          <a:p>
            <a:pPr lvl="1"/>
            <a:r>
              <a:rPr lang="en-US" dirty="0">
                <a:ea typeface="Calibri" panose="020F0502020204030204"/>
                <a:cs typeface="Calibri"/>
              </a:rPr>
              <a:t>Example: A software for an aircraft must be reliable, a software for a body embedded insulin delivery system must consume less battery</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16E5B25-F718-0FB9-3A89-D8A14C5B72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71C41CA-FD5E-87B8-A8C3-B3E5B51F62F4}"/>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06E2545D-0F5C-EB99-9897-C73CFEEB7C5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36727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4796-744D-53F4-7416-F42FA6C79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ADFC6-4A9E-77A0-9554-F9073E0DC13C}"/>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87502209-3300-4156-7410-A7F3C50B59D2}"/>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Possible to identify which system components implement specific functional requirements (e.g., a specific UI/UX tool is responsible for generating charts)</a:t>
            </a:r>
            <a:endParaRPr lang="en-US" dirty="0"/>
          </a:p>
          <a:p>
            <a:r>
              <a:rPr lang="en-US" dirty="0">
                <a:ea typeface="+mn-lt"/>
                <a:cs typeface="+mn-lt"/>
              </a:rPr>
              <a:t>Not possible / or more difficult with non-functional requirements</a:t>
            </a:r>
            <a:endParaRPr lang="en-US" dirty="0"/>
          </a:p>
          <a:p>
            <a:r>
              <a:rPr lang="en-US" dirty="0">
                <a:ea typeface="+mn-lt"/>
                <a:cs typeface="+mn-lt"/>
              </a:rPr>
              <a:t>The </a:t>
            </a:r>
            <a:r>
              <a:rPr lang="en-US" dirty="0">
                <a:highlight>
                  <a:srgbClr val="FFFF00"/>
                </a:highlight>
                <a:ea typeface="+mn-lt"/>
                <a:cs typeface="+mn-lt"/>
              </a:rPr>
              <a:t>implementation of</a:t>
            </a:r>
            <a:r>
              <a:rPr lang="en-US" dirty="0">
                <a:ea typeface="+mn-lt"/>
                <a:cs typeface="+mn-lt"/>
              </a:rPr>
              <a:t> these </a:t>
            </a:r>
            <a:r>
              <a:rPr lang="en-US" dirty="0">
                <a:highlight>
                  <a:srgbClr val="FFFF00"/>
                </a:highlight>
                <a:ea typeface="+mn-lt"/>
                <a:cs typeface="+mn-lt"/>
              </a:rPr>
              <a:t>non-functional requirements</a:t>
            </a:r>
            <a:r>
              <a:rPr lang="en-US" dirty="0">
                <a:ea typeface="+mn-lt"/>
                <a:cs typeface="+mn-lt"/>
              </a:rPr>
              <a:t> may be </a:t>
            </a:r>
            <a:r>
              <a:rPr lang="en-US" dirty="0">
                <a:highlight>
                  <a:srgbClr val="FFFF00"/>
                </a:highlight>
                <a:ea typeface="+mn-lt"/>
                <a:cs typeface="+mn-lt"/>
              </a:rPr>
              <a:t>spread throughout the system</a:t>
            </a:r>
            <a:r>
              <a:rPr lang="en-US" dirty="0">
                <a:ea typeface="+mn-lt"/>
                <a:cs typeface="+mn-lt"/>
              </a:rPr>
              <a:t>, for two reasons:</a:t>
            </a:r>
          </a:p>
          <a:p>
            <a:pPr lvl="1"/>
            <a:r>
              <a:rPr lang="en-US" dirty="0">
                <a:ea typeface="+mn-lt"/>
                <a:cs typeface="+mn-lt"/>
              </a:rPr>
              <a:t>Non-functional requirements may affect the overall architecture of a system rather than the individual components</a:t>
            </a:r>
          </a:p>
          <a:p>
            <a:pPr lvl="1"/>
            <a:r>
              <a:rPr lang="en-US" dirty="0">
                <a:ea typeface="+mn-lt"/>
                <a:cs typeface="+mn-lt"/>
              </a:rPr>
              <a:t>An individual non-functional requirement, such as a security requirement, may generate several, related functional requirements (In addition, it may also generate requirements that constrain existing requirements)</a:t>
            </a:r>
            <a:endParaRPr lang="en-US" dirty="0">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C406066-F1F8-EDDB-B046-733982D4D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4A1EC66-A94A-1969-797A-E0257629A818}"/>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2D987855-48C8-9AB0-5637-29D5B95B489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59797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6C4F8-0FF1-56D0-1129-E46CABFD2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21045-594D-CB4A-E8A5-2F62CD98984D}"/>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2A5C6179-7AB1-97D3-1798-0577E93D288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Nonfunctional requirements arise through user needs because of </a:t>
            </a:r>
            <a:r>
              <a:rPr lang="en-US" u="sng" dirty="0">
                <a:ea typeface="+mn-lt"/>
                <a:cs typeface="+mn-lt"/>
              </a:rPr>
              <a:t>budget constraints</a:t>
            </a:r>
            <a:r>
              <a:rPr lang="en-US" dirty="0">
                <a:ea typeface="+mn-lt"/>
                <a:cs typeface="+mn-lt"/>
              </a:rPr>
              <a:t>, </a:t>
            </a:r>
            <a:r>
              <a:rPr lang="en-US" u="sng" dirty="0">
                <a:ea typeface="+mn-lt"/>
                <a:cs typeface="+mn-lt"/>
              </a:rPr>
              <a:t>organizational policies</a:t>
            </a:r>
            <a:r>
              <a:rPr lang="en-US" dirty="0">
                <a:ea typeface="+mn-lt"/>
                <a:cs typeface="+mn-lt"/>
              </a:rPr>
              <a:t>, the need for </a:t>
            </a:r>
            <a:r>
              <a:rPr lang="en-US" u="sng" dirty="0">
                <a:ea typeface="+mn-lt"/>
                <a:cs typeface="+mn-lt"/>
              </a:rPr>
              <a:t>interoperability</a:t>
            </a:r>
            <a:r>
              <a:rPr lang="en-US" dirty="0">
                <a:ea typeface="+mn-lt"/>
                <a:cs typeface="+mn-lt"/>
              </a:rPr>
              <a:t> with other software or hardware systems, or </a:t>
            </a:r>
            <a:r>
              <a:rPr lang="en-US" u="sng" dirty="0">
                <a:ea typeface="+mn-lt"/>
                <a:cs typeface="+mn-lt"/>
              </a:rPr>
              <a:t>external factors</a:t>
            </a:r>
            <a:r>
              <a:rPr lang="en-US" dirty="0">
                <a:ea typeface="+mn-lt"/>
                <a:cs typeface="+mn-lt"/>
              </a:rPr>
              <a:t> such as safety regulations or privacy legislation</a:t>
            </a:r>
            <a:endParaRPr lang="en-US" dirty="0">
              <a:ea typeface="Calibri" panose="020F0502020204030204"/>
              <a:cs typeface="Calibri" panose="020F0502020204030204"/>
            </a:endParaRPr>
          </a:p>
          <a:p>
            <a:endParaRPr lang="en-US">
              <a:ea typeface="Calibri" panose="020F0502020204030204"/>
              <a:cs typeface="Calibri" panose="020F0502020204030204"/>
            </a:endParaRPr>
          </a:p>
          <a:p>
            <a:r>
              <a:rPr lang="en-US" dirty="0">
                <a:ea typeface="Calibri" panose="020F0502020204030204"/>
                <a:cs typeface="Calibri" panose="020F0502020204030204"/>
              </a:rPr>
              <a:t>From the figure in the following slide,</a:t>
            </a:r>
            <a:r>
              <a:rPr lang="en-US" dirty="0">
                <a:ea typeface="+mn-lt"/>
                <a:cs typeface="+mn-lt"/>
              </a:rPr>
              <a:t> you can see that the non-functional requirements may come from required characteristics of the software (product requirements), the organization developing/using the software (organizational requirements), or external sources</a:t>
            </a:r>
            <a:endParaRPr lang="en-US" dirty="0">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52E806B-15F9-6A9F-C8B8-082796378D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DBE6608-90EA-FBC5-29AB-D12348383ED8}"/>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5CC2C0C1-F200-673B-8E8A-A343534FB1E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5466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4718-09D9-3DC6-8BCA-AD1F2F17E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925D8-CD61-09C4-A371-1CD422947ED4}"/>
              </a:ext>
            </a:extLst>
          </p:cNvPr>
          <p:cNvSpPr>
            <a:spLocks noGrp="1"/>
          </p:cNvSpPr>
          <p:nvPr>
            <p:ph type="title"/>
          </p:nvPr>
        </p:nvSpPr>
        <p:spPr/>
        <p:txBody>
          <a:bodyPr/>
          <a:lstStyle/>
          <a:p>
            <a:r>
              <a:rPr lang="en-GB">
                <a:ea typeface="Calibri Light"/>
                <a:cs typeface="Calibri Light"/>
              </a:rPr>
              <a:t>Types of non-functional requirements</a:t>
            </a:r>
            <a:endParaRPr lang="en-US"/>
          </a:p>
        </p:txBody>
      </p:sp>
      <p:pic>
        <p:nvPicPr>
          <p:cNvPr id="6" name="Picture 5" descr="A black and white logo&#10;&#10;Description automatically generated">
            <a:extLst>
              <a:ext uri="{FF2B5EF4-FFF2-40B4-BE49-F238E27FC236}">
                <a16:creationId xmlns:a16="http://schemas.microsoft.com/office/drawing/2014/main" id="{CD094DA8-B912-D51B-0FD5-27BCB6212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5C7E21B-03B2-EB00-FE4B-F3A9F155E3C2}"/>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C3803CA3-9CBE-6169-0A29-D3D512F517FE}"/>
              </a:ext>
            </a:extLst>
          </p:cNvPr>
          <p:cNvSpPr>
            <a:spLocks noGrp="1"/>
          </p:cNvSpPr>
          <p:nvPr>
            <p:ph type="ftr" sz="quarter" idx="11"/>
          </p:nvPr>
        </p:nvSpPr>
        <p:spPr/>
        <p:txBody>
          <a:bodyPr/>
          <a:lstStyle/>
          <a:p>
            <a:r>
              <a:rPr lang="en-US"/>
              <a:t>Software Engineering</a:t>
            </a:r>
          </a:p>
        </p:txBody>
      </p:sp>
      <p:pic>
        <p:nvPicPr>
          <p:cNvPr id="9" name="Content Placeholder 8" descr="A diagram of a company&#10;&#10;AI-generated content may be incorrect.">
            <a:extLst>
              <a:ext uri="{FF2B5EF4-FFF2-40B4-BE49-F238E27FC236}">
                <a16:creationId xmlns:a16="http://schemas.microsoft.com/office/drawing/2014/main" id="{82124C20-9A3F-FB79-9019-4F408A88C407}"/>
              </a:ext>
            </a:extLst>
          </p:cNvPr>
          <p:cNvPicPr>
            <a:picLocks noGrp="1" noChangeAspect="1"/>
          </p:cNvPicPr>
          <p:nvPr>
            <p:ph idx="1"/>
          </p:nvPr>
        </p:nvPicPr>
        <p:blipFill>
          <a:blip r:embed="rId4"/>
          <a:stretch>
            <a:fillRect/>
          </a:stretch>
        </p:blipFill>
        <p:spPr>
          <a:xfrm>
            <a:off x="1584206" y="1354153"/>
            <a:ext cx="9037966" cy="5380546"/>
          </a:xfrm>
        </p:spPr>
      </p:pic>
    </p:spTree>
    <p:extLst>
      <p:ext uri="{BB962C8B-B14F-4D97-AF65-F5344CB8AC3E}">
        <p14:creationId xmlns:p14="http://schemas.microsoft.com/office/powerpoint/2010/main" val="2824834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E8E9-91B7-42AF-7AE5-6C4A20CB3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CD9E-7CD1-8B71-A89A-42EB03B2E7CA}"/>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FB000BA3-8D96-71CB-3191-0DF9296E1454}"/>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dirty="0">
                <a:ea typeface="+mn-lt"/>
                <a:cs typeface="+mn-lt"/>
              </a:rPr>
              <a:t>Product requirements:</a:t>
            </a:r>
            <a:r>
              <a:rPr lang="en-US" dirty="0">
                <a:ea typeface="+mn-lt"/>
                <a:cs typeface="+mn-lt"/>
              </a:rPr>
              <a:t> "These requirements specify or constrain the runtime behavior of the software" (what even?!! Hmph!)</a:t>
            </a:r>
            <a:endParaRPr lang="en-US">
              <a:ea typeface="Calibri" panose="020F0502020204030204"/>
              <a:cs typeface="Calibri" panose="020F0502020204030204"/>
            </a:endParaRPr>
          </a:p>
          <a:p>
            <a:r>
              <a:rPr lang="en-US" dirty="0">
                <a:ea typeface="Calibri" panose="020F0502020204030204"/>
                <a:cs typeface="Calibri" panose="020F0502020204030204"/>
              </a:rPr>
              <a:t>Requirements that are</a:t>
            </a:r>
            <a:r>
              <a:rPr lang="en-US" u="sng" dirty="0">
                <a:ea typeface="Calibri" panose="020F0502020204030204"/>
                <a:cs typeface="Calibri" panose="020F0502020204030204"/>
              </a:rPr>
              <a:t> defined by the characteristics of the system</a:t>
            </a:r>
            <a:r>
              <a:rPr lang="en-US" dirty="0">
                <a:ea typeface="Calibri" panose="020F0502020204030204"/>
                <a:cs typeface="Calibri" panose="020F0502020204030204"/>
              </a:rPr>
              <a:t> (the system/ device/ environment the software should run on)</a:t>
            </a:r>
          </a:p>
          <a:p>
            <a:pPr lvl="1"/>
            <a:r>
              <a:rPr lang="en-US" dirty="0">
                <a:ea typeface="Calibri" panose="020F0502020204030204"/>
                <a:cs typeface="Calibri" panose="020F0502020204030204"/>
              </a:rPr>
              <a:t>(System: Smart phone, Req: App must launch within 5 sec. of tap)</a:t>
            </a:r>
          </a:p>
          <a:p>
            <a:pPr lvl="1"/>
            <a:r>
              <a:rPr lang="en-US" dirty="0">
                <a:ea typeface="Calibri" panose="020F0502020204030204"/>
                <a:cs typeface="Calibri" panose="020F0502020204030204"/>
              </a:rPr>
              <a:t>(System: Sensor node, Req: Must consume &lt; 1 joule energy per day)</a:t>
            </a:r>
          </a:p>
          <a:p>
            <a:pPr lvl="1"/>
            <a:r>
              <a:rPr lang="en-US" dirty="0">
                <a:ea typeface="Calibri" panose="020F0502020204030204"/>
                <a:cs typeface="Calibri" panose="020F0502020204030204"/>
              </a:rPr>
              <a:t>(System: Bank DB, Req: Finance records must not have round-off errors)</a:t>
            </a:r>
          </a:p>
          <a:p>
            <a:pPr lvl="1"/>
            <a:r>
              <a:rPr lang="en-US" dirty="0">
                <a:ea typeface="Calibri" panose="020F0502020204030204"/>
                <a:cs typeface="Calibri" panose="020F0502020204030204"/>
              </a:rPr>
              <a:t>(System: Social Media server, Req: Must handle 1,000,000 concurrent users)</a:t>
            </a:r>
          </a:p>
          <a:p>
            <a:pPr lvl="1"/>
            <a:r>
              <a:rPr lang="en-US" dirty="0">
                <a:ea typeface="Calibri" panose="020F0502020204030204"/>
                <a:cs typeface="Calibri" panose="020F0502020204030204"/>
              </a:rPr>
              <a:t>...</a:t>
            </a:r>
          </a:p>
          <a:p>
            <a:endParaRPr lang="en-US">
              <a:ea typeface="+mn-lt"/>
              <a:cs typeface="+mn-lt"/>
            </a:endParaRPr>
          </a:p>
          <a:p>
            <a:pPr>
              <a:spcBef>
                <a:spcPts val="500"/>
              </a:spcBef>
            </a:pPr>
            <a:r>
              <a:rPr lang="en-US" dirty="0">
                <a:ea typeface="+mn-lt"/>
                <a:cs typeface="+mn-lt"/>
              </a:rPr>
              <a:t>These requirements focus on the system’s internal attributes, such as </a:t>
            </a:r>
            <a:r>
              <a:rPr lang="en-US" b="1" dirty="0">
                <a:ea typeface="+mn-lt"/>
                <a:cs typeface="+mn-lt"/>
              </a:rPr>
              <a:t>performance, security, usability, and reliability</a:t>
            </a:r>
            <a:r>
              <a:rPr lang="en-US" dirty="0">
                <a:ea typeface="+mn-lt"/>
                <a:cs typeface="+mn-lt"/>
              </a:rPr>
              <a:t>, which impact the user experience and system effectiveness</a:t>
            </a:r>
          </a:p>
          <a:p>
            <a:endParaRPr lang="en-US">
              <a:ea typeface="+mn-lt"/>
              <a:cs typeface="+mn-lt"/>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4FEBBDD6-B6C1-E767-0052-77CC77595B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2A48613-3BBA-41B1-D44C-4258E40F2260}"/>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D3AF57D3-8085-311E-67F9-83217325692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25462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D0C4C-EF52-70D4-073F-E71A6F222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77F11-89D9-9222-BA6F-8222813F33CA}"/>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3CD13C28-6334-CD61-D59C-D6BF857FF27C}"/>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a:ea typeface="+mn-lt"/>
                <a:cs typeface="+mn-lt"/>
              </a:rPr>
              <a:t>Organizational requirements:</a:t>
            </a:r>
            <a:r>
              <a:rPr lang="en-US">
                <a:ea typeface="+mn-lt"/>
                <a:cs typeface="+mn-lt"/>
              </a:rPr>
              <a:t> "Broad system requirements derived from policies and procedures in the customer’s and developer’s organizations"</a:t>
            </a:r>
            <a:endParaRPr lang="en-US">
              <a:ea typeface="Calibri" panose="020F0502020204030204"/>
              <a:cs typeface="Calibri" panose="020F0502020204030204"/>
            </a:endParaRPr>
          </a:p>
          <a:p>
            <a:r>
              <a:rPr lang="en-US">
                <a:ea typeface="+mn-lt"/>
                <a:cs typeface="+mn-lt"/>
              </a:rPr>
              <a:t>These requirements ensure that the product aligns with the company’s </a:t>
            </a:r>
            <a:r>
              <a:rPr lang="en-US" b="1">
                <a:ea typeface="+mn-lt"/>
                <a:cs typeface="+mn-lt"/>
              </a:rPr>
              <a:t>internal processes, business rules, regulatory compliance, and long-term goals</a:t>
            </a:r>
            <a:endParaRPr lang="en-US">
              <a:ea typeface="+mn-lt"/>
              <a:cs typeface="+mn-lt"/>
            </a:endParaRPr>
          </a:p>
          <a:p>
            <a:pPr lvl="1"/>
            <a:r>
              <a:rPr lang="en-US">
                <a:ea typeface="Calibri" panose="020F0502020204030204"/>
                <a:cs typeface="Calibri" panose="020F0502020204030204"/>
              </a:rPr>
              <a:t>(System: Juno, Req: Must be compatible with existing payroll schema) - Business Process Alignment</a:t>
            </a:r>
          </a:p>
          <a:p>
            <a:pPr lvl="1"/>
            <a:r>
              <a:rPr lang="en-US">
                <a:ea typeface="Calibri" panose="020F0502020204030204"/>
                <a:cs typeface="Calibri" panose="020F0502020204030204"/>
              </a:rPr>
              <a:t>(System: Student records, Req: Use AES256 algorithm) - Security policy</a:t>
            </a:r>
          </a:p>
          <a:p>
            <a:pPr lvl="1"/>
            <a:r>
              <a:rPr lang="en-US">
                <a:ea typeface="Calibri" panose="020F0502020204030204"/>
                <a:cs typeface="Calibri" panose="020F0502020204030204"/>
              </a:rPr>
              <a:t>(System: Data center, Req: Must use at least 50% renewable energy by 2030)</a:t>
            </a:r>
          </a:p>
          <a:p>
            <a:pPr lvl="1"/>
            <a:r>
              <a:rPr lang="en-US">
                <a:ea typeface="Calibri" panose="020F0502020204030204"/>
                <a:cs typeface="Calibri" panose="020F0502020204030204"/>
              </a:rPr>
              <a:t>(System: Juno, Req: Must support role-based access – Student, faculty) - This can be an example of a functional requirement as well; or a non-functional requirement that can lead to functional requirements</a:t>
            </a:r>
          </a:p>
          <a:p>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92542111-2691-419E-5C7D-799F786F79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3A4FC78-6FD0-E7A8-2E61-65E360A1E837}"/>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98AF19DA-7FC3-D901-4426-E4CEE5A5BFE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85589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806E3-3E60-9AB8-E56C-E31437AA9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00D67-E165-CD09-5A96-0148C13B5644}"/>
              </a:ext>
            </a:extLst>
          </p:cNvPr>
          <p:cNvSpPr>
            <a:spLocks noGrp="1"/>
          </p:cNvSpPr>
          <p:nvPr>
            <p:ph type="title"/>
          </p:nvPr>
        </p:nvSpPr>
        <p:spPr/>
        <p:txBody>
          <a:bodyPr/>
          <a:lstStyle/>
          <a:p>
            <a:r>
              <a:rPr lang="en-GB">
                <a:ea typeface="Calibri Light"/>
                <a:cs typeface="Calibri Light"/>
              </a:rPr>
              <a:t>Non-functional requirements</a:t>
            </a:r>
            <a:endParaRPr lang="en-US"/>
          </a:p>
        </p:txBody>
      </p:sp>
      <p:sp>
        <p:nvSpPr>
          <p:cNvPr id="3" name="Content Placeholder 2">
            <a:extLst>
              <a:ext uri="{FF2B5EF4-FFF2-40B4-BE49-F238E27FC236}">
                <a16:creationId xmlns:a16="http://schemas.microsoft.com/office/drawing/2014/main" id="{6373DA35-2AC4-3136-B404-3879B62D330E}"/>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a:ea typeface="+mn-lt"/>
                <a:cs typeface="+mn-lt"/>
              </a:rPr>
              <a:t>External requirements:</a:t>
            </a:r>
            <a:r>
              <a:rPr lang="en-US">
                <a:ea typeface="+mn-lt"/>
                <a:cs typeface="+mn-lt"/>
              </a:rPr>
              <a:t> This broad heading covers all requirements that are derived from external factors (legal regulations, market conditions, customer expectations, environmental factors)</a:t>
            </a:r>
          </a:p>
          <a:p>
            <a:r>
              <a:rPr lang="en-US">
                <a:ea typeface="+mn-lt"/>
                <a:cs typeface="+mn-lt"/>
              </a:rPr>
              <a:t>Beyond the direct control of organization but must be met</a:t>
            </a:r>
          </a:p>
          <a:p>
            <a:pPr lvl="1"/>
            <a:r>
              <a:rPr lang="en-US" sz="2000">
                <a:ea typeface="+mn-lt"/>
                <a:cs typeface="+mn-lt"/>
              </a:rPr>
              <a:t>(System: Social Media App, Req: Must comply with GDPR in Europe) - Regulatory requirement</a:t>
            </a:r>
          </a:p>
          <a:p>
            <a:pPr lvl="1"/>
            <a:r>
              <a:rPr lang="en-US" sz="2000">
                <a:ea typeface="+mn-lt"/>
                <a:cs typeface="+mn-lt"/>
              </a:rPr>
              <a:t>(System: Healthcare App, Req: Must comply with HIPAA in US) - Data protection and privacy laws</a:t>
            </a:r>
          </a:p>
          <a:p>
            <a:pPr lvl="1"/>
            <a:r>
              <a:rPr lang="en-US" sz="2000">
                <a:ea typeface="+mn-lt"/>
                <a:cs typeface="+mn-lt"/>
              </a:rPr>
              <a:t>(System: Middle east travel guide, Req: Must support RTL text direction for Arabic) - Cultural considerations</a:t>
            </a:r>
          </a:p>
          <a:p>
            <a:pPr lvl="1"/>
            <a:r>
              <a:rPr lang="en-US" sz="2000">
                <a:ea typeface="+mn-lt"/>
                <a:cs typeface="+mn-lt"/>
              </a:rPr>
              <a:t>(System: Cloud web app, Req: Must satisfy AWS security best practices) - External hosting constraints</a:t>
            </a:r>
          </a:p>
          <a:p>
            <a:pPr lvl="1"/>
            <a:r>
              <a:rPr lang="en-US" sz="2000">
                <a:ea typeface="+mn-lt"/>
                <a:cs typeface="+mn-lt"/>
              </a:rPr>
              <a:t>(System: AI resume shortlisting, Req: AI must not exhibit gender or race bias) - Ethical requirements</a:t>
            </a:r>
          </a:p>
          <a:p>
            <a:pPr lvl="1"/>
            <a:r>
              <a:rPr lang="en-US" sz="2000">
                <a:ea typeface="+mn-lt"/>
                <a:cs typeface="+mn-lt"/>
              </a:rPr>
              <a:t>(System: Card payment system, Requirement: Must comply with PCI DSS) - Regulatory and legal compliance</a:t>
            </a:r>
          </a:p>
          <a:p>
            <a:endParaRPr lang="en-US">
              <a:ea typeface="+mn-lt"/>
              <a:cs typeface="+mn-lt"/>
            </a:endParaRPr>
          </a:p>
          <a:p>
            <a:endParaRPr lang="en-US">
              <a:ea typeface="+mn-lt"/>
              <a:cs typeface="+mn-lt"/>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4C72F1E5-12E7-E174-CD30-5375BB259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F40B244-4C27-54D6-80BC-BEE2956D8B88}"/>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7D89A110-4BBC-54EF-E579-472CECAF5FF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54634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44B6-8AEB-F6AA-AB7E-40EC93876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1F370-47DD-087B-DCC5-8E826A0C4507}"/>
              </a:ext>
            </a:extLst>
          </p:cNvPr>
          <p:cNvSpPr>
            <a:spLocks noGrp="1"/>
          </p:cNvSpPr>
          <p:nvPr>
            <p:ph type="title"/>
          </p:nvPr>
        </p:nvSpPr>
        <p:spPr/>
        <p:txBody>
          <a:bodyPr/>
          <a:lstStyle/>
          <a:p>
            <a:r>
              <a:rPr lang="en-GB">
                <a:ea typeface="Calibri Light"/>
                <a:cs typeface="Calibri Light"/>
              </a:rPr>
              <a:t>Examples of possible non-functional requirements for </a:t>
            </a:r>
            <a:r>
              <a:rPr lang="en-GB" err="1">
                <a:ea typeface="Calibri Light"/>
                <a:cs typeface="Calibri Light"/>
              </a:rPr>
              <a:t>Mentcare</a:t>
            </a:r>
            <a:r>
              <a:rPr lang="en-GB">
                <a:ea typeface="Calibri Light"/>
                <a:cs typeface="Calibri Light"/>
              </a:rPr>
              <a:t> (from textbook)</a:t>
            </a:r>
            <a:endParaRPr lang="en-US" err="1"/>
          </a:p>
        </p:txBody>
      </p:sp>
      <p:pic>
        <p:nvPicPr>
          <p:cNvPr id="6" name="Picture 5" descr="A black and white logo&#10;&#10;Description automatically generated">
            <a:extLst>
              <a:ext uri="{FF2B5EF4-FFF2-40B4-BE49-F238E27FC236}">
                <a16:creationId xmlns:a16="http://schemas.microsoft.com/office/drawing/2014/main" id="{BDD90F17-CDE5-A1A6-017D-C940C13CB9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A3002CC-EA96-7F3B-A451-8A54CC1AAE36}"/>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5B421BFA-43DD-ABE3-903F-6BC8501989B1}"/>
              </a:ext>
            </a:extLst>
          </p:cNvPr>
          <p:cNvSpPr>
            <a:spLocks noGrp="1"/>
          </p:cNvSpPr>
          <p:nvPr>
            <p:ph type="ftr" sz="quarter" idx="11"/>
          </p:nvPr>
        </p:nvSpPr>
        <p:spPr/>
        <p:txBody>
          <a:bodyPr/>
          <a:lstStyle/>
          <a:p>
            <a:r>
              <a:rPr lang="en-US"/>
              <a:t>Software Engineering</a:t>
            </a:r>
          </a:p>
        </p:txBody>
      </p:sp>
      <p:sp>
        <p:nvSpPr>
          <p:cNvPr id="4" name="Content Placeholder 3">
            <a:extLst>
              <a:ext uri="{FF2B5EF4-FFF2-40B4-BE49-F238E27FC236}">
                <a16:creationId xmlns:a16="http://schemas.microsoft.com/office/drawing/2014/main" id="{89626A91-CB10-814F-1B34-E5567A41C6F7}"/>
              </a:ext>
            </a:extLst>
          </p:cNvPr>
          <p:cNvSpPr>
            <a:spLocks noGrp="1"/>
          </p:cNvSpPr>
          <p:nvPr>
            <p:ph idx="1"/>
          </p:nvPr>
        </p:nvSpPr>
        <p:spPr>
          <a:xfrm>
            <a:off x="838200" y="1739361"/>
            <a:ext cx="10515600" cy="5055828"/>
          </a:xfrm>
        </p:spPr>
        <p:txBody>
          <a:bodyPr vert="horz" lIns="91440" tIns="45720" rIns="91440" bIns="45720" rtlCol="0" anchor="t">
            <a:normAutofit/>
          </a:bodyPr>
          <a:lstStyle/>
          <a:p>
            <a:r>
              <a:rPr lang="en-US" b="1">
                <a:ea typeface="+mn-lt"/>
                <a:cs typeface="+mn-lt"/>
              </a:rPr>
              <a:t>Product requirement</a:t>
            </a:r>
          </a:p>
          <a:p>
            <a:pPr lvl="1">
              <a:buFont typeface="Courier New" panose="020B0604020202020204" pitchFamily="34" charset="0"/>
              <a:buChar char="o"/>
            </a:pPr>
            <a:r>
              <a:rPr lang="en-US">
                <a:ea typeface="+mn-lt"/>
                <a:cs typeface="+mn-lt"/>
              </a:rPr>
              <a:t>The </a:t>
            </a:r>
            <a:r>
              <a:rPr lang="en-US" err="1">
                <a:ea typeface="+mn-lt"/>
                <a:cs typeface="+mn-lt"/>
              </a:rPr>
              <a:t>Mentcare</a:t>
            </a:r>
            <a:r>
              <a:rPr lang="en-US">
                <a:ea typeface="+mn-lt"/>
                <a:cs typeface="+mn-lt"/>
              </a:rPr>
              <a:t> system shall be available to all clinics during normal working hours (Mon–Fri, 08:30–17:30). Downtime within normal working hours shall not exceed 5 seconds in any one day</a:t>
            </a:r>
            <a:endParaRPr lang="en-US">
              <a:ea typeface="Calibri" panose="020F0502020204030204"/>
              <a:cs typeface="Calibri" panose="020F0502020204030204"/>
            </a:endParaRPr>
          </a:p>
          <a:p>
            <a:r>
              <a:rPr lang="en-US" b="1">
                <a:ea typeface="+mn-lt"/>
                <a:cs typeface="+mn-lt"/>
              </a:rPr>
              <a:t>Organizational requirement</a:t>
            </a:r>
            <a:endParaRPr lang="en-US">
              <a:ea typeface="+mn-lt"/>
              <a:cs typeface="+mn-lt"/>
            </a:endParaRPr>
          </a:p>
          <a:p>
            <a:pPr lvl="1">
              <a:buFont typeface="Courier New" panose="020B0604020202020204" pitchFamily="34" charset="0"/>
              <a:buChar char="o"/>
            </a:pPr>
            <a:r>
              <a:rPr lang="en-US">
                <a:ea typeface="+mn-lt"/>
                <a:cs typeface="+mn-lt"/>
              </a:rPr>
              <a:t>Users of the </a:t>
            </a:r>
            <a:r>
              <a:rPr lang="en-US" err="1">
                <a:ea typeface="+mn-lt"/>
                <a:cs typeface="+mn-lt"/>
              </a:rPr>
              <a:t>Mentcare</a:t>
            </a:r>
            <a:r>
              <a:rPr lang="en-US">
                <a:ea typeface="+mn-lt"/>
                <a:cs typeface="+mn-lt"/>
              </a:rPr>
              <a:t> system shall identify themselves using their health authority identity card</a:t>
            </a:r>
            <a:endParaRPr lang="en-US">
              <a:ea typeface="Calibri" panose="020F0502020204030204"/>
              <a:cs typeface="Calibri" panose="020F0502020204030204"/>
            </a:endParaRPr>
          </a:p>
          <a:p>
            <a:r>
              <a:rPr lang="en-US" b="1">
                <a:ea typeface="+mn-lt"/>
                <a:cs typeface="+mn-lt"/>
              </a:rPr>
              <a:t>External requirement</a:t>
            </a:r>
            <a:endParaRPr lang="en-US">
              <a:ea typeface="+mn-lt"/>
              <a:cs typeface="+mn-lt"/>
            </a:endParaRPr>
          </a:p>
          <a:p>
            <a:pPr lvl="1">
              <a:buFont typeface="Courier New" panose="020B0604020202020204" pitchFamily="34" charset="0"/>
              <a:buChar char="o"/>
            </a:pPr>
            <a:r>
              <a:rPr lang="en-US">
                <a:ea typeface="+mn-lt"/>
                <a:cs typeface="+mn-lt"/>
              </a:rPr>
              <a:t>The system shall implement patient privacy provisions as set out in HStan-03-2006-priv</a:t>
            </a:r>
            <a:endParaRPr lang="en-US">
              <a:ea typeface="Calibri" panose="020F0502020204030204"/>
              <a:cs typeface="Calibri" panose="020F0502020204030204"/>
            </a:endParaRPr>
          </a:p>
        </p:txBody>
      </p:sp>
    </p:spTree>
    <p:extLst>
      <p:ext uri="{BB962C8B-B14F-4D97-AF65-F5344CB8AC3E}">
        <p14:creationId xmlns:p14="http://schemas.microsoft.com/office/powerpoint/2010/main" val="620991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5BBB9-EE40-90C8-D885-7B47410C7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6E401-E55B-4F55-6D46-4AD3A24F8B6C}"/>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37DAAC01-1881-7748-1285-3557F719FFA0}"/>
              </a:ext>
            </a:extLst>
          </p:cNvPr>
          <p:cNvSpPr>
            <a:spLocks noGrp="1"/>
          </p:cNvSpPr>
          <p:nvPr>
            <p:ph idx="1"/>
          </p:nvPr>
        </p:nvSpPr>
        <p:spPr>
          <a:xfrm>
            <a:off x="838200" y="2128739"/>
            <a:ext cx="10515600" cy="4488353"/>
          </a:xfrm>
        </p:spPr>
        <p:txBody>
          <a:bodyPr vert="horz" lIns="91440" tIns="45720" rIns="91440" bIns="45720" rtlCol="0" anchor="t">
            <a:normAutofit/>
          </a:bodyPr>
          <a:lstStyle/>
          <a:p>
            <a:r>
              <a:rPr lang="en-US" i="1">
                <a:ea typeface="+mn-lt"/>
                <a:cs typeface="+mn-lt"/>
              </a:rPr>
              <a:t>A technology company wants to develop a Smart Home Automation System that allows users to control various smart devices (e.g., lights, thermostats, security cameras, and door locks) through a mobile app. The system should support voice commands, provide automation rules (e.g., turning off lights when no one is home), and send real-time notifications for security alerts</a:t>
            </a:r>
          </a:p>
          <a:p>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2F11D2F-192C-1C19-FCB5-FEAF6878A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E775A1C-26AF-3C95-CAD5-0F14453F3F7E}"/>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E4849BF9-C4DA-1C3B-D870-94560FEA97B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78878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B7B54-97B5-1A23-DD3C-83224F193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C8707-1F87-CFF3-5049-333CD54C214C}"/>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36DDD625-6828-EDF5-2FC0-56F19F83E3FE}"/>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mn-lt"/>
                <a:cs typeface="+mn-lt"/>
              </a:rPr>
              <a:t>Functional Requirements:</a:t>
            </a:r>
          </a:p>
          <a:p>
            <a:pPr lvl="1"/>
            <a:r>
              <a:rPr lang="en-US" b="1">
                <a:ea typeface="+mn-lt"/>
                <a:cs typeface="+mn-lt"/>
              </a:rPr>
              <a:t>Device Control:</a:t>
            </a:r>
            <a:r>
              <a:rPr lang="en-US">
                <a:ea typeface="+mn-lt"/>
                <a:cs typeface="+mn-lt"/>
              </a:rPr>
              <a:t> Users should be able to remotely control smart devices (e.g., turn lights on/off, adjust thermostat temperature)</a:t>
            </a:r>
            <a:endParaRPr lang="en-US">
              <a:ea typeface="Calibri" panose="020F0502020204030204"/>
              <a:cs typeface="Calibri" panose="020F0502020204030204"/>
            </a:endParaRPr>
          </a:p>
          <a:p>
            <a:pPr lvl="1"/>
            <a:r>
              <a:rPr lang="en-US" b="1">
                <a:ea typeface="+mn-lt"/>
                <a:cs typeface="+mn-lt"/>
              </a:rPr>
              <a:t>Voice Command Integration:</a:t>
            </a:r>
            <a:r>
              <a:rPr lang="en-US">
                <a:ea typeface="+mn-lt"/>
                <a:cs typeface="+mn-lt"/>
              </a:rPr>
              <a:t> The system should support voice assistants (e.g., Alexa, Google Assistant) for hands-free control</a:t>
            </a:r>
          </a:p>
          <a:p>
            <a:pPr lvl="1"/>
            <a:r>
              <a:rPr lang="en-US" b="1">
                <a:ea typeface="+mn-lt"/>
                <a:cs typeface="+mn-lt"/>
              </a:rPr>
              <a:t>Automation Rules:</a:t>
            </a:r>
            <a:r>
              <a:rPr lang="en-US">
                <a:ea typeface="+mn-lt"/>
                <a:cs typeface="+mn-lt"/>
              </a:rPr>
              <a:t> Users can create automation routines, such as setting lights to turn on at sunset or locking doors at bedtime</a:t>
            </a:r>
          </a:p>
          <a:p>
            <a:pPr lvl="1"/>
            <a:r>
              <a:rPr lang="en-US" b="1">
                <a:ea typeface="+mn-lt"/>
                <a:cs typeface="+mn-lt"/>
              </a:rPr>
              <a:t>Security Alerts &amp; Notifications:</a:t>
            </a:r>
            <a:r>
              <a:rPr lang="en-US">
                <a:ea typeface="+mn-lt"/>
                <a:cs typeface="+mn-lt"/>
              </a:rPr>
              <a:t> The system should send real-time alerts if security sensors detect unusual activity (e.g., motion detected while the house is empty)</a:t>
            </a:r>
            <a:endParaRPr lang="en-US"/>
          </a:p>
          <a:p>
            <a:pPr lvl="1"/>
            <a:r>
              <a:rPr lang="en-US" b="1">
                <a:ea typeface="+mn-lt"/>
                <a:cs typeface="+mn-lt"/>
              </a:rPr>
              <a:t>Multi-User Access:</a:t>
            </a:r>
            <a:r>
              <a:rPr lang="en-US">
                <a:ea typeface="+mn-lt"/>
                <a:cs typeface="+mn-lt"/>
              </a:rPr>
              <a:t> Homeowners can grant access to family members with different permission levels (e.g., full control vs. limited control)</a:t>
            </a:r>
            <a:endParaRPr lang="en-US"/>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BE7A1E0F-6DDC-AF27-CB5D-F44EEC6C6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60AC111-7890-C84B-4278-7F4D6EAE8FA4}"/>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B7F1B847-37D4-E4D9-8524-272E5A1C5D8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01429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55AFD-45E9-1876-D5E5-543A64C9F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EF923-C937-F6BE-7609-557A0958C59D}"/>
              </a:ext>
            </a:extLst>
          </p:cNvPr>
          <p:cNvSpPr>
            <a:spLocks noGrp="1"/>
          </p:cNvSpPr>
          <p:nvPr>
            <p:ph type="title"/>
          </p:nvPr>
        </p:nvSpPr>
        <p:spPr/>
        <p:txBody>
          <a:bodyPr/>
          <a:lstStyle/>
          <a:p>
            <a:r>
              <a:rPr lang="en-GB">
                <a:ea typeface="Calibri Light"/>
                <a:cs typeface="Calibri Light"/>
              </a:rPr>
              <a:t>Example case study:</a:t>
            </a:r>
            <a:br>
              <a:rPr lang="en-GB">
                <a:ea typeface="Calibri Light"/>
                <a:cs typeface="Calibri Light"/>
              </a:rPr>
            </a:br>
            <a:r>
              <a:rPr lang="en-GB">
                <a:ea typeface="+mj-lt"/>
                <a:cs typeface="+mj-lt"/>
              </a:rPr>
              <a:t>Smart Home Automation System</a:t>
            </a:r>
            <a:endParaRPr lang="en-US"/>
          </a:p>
        </p:txBody>
      </p:sp>
      <p:sp>
        <p:nvSpPr>
          <p:cNvPr id="3" name="Content Placeholder 2">
            <a:extLst>
              <a:ext uri="{FF2B5EF4-FFF2-40B4-BE49-F238E27FC236}">
                <a16:creationId xmlns:a16="http://schemas.microsoft.com/office/drawing/2014/main" id="{D1D74CB8-1CE5-AC59-DF84-04CCB5923630}"/>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mn-lt"/>
                <a:cs typeface="+mn-lt"/>
              </a:rPr>
              <a:t>Non-Functional Requirements:</a:t>
            </a:r>
          </a:p>
          <a:p>
            <a:pPr lvl="1"/>
            <a:r>
              <a:rPr lang="en-US" b="1">
                <a:ea typeface="+mn-lt"/>
                <a:cs typeface="+mn-lt"/>
              </a:rPr>
              <a:t>Reliability:</a:t>
            </a:r>
            <a:r>
              <a:rPr lang="en-US">
                <a:ea typeface="+mn-lt"/>
                <a:cs typeface="+mn-lt"/>
              </a:rPr>
              <a:t> The system should work </a:t>
            </a:r>
            <a:r>
              <a:rPr lang="en-US" b="1">
                <a:ea typeface="+mn-lt"/>
                <a:cs typeface="+mn-lt"/>
              </a:rPr>
              <a:t>24/7</a:t>
            </a:r>
            <a:r>
              <a:rPr lang="en-US">
                <a:ea typeface="+mn-lt"/>
                <a:cs typeface="+mn-lt"/>
              </a:rPr>
              <a:t> with minimal downtime, ensuring devices remain accessible at all times</a:t>
            </a:r>
          </a:p>
          <a:p>
            <a:pPr lvl="1"/>
            <a:r>
              <a:rPr lang="en-US" b="1">
                <a:ea typeface="+mn-lt"/>
                <a:cs typeface="+mn-lt"/>
              </a:rPr>
              <a:t>Security:</a:t>
            </a:r>
            <a:r>
              <a:rPr lang="en-US">
                <a:ea typeface="+mn-lt"/>
                <a:cs typeface="+mn-lt"/>
              </a:rPr>
              <a:t> Data transmissions must be </a:t>
            </a:r>
            <a:r>
              <a:rPr lang="en-US" b="1">
                <a:ea typeface="+mn-lt"/>
                <a:cs typeface="+mn-lt"/>
              </a:rPr>
              <a:t>end-to-end encrypted</a:t>
            </a:r>
            <a:r>
              <a:rPr lang="en-US">
                <a:ea typeface="+mn-lt"/>
                <a:cs typeface="+mn-lt"/>
              </a:rPr>
              <a:t> to prevent hacking or unauthorized access</a:t>
            </a:r>
          </a:p>
          <a:p>
            <a:pPr lvl="1"/>
            <a:r>
              <a:rPr lang="en-US" b="1">
                <a:ea typeface="+mn-lt"/>
                <a:cs typeface="+mn-lt"/>
              </a:rPr>
              <a:t>Scalability:</a:t>
            </a:r>
            <a:r>
              <a:rPr lang="en-US">
                <a:ea typeface="+mn-lt"/>
                <a:cs typeface="+mn-lt"/>
              </a:rPr>
              <a:t> The system should support </a:t>
            </a:r>
            <a:r>
              <a:rPr lang="en-US" b="1">
                <a:ea typeface="+mn-lt"/>
                <a:cs typeface="+mn-lt"/>
              </a:rPr>
              <a:t>adding new devices</a:t>
            </a:r>
            <a:r>
              <a:rPr lang="en-US">
                <a:ea typeface="+mn-lt"/>
                <a:cs typeface="+mn-lt"/>
              </a:rPr>
              <a:t> without affecting performance</a:t>
            </a:r>
          </a:p>
          <a:p>
            <a:pPr lvl="1"/>
            <a:r>
              <a:rPr lang="en-US" b="1">
                <a:ea typeface="+mn-lt"/>
                <a:cs typeface="+mn-lt"/>
              </a:rPr>
              <a:t>Latency:</a:t>
            </a:r>
            <a:r>
              <a:rPr lang="en-US">
                <a:ea typeface="+mn-lt"/>
                <a:cs typeface="+mn-lt"/>
              </a:rPr>
              <a:t> Commands should be executed within </a:t>
            </a:r>
            <a:r>
              <a:rPr lang="en-US" b="1">
                <a:ea typeface="+mn-lt"/>
                <a:cs typeface="+mn-lt"/>
              </a:rPr>
              <a:t>2 seconds</a:t>
            </a:r>
            <a:r>
              <a:rPr lang="en-US">
                <a:ea typeface="+mn-lt"/>
                <a:cs typeface="+mn-lt"/>
              </a:rPr>
              <a:t> of user input to ensure responsiveness</a:t>
            </a:r>
            <a:endParaRPr lang="en-US"/>
          </a:p>
          <a:p>
            <a:pPr lvl="1"/>
            <a:r>
              <a:rPr lang="en-US" b="1">
                <a:ea typeface="+mn-lt"/>
                <a:cs typeface="+mn-lt"/>
              </a:rPr>
              <a:t>Compatibility:</a:t>
            </a:r>
            <a:r>
              <a:rPr lang="en-US">
                <a:ea typeface="+mn-lt"/>
                <a:cs typeface="+mn-lt"/>
              </a:rPr>
              <a:t> The system should be </a:t>
            </a:r>
            <a:r>
              <a:rPr lang="en-US" b="1">
                <a:ea typeface="+mn-lt"/>
                <a:cs typeface="+mn-lt"/>
              </a:rPr>
              <a:t>compatible with at least 80% of smart home devices</a:t>
            </a:r>
            <a:r>
              <a:rPr lang="en-US">
                <a:ea typeface="+mn-lt"/>
                <a:cs typeface="+mn-lt"/>
              </a:rPr>
              <a:t> available on the market</a:t>
            </a: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1F523684-BCC2-922E-BE73-298638C781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DA192E9-10D8-0B26-F07C-C26AB12646B4}"/>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BDE0A1B4-B2F5-BC0B-8D74-35CE057BC95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70276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E4CCC-EE70-E922-32F6-A89B8DD24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38E56-A876-BC8C-FF46-EEF8DD2C49FC}"/>
              </a:ext>
            </a:extLst>
          </p:cNvPr>
          <p:cNvSpPr>
            <a:spLocks noGrp="1"/>
          </p:cNvSpPr>
          <p:nvPr>
            <p:ph type="title"/>
          </p:nvPr>
        </p:nvSpPr>
        <p:spPr/>
        <p:txBody>
          <a:bodyPr/>
          <a:lstStyle/>
          <a:p>
            <a:r>
              <a:rPr lang="en-GB">
                <a:ea typeface="Calibri Light"/>
                <a:cs typeface="Calibri Light"/>
              </a:rPr>
              <a:t>Non-functional requirements</a:t>
            </a:r>
          </a:p>
        </p:txBody>
      </p:sp>
      <p:sp>
        <p:nvSpPr>
          <p:cNvPr id="3" name="Content Placeholder 2">
            <a:extLst>
              <a:ext uri="{FF2B5EF4-FFF2-40B4-BE49-F238E27FC236}">
                <a16:creationId xmlns:a16="http://schemas.microsoft.com/office/drawing/2014/main" id="{81F936AF-27CA-FC8A-C1CF-3B2AA77D5DAF}"/>
              </a:ext>
            </a:extLst>
          </p:cNvPr>
          <p:cNvSpPr>
            <a:spLocks noGrp="1"/>
          </p:cNvSpPr>
          <p:nvPr>
            <p:ph idx="1"/>
          </p:nvPr>
        </p:nvSpPr>
        <p:spPr>
          <a:xfrm>
            <a:off x="838200" y="1874739"/>
            <a:ext cx="10515600" cy="4488353"/>
          </a:xfrm>
        </p:spPr>
        <p:txBody>
          <a:bodyPr vert="horz" lIns="91440" tIns="45720" rIns="91440" bIns="45720" rtlCol="0" anchor="t">
            <a:normAutofit fontScale="92500" lnSpcReduction="20000"/>
          </a:bodyPr>
          <a:lstStyle/>
          <a:p>
            <a:r>
              <a:rPr lang="en-US" dirty="0">
                <a:ea typeface="+mn-lt"/>
                <a:cs typeface="+mn-lt"/>
              </a:rPr>
              <a:t>Goals proposed can be </a:t>
            </a:r>
            <a:r>
              <a:rPr lang="en-US" u="sng" dirty="0">
                <a:highlight>
                  <a:srgbClr val="FFFF00"/>
                </a:highlight>
                <a:ea typeface="+mn-lt"/>
                <a:cs typeface="+mn-lt"/>
              </a:rPr>
              <a:t>generic and difficult to quantify</a:t>
            </a:r>
            <a:r>
              <a:rPr lang="en-US" dirty="0">
                <a:ea typeface="+mn-lt"/>
                <a:cs typeface="+mn-lt"/>
              </a:rPr>
              <a:t> an objectively check</a:t>
            </a:r>
            <a:endParaRPr lang="en-US" dirty="0"/>
          </a:p>
          <a:p>
            <a:r>
              <a:rPr lang="en-US" dirty="0">
                <a:ea typeface="Calibri"/>
                <a:cs typeface="Calibri"/>
              </a:rPr>
              <a:t>Customers find it </a:t>
            </a:r>
            <a:r>
              <a:rPr lang="en-US" dirty="0">
                <a:highlight>
                  <a:srgbClr val="FFFF00"/>
                </a:highlight>
                <a:ea typeface="Calibri"/>
                <a:cs typeface="Calibri"/>
              </a:rPr>
              <a:t>difficult to translate goals to measurable requirements</a:t>
            </a:r>
          </a:p>
          <a:p>
            <a:r>
              <a:rPr lang="en-US" dirty="0">
                <a:ea typeface="Calibri"/>
                <a:cs typeface="Calibri"/>
              </a:rPr>
              <a:t>Non-functional requirements can conflict and interact with other functional and non-functional requirements</a:t>
            </a:r>
          </a:p>
          <a:p>
            <a:r>
              <a:rPr lang="en-US" dirty="0">
                <a:ea typeface="Calibri"/>
                <a:cs typeface="Calibri"/>
              </a:rPr>
              <a:t>It can be </a:t>
            </a:r>
            <a:r>
              <a:rPr lang="en-US" u="sng" dirty="0">
                <a:ea typeface="Calibri"/>
                <a:cs typeface="Calibri"/>
              </a:rPr>
              <a:t>difficult to separate functional and non-functional requirements sometimes</a:t>
            </a:r>
          </a:p>
          <a:p>
            <a:r>
              <a:rPr lang="en-US" dirty="0">
                <a:ea typeface="+mn-lt"/>
                <a:cs typeface="+mn-lt"/>
              </a:rPr>
              <a:t>However, you should, highlight requirements that are clearly related to emergent system properties (performance or reliability) - You can do this by putting them in a separate section of the requirements document or by distinguishing them, in some way, from other system requirements</a:t>
            </a:r>
            <a:endParaRPr lang="en-US" dirty="0"/>
          </a:p>
          <a:p>
            <a:r>
              <a:rPr lang="en-US" dirty="0">
                <a:ea typeface="+mn-lt"/>
                <a:cs typeface="+mn-lt"/>
              </a:rPr>
              <a:t>Non-functional requirements such as reliability, safety, and confidentiality requirements are particularly important for critical systems</a:t>
            </a:r>
            <a:endParaRPr lang="en-US" dirty="0">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9E45D05E-F79E-0FD4-A71B-E962E1507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70AF1D-40B0-89BC-0D0F-DF8A1A0196EC}"/>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4EF56C5A-D2E0-CF51-E0E3-8F5DBB252F1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22187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22CD-775A-3283-3F09-C3FE77C8E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3783F-CED6-2F63-A62A-9F5374BB3108}"/>
              </a:ext>
            </a:extLst>
          </p:cNvPr>
          <p:cNvSpPr>
            <a:spLocks noGrp="1"/>
          </p:cNvSpPr>
          <p:nvPr>
            <p:ph type="title"/>
          </p:nvPr>
        </p:nvSpPr>
        <p:spPr/>
        <p:txBody>
          <a:bodyPr/>
          <a:lstStyle/>
          <a:p>
            <a:r>
              <a:rPr lang="en-GB">
                <a:ea typeface="Calibri Light"/>
                <a:cs typeface="Calibri Light"/>
              </a:rPr>
              <a:t>Non-functional requirements – possible metrics</a:t>
            </a:r>
          </a:p>
        </p:txBody>
      </p:sp>
      <p:pic>
        <p:nvPicPr>
          <p:cNvPr id="6" name="Picture 5" descr="A black and white logo&#10;&#10;Description automatically generated">
            <a:extLst>
              <a:ext uri="{FF2B5EF4-FFF2-40B4-BE49-F238E27FC236}">
                <a16:creationId xmlns:a16="http://schemas.microsoft.com/office/drawing/2014/main" id="{8F0FCF48-2287-0B7F-3887-62F52C306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DA3B372-4FE1-B025-B97C-69A886F9D6B7}"/>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01E6E7FD-42CB-6337-3F25-487192696319}"/>
              </a:ext>
            </a:extLst>
          </p:cNvPr>
          <p:cNvSpPr>
            <a:spLocks noGrp="1"/>
          </p:cNvSpPr>
          <p:nvPr>
            <p:ph type="ftr" sz="quarter" idx="11"/>
          </p:nvPr>
        </p:nvSpPr>
        <p:spPr/>
        <p:txBody>
          <a:bodyPr/>
          <a:lstStyle/>
          <a:p>
            <a:r>
              <a:rPr lang="en-US"/>
              <a:t>Software Engineering</a:t>
            </a:r>
          </a:p>
        </p:txBody>
      </p:sp>
      <p:pic>
        <p:nvPicPr>
          <p:cNvPr id="9" name="Content Placeholder 8" descr="A screenshot of a computer&#10;&#10;AI-generated content may be incorrect.">
            <a:extLst>
              <a:ext uri="{FF2B5EF4-FFF2-40B4-BE49-F238E27FC236}">
                <a16:creationId xmlns:a16="http://schemas.microsoft.com/office/drawing/2014/main" id="{F3EECAD2-EF0A-4AD1-9052-8554985E3BB4}"/>
              </a:ext>
            </a:extLst>
          </p:cNvPr>
          <p:cNvPicPr>
            <a:picLocks noGrp="1" noChangeAspect="1"/>
          </p:cNvPicPr>
          <p:nvPr>
            <p:ph idx="1"/>
          </p:nvPr>
        </p:nvPicPr>
        <p:blipFill>
          <a:blip r:embed="rId4"/>
          <a:srcRect l="22277" t="23054" r="12546" b="20980"/>
          <a:stretch/>
        </p:blipFill>
        <p:spPr>
          <a:xfrm>
            <a:off x="1293962" y="1712536"/>
            <a:ext cx="9627404" cy="4645926"/>
          </a:xfrm>
        </p:spPr>
      </p:pic>
    </p:spTree>
    <p:extLst>
      <p:ext uri="{BB962C8B-B14F-4D97-AF65-F5344CB8AC3E}">
        <p14:creationId xmlns:p14="http://schemas.microsoft.com/office/powerpoint/2010/main" val="544750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2425-00B1-D01D-5448-7A49E04BA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F7DEF-3A15-BD08-6F48-AA623AEA936C}"/>
              </a:ext>
            </a:extLst>
          </p:cNvPr>
          <p:cNvSpPr>
            <a:spLocks noGrp="1"/>
          </p:cNvSpPr>
          <p:nvPr>
            <p:ph type="title"/>
          </p:nvPr>
        </p:nvSpPr>
        <p:spPr/>
        <p:txBody>
          <a:bodyPr/>
          <a:lstStyle/>
          <a:p>
            <a:r>
              <a:rPr lang="en-GB">
                <a:ea typeface="Calibri Light"/>
                <a:cs typeface="Calibri Light"/>
              </a:rPr>
              <a:t>Differentiate between functional and non-functional</a:t>
            </a:r>
            <a:endParaRPr lang="en-US"/>
          </a:p>
        </p:txBody>
      </p:sp>
      <p:sp>
        <p:nvSpPr>
          <p:cNvPr id="3" name="Content Placeholder 2">
            <a:extLst>
              <a:ext uri="{FF2B5EF4-FFF2-40B4-BE49-F238E27FC236}">
                <a16:creationId xmlns:a16="http://schemas.microsoft.com/office/drawing/2014/main" id="{D6E05D75-A261-5EE7-C065-DED79B19D2B3}"/>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Calibri"/>
                <a:cs typeface="Calibri"/>
              </a:rPr>
              <a:t>Sometimes, it is difficult to differentiate between functional and non-functional requirements. Here are possible hacks</a:t>
            </a:r>
          </a:p>
          <a:p>
            <a:endParaRPr lang="en-US">
              <a:ea typeface="Calibri"/>
              <a:cs typeface="Calibri"/>
            </a:endParaRPr>
          </a:p>
          <a:p>
            <a:r>
              <a:rPr lang="en-US" b="1">
                <a:ea typeface="Calibri"/>
                <a:cs typeface="Calibri"/>
              </a:rPr>
              <a:t>What vs. How:</a:t>
            </a:r>
          </a:p>
          <a:p>
            <a:pPr lvl="1"/>
            <a:r>
              <a:rPr lang="en-US" b="1">
                <a:ea typeface="+mn-lt"/>
                <a:cs typeface="+mn-lt"/>
              </a:rPr>
              <a:t>Functional Requirements (WHAT the system should do): </a:t>
            </a:r>
            <a:r>
              <a:rPr lang="en-US">
                <a:ea typeface="+mn-lt"/>
                <a:cs typeface="+mn-lt"/>
              </a:rPr>
              <a:t>These describe specific tasks, actions, or operations the system must perform</a:t>
            </a:r>
            <a:endParaRPr lang="en-US">
              <a:ea typeface="Calibri"/>
              <a:cs typeface="Calibri"/>
            </a:endParaRPr>
          </a:p>
          <a:p>
            <a:pPr lvl="1"/>
            <a:r>
              <a:rPr lang="en-US" b="1">
                <a:ea typeface="+mn-lt"/>
                <a:cs typeface="+mn-lt"/>
              </a:rPr>
              <a:t>Non-Functional Requirements (HOW the system should perform): </a:t>
            </a:r>
            <a:r>
              <a:rPr lang="en-US">
                <a:ea typeface="+mn-lt"/>
                <a:cs typeface="+mn-lt"/>
              </a:rPr>
              <a:t>These describe the quality, constraints, and system behavior</a:t>
            </a:r>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F0D804B8-B55C-8053-913E-30CDA5B23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18C51B5-A73F-686B-4D8A-6EF25DF2AF5F}"/>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CEC729B5-12B2-C7F1-3167-2C8615410E7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20686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90B34-7603-0A1D-DBF1-E9827011F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BC70A-A89A-EFE2-FEB9-B16769958C89}"/>
              </a:ext>
            </a:extLst>
          </p:cNvPr>
          <p:cNvSpPr>
            <a:spLocks noGrp="1"/>
          </p:cNvSpPr>
          <p:nvPr>
            <p:ph type="title"/>
          </p:nvPr>
        </p:nvSpPr>
        <p:spPr/>
        <p:txBody>
          <a:bodyPr/>
          <a:lstStyle/>
          <a:p>
            <a:r>
              <a:rPr lang="en-GB">
                <a:ea typeface="Calibri Light"/>
                <a:cs typeface="Calibri Light"/>
              </a:rPr>
              <a:t>What vs. How - Example</a:t>
            </a:r>
          </a:p>
        </p:txBody>
      </p:sp>
      <p:sp>
        <p:nvSpPr>
          <p:cNvPr id="3" name="Content Placeholder 2">
            <a:extLst>
              <a:ext uri="{FF2B5EF4-FFF2-40B4-BE49-F238E27FC236}">
                <a16:creationId xmlns:a16="http://schemas.microsoft.com/office/drawing/2014/main" id="{4234B86E-9C3B-8711-47D6-36D9CAFE7D61}"/>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b="1">
                <a:ea typeface="Calibri"/>
                <a:cs typeface="Calibri"/>
              </a:rPr>
              <a:t>Online Banking System:</a:t>
            </a:r>
            <a:endParaRPr lang="en-US" b="1"/>
          </a:p>
          <a:p>
            <a:endParaRPr lang="en-US" b="1"/>
          </a:p>
          <a:p>
            <a:r>
              <a:rPr lang="en-US" b="1"/>
              <a:t>Functional Requirements (WHAT the system should do)</a:t>
            </a:r>
            <a:endParaRPr lang="en-US">
              <a:ea typeface="Calibri"/>
              <a:cs typeface="Calibri"/>
            </a:endParaRPr>
          </a:p>
          <a:p>
            <a:pPr lvl="1"/>
            <a:r>
              <a:rPr lang="en-US" i="1">
                <a:ea typeface="+mn-lt"/>
                <a:cs typeface="+mn-lt"/>
              </a:rPr>
              <a:t>The system shall allow users to transfer money between accounts.</a:t>
            </a:r>
            <a:endParaRPr lang="en-US">
              <a:ea typeface="Calibri"/>
              <a:cs typeface="Calibri"/>
            </a:endParaRPr>
          </a:p>
          <a:p>
            <a:pPr lvl="1"/>
            <a:r>
              <a:rPr lang="en-US" i="1">
                <a:ea typeface="+mn-lt"/>
                <a:cs typeface="+mn-lt"/>
              </a:rPr>
              <a:t>Users can reset their password via email verification.</a:t>
            </a:r>
            <a:endParaRPr lang="en-US">
              <a:ea typeface="Calibri"/>
              <a:cs typeface="Calibri"/>
            </a:endParaRPr>
          </a:p>
          <a:p>
            <a:r>
              <a:rPr lang="en-US" b="1"/>
              <a:t>Non-Functional Requirements (HOW the system should perform)</a:t>
            </a:r>
            <a:endParaRPr lang="en-US"/>
          </a:p>
          <a:p>
            <a:pPr lvl="1"/>
            <a:r>
              <a:rPr lang="en-US" i="1">
                <a:ea typeface="+mn-lt"/>
                <a:cs typeface="+mn-lt"/>
              </a:rPr>
              <a:t>The system must process transactions within 2 seconds.</a:t>
            </a:r>
            <a:r>
              <a:rPr lang="en-US">
                <a:ea typeface="+mn-lt"/>
                <a:cs typeface="+mn-lt"/>
              </a:rPr>
              <a:t> (Performance)</a:t>
            </a:r>
            <a:endParaRPr lang="en-US">
              <a:ea typeface="Calibri"/>
              <a:cs typeface="Calibri"/>
            </a:endParaRPr>
          </a:p>
          <a:p>
            <a:pPr lvl="1"/>
            <a:r>
              <a:rPr lang="en-US" i="1">
                <a:ea typeface="+mn-lt"/>
                <a:cs typeface="+mn-lt"/>
              </a:rPr>
              <a:t>The system must be available 99.9% of the time.</a:t>
            </a:r>
            <a:r>
              <a:rPr lang="en-US">
                <a:ea typeface="+mn-lt"/>
                <a:cs typeface="+mn-lt"/>
              </a:rPr>
              <a:t> (Availability)</a:t>
            </a:r>
            <a:endParaRPr lang="en-US">
              <a:ea typeface="Calibri"/>
              <a:cs typeface="Calibri"/>
            </a:endParaRPr>
          </a:p>
          <a:p>
            <a:pPr lvl="1"/>
            <a:r>
              <a:rPr lang="en-US" i="1">
                <a:ea typeface="+mn-lt"/>
                <a:cs typeface="+mn-lt"/>
              </a:rPr>
              <a:t>All sensitive data must be encrypted.</a:t>
            </a:r>
            <a:r>
              <a:rPr lang="en-US">
                <a:ea typeface="+mn-lt"/>
                <a:cs typeface="+mn-lt"/>
              </a:rPr>
              <a:t> (Security)</a:t>
            </a:r>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6C1AFEB1-EA67-BF02-78DA-7505ECBBED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B114971-897F-F960-75F6-1477AF497B2F}"/>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59F610C9-1A46-0605-8DF3-28AD64C0DBC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55866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7F37-5D6F-AD3A-155A-93324F924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4DB4C-AF81-8FFF-795D-745C7B10D46B}"/>
              </a:ext>
            </a:extLst>
          </p:cNvPr>
          <p:cNvSpPr>
            <a:spLocks noGrp="1"/>
          </p:cNvSpPr>
          <p:nvPr>
            <p:ph type="title"/>
          </p:nvPr>
        </p:nvSpPr>
        <p:spPr/>
        <p:txBody>
          <a:bodyPr/>
          <a:lstStyle/>
          <a:p>
            <a:r>
              <a:rPr lang="en-GB">
                <a:ea typeface="Calibri Light"/>
                <a:cs typeface="Calibri Light"/>
              </a:rPr>
              <a:t>Differentiate between functional and non-functional</a:t>
            </a:r>
            <a:endParaRPr lang="en-US"/>
          </a:p>
        </p:txBody>
      </p:sp>
      <p:sp>
        <p:nvSpPr>
          <p:cNvPr id="3" name="Content Placeholder 2">
            <a:extLst>
              <a:ext uri="{FF2B5EF4-FFF2-40B4-BE49-F238E27FC236}">
                <a16:creationId xmlns:a16="http://schemas.microsoft.com/office/drawing/2014/main" id="{62E00A51-C94D-7A4D-C060-56CFB8E83DCC}"/>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b="1"/>
              <a:t>Another Hack (perhaps): "Can You Code It?"</a:t>
            </a:r>
          </a:p>
          <a:p>
            <a:pPr lvl="1"/>
            <a:r>
              <a:rPr lang="en-US" b="1">
                <a:ea typeface="+mn-lt"/>
                <a:cs typeface="+mn-lt"/>
              </a:rPr>
              <a:t>Functional Requirements: Can be directly coded.</a:t>
            </a:r>
            <a:br>
              <a:rPr lang="en-US" b="1">
                <a:ea typeface="+mn-lt"/>
                <a:cs typeface="+mn-lt"/>
              </a:rPr>
            </a:br>
            <a:r>
              <a:rPr lang="en-US">
                <a:ea typeface="+mn-lt"/>
                <a:cs typeface="+mn-lt"/>
              </a:rPr>
              <a:t>"A user can log in with a username and password."</a:t>
            </a:r>
            <a:endParaRPr lang="en-US">
              <a:ea typeface="Calibri"/>
              <a:cs typeface="Calibri"/>
            </a:endParaRPr>
          </a:p>
          <a:p>
            <a:pPr lvl="1"/>
            <a:r>
              <a:rPr lang="en-US" b="1">
                <a:ea typeface="+mn-lt"/>
                <a:cs typeface="+mn-lt"/>
              </a:rPr>
              <a:t>Non-Functional Requirements: Are about quality, not code.</a:t>
            </a:r>
            <a:br>
              <a:rPr lang="en-US">
                <a:ea typeface="+mn-lt"/>
                <a:cs typeface="+mn-lt"/>
              </a:rPr>
            </a:br>
            <a:r>
              <a:rPr lang="en-US">
                <a:ea typeface="+mn-lt"/>
                <a:cs typeface="+mn-lt"/>
              </a:rPr>
              <a:t>"The system should be user-friendly." (This is a guideline, not a function)</a:t>
            </a:r>
            <a:endParaRPr lang="en-US">
              <a:ea typeface="Calibri"/>
              <a:cs typeface="Calibri"/>
            </a:endParaRPr>
          </a:p>
          <a:p>
            <a:endParaRPr lang="en-US" b="1"/>
          </a:p>
          <a:p>
            <a:r>
              <a:rPr lang="en-US" b="1"/>
              <a:t>Quick Test to Check:</a:t>
            </a:r>
            <a:endParaRPr lang="en-US">
              <a:ea typeface="Calibri"/>
              <a:cs typeface="Calibri"/>
            </a:endParaRPr>
          </a:p>
          <a:p>
            <a:pPr lvl="1"/>
            <a:r>
              <a:rPr lang="en-US">
                <a:ea typeface="+mn-lt"/>
                <a:cs typeface="+mn-lt"/>
              </a:rPr>
              <a:t>Does it describe a feature? It is Functional</a:t>
            </a:r>
            <a:endParaRPr lang="en-US">
              <a:ea typeface="Calibri"/>
              <a:cs typeface="Calibri"/>
            </a:endParaRPr>
          </a:p>
          <a:p>
            <a:pPr lvl="1"/>
            <a:r>
              <a:rPr lang="en-US">
                <a:ea typeface="+mn-lt"/>
                <a:cs typeface="+mn-lt"/>
              </a:rPr>
              <a:t>Does it describe performance, security, usability, or constraints? It is Non-Functional</a:t>
            </a: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F80F6FDC-BAD6-2AD4-F666-4F7B99371D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FA52B3A-9879-4D89-F182-F93B9EE66193}"/>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62532A53-7A0E-55ED-32E8-C495776C97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07920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446A7-6EF7-FF96-4E3C-ABC8C85ED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AEACE-E233-BE46-1ED0-BC1B53CE9BB2}"/>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3CC56CC-A6BC-6F82-9217-025EA25C00E7}"/>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Requirements Specification</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BCF6185-8C18-D9DD-DA42-D2248AB4A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FD02A9F-4A08-B3C2-6016-1DAD1DF27637}"/>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3F090C53-CC7E-B52B-5F8B-8BED4299FFB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34269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D05C-1D66-9E7E-3117-3F511D5B9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F480F-74CD-80A1-7430-2063825E5E09}"/>
              </a:ext>
            </a:extLst>
          </p:cNvPr>
          <p:cNvSpPr>
            <a:spLocks noGrp="1"/>
          </p:cNvSpPr>
          <p:nvPr>
            <p:ph type="title"/>
          </p:nvPr>
        </p:nvSpPr>
        <p:spPr/>
        <p:txBody>
          <a:bodyPr/>
          <a:lstStyle/>
          <a:p>
            <a:r>
              <a:rPr lang="en-GB">
                <a:ea typeface="Calibri Light"/>
                <a:cs typeface="Calibri Light"/>
              </a:rPr>
              <a:t>Introduction</a:t>
            </a:r>
          </a:p>
        </p:txBody>
      </p:sp>
      <p:sp>
        <p:nvSpPr>
          <p:cNvPr id="3" name="Content Placeholder 2">
            <a:extLst>
              <a:ext uri="{FF2B5EF4-FFF2-40B4-BE49-F238E27FC236}">
                <a16:creationId xmlns:a16="http://schemas.microsoft.com/office/drawing/2014/main" id="{33DC89FF-2088-5910-9818-D7A9236FF916}"/>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dirty="0">
                <a:ea typeface="+mn-lt"/>
                <a:cs typeface="+mn-lt"/>
              </a:rPr>
              <a:t>Requirements specification is the </a:t>
            </a:r>
            <a:r>
              <a:rPr lang="en-US" dirty="0">
                <a:highlight>
                  <a:srgbClr val="FFFF00"/>
                </a:highlight>
                <a:ea typeface="+mn-lt"/>
                <a:cs typeface="+mn-lt"/>
              </a:rPr>
              <a:t>process of writing down the user and system requirements</a:t>
            </a:r>
            <a:r>
              <a:rPr lang="en-US" dirty="0">
                <a:ea typeface="+mn-lt"/>
                <a:cs typeface="+mn-lt"/>
              </a:rPr>
              <a:t> in a requirements document</a:t>
            </a:r>
            <a:endParaRPr lang="en-US" dirty="0">
              <a:ea typeface="Calibri"/>
              <a:cs typeface="Calibri"/>
            </a:endParaRPr>
          </a:p>
          <a:p>
            <a:r>
              <a:rPr lang="en-US" dirty="0">
                <a:ea typeface="Calibri"/>
                <a:cs typeface="Calibri"/>
              </a:rPr>
              <a:t>Should be </a:t>
            </a:r>
            <a:r>
              <a:rPr lang="en-US" dirty="0">
                <a:highlight>
                  <a:srgbClr val="FFFF00"/>
                </a:highlight>
                <a:ea typeface="+mn-lt"/>
                <a:cs typeface="+mn-lt"/>
              </a:rPr>
              <a:t>clear, unambiguous, easy to understand, complete, and consistent</a:t>
            </a:r>
            <a:r>
              <a:rPr lang="en-US" dirty="0">
                <a:ea typeface="+mn-lt"/>
                <a:cs typeface="+mn-lt"/>
              </a:rPr>
              <a:t> (difficult to achieve in practice)</a:t>
            </a:r>
            <a:endParaRPr lang="en-US" dirty="0">
              <a:ea typeface="Calibri"/>
              <a:cs typeface="Calibri"/>
            </a:endParaRPr>
          </a:p>
          <a:p>
            <a:r>
              <a:rPr lang="en-US" u="sng" dirty="0">
                <a:ea typeface="+mn-lt"/>
                <a:cs typeface="+mn-lt"/>
              </a:rPr>
              <a:t>User requirements</a:t>
            </a:r>
            <a:r>
              <a:rPr lang="en-US" dirty="0">
                <a:ea typeface="+mn-lt"/>
                <a:cs typeface="+mn-lt"/>
              </a:rPr>
              <a:t> are almost always written in natural language supplemented by appropriate diagrams and tables in the requirements document</a:t>
            </a:r>
          </a:p>
          <a:p>
            <a:r>
              <a:rPr lang="en-US" u="sng" dirty="0">
                <a:ea typeface="+mn-lt"/>
                <a:cs typeface="+mn-lt"/>
              </a:rPr>
              <a:t>System requirements</a:t>
            </a:r>
            <a:r>
              <a:rPr lang="en-US" dirty="0">
                <a:ea typeface="+mn-lt"/>
                <a:cs typeface="+mn-lt"/>
              </a:rPr>
              <a:t> may also be written in natural language, but </a:t>
            </a:r>
            <a:r>
              <a:rPr lang="en-US">
                <a:ea typeface="+mn-lt"/>
                <a:cs typeface="+mn-lt"/>
              </a:rPr>
              <a:t>other notations based on forms (predefined structure), graphical, or mathematical system </a:t>
            </a:r>
            <a:r>
              <a:rPr lang="en-US" dirty="0">
                <a:ea typeface="+mn-lt"/>
                <a:cs typeface="+mn-lt"/>
              </a:rPr>
              <a:t>models can also be used</a:t>
            </a:r>
            <a:endParaRPr lang="en-US" dirty="0">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C065E858-5974-1230-CAF4-B68B07CE35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44D6790-DF91-D614-A231-DEC002B925CF}"/>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77C33461-71CE-9D59-1842-EB39C8B78FE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03496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8FC73-7DBA-69D4-85B2-AB4E2FD61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2520F-1EB3-53FB-5247-3EB52E7FE8C3}"/>
              </a:ext>
            </a:extLst>
          </p:cNvPr>
          <p:cNvSpPr>
            <a:spLocks noGrp="1"/>
          </p:cNvSpPr>
          <p:nvPr>
            <p:ph type="title"/>
          </p:nvPr>
        </p:nvSpPr>
        <p:spPr/>
        <p:txBody>
          <a:bodyPr/>
          <a:lstStyle/>
          <a:p>
            <a:r>
              <a:rPr lang="en-GB">
                <a:ea typeface="Calibri Light"/>
                <a:cs typeface="Calibri Light"/>
              </a:rPr>
              <a:t>Notations for writing System Requirements</a:t>
            </a:r>
            <a:endParaRPr lang="en-US"/>
          </a:p>
        </p:txBody>
      </p:sp>
      <p:sp>
        <p:nvSpPr>
          <p:cNvPr id="3" name="Content Placeholder 2">
            <a:extLst>
              <a:ext uri="{FF2B5EF4-FFF2-40B4-BE49-F238E27FC236}">
                <a16:creationId xmlns:a16="http://schemas.microsoft.com/office/drawing/2014/main" id="{D242AC35-A612-B045-3D8E-6844410E7A68}"/>
              </a:ext>
            </a:extLst>
          </p:cNvPr>
          <p:cNvSpPr>
            <a:spLocks noGrp="1"/>
          </p:cNvSpPr>
          <p:nvPr>
            <p:ph idx="1"/>
          </p:nvPr>
        </p:nvSpPr>
        <p:spPr>
          <a:xfrm>
            <a:off x="838200" y="1874739"/>
            <a:ext cx="10515600" cy="4488353"/>
          </a:xfrm>
        </p:spPr>
        <p:txBody>
          <a:bodyPr vert="horz" lIns="91440" tIns="45720" rIns="91440" bIns="45720" rtlCol="0" anchor="t">
            <a:normAutofit/>
          </a:bodyPr>
          <a:lstStyle/>
          <a:p>
            <a:pPr marL="0" indent="0">
              <a:buNone/>
            </a:pPr>
            <a:endParaRPr lang="en-US">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2B350E1-3758-0C78-5F5C-CF00C28F3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9B7373F-EEA1-8411-8001-B7DA5982B7ED}"/>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E36C7530-0991-B3A9-AE06-592D1CAF89C3}"/>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15EBFC94-237B-9AD3-3BF8-B46BB7A42C63}"/>
              </a:ext>
            </a:extLst>
          </p:cNvPr>
          <p:cNvPicPr>
            <a:picLocks noChangeAspect="1"/>
          </p:cNvPicPr>
          <p:nvPr/>
        </p:nvPicPr>
        <p:blipFill>
          <a:blip r:embed="rId4"/>
          <a:srcRect l="22930" t="32808" r="8287" b="17848"/>
          <a:stretch/>
        </p:blipFill>
        <p:spPr>
          <a:xfrm>
            <a:off x="279219" y="1697445"/>
            <a:ext cx="11620039" cy="4635967"/>
          </a:xfrm>
          <a:prstGeom prst="rect">
            <a:avLst/>
          </a:prstGeom>
        </p:spPr>
      </p:pic>
    </p:spTree>
    <p:extLst>
      <p:ext uri="{BB962C8B-B14F-4D97-AF65-F5344CB8AC3E}">
        <p14:creationId xmlns:p14="http://schemas.microsoft.com/office/powerpoint/2010/main" val="1631076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6DF40-EFEE-5241-926B-BB833C04D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9B08E-D300-4656-12AA-9E5094511EF9}"/>
              </a:ext>
            </a:extLst>
          </p:cNvPr>
          <p:cNvSpPr>
            <a:spLocks noGrp="1"/>
          </p:cNvSpPr>
          <p:nvPr>
            <p:ph type="title"/>
          </p:nvPr>
        </p:nvSpPr>
        <p:spPr/>
        <p:txBody>
          <a:bodyPr/>
          <a:lstStyle/>
          <a:p>
            <a:r>
              <a:rPr lang="en-GB">
                <a:ea typeface="Calibri Light"/>
                <a:cs typeface="Calibri Light"/>
              </a:rPr>
              <a:t>Natural language specification Guidelines (SOM. Pg. 122)</a:t>
            </a:r>
            <a:endParaRPr lang="en-US"/>
          </a:p>
        </p:txBody>
      </p:sp>
      <p:sp>
        <p:nvSpPr>
          <p:cNvPr id="3" name="Content Placeholder 2">
            <a:extLst>
              <a:ext uri="{FF2B5EF4-FFF2-40B4-BE49-F238E27FC236}">
                <a16:creationId xmlns:a16="http://schemas.microsoft.com/office/drawing/2014/main" id="{05697942-345F-D7A0-36FF-1D3A356DE707}"/>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dirty="0">
                <a:ea typeface="+mn-lt"/>
                <a:cs typeface="+mn-lt"/>
              </a:rPr>
              <a:t>Invent a </a:t>
            </a:r>
            <a:r>
              <a:rPr lang="en-US" dirty="0">
                <a:highlight>
                  <a:srgbClr val="FFFF00"/>
                </a:highlight>
                <a:ea typeface="+mn-lt"/>
                <a:cs typeface="+mn-lt"/>
              </a:rPr>
              <a:t>(basic) standard format</a:t>
            </a:r>
            <a:r>
              <a:rPr lang="en-US" dirty="0">
                <a:ea typeface="+mn-lt"/>
                <a:cs typeface="+mn-lt"/>
              </a:rPr>
              <a:t> and ensure that all requirement definitions adhere to that format</a:t>
            </a:r>
            <a:endParaRPr lang="en-US" dirty="0">
              <a:ea typeface="Calibri"/>
              <a:cs typeface="Calibri"/>
            </a:endParaRPr>
          </a:p>
          <a:p>
            <a:r>
              <a:rPr lang="en-US" dirty="0">
                <a:ea typeface="+mn-lt"/>
                <a:cs typeface="+mn-lt"/>
              </a:rPr>
              <a:t>Wherever possible, you should </a:t>
            </a:r>
            <a:r>
              <a:rPr lang="en-US" dirty="0">
                <a:highlight>
                  <a:srgbClr val="FFFF00"/>
                </a:highlight>
                <a:ea typeface="+mn-lt"/>
                <a:cs typeface="+mn-lt"/>
              </a:rPr>
              <a:t>write the requirement in one or two sentences</a:t>
            </a:r>
            <a:r>
              <a:rPr lang="en-US" dirty="0">
                <a:ea typeface="+mn-lt"/>
                <a:cs typeface="+mn-lt"/>
              </a:rPr>
              <a:t> of natural language</a:t>
            </a:r>
            <a:endParaRPr lang="en-US" dirty="0">
              <a:ea typeface="Calibri"/>
              <a:cs typeface="Calibri"/>
            </a:endParaRPr>
          </a:p>
          <a:p>
            <a:r>
              <a:rPr lang="en-US" dirty="0">
                <a:ea typeface="+mn-lt"/>
                <a:cs typeface="+mn-lt"/>
              </a:rPr>
              <a:t>Use </a:t>
            </a:r>
            <a:r>
              <a:rPr lang="en-US" dirty="0">
                <a:highlight>
                  <a:srgbClr val="FFFF00"/>
                </a:highlight>
                <a:ea typeface="+mn-lt"/>
                <a:cs typeface="+mn-lt"/>
              </a:rPr>
              <a:t>language consistently</a:t>
            </a:r>
            <a:r>
              <a:rPr lang="en-US" dirty="0">
                <a:ea typeface="+mn-lt"/>
                <a:cs typeface="+mn-lt"/>
              </a:rPr>
              <a:t> to </a:t>
            </a:r>
            <a:r>
              <a:rPr lang="en-US" dirty="0">
                <a:highlight>
                  <a:srgbClr val="FFFF00"/>
                </a:highlight>
                <a:ea typeface="+mn-lt"/>
                <a:cs typeface="+mn-lt"/>
              </a:rPr>
              <a:t>distinguish between mandatory and desirable</a:t>
            </a:r>
            <a:r>
              <a:rPr lang="en-US" dirty="0">
                <a:ea typeface="+mn-lt"/>
                <a:cs typeface="+mn-lt"/>
              </a:rPr>
              <a:t> (usage of "shall" and "should")</a:t>
            </a:r>
          </a:p>
          <a:p>
            <a:r>
              <a:rPr lang="en-US" dirty="0">
                <a:ea typeface="+mn-lt"/>
                <a:cs typeface="+mn-lt"/>
              </a:rPr>
              <a:t>Use text highlighting to pick out key parts</a:t>
            </a:r>
          </a:p>
          <a:p>
            <a:r>
              <a:rPr lang="en-US" dirty="0">
                <a:ea typeface="+mn-lt"/>
                <a:cs typeface="+mn-lt"/>
              </a:rPr>
              <a:t>Avoid the use of jargon, abbreviations, and acronyms</a:t>
            </a:r>
            <a:endParaRPr lang="en-US" dirty="0">
              <a:ea typeface="Calibri"/>
              <a:cs typeface="Calibri"/>
            </a:endParaRPr>
          </a:p>
          <a:p>
            <a:r>
              <a:rPr lang="en-US" dirty="0">
                <a:ea typeface="Calibri"/>
                <a:cs typeface="Calibri"/>
              </a:rPr>
              <a:t>Include rationale where possible. </a:t>
            </a:r>
            <a:r>
              <a:rPr lang="en-US" dirty="0">
                <a:ea typeface="+mn-lt"/>
                <a:cs typeface="+mn-lt"/>
              </a:rPr>
              <a:t>The rationale should explain why the requirement has been included and who proposed the requirement</a:t>
            </a:r>
            <a:endParaRPr lang="en-US" dirty="0">
              <a:ea typeface="Calibri"/>
              <a:cs typeface="Calibri"/>
            </a:endParaRP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A043011-F250-1E27-C977-7C35D755D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8F59FC5-F358-F74D-9A55-C6943C1BF4F4}"/>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6C7C1FDB-EFA4-A031-1399-91BC39D1EE8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23183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883BD-186D-3252-3C81-CA7B34348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3383F-5B42-8305-6AFE-77AD777E509E}"/>
              </a:ext>
            </a:extLst>
          </p:cNvPr>
          <p:cNvSpPr>
            <a:spLocks noGrp="1"/>
          </p:cNvSpPr>
          <p:nvPr>
            <p:ph type="title"/>
          </p:nvPr>
        </p:nvSpPr>
        <p:spPr/>
        <p:txBody>
          <a:bodyPr/>
          <a:lstStyle/>
          <a:p>
            <a:r>
              <a:rPr lang="en-GB">
                <a:ea typeface="Calibri Light"/>
                <a:cs typeface="Calibri Light"/>
              </a:rPr>
              <a:t>Structured Specification</a:t>
            </a:r>
          </a:p>
        </p:txBody>
      </p:sp>
      <p:sp>
        <p:nvSpPr>
          <p:cNvPr id="3" name="Content Placeholder 2">
            <a:extLst>
              <a:ext uri="{FF2B5EF4-FFF2-40B4-BE49-F238E27FC236}">
                <a16:creationId xmlns:a16="http://schemas.microsoft.com/office/drawing/2014/main" id="{5A72BA99-7E1C-A5D4-DEE4-67BDB3F6CB36}"/>
              </a:ext>
            </a:extLst>
          </p:cNvPr>
          <p:cNvSpPr>
            <a:spLocks noGrp="1"/>
          </p:cNvSpPr>
          <p:nvPr>
            <p:ph idx="1"/>
          </p:nvPr>
        </p:nvSpPr>
        <p:spPr>
          <a:xfrm>
            <a:off x="838200" y="1874739"/>
            <a:ext cx="10515600" cy="4488353"/>
          </a:xfrm>
        </p:spPr>
        <p:txBody>
          <a:bodyPr vert="horz" lIns="91440" tIns="45720" rIns="91440" bIns="45720" rtlCol="0" anchor="t">
            <a:normAutofit fontScale="92500" lnSpcReduction="20000"/>
          </a:bodyPr>
          <a:lstStyle/>
          <a:p>
            <a:r>
              <a:rPr lang="en-US" dirty="0">
                <a:ea typeface="+mn-lt"/>
                <a:cs typeface="+mn-lt"/>
              </a:rPr>
              <a:t>Structured natural language: Requirements are </a:t>
            </a:r>
            <a:r>
              <a:rPr lang="en-US" u="sng" dirty="0">
                <a:highlight>
                  <a:srgbClr val="FFFF00"/>
                </a:highlight>
                <a:ea typeface="+mn-lt"/>
                <a:cs typeface="+mn-lt"/>
              </a:rPr>
              <a:t>written in a standard way</a:t>
            </a:r>
            <a:r>
              <a:rPr lang="en-US" dirty="0">
                <a:ea typeface="+mn-lt"/>
                <a:cs typeface="+mn-lt"/>
              </a:rPr>
              <a:t> rather than as free-form text</a:t>
            </a:r>
          </a:p>
          <a:p>
            <a:r>
              <a:rPr lang="en-US" dirty="0">
                <a:ea typeface="Calibri"/>
                <a:cs typeface="Calibri"/>
              </a:rPr>
              <a:t>Still uses natural language BUT brings in a </a:t>
            </a:r>
            <a:r>
              <a:rPr lang="en-US" u="sng" dirty="0">
                <a:highlight>
                  <a:srgbClr val="FFFF00"/>
                </a:highlight>
                <a:ea typeface="Calibri"/>
                <a:cs typeface="Calibri"/>
              </a:rPr>
              <a:t>structure / template</a:t>
            </a:r>
            <a:r>
              <a:rPr lang="en-US" dirty="0">
                <a:ea typeface="Calibri"/>
                <a:cs typeface="Calibri"/>
              </a:rPr>
              <a:t> (ensuring uniformity)</a:t>
            </a:r>
          </a:p>
          <a:p>
            <a:r>
              <a:rPr lang="en-US" dirty="0">
                <a:ea typeface="+mn-lt"/>
                <a:cs typeface="+mn-lt"/>
              </a:rPr>
              <a:t>These specifications </a:t>
            </a:r>
            <a:r>
              <a:rPr lang="en-US" u="sng" dirty="0">
                <a:highlight>
                  <a:srgbClr val="FFFF00"/>
                </a:highlight>
                <a:ea typeface="+mn-lt"/>
                <a:cs typeface="+mn-lt"/>
              </a:rPr>
              <a:t>may use programming language constructs</a:t>
            </a:r>
            <a:r>
              <a:rPr lang="en-US" dirty="0">
                <a:ea typeface="+mn-lt"/>
                <a:cs typeface="+mn-lt"/>
              </a:rPr>
              <a:t> to show alternatives and iteration</a:t>
            </a:r>
          </a:p>
          <a:p>
            <a:r>
              <a:rPr lang="en-US" dirty="0">
                <a:ea typeface="+mn-lt"/>
                <a:cs typeface="+mn-lt"/>
              </a:rPr>
              <a:t>May structure your template around objects (data) manipulated, functions performed, events processed (and so on)</a:t>
            </a:r>
          </a:p>
          <a:p>
            <a:r>
              <a:rPr lang="en-US" dirty="0">
                <a:ea typeface="Calibri"/>
                <a:cs typeface="Calibri"/>
              </a:rPr>
              <a:t>Variability in specification is reduced</a:t>
            </a:r>
          </a:p>
          <a:p>
            <a:r>
              <a:rPr lang="en-US" dirty="0">
                <a:highlight>
                  <a:srgbClr val="FFFF00"/>
                </a:highlight>
                <a:ea typeface="Calibri"/>
                <a:cs typeface="Calibri"/>
              </a:rPr>
              <a:t>May use tables and other graphical models, if extra information is needed</a:t>
            </a:r>
            <a:r>
              <a:rPr lang="en-US" dirty="0">
                <a:ea typeface="Calibri"/>
                <a:cs typeface="Calibri"/>
              </a:rPr>
              <a:t> (tables are especially useful when there are multiple possible alternative actions)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150B8B9-2B88-D604-4423-670443144A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0EFDBC1-23BB-64A2-D517-3352C32B7C95}"/>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516DF2EB-8F5C-07F6-1800-811882FFEF4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963676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C9B4-D1D4-AEFD-A77F-3C12A7C98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4946E-4996-E9A7-538F-A4D16B82219C}"/>
              </a:ext>
            </a:extLst>
          </p:cNvPr>
          <p:cNvSpPr>
            <a:spLocks noGrp="1"/>
          </p:cNvSpPr>
          <p:nvPr>
            <p:ph type="title"/>
          </p:nvPr>
        </p:nvSpPr>
        <p:spPr/>
        <p:txBody>
          <a:bodyPr/>
          <a:lstStyle/>
          <a:p>
            <a:r>
              <a:rPr lang="en-GB">
                <a:ea typeface="Calibri Light"/>
                <a:cs typeface="Calibri Light"/>
              </a:rPr>
              <a:t>Information to be included in structured format</a:t>
            </a:r>
            <a:endParaRPr lang="en-US"/>
          </a:p>
        </p:txBody>
      </p:sp>
      <p:sp>
        <p:nvSpPr>
          <p:cNvPr id="3" name="Content Placeholder 2">
            <a:extLst>
              <a:ext uri="{FF2B5EF4-FFF2-40B4-BE49-F238E27FC236}">
                <a16:creationId xmlns:a16="http://schemas.microsoft.com/office/drawing/2014/main" id="{5918E22A-F94B-A1BB-3B86-6E41459457FA}"/>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dirty="0">
                <a:ea typeface="+mn-lt"/>
                <a:cs typeface="+mn-lt"/>
              </a:rPr>
              <a:t>A </a:t>
            </a:r>
            <a:r>
              <a:rPr lang="en-US" u="sng" dirty="0">
                <a:highlight>
                  <a:srgbClr val="FFFF00"/>
                </a:highlight>
                <a:ea typeface="+mn-lt"/>
                <a:cs typeface="+mn-lt"/>
              </a:rPr>
              <a:t>description of the function</a:t>
            </a:r>
            <a:r>
              <a:rPr lang="en-US" dirty="0">
                <a:ea typeface="+mn-lt"/>
                <a:cs typeface="+mn-lt"/>
              </a:rPr>
              <a:t> or entity being specified.</a:t>
            </a:r>
          </a:p>
          <a:p>
            <a:r>
              <a:rPr lang="en-US" dirty="0">
                <a:ea typeface="+mn-lt"/>
                <a:cs typeface="+mn-lt"/>
              </a:rPr>
              <a:t>A </a:t>
            </a:r>
            <a:r>
              <a:rPr lang="en-US" u="sng" dirty="0">
                <a:highlight>
                  <a:srgbClr val="FFFF00"/>
                </a:highlight>
                <a:ea typeface="+mn-lt"/>
                <a:cs typeface="+mn-lt"/>
              </a:rPr>
              <a:t>description of its inputs</a:t>
            </a:r>
            <a:r>
              <a:rPr lang="en-US" dirty="0">
                <a:ea typeface="+mn-lt"/>
                <a:cs typeface="+mn-lt"/>
              </a:rPr>
              <a:t> and the origin of these inputs.</a:t>
            </a:r>
            <a:endParaRPr lang="en-US" dirty="0"/>
          </a:p>
          <a:p>
            <a:r>
              <a:rPr lang="en-US" dirty="0">
                <a:ea typeface="+mn-lt"/>
                <a:cs typeface="+mn-lt"/>
              </a:rPr>
              <a:t>A </a:t>
            </a:r>
            <a:r>
              <a:rPr lang="en-US" u="sng" dirty="0">
                <a:highlight>
                  <a:srgbClr val="FFFF00"/>
                </a:highlight>
                <a:ea typeface="+mn-lt"/>
                <a:cs typeface="+mn-lt"/>
              </a:rPr>
              <a:t>description of its outputs</a:t>
            </a:r>
            <a:r>
              <a:rPr lang="en-US" dirty="0">
                <a:ea typeface="+mn-lt"/>
                <a:cs typeface="+mn-lt"/>
              </a:rPr>
              <a:t> and the destination of these outputs.</a:t>
            </a:r>
            <a:endParaRPr lang="en-US" dirty="0"/>
          </a:p>
          <a:p>
            <a:r>
              <a:rPr lang="en-US" u="sng" dirty="0">
                <a:highlight>
                  <a:srgbClr val="FFFF00"/>
                </a:highlight>
                <a:ea typeface="+mn-lt"/>
                <a:cs typeface="+mn-lt"/>
              </a:rPr>
              <a:t>Information needed for the computation</a:t>
            </a:r>
            <a:r>
              <a:rPr lang="en-US" dirty="0">
                <a:ea typeface="+mn-lt"/>
                <a:cs typeface="+mn-lt"/>
              </a:rPr>
              <a:t> or other entities in the system that are required (the “requires” part).</a:t>
            </a:r>
            <a:endParaRPr lang="en-US" dirty="0">
              <a:ea typeface="Calibri" panose="020F0502020204030204"/>
              <a:cs typeface="Calibri" panose="020F0502020204030204"/>
            </a:endParaRPr>
          </a:p>
          <a:p>
            <a:r>
              <a:rPr lang="en-US" dirty="0">
                <a:ea typeface="+mn-lt"/>
                <a:cs typeface="+mn-lt"/>
              </a:rPr>
              <a:t>A </a:t>
            </a:r>
            <a:r>
              <a:rPr lang="en-US" u="sng" dirty="0">
                <a:highlight>
                  <a:srgbClr val="FFFF00"/>
                </a:highlight>
                <a:ea typeface="+mn-lt"/>
                <a:cs typeface="+mn-lt"/>
              </a:rPr>
              <a:t>description of the action</a:t>
            </a:r>
            <a:r>
              <a:rPr lang="en-US" dirty="0">
                <a:ea typeface="+mn-lt"/>
                <a:cs typeface="+mn-lt"/>
              </a:rPr>
              <a:t> to be taken.</a:t>
            </a:r>
            <a:endParaRPr lang="en-US" dirty="0"/>
          </a:p>
          <a:p>
            <a:r>
              <a:rPr lang="en-US" dirty="0">
                <a:ea typeface="+mn-lt"/>
                <a:cs typeface="+mn-lt"/>
              </a:rPr>
              <a:t>If a functional approach is used, </a:t>
            </a:r>
            <a:r>
              <a:rPr lang="en-US" u="sng" dirty="0">
                <a:highlight>
                  <a:srgbClr val="FFFF00"/>
                </a:highlight>
                <a:ea typeface="+mn-lt"/>
                <a:cs typeface="+mn-lt"/>
              </a:rPr>
              <a:t>a precondition</a:t>
            </a:r>
            <a:r>
              <a:rPr lang="en-US" dirty="0">
                <a:ea typeface="+mn-lt"/>
                <a:cs typeface="+mn-lt"/>
              </a:rPr>
              <a:t> setting out what must be true before the function is called, and </a:t>
            </a:r>
            <a:r>
              <a:rPr lang="en-US" u="sng" dirty="0">
                <a:highlight>
                  <a:srgbClr val="FFFF00"/>
                </a:highlight>
                <a:ea typeface="+mn-lt"/>
                <a:cs typeface="+mn-lt"/>
              </a:rPr>
              <a:t>a postcondition</a:t>
            </a:r>
            <a:r>
              <a:rPr lang="en-US" dirty="0">
                <a:ea typeface="+mn-lt"/>
                <a:cs typeface="+mn-lt"/>
              </a:rPr>
              <a:t> specifying what is true after the function is called.</a:t>
            </a:r>
            <a:endParaRPr lang="en-US" dirty="0">
              <a:ea typeface="Calibri" panose="020F0502020204030204"/>
              <a:cs typeface="Calibri" panose="020F0502020204030204"/>
            </a:endParaRPr>
          </a:p>
          <a:p>
            <a:r>
              <a:rPr lang="en-US" dirty="0">
                <a:ea typeface="+mn-lt"/>
                <a:cs typeface="+mn-lt"/>
              </a:rPr>
              <a:t>A description of the </a:t>
            </a:r>
            <a:r>
              <a:rPr lang="en-US" u="sng" dirty="0">
                <a:highlight>
                  <a:srgbClr val="FFFF00"/>
                </a:highlight>
                <a:ea typeface="+mn-lt"/>
                <a:cs typeface="+mn-lt"/>
              </a:rPr>
              <a:t>side effects (if any)</a:t>
            </a:r>
            <a:r>
              <a:rPr lang="en-US" dirty="0">
                <a:ea typeface="+mn-lt"/>
                <a:cs typeface="+mn-lt"/>
              </a:rPr>
              <a:t> of the operation.</a:t>
            </a:r>
            <a:endParaRPr lang="en-US" dirty="0"/>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D62DD622-CC73-52E4-605B-E7222FB25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4CB28BE-1F0C-3506-54D3-791919E598F0}"/>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13965D13-3FC5-B444-60FA-1FEA3328AF1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619648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24C8C-D438-97F1-F648-101CC1279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E6ABA-CB03-8521-A165-463EA6938BC8}"/>
              </a:ext>
            </a:extLst>
          </p:cNvPr>
          <p:cNvSpPr>
            <a:spLocks noGrp="1"/>
          </p:cNvSpPr>
          <p:nvPr>
            <p:ph type="title"/>
          </p:nvPr>
        </p:nvSpPr>
        <p:spPr/>
        <p:txBody>
          <a:bodyPr/>
          <a:lstStyle/>
          <a:p>
            <a:r>
              <a:rPr lang="en-GB">
                <a:ea typeface="Calibri Light"/>
                <a:cs typeface="Calibri Light"/>
              </a:rPr>
              <a:t>Structured Specification</a:t>
            </a:r>
            <a:endParaRPr lang="en-US"/>
          </a:p>
        </p:txBody>
      </p:sp>
      <p:pic>
        <p:nvPicPr>
          <p:cNvPr id="6" name="Picture 5" descr="A black and white logo&#10;&#10;Description automatically generated">
            <a:extLst>
              <a:ext uri="{FF2B5EF4-FFF2-40B4-BE49-F238E27FC236}">
                <a16:creationId xmlns:a16="http://schemas.microsoft.com/office/drawing/2014/main" id="{FD2D7FAB-6F54-8AAB-67BC-86066EAAF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DE2B0F4-AEB0-BEDE-7AD7-CD02AF20DBF9}"/>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FFCE535A-0D2A-B79C-C143-06F5DCCD5C4E}"/>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674D2CF1-356A-E9B7-0353-290DE69D3E13}"/>
              </a:ext>
            </a:extLst>
          </p:cNvPr>
          <p:cNvPicPr>
            <a:picLocks noGrp="1" noChangeAspect="1"/>
          </p:cNvPicPr>
          <p:nvPr>
            <p:ph idx="1"/>
          </p:nvPr>
        </p:nvPicPr>
        <p:blipFill>
          <a:blip r:embed="rId4"/>
          <a:srcRect l="21244" t="24210" r="9789" b="9737"/>
          <a:stretch/>
        </p:blipFill>
        <p:spPr>
          <a:xfrm>
            <a:off x="1840301" y="1698158"/>
            <a:ext cx="8499620" cy="4661912"/>
          </a:xfrm>
        </p:spPr>
      </p:pic>
    </p:spTree>
    <p:extLst>
      <p:ext uri="{BB962C8B-B14F-4D97-AF65-F5344CB8AC3E}">
        <p14:creationId xmlns:p14="http://schemas.microsoft.com/office/powerpoint/2010/main" val="4050700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59E97-A482-8EC4-7477-F3E74F94D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B8527-1108-3F36-EC4D-CF3F55B10F33}"/>
              </a:ext>
            </a:extLst>
          </p:cNvPr>
          <p:cNvSpPr>
            <a:spLocks noGrp="1"/>
          </p:cNvSpPr>
          <p:nvPr>
            <p:ph type="title"/>
          </p:nvPr>
        </p:nvSpPr>
        <p:spPr/>
        <p:txBody>
          <a:bodyPr/>
          <a:lstStyle/>
          <a:p>
            <a:r>
              <a:rPr lang="en-GB">
                <a:ea typeface="Calibri Light"/>
                <a:cs typeface="Calibri Light"/>
              </a:rPr>
              <a:t>Structured Specification</a:t>
            </a:r>
            <a:endParaRPr lang="en-US"/>
          </a:p>
        </p:txBody>
      </p:sp>
      <p:pic>
        <p:nvPicPr>
          <p:cNvPr id="6" name="Picture 5" descr="A black and white logo&#10;&#10;Description automatically generated">
            <a:extLst>
              <a:ext uri="{FF2B5EF4-FFF2-40B4-BE49-F238E27FC236}">
                <a16:creationId xmlns:a16="http://schemas.microsoft.com/office/drawing/2014/main" id="{C3A40074-7472-F159-5F76-D14D2C4B0E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DD4C5E8-5A7A-CC2C-B222-5A58A4D6CEF5}"/>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2F7CB7D7-6E6F-490F-381B-4CF2449924D8}"/>
              </a:ext>
            </a:extLst>
          </p:cNvPr>
          <p:cNvSpPr>
            <a:spLocks noGrp="1"/>
          </p:cNvSpPr>
          <p:nvPr>
            <p:ph type="ftr" sz="quarter" idx="11"/>
          </p:nvPr>
        </p:nvSpPr>
        <p:spPr/>
        <p:txBody>
          <a:bodyPr/>
          <a:lstStyle/>
          <a:p>
            <a:r>
              <a:rPr lang="en-US"/>
              <a:t>Software Engineering</a:t>
            </a:r>
          </a:p>
        </p:txBody>
      </p:sp>
      <p:pic>
        <p:nvPicPr>
          <p:cNvPr id="9" name="Content Placeholder 8" descr="A screenshot of a computer&#10;&#10;AI-generated content may be incorrect.">
            <a:extLst>
              <a:ext uri="{FF2B5EF4-FFF2-40B4-BE49-F238E27FC236}">
                <a16:creationId xmlns:a16="http://schemas.microsoft.com/office/drawing/2014/main" id="{7195743F-F802-FB82-9FB9-0AC96FE175AA}"/>
              </a:ext>
            </a:extLst>
          </p:cNvPr>
          <p:cNvPicPr>
            <a:picLocks noGrp="1" noChangeAspect="1"/>
          </p:cNvPicPr>
          <p:nvPr>
            <p:ph idx="1"/>
          </p:nvPr>
        </p:nvPicPr>
        <p:blipFill>
          <a:blip r:embed="rId4"/>
          <a:srcRect l="21395" t="48294" r="9462" b="20118"/>
          <a:stretch/>
        </p:blipFill>
        <p:spPr>
          <a:xfrm>
            <a:off x="357271" y="2380692"/>
            <a:ext cx="11495994" cy="2867070"/>
          </a:xfrm>
        </p:spPr>
      </p:pic>
    </p:spTree>
    <p:extLst>
      <p:ext uri="{BB962C8B-B14F-4D97-AF65-F5344CB8AC3E}">
        <p14:creationId xmlns:p14="http://schemas.microsoft.com/office/powerpoint/2010/main" val="2872910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01A3B-0CE5-A479-7EBE-A671D6CF3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938DA-9C4A-29AC-E745-F45BD90AA5D9}"/>
              </a:ext>
            </a:extLst>
          </p:cNvPr>
          <p:cNvSpPr>
            <a:spLocks noGrp="1"/>
          </p:cNvSpPr>
          <p:nvPr>
            <p:ph type="title"/>
          </p:nvPr>
        </p:nvSpPr>
        <p:spPr/>
        <p:txBody>
          <a:bodyPr/>
          <a:lstStyle/>
          <a:p>
            <a:r>
              <a:rPr lang="en-GB">
                <a:ea typeface="Calibri Light"/>
                <a:cs typeface="Calibri Light"/>
              </a:rPr>
              <a:t>Graphical Notation: Use cases</a:t>
            </a:r>
            <a:endParaRPr lang="en-US"/>
          </a:p>
        </p:txBody>
      </p:sp>
      <p:sp>
        <p:nvSpPr>
          <p:cNvPr id="3" name="Content Placeholder 2">
            <a:extLst>
              <a:ext uri="{FF2B5EF4-FFF2-40B4-BE49-F238E27FC236}">
                <a16:creationId xmlns:a16="http://schemas.microsoft.com/office/drawing/2014/main" id="{C79E4E7A-0E65-DD9D-297A-71D1B30407D9}"/>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Calibri"/>
                <a:cs typeface="Calibri"/>
              </a:rPr>
              <a:t>Will be covered in lab</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9F7ED6BA-6E90-129B-8000-92AD81C8D8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42D2B08-43AB-EC50-6CA9-C89527D8BDB3}"/>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50CC8EE0-05D8-F6E2-FABF-EC8AFD92944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13081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C0F88-39FB-16C9-99C6-2287107DA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F2642-D5EE-3307-8C31-5B892F53AFC1}"/>
              </a:ext>
            </a:extLst>
          </p:cNvPr>
          <p:cNvSpPr>
            <a:spLocks noGrp="1"/>
          </p:cNvSpPr>
          <p:nvPr>
            <p:ph type="title"/>
          </p:nvPr>
        </p:nvSpPr>
        <p:spPr/>
        <p:txBody>
          <a:bodyPr/>
          <a:lstStyle/>
          <a:p>
            <a:r>
              <a:rPr lang="en-GB">
                <a:ea typeface="Calibri Light"/>
                <a:cs typeface="Calibri Light"/>
              </a:rPr>
              <a:t>Mathematical models</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D8DECCE3-7161-78E5-D312-222C5DFF75F9}"/>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err="1">
                <a:ea typeface="+mn-lt"/>
                <a:cs typeface="+mn-lt"/>
              </a:rPr>
              <a:t>ResponseTime</a:t>
            </a:r>
            <a:r>
              <a:rPr lang="en-US">
                <a:ea typeface="+mn-lt"/>
                <a:cs typeface="+mn-lt"/>
              </a:rPr>
              <a:t> ≤ 2 seconds (Response time should be &lt;= 2 seconds)</a:t>
            </a:r>
            <a:endParaRPr lang="en-US" dirty="0">
              <a:ea typeface="Calibri"/>
              <a:cs typeface="Calibri"/>
            </a:endParaRPr>
          </a:p>
          <a:p>
            <a:r>
              <a:rPr lang="en-US">
                <a:ea typeface="+mn-lt"/>
                <a:cs typeface="+mn-lt"/>
              </a:rPr>
              <a:t>∀u(Login(u)⇒Registered(u)) (if user is logging in, they should be registered)</a:t>
            </a:r>
            <a:endParaRPr lang="en-US" dirty="0">
              <a:ea typeface="+mn-lt"/>
              <a:cs typeface="+mn-lt"/>
            </a:endParaRPr>
          </a:p>
          <a:p>
            <a:r>
              <a:rPr lang="en-US">
                <a:ea typeface="+mn-lt"/>
                <a:cs typeface="+mn-lt"/>
              </a:rPr>
              <a:t>Marks⊆{0,1,2,...,100} (Marks can take values between 0-100)</a:t>
            </a:r>
            <a:endParaRPr lang="en-US" dirty="0">
              <a:ea typeface="Calibri"/>
              <a:cs typeface="Calibri"/>
            </a:endParaRPr>
          </a:p>
          <a:p>
            <a:r>
              <a:rPr lang="en-US">
                <a:ea typeface="+mn-lt"/>
                <a:cs typeface="+mn-lt"/>
              </a:rPr>
              <a:t>S={</a:t>
            </a:r>
            <a:r>
              <a:rPr lang="en-US" err="1">
                <a:ea typeface="+mn-lt"/>
                <a:cs typeface="+mn-lt"/>
              </a:rPr>
              <a:t>Idle,Monitoring,Delivering,Alarm</a:t>
            </a:r>
            <a:r>
              <a:rPr lang="en-US">
                <a:ea typeface="+mn-lt"/>
                <a:cs typeface="+mn-lt"/>
              </a:rPr>
              <a:t>}, Glucose&gt;</a:t>
            </a:r>
            <a:r>
              <a:rPr lang="en-US" err="1">
                <a:ea typeface="+mn-lt"/>
                <a:cs typeface="+mn-lt"/>
              </a:rPr>
              <a:t>Threshold⇒State</a:t>
            </a:r>
            <a:r>
              <a:rPr lang="en-US">
                <a:ea typeface="+mn-lt"/>
                <a:cs typeface="+mn-lt"/>
              </a:rPr>
              <a:t>=Delivering (if glucose is greater than threshold, move to the state deliver)</a:t>
            </a:r>
            <a:endParaRPr lang="en-US">
              <a:ea typeface="Calibri"/>
              <a:cs typeface="Calibri"/>
            </a:endParaRPr>
          </a:p>
          <a:p>
            <a:r>
              <a:rPr lang="en-US" dirty="0">
                <a:ea typeface="+mn-lt"/>
                <a:cs typeface="+mn-lt"/>
              </a:rPr>
              <a:t>G(Glucose&gt;180⇒F&lt;5min </a:t>
            </a:r>
            <a:r>
              <a:rPr lang="en-US" dirty="0" err="1">
                <a:ea typeface="+mn-lt"/>
                <a:cs typeface="+mn-lt"/>
              </a:rPr>
              <a:t>DeliverInsulin</a:t>
            </a:r>
            <a:r>
              <a:rPr lang="en-US" dirty="0">
                <a:ea typeface="+mn-lt"/>
                <a:cs typeface="+mn-lt"/>
              </a:rPr>
              <a:t>)  (temporal logic)</a:t>
            </a:r>
            <a:endParaRPr lang="en-US" dirty="0">
              <a:ea typeface="Calibri"/>
              <a:cs typeface="Calibri"/>
            </a:endParaRPr>
          </a:p>
          <a:p>
            <a:endParaRPr lang="en-US" dirty="0">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1832A7EC-5F43-0A02-236E-B8C9F27408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40ED7C8-9412-4C2B-F9CA-7E8E49972A47}"/>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E6F6BD3A-247B-9CEE-4F04-905CD41BAD6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75052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31FD-C6E9-B1DE-00CA-BB5CEEB0A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051A1-F4DA-0ED6-4BC9-F67F8CB832D5}"/>
              </a:ext>
            </a:extLst>
          </p:cNvPr>
          <p:cNvSpPr>
            <a:spLocks noGrp="1"/>
          </p:cNvSpPr>
          <p:nvPr>
            <p:ph type="title"/>
          </p:nvPr>
        </p:nvSpPr>
        <p:spPr/>
        <p:txBody>
          <a:bodyPr/>
          <a:lstStyle/>
          <a:p>
            <a:r>
              <a:rPr lang="en-GB">
                <a:ea typeface="Calibri Light"/>
                <a:cs typeface="Calibri Light"/>
              </a:rPr>
              <a:t>Software Requirements Specification document</a:t>
            </a:r>
            <a:endParaRPr lang="en-US"/>
          </a:p>
        </p:txBody>
      </p:sp>
      <p:sp>
        <p:nvSpPr>
          <p:cNvPr id="3" name="Content Placeholder 2">
            <a:extLst>
              <a:ext uri="{FF2B5EF4-FFF2-40B4-BE49-F238E27FC236}">
                <a16:creationId xmlns:a16="http://schemas.microsoft.com/office/drawing/2014/main" id="{DC9789E3-2160-BF1A-B4B5-EA194432FD75}"/>
              </a:ext>
            </a:extLst>
          </p:cNvPr>
          <p:cNvSpPr>
            <a:spLocks noGrp="1"/>
          </p:cNvSpPr>
          <p:nvPr>
            <p:ph idx="1"/>
          </p:nvPr>
        </p:nvSpPr>
        <p:spPr>
          <a:xfrm>
            <a:off x="838200" y="1874739"/>
            <a:ext cx="10515600" cy="4488353"/>
          </a:xfrm>
        </p:spPr>
        <p:txBody>
          <a:bodyPr vert="horz" lIns="91440" tIns="45720" rIns="91440" bIns="45720" rtlCol="0" anchor="t">
            <a:normAutofit lnSpcReduction="10000"/>
          </a:bodyPr>
          <a:lstStyle/>
          <a:p>
            <a:r>
              <a:rPr lang="en-US" dirty="0">
                <a:highlight>
                  <a:srgbClr val="FFFF00"/>
                </a:highlight>
                <a:ea typeface="Calibri"/>
                <a:cs typeface="Calibri"/>
              </a:rPr>
              <a:t>Official statement</a:t>
            </a:r>
            <a:r>
              <a:rPr lang="en-US" dirty="0">
                <a:ea typeface="Calibri"/>
                <a:cs typeface="Calibri"/>
              </a:rPr>
              <a:t> of </a:t>
            </a:r>
            <a:r>
              <a:rPr lang="en-US" dirty="0">
                <a:highlight>
                  <a:srgbClr val="FFFF00"/>
                </a:highlight>
                <a:ea typeface="Calibri"/>
                <a:cs typeface="Calibri"/>
              </a:rPr>
              <a:t>what system developers should implement</a:t>
            </a:r>
          </a:p>
          <a:p>
            <a:r>
              <a:rPr lang="en-US" dirty="0">
                <a:ea typeface="Calibri"/>
                <a:cs typeface="Calibri"/>
              </a:rPr>
              <a:t>May include both </a:t>
            </a:r>
            <a:r>
              <a:rPr lang="en-US" dirty="0">
                <a:highlight>
                  <a:srgbClr val="FFFF00"/>
                </a:highlight>
                <a:ea typeface="Calibri"/>
                <a:cs typeface="Calibri"/>
              </a:rPr>
              <a:t>user requirements</a:t>
            </a:r>
            <a:r>
              <a:rPr lang="en-US" dirty="0">
                <a:ea typeface="Calibri"/>
                <a:cs typeface="Calibri"/>
              </a:rPr>
              <a:t> and </a:t>
            </a:r>
            <a:r>
              <a:rPr lang="en-US" dirty="0">
                <a:highlight>
                  <a:srgbClr val="FFFF00"/>
                </a:highlight>
                <a:ea typeface="Calibri"/>
                <a:cs typeface="Calibri"/>
              </a:rPr>
              <a:t>system requirements</a:t>
            </a:r>
          </a:p>
          <a:p>
            <a:r>
              <a:rPr lang="en-US" dirty="0">
                <a:ea typeface="Calibri"/>
                <a:cs typeface="Calibri"/>
              </a:rPr>
              <a:t>Essential when:</a:t>
            </a:r>
          </a:p>
          <a:p>
            <a:pPr lvl="1"/>
            <a:r>
              <a:rPr lang="en-US" dirty="0">
                <a:ea typeface="Calibri"/>
                <a:cs typeface="Calibri"/>
              </a:rPr>
              <a:t>System (software) development is </a:t>
            </a:r>
            <a:r>
              <a:rPr lang="en-US" dirty="0">
                <a:highlight>
                  <a:srgbClr val="FFFF00"/>
                </a:highlight>
                <a:ea typeface="Calibri"/>
                <a:cs typeface="Calibri"/>
              </a:rPr>
              <a:t>outsourced</a:t>
            </a:r>
          </a:p>
          <a:p>
            <a:pPr lvl="1"/>
            <a:r>
              <a:rPr lang="en-US" dirty="0">
                <a:highlight>
                  <a:srgbClr val="FFFF00"/>
                </a:highlight>
                <a:ea typeface="Calibri"/>
                <a:cs typeface="Calibri"/>
              </a:rPr>
              <a:t>Different teams</a:t>
            </a:r>
            <a:r>
              <a:rPr lang="en-US" dirty="0">
                <a:ea typeface="Calibri"/>
                <a:cs typeface="Calibri"/>
              </a:rPr>
              <a:t> develop different components</a:t>
            </a:r>
          </a:p>
          <a:p>
            <a:pPr lvl="1"/>
            <a:r>
              <a:rPr lang="en-US" dirty="0">
                <a:highlight>
                  <a:srgbClr val="FFFF00"/>
                </a:highlight>
                <a:ea typeface="Calibri"/>
                <a:cs typeface="Calibri"/>
              </a:rPr>
              <a:t>Detailed requirements</a:t>
            </a:r>
            <a:r>
              <a:rPr lang="en-US" dirty="0">
                <a:ea typeface="Calibri"/>
                <a:cs typeface="Calibri"/>
              </a:rPr>
              <a:t> analysis is mandatory</a:t>
            </a:r>
          </a:p>
          <a:p>
            <a:r>
              <a:rPr lang="en-US" dirty="0">
                <a:ea typeface="Calibri"/>
                <a:cs typeface="Calibri"/>
              </a:rPr>
              <a:t>Places where it is not needed: Software first approach, quick prototypes, Agile development (user stories)</a:t>
            </a:r>
          </a:p>
          <a:p>
            <a:r>
              <a:rPr lang="en-US" dirty="0">
                <a:ea typeface="Calibri"/>
                <a:cs typeface="Calibri"/>
              </a:rPr>
              <a:t>Still a </a:t>
            </a:r>
            <a:r>
              <a:rPr lang="en-US" dirty="0">
                <a:highlight>
                  <a:srgbClr val="FFFF00"/>
                </a:highlight>
                <a:ea typeface="Calibri"/>
                <a:cs typeface="Calibri"/>
              </a:rPr>
              <a:t>good practice to have a condensed SRS</a:t>
            </a:r>
            <a:r>
              <a:rPr lang="en-US" dirty="0">
                <a:ea typeface="Calibri"/>
                <a:cs typeface="Calibri"/>
              </a:rPr>
              <a:t>, even when focused on short increments/ sprints, to keep track of overall system requirements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227EABA-41E7-B192-1AEA-EC7F6F4456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65648C3-15B4-7B43-B9C4-A4744D317AF4}"/>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B74A8679-5FA9-B486-B8D0-49325879810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6133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9D468-BD77-9926-33F1-267271FE9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E701E-39C2-FA97-BD5D-6BF1E324A5D8}"/>
              </a:ext>
            </a:extLst>
          </p:cNvPr>
          <p:cNvSpPr>
            <a:spLocks noGrp="1"/>
          </p:cNvSpPr>
          <p:nvPr>
            <p:ph type="title"/>
          </p:nvPr>
        </p:nvSpPr>
        <p:spPr/>
        <p:txBody>
          <a:bodyPr/>
          <a:lstStyle/>
          <a:p>
            <a:r>
              <a:rPr lang="en-GB">
                <a:ea typeface="Calibri Light"/>
                <a:cs typeface="Calibri Light"/>
              </a:rPr>
              <a:t>Users of SRS document</a:t>
            </a:r>
            <a:endParaRPr lang="en-US"/>
          </a:p>
        </p:txBody>
      </p:sp>
      <p:pic>
        <p:nvPicPr>
          <p:cNvPr id="6" name="Picture 5" descr="A black and white logo&#10;&#10;Description automatically generated">
            <a:extLst>
              <a:ext uri="{FF2B5EF4-FFF2-40B4-BE49-F238E27FC236}">
                <a16:creationId xmlns:a16="http://schemas.microsoft.com/office/drawing/2014/main" id="{649B62CC-3F0D-7FB2-3B13-F98F18CC9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41B1590-0364-9F01-2A45-1A982614AD86}"/>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A981A205-7A96-58CB-364A-1FDB49B237B4}"/>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6FEEE0EC-7B71-2FF7-5489-15E6D02E5CA2}"/>
              </a:ext>
            </a:extLst>
          </p:cNvPr>
          <p:cNvPicPr>
            <a:picLocks noGrp="1" noChangeAspect="1"/>
          </p:cNvPicPr>
          <p:nvPr>
            <p:ph idx="1"/>
          </p:nvPr>
        </p:nvPicPr>
        <p:blipFill>
          <a:blip r:embed="rId4"/>
          <a:srcRect l="45753" t="19512" r="19629" b="10023"/>
          <a:stretch/>
        </p:blipFill>
        <p:spPr>
          <a:xfrm>
            <a:off x="3714324" y="1257689"/>
            <a:ext cx="4894703" cy="5466679"/>
          </a:xfrm>
        </p:spPr>
      </p:pic>
    </p:spTree>
    <p:extLst>
      <p:ext uri="{BB962C8B-B14F-4D97-AF65-F5344CB8AC3E}">
        <p14:creationId xmlns:p14="http://schemas.microsoft.com/office/powerpoint/2010/main" val="33705550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7134E-2866-8600-3E66-FC45C504E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D7651-53C2-4A2D-46E8-B1B7EA6B7A6C}"/>
              </a:ext>
            </a:extLst>
          </p:cNvPr>
          <p:cNvSpPr>
            <a:spLocks noGrp="1"/>
          </p:cNvSpPr>
          <p:nvPr>
            <p:ph type="title"/>
          </p:nvPr>
        </p:nvSpPr>
        <p:spPr/>
        <p:txBody>
          <a:bodyPr/>
          <a:lstStyle/>
          <a:p>
            <a:r>
              <a:rPr lang="en-GB">
                <a:ea typeface="Calibri Light"/>
                <a:cs typeface="Calibri Light"/>
              </a:rPr>
              <a:t>Software Requirements Specification document</a:t>
            </a:r>
            <a:endParaRPr lang="en-US"/>
          </a:p>
        </p:txBody>
      </p:sp>
      <p:sp>
        <p:nvSpPr>
          <p:cNvPr id="3" name="Content Placeholder 2">
            <a:extLst>
              <a:ext uri="{FF2B5EF4-FFF2-40B4-BE49-F238E27FC236}">
                <a16:creationId xmlns:a16="http://schemas.microsoft.com/office/drawing/2014/main" id="{120C1608-77CC-CD62-BA4D-55E40DF7F029}"/>
              </a:ext>
            </a:extLst>
          </p:cNvPr>
          <p:cNvSpPr>
            <a:spLocks noGrp="1"/>
          </p:cNvSpPr>
          <p:nvPr>
            <p:ph idx="1"/>
          </p:nvPr>
        </p:nvSpPr>
        <p:spPr>
          <a:xfrm>
            <a:off x="838200" y="1874739"/>
            <a:ext cx="10515600" cy="4488353"/>
          </a:xfrm>
        </p:spPr>
        <p:txBody>
          <a:bodyPr vert="horz" lIns="91440" tIns="45720" rIns="91440" bIns="45720" rtlCol="0" anchor="t">
            <a:normAutofit/>
          </a:bodyPr>
          <a:lstStyle/>
          <a:p>
            <a:r>
              <a:rPr lang="en-US">
                <a:ea typeface="Calibri"/>
                <a:cs typeface="Calibri"/>
              </a:rPr>
              <a:t>Diversity of the users means this document can be a compromise</a:t>
            </a:r>
          </a:p>
          <a:p>
            <a:r>
              <a:rPr lang="en-US">
                <a:ea typeface="Calibri"/>
                <a:cs typeface="Calibri"/>
              </a:rPr>
              <a:t>The level of detail of the document depends on the type of system being developed (critical vs. non-critical), and the development process used (many teams/ outsourcing vs. in-house, iterative)</a:t>
            </a:r>
          </a:p>
          <a:p>
            <a:r>
              <a:rPr lang="en-US">
                <a:ea typeface="Calibri"/>
                <a:cs typeface="Calibri"/>
              </a:rPr>
              <a:t>One possible standard for SRS is IEEE 1998-830 (it is generic but can be adapted to specific uses)</a:t>
            </a:r>
          </a:p>
          <a:p>
            <a:endParaRPr lang="en-US">
              <a:ea typeface="Calibri"/>
              <a:cs typeface="Calibri"/>
            </a:endParaRPr>
          </a:p>
          <a:p>
            <a:endParaRPr lang="en-US">
              <a:ea typeface="Calibri"/>
              <a:cs typeface="Calibri"/>
            </a:endParaRPr>
          </a:p>
          <a:p>
            <a:pPr marL="457200" lvl="1" indent="0">
              <a:buNone/>
            </a:pPr>
            <a:endParaRPr lang="en-US">
              <a:ea typeface="Calibri"/>
              <a:cs typeface="Calibri"/>
            </a:endParaRPr>
          </a:p>
          <a:p>
            <a:endParaRPr lang="en-US">
              <a:ea typeface="Calibri"/>
              <a:cs typeface="Calibri"/>
            </a:endParaRPr>
          </a:p>
          <a:p>
            <a:endParaRPr lang="en-US">
              <a:ea typeface="Calibri"/>
              <a:cs typeface="Calibri"/>
            </a:endParaRPr>
          </a:p>
          <a:p>
            <a:pPr lvl="1"/>
            <a:endParaRPr lang="en-US">
              <a:ea typeface="Calibri"/>
              <a:cs typeface="Calibri"/>
            </a:endParaRPr>
          </a:p>
          <a:p>
            <a:endParaRPr lang="en-US">
              <a:ea typeface="Calibri"/>
              <a:cs typeface="Calibri"/>
            </a:endParaRPr>
          </a:p>
          <a:p>
            <a:pPr lvl="1"/>
            <a:endParaRPr lang="en-GB">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C4806735-DE24-C59E-2806-2A7B766AD1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D489906-42A3-2487-B658-92FB60855D60}"/>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8B6718E3-EFF2-D0C4-3063-D5A2A8444A6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362742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9CA7-62D8-121F-5EB9-8409ED9D6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64A09-204B-6170-38F6-6F7F434A50AC}"/>
              </a:ext>
            </a:extLst>
          </p:cNvPr>
          <p:cNvSpPr>
            <a:spLocks noGrp="1"/>
          </p:cNvSpPr>
          <p:nvPr>
            <p:ph type="title"/>
          </p:nvPr>
        </p:nvSpPr>
        <p:spPr/>
        <p:txBody>
          <a:bodyPr/>
          <a:lstStyle/>
          <a:p>
            <a:r>
              <a:rPr lang="en-GB">
                <a:ea typeface="Calibri Light"/>
                <a:cs typeface="Calibri Light"/>
              </a:rPr>
              <a:t>Structure of SRS (as per IEEE 1998-830) SOM. pg. 128</a:t>
            </a:r>
            <a:endParaRPr lang="en-US"/>
          </a:p>
        </p:txBody>
      </p:sp>
      <p:pic>
        <p:nvPicPr>
          <p:cNvPr id="6" name="Picture 5" descr="A black and white logo&#10;&#10;Description automatically generated">
            <a:extLst>
              <a:ext uri="{FF2B5EF4-FFF2-40B4-BE49-F238E27FC236}">
                <a16:creationId xmlns:a16="http://schemas.microsoft.com/office/drawing/2014/main" id="{79F4F917-D853-F1FC-0940-298E18C73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B6F3172-FF7B-EDBE-27B2-B3DFE8C6C56F}"/>
              </a:ext>
            </a:extLst>
          </p:cNvPr>
          <p:cNvSpPr>
            <a:spLocks noGrp="1"/>
          </p:cNvSpPr>
          <p:nvPr>
            <p:ph type="sldNum" sz="quarter" idx="12"/>
          </p:nvPr>
        </p:nvSpPr>
        <p:spPr/>
        <p:txBody>
          <a:bodyPr/>
          <a:lstStyle/>
          <a:p>
            <a:fld id="{008559AE-1842-40A5-A2A9-0518F39FD1A9}" type="slidenum">
              <a:rPr lang="en-US" smtClean="0"/>
              <a:t>42</a:t>
            </a:fld>
            <a:endParaRPr lang="en-GB"/>
          </a:p>
        </p:txBody>
      </p:sp>
      <p:sp>
        <p:nvSpPr>
          <p:cNvPr id="7" name="Footer Placeholder 6">
            <a:extLst>
              <a:ext uri="{FF2B5EF4-FFF2-40B4-BE49-F238E27FC236}">
                <a16:creationId xmlns:a16="http://schemas.microsoft.com/office/drawing/2014/main" id="{6D204BCB-F755-E0EA-0F77-876F2D3AB597}"/>
              </a:ext>
            </a:extLst>
          </p:cNvPr>
          <p:cNvSpPr>
            <a:spLocks noGrp="1"/>
          </p:cNvSpPr>
          <p:nvPr>
            <p:ph type="ftr" sz="quarter" idx="11"/>
          </p:nvPr>
        </p:nvSpPr>
        <p:spPr/>
        <p:txBody>
          <a:bodyPr/>
          <a:lstStyle/>
          <a:p>
            <a:r>
              <a:rPr lang="en-US"/>
              <a:t>Software Engineering</a:t>
            </a:r>
          </a:p>
        </p:txBody>
      </p:sp>
      <p:pic>
        <p:nvPicPr>
          <p:cNvPr id="5" name="Content Placeholder 4" descr="A screenshot of a computer&#10;&#10;AI-generated content may be incorrect.">
            <a:extLst>
              <a:ext uri="{FF2B5EF4-FFF2-40B4-BE49-F238E27FC236}">
                <a16:creationId xmlns:a16="http://schemas.microsoft.com/office/drawing/2014/main" id="{45FE5155-5B01-529F-5E0E-124D97B38444}"/>
              </a:ext>
            </a:extLst>
          </p:cNvPr>
          <p:cNvPicPr>
            <a:picLocks noGrp="1" noChangeAspect="1"/>
          </p:cNvPicPr>
          <p:nvPr>
            <p:ph idx="1"/>
          </p:nvPr>
        </p:nvPicPr>
        <p:blipFill>
          <a:blip r:embed="rId4"/>
          <a:srcRect l="33333" t="21939" r="20543" b="7082"/>
          <a:stretch/>
        </p:blipFill>
        <p:spPr>
          <a:xfrm>
            <a:off x="2853252" y="1032879"/>
            <a:ext cx="6753195" cy="5818548"/>
          </a:xfrm>
        </p:spPr>
      </p:pic>
    </p:spTree>
    <p:extLst>
      <p:ext uri="{BB962C8B-B14F-4D97-AF65-F5344CB8AC3E}">
        <p14:creationId xmlns:p14="http://schemas.microsoft.com/office/powerpoint/2010/main" val="1500106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06E37-87F1-AC20-72FB-2A2C17D1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2DAEA-B1E4-AF1D-9DCC-AEB20C430C4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CD8EBB5-37D0-C01C-F305-06E1A81FA5D6}"/>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Requirements Engineering </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27A97DE-5F11-E65F-1CAE-A09954943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BB87A94-F1F3-59E2-55A9-C6F5D1367073}"/>
              </a:ext>
            </a:extLst>
          </p:cNvPr>
          <p:cNvSpPr>
            <a:spLocks noGrp="1"/>
          </p:cNvSpPr>
          <p:nvPr>
            <p:ph type="sldNum" sz="quarter" idx="12"/>
          </p:nvPr>
        </p:nvSpPr>
        <p:spPr/>
        <p:txBody>
          <a:bodyPr/>
          <a:lstStyle/>
          <a:p>
            <a:fld id="{008559AE-1842-40A5-A2A9-0518F39FD1A9}" type="slidenum">
              <a:rPr lang="en-US" smtClean="0"/>
              <a:t>43</a:t>
            </a:fld>
            <a:endParaRPr lang="en-GB"/>
          </a:p>
        </p:txBody>
      </p:sp>
      <p:sp>
        <p:nvSpPr>
          <p:cNvPr id="7" name="Footer Placeholder 6">
            <a:extLst>
              <a:ext uri="{FF2B5EF4-FFF2-40B4-BE49-F238E27FC236}">
                <a16:creationId xmlns:a16="http://schemas.microsoft.com/office/drawing/2014/main" id="{26D720D2-929C-9827-AFD1-1A7322C969B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24505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3.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42</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Software Engineering (CS3201) Software Requirements </vt:lpstr>
      <vt:lpstr> </vt:lpstr>
      <vt:lpstr>Introduction (formal definition)</vt:lpstr>
      <vt:lpstr>Functional Requirements</vt:lpstr>
      <vt:lpstr>Functional Requirements</vt:lpstr>
      <vt:lpstr>Requirements this and requirements that!!</vt:lpstr>
      <vt:lpstr>Requirements this and requirements that!!</vt:lpstr>
      <vt:lpstr>Functional Requirements</vt:lpstr>
      <vt:lpstr>Functional Requirements- Example on imprecision</vt:lpstr>
      <vt:lpstr>Functional Requirements</vt:lpstr>
      <vt:lpstr>Functional Requirements</vt:lpstr>
      <vt:lpstr>Functional Requirements – Example of inconsistent needs</vt:lpstr>
      <vt:lpstr>Non-functional requirements</vt:lpstr>
      <vt:lpstr>Non-functional requirements</vt:lpstr>
      <vt:lpstr>Non-functional requirements</vt:lpstr>
      <vt:lpstr>Types of non-functional requirements</vt:lpstr>
      <vt:lpstr>Non-functional requirements</vt:lpstr>
      <vt:lpstr>Non-functional requirements</vt:lpstr>
      <vt:lpstr>Non-functional requirements</vt:lpstr>
      <vt:lpstr>Examples of possible non-functional requirements for Mentcare (from textbook)</vt:lpstr>
      <vt:lpstr>Example case study: Smart Home Automation System</vt:lpstr>
      <vt:lpstr>Example case study: Smart Home Automation System</vt:lpstr>
      <vt:lpstr>Example case study: Smart Home Automation System</vt:lpstr>
      <vt:lpstr>Non-functional requirements</vt:lpstr>
      <vt:lpstr>Non-functional requirements – possible metrics</vt:lpstr>
      <vt:lpstr>Differentiate between functional and non-functional</vt:lpstr>
      <vt:lpstr>What vs. How - Example</vt:lpstr>
      <vt:lpstr>Differentiate between functional and non-functional</vt:lpstr>
      <vt:lpstr> </vt:lpstr>
      <vt:lpstr>Introduction</vt:lpstr>
      <vt:lpstr>Notations for writing System Requirements</vt:lpstr>
      <vt:lpstr>Natural language specification Guidelines (SOM. Pg. 122)</vt:lpstr>
      <vt:lpstr>Structured Specification</vt:lpstr>
      <vt:lpstr>Information to be included in structured format</vt:lpstr>
      <vt:lpstr>Structured Specification</vt:lpstr>
      <vt:lpstr>Structured Specification</vt:lpstr>
      <vt:lpstr>Graphical Notation: Use cases</vt:lpstr>
      <vt:lpstr>Mathematical models</vt:lpstr>
      <vt:lpstr>Software Requirements Specification document</vt:lpstr>
      <vt:lpstr>Users of SRS document</vt:lpstr>
      <vt:lpstr>Software Requirements Specification document</vt:lpstr>
      <vt:lpstr>Structure of SRS (as per IEEE 1998-830) SOM. pg. 128</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106</cp:revision>
  <dcterms:created xsi:type="dcterms:W3CDTF">2022-08-02T06:42:39Z</dcterms:created>
  <dcterms:modified xsi:type="dcterms:W3CDTF">2026-02-27T07:32:22Z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