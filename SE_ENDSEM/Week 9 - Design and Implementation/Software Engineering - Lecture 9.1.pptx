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0"/>
  </p:notesMasterIdLst>
  <p:sldIdLst>
    <p:sldId id="256" r:id="rId5"/>
    <p:sldId id="595" r:id="rId6"/>
    <p:sldId id="426" r:id="rId7"/>
    <p:sldId id="596" r:id="rId8"/>
    <p:sldId id="597" r:id="rId9"/>
    <p:sldId id="574" r:id="rId10"/>
    <p:sldId id="600" r:id="rId11"/>
    <p:sldId id="508" r:id="rId12"/>
    <p:sldId id="505" r:id="rId13"/>
    <p:sldId id="575" r:id="rId14"/>
    <p:sldId id="536" r:id="rId15"/>
    <p:sldId id="576" r:id="rId16"/>
    <p:sldId id="577" r:id="rId17"/>
    <p:sldId id="578" r:id="rId18"/>
    <p:sldId id="579" r:id="rId19"/>
    <p:sldId id="580" r:id="rId20"/>
    <p:sldId id="581" r:id="rId21"/>
    <p:sldId id="582" r:id="rId22"/>
    <p:sldId id="584" r:id="rId23"/>
    <p:sldId id="583" r:id="rId24"/>
    <p:sldId id="598" r:id="rId25"/>
    <p:sldId id="585" r:id="rId26"/>
    <p:sldId id="586" r:id="rId27"/>
    <p:sldId id="588" r:id="rId28"/>
    <p:sldId id="573" r:id="rId29"/>
    <p:sldId id="587" r:id="rId30"/>
    <p:sldId id="592" r:id="rId31"/>
    <p:sldId id="593" r:id="rId32"/>
    <p:sldId id="599" r:id="rId33"/>
    <p:sldId id="594" r:id="rId34"/>
    <p:sldId id="601" r:id="rId35"/>
    <p:sldId id="589" r:id="rId36"/>
    <p:sldId id="590" r:id="rId37"/>
    <p:sldId id="602" r:id="rId38"/>
    <p:sldId id="59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72D46-8691-ADE4-3D93-9A577A17C00F}" v="116" dt="2026-03-29T12:09:48.291"/>
    <p1510:client id="{DFF81450-7DF1-A9EC-64D6-031C5D175085}" v="194" dt="2026-03-31T12:00:01.1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7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DFF81450-7DF1-A9EC-64D6-031C5D175085}"/>
    <pc:docChg chg="addSld delSld modSld sldOrd">
      <pc:chgData name="Avinash Arun Chauhan" userId="S::avinash.chauhan@mahindrauniversity.edu.in::241b5f3e-36f4-4c61-9553-90e6a1c1b8a6" providerId="AD" clId="Web-{DFF81450-7DF1-A9EC-64D6-031C5D175085}" dt="2026-03-31T12:00:01.111" v="192" actId="20577"/>
      <pc:docMkLst>
        <pc:docMk/>
      </pc:docMkLst>
      <pc:sldChg chg="add del mod modShow">
        <pc:chgData name="Avinash Arun Chauhan" userId="S::avinash.chauhan@mahindrauniversity.edu.in::241b5f3e-36f4-4c61-9553-90e6a1c1b8a6" providerId="AD" clId="Web-{DFF81450-7DF1-A9EC-64D6-031C5D175085}" dt="2026-03-31T11:55:43.808" v="119"/>
        <pc:sldMkLst>
          <pc:docMk/>
          <pc:sldMk cId="3444865380" sldId="590"/>
        </pc:sldMkLst>
      </pc:sldChg>
      <pc:sldChg chg="modSp">
        <pc:chgData name="Avinash Arun Chauhan" userId="S::avinash.chauhan@mahindrauniversity.edu.in::241b5f3e-36f4-4c61-9553-90e6a1c1b8a6" providerId="AD" clId="Web-{DFF81450-7DF1-A9EC-64D6-031C5D175085}" dt="2026-03-31T11:50:59.151" v="30" actId="20577"/>
        <pc:sldMkLst>
          <pc:docMk/>
          <pc:sldMk cId="723050566" sldId="599"/>
        </pc:sldMkLst>
        <pc:spChg chg="mod">
          <ac:chgData name="Avinash Arun Chauhan" userId="S::avinash.chauhan@mahindrauniversity.edu.in::241b5f3e-36f4-4c61-9553-90e6a1c1b8a6" providerId="AD" clId="Web-{DFF81450-7DF1-A9EC-64D6-031C5D175085}" dt="2026-03-31T11:50:59.151" v="30" actId="20577"/>
          <ac:spMkLst>
            <pc:docMk/>
            <pc:sldMk cId="723050566" sldId="599"/>
            <ac:spMk id="3" creationId="{433B0058-2DF5-3EDF-4FA4-8B04C1486768}"/>
          </ac:spMkLst>
        </pc:spChg>
      </pc:sldChg>
      <pc:sldChg chg="modSp add ord replId">
        <pc:chgData name="Avinash Arun Chauhan" userId="S::avinash.chauhan@mahindrauniversity.edu.in::241b5f3e-36f4-4c61-9553-90e6a1c1b8a6" providerId="AD" clId="Web-{DFF81450-7DF1-A9EC-64D6-031C5D175085}" dt="2026-03-31T11:52:26.580" v="115" actId="20577"/>
        <pc:sldMkLst>
          <pc:docMk/>
          <pc:sldMk cId="3541571096" sldId="601"/>
        </pc:sldMkLst>
        <pc:spChg chg="mod">
          <ac:chgData name="Avinash Arun Chauhan" userId="S::avinash.chauhan@mahindrauniversity.edu.in::241b5f3e-36f4-4c61-9553-90e6a1c1b8a6" providerId="AD" clId="Web-{DFF81450-7DF1-A9EC-64D6-031C5D175085}" dt="2026-03-31T11:52:26.580" v="115" actId="20577"/>
          <ac:spMkLst>
            <pc:docMk/>
            <pc:sldMk cId="3541571096" sldId="601"/>
            <ac:spMk id="3" creationId="{3FDB4767-823E-6E46-04CA-D29D5CC720B9}"/>
          </ac:spMkLst>
        </pc:spChg>
      </pc:sldChg>
      <pc:sldChg chg="modSp add replId">
        <pc:chgData name="Avinash Arun Chauhan" userId="S::avinash.chauhan@mahindrauniversity.edu.in::241b5f3e-36f4-4c61-9553-90e6a1c1b8a6" providerId="AD" clId="Web-{DFF81450-7DF1-A9EC-64D6-031C5D175085}" dt="2026-03-31T12:00:01.111" v="192" actId="20577"/>
        <pc:sldMkLst>
          <pc:docMk/>
          <pc:sldMk cId="2360045366" sldId="602"/>
        </pc:sldMkLst>
        <pc:spChg chg="mod">
          <ac:chgData name="Avinash Arun Chauhan" userId="S::avinash.chauhan@mahindrauniversity.edu.in::241b5f3e-36f4-4c61-9553-90e6a1c1b8a6" providerId="AD" clId="Web-{DFF81450-7DF1-A9EC-64D6-031C5D175085}" dt="2026-03-31T12:00:01.111" v="192" actId="20577"/>
          <ac:spMkLst>
            <pc:docMk/>
            <pc:sldMk cId="2360045366" sldId="602"/>
            <ac:spMk id="2" creationId="{F4D62B75-F8BD-B951-4EC3-41D56756B021}"/>
          </ac:spMkLst>
        </pc:spChg>
        <pc:spChg chg="mod">
          <ac:chgData name="Avinash Arun Chauhan" userId="S::avinash.chauhan@mahindrauniversity.edu.in::241b5f3e-36f4-4c61-9553-90e6a1c1b8a6" providerId="AD" clId="Web-{DFF81450-7DF1-A9EC-64D6-031C5D175085}" dt="2026-03-31T11:59:57.518" v="186" actId="20577"/>
          <ac:spMkLst>
            <pc:docMk/>
            <pc:sldMk cId="2360045366" sldId="602"/>
            <ac:spMk id="3" creationId="{64C01328-BD98-3E4F-C9B9-12567C9AA59F}"/>
          </ac:spMkLst>
        </pc:spChg>
      </pc:sldChg>
      <pc:sldChg chg="add del replId">
        <pc:chgData name="Avinash Arun Chauhan" userId="S::avinash.chauhan@mahindrauniversity.edu.in::241b5f3e-36f4-4c61-9553-90e6a1c1b8a6" providerId="AD" clId="Web-{DFF81450-7DF1-A9EC-64D6-031C5D175085}" dt="2026-03-31T11:56:01.309" v="123"/>
        <pc:sldMkLst>
          <pc:docMk/>
          <pc:sldMk cId="3384073382" sldId="602"/>
        </pc:sldMkLst>
      </pc:sldChg>
      <pc:sldChg chg="add del replId">
        <pc:chgData name="Avinash Arun Chauhan" userId="S::avinash.chauhan@mahindrauniversity.edu.in::241b5f3e-36f4-4c61-9553-90e6a1c1b8a6" providerId="AD" clId="Web-{DFF81450-7DF1-A9EC-64D6-031C5D175085}" dt="2026-03-31T11:55:52.449" v="121"/>
        <pc:sldMkLst>
          <pc:docMk/>
          <pc:sldMk cId="3924920630" sldId="602"/>
        </pc:sldMkLst>
      </pc:sldChg>
    </pc:docChg>
  </pc:docChgLst>
  <pc:docChgLst>
    <pc:chgData name="Avinash Arun Chauhan" userId="S::avinash.chauhan@mahindrauniversity.edu.in::241b5f3e-36f4-4c61-9553-90e6a1c1b8a6" providerId="AD" clId="Web-{355227E8-4698-8FBB-5BB8-AE9455FCB66C}"/>
    <pc:docChg chg="modSld">
      <pc:chgData name="Avinash Arun Chauhan" userId="S::avinash.chauhan@mahindrauniversity.edu.in::241b5f3e-36f4-4c61-9553-90e6a1c1b8a6" providerId="AD" clId="Web-{355227E8-4698-8FBB-5BB8-AE9455FCB66C}" dt="2026-03-28T10:54:01.248" v="100" actId="20577"/>
      <pc:docMkLst>
        <pc:docMk/>
      </pc:docMkLst>
      <pc:sldChg chg="modSp">
        <pc:chgData name="Avinash Arun Chauhan" userId="S::avinash.chauhan@mahindrauniversity.edu.in::241b5f3e-36f4-4c61-9553-90e6a1c1b8a6" providerId="AD" clId="Web-{355227E8-4698-8FBB-5BB8-AE9455FCB66C}" dt="2026-03-28T10:48:12.565" v="24" actId="20577"/>
        <pc:sldMkLst>
          <pc:docMk/>
          <pc:sldMk cId="3811169343" sldId="426"/>
        </pc:sldMkLst>
        <pc:spChg chg="mod">
          <ac:chgData name="Avinash Arun Chauhan" userId="S::avinash.chauhan@mahindrauniversity.edu.in::241b5f3e-36f4-4c61-9553-90e6a1c1b8a6" providerId="AD" clId="Web-{355227E8-4698-8FBB-5BB8-AE9455FCB66C}" dt="2026-03-28T10:48:12.565" v="24"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355227E8-4698-8FBB-5BB8-AE9455FCB66C}" dt="2026-03-28T10:54:01.248" v="100" actId="20577"/>
        <pc:sldMkLst>
          <pc:docMk/>
          <pc:sldMk cId="3060705436" sldId="578"/>
        </pc:sldMkLst>
        <pc:spChg chg="mod">
          <ac:chgData name="Avinash Arun Chauhan" userId="S::avinash.chauhan@mahindrauniversity.edu.in::241b5f3e-36f4-4c61-9553-90e6a1c1b8a6" providerId="AD" clId="Web-{355227E8-4698-8FBB-5BB8-AE9455FCB66C}" dt="2026-03-28T10:54:01.248" v="100" actId="20577"/>
          <ac:spMkLst>
            <pc:docMk/>
            <pc:sldMk cId="3060705436" sldId="578"/>
            <ac:spMk id="3" creationId="{D2F75FF2-1B1C-4A68-E1FC-8B090AB0BF92}"/>
          </ac:spMkLst>
        </pc:spChg>
      </pc:sldChg>
    </pc:docChg>
  </pc:docChgLst>
  <pc:docChgLst>
    <pc:chgData name="Avinash Arun Chauhan" userId="S::avinash.chauhan@mahindrauniversity.edu.in::241b5f3e-36f4-4c61-9553-90e6a1c1b8a6" providerId="AD" clId="Web-{99D72D46-8691-ADE4-3D93-9A577A17C00F}"/>
    <pc:docChg chg="modSld">
      <pc:chgData name="Avinash Arun Chauhan" userId="S::avinash.chauhan@mahindrauniversity.edu.in::241b5f3e-36f4-4c61-9553-90e6a1c1b8a6" providerId="AD" clId="Web-{99D72D46-8691-ADE4-3D93-9A577A17C00F}" dt="2026-03-29T12:09:48.291" v="115" actId="20577"/>
      <pc:docMkLst>
        <pc:docMk/>
      </pc:docMkLst>
      <pc:sldChg chg="modSp">
        <pc:chgData name="Avinash Arun Chauhan" userId="S::avinash.chauhan@mahindrauniversity.edu.in::241b5f3e-36f4-4c61-9553-90e6a1c1b8a6" providerId="AD" clId="Web-{99D72D46-8691-ADE4-3D93-9A577A17C00F}" dt="2026-03-29T12:06:40.001" v="25" actId="20577"/>
        <pc:sldMkLst>
          <pc:docMk/>
          <pc:sldMk cId="883900188" sldId="505"/>
        </pc:sldMkLst>
        <pc:spChg chg="mod">
          <ac:chgData name="Avinash Arun Chauhan" userId="S::avinash.chauhan@mahindrauniversity.edu.in::241b5f3e-36f4-4c61-9553-90e6a1c1b8a6" providerId="AD" clId="Web-{99D72D46-8691-ADE4-3D93-9A577A17C00F}" dt="2026-03-29T12:06:40.001" v="25"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99D72D46-8691-ADE4-3D93-9A577A17C00F}" dt="2026-03-29T12:05:56.201" v="0" actId="20577"/>
        <pc:sldMkLst>
          <pc:docMk/>
          <pc:sldMk cId="978924540" sldId="574"/>
        </pc:sldMkLst>
        <pc:spChg chg="mod">
          <ac:chgData name="Avinash Arun Chauhan" userId="S::avinash.chauhan@mahindrauniversity.edu.in::241b5f3e-36f4-4c61-9553-90e6a1c1b8a6" providerId="AD" clId="Web-{99D72D46-8691-ADE4-3D93-9A577A17C00F}" dt="2026-03-29T12:05:56.201" v="0" actId="20577"/>
          <ac:spMkLst>
            <pc:docMk/>
            <pc:sldMk cId="978924540" sldId="574"/>
            <ac:spMk id="3" creationId="{744E3821-D3B0-85B2-8205-9E10F7C88307}"/>
          </ac:spMkLst>
        </pc:spChg>
      </pc:sldChg>
      <pc:sldChg chg="modSp">
        <pc:chgData name="Avinash Arun Chauhan" userId="S::avinash.chauhan@mahindrauniversity.edu.in::241b5f3e-36f4-4c61-9553-90e6a1c1b8a6" providerId="AD" clId="Web-{99D72D46-8691-ADE4-3D93-9A577A17C00F}" dt="2026-03-29T12:07:25.300" v="31" actId="20577"/>
        <pc:sldMkLst>
          <pc:docMk/>
          <pc:sldMk cId="1709140773" sldId="575"/>
        </pc:sldMkLst>
        <pc:spChg chg="mod">
          <ac:chgData name="Avinash Arun Chauhan" userId="S::avinash.chauhan@mahindrauniversity.edu.in::241b5f3e-36f4-4c61-9553-90e6a1c1b8a6" providerId="AD" clId="Web-{99D72D46-8691-ADE4-3D93-9A577A17C00F}" dt="2026-03-29T12:07:25.300" v="31" actId="20577"/>
          <ac:spMkLst>
            <pc:docMk/>
            <pc:sldMk cId="1709140773" sldId="575"/>
            <ac:spMk id="2" creationId="{3FA2FC6C-21EB-72F6-3DF3-30EEBF755A7F}"/>
          </ac:spMkLst>
        </pc:spChg>
      </pc:sldChg>
      <pc:sldChg chg="modSp">
        <pc:chgData name="Avinash Arun Chauhan" userId="S::avinash.chauhan@mahindrauniversity.edu.in::241b5f3e-36f4-4c61-9553-90e6a1c1b8a6" providerId="AD" clId="Web-{99D72D46-8691-ADE4-3D93-9A577A17C00F}" dt="2026-03-29T12:07:53.192" v="47" actId="20577"/>
        <pc:sldMkLst>
          <pc:docMk/>
          <pc:sldMk cId="3060705436" sldId="578"/>
        </pc:sldMkLst>
        <pc:spChg chg="mod">
          <ac:chgData name="Avinash Arun Chauhan" userId="S::avinash.chauhan@mahindrauniversity.edu.in::241b5f3e-36f4-4c61-9553-90e6a1c1b8a6" providerId="AD" clId="Web-{99D72D46-8691-ADE4-3D93-9A577A17C00F}" dt="2026-03-29T12:07:53.192" v="47" actId="20577"/>
          <ac:spMkLst>
            <pc:docMk/>
            <pc:sldMk cId="3060705436" sldId="578"/>
            <ac:spMk id="2" creationId="{90CF744A-1E70-F257-DDB4-2F958456F417}"/>
          </ac:spMkLst>
        </pc:spChg>
      </pc:sldChg>
      <pc:sldChg chg="modSp">
        <pc:chgData name="Avinash Arun Chauhan" userId="S::avinash.chauhan@mahindrauniversity.edu.in::241b5f3e-36f4-4c61-9553-90e6a1c1b8a6" providerId="AD" clId="Web-{99D72D46-8691-ADE4-3D93-9A577A17C00F}" dt="2026-03-29T12:08:17.975" v="52" actId="20577"/>
        <pc:sldMkLst>
          <pc:docMk/>
          <pc:sldMk cId="3768470849" sldId="580"/>
        </pc:sldMkLst>
        <pc:spChg chg="mod">
          <ac:chgData name="Avinash Arun Chauhan" userId="S::avinash.chauhan@mahindrauniversity.edu.in::241b5f3e-36f4-4c61-9553-90e6a1c1b8a6" providerId="AD" clId="Web-{99D72D46-8691-ADE4-3D93-9A577A17C00F}" dt="2026-03-29T12:08:17.975" v="52" actId="20577"/>
          <ac:spMkLst>
            <pc:docMk/>
            <pc:sldMk cId="3768470849" sldId="580"/>
            <ac:spMk id="2" creationId="{F3DAA63C-FAE8-0800-1DF3-064B8D61CF89}"/>
          </ac:spMkLst>
        </pc:spChg>
      </pc:sldChg>
      <pc:sldChg chg="modSp">
        <pc:chgData name="Avinash Arun Chauhan" userId="S::avinash.chauhan@mahindrauniversity.edu.in::241b5f3e-36f4-4c61-9553-90e6a1c1b8a6" providerId="AD" clId="Web-{99D72D46-8691-ADE4-3D93-9A577A17C00F}" dt="2026-03-29T12:08:34.116" v="57" actId="20577"/>
        <pc:sldMkLst>
          <pc:docMk/>
          <pc:sldMk cId="1605451604" sldId="585"/>
        </pc:sldMkLst>
        <pc:spChg chg="mod">
          <ac:chgData name="Avinash Arun Chauhan" userId="S::avinash.chauhan@mahindrauniversity.edu.in::241b5f3e-36f4-4c61-9553-90e6a1c1b8a6" providerId="AD" clId="Web-{99D72D46-8691-ADE4-3D93-9A577A17C00F}" dt="2026-03-29T12:08:34.116" v="57" actId="20577"/>
          <ac:spMkLst>
            <pc:docMk/>
            <pc:sldMk cId="1605451604" sldId="585"/>
            <ac:spMk id="2" creationId="{FDEFC3BF-3D75-B42C-AF71-98645B88E8E2}"/>
          </ac:spMkLst>
        </pc:spChg>
      </pc:sldChg>
      <pc:sldChg chg="modSp">
        <pc:chgData name="Avinash Arun Chauhan" userId="S::avinash.chauhan@mahindrauniversity.edu.in::241b5f3e-36f4-4c61-9553-90e6a1c1b8a6" providerId="AD" clId="Web-{99D72D46-8691-ADE4-3D93-9A577A17C00F}" dt="2026-03-29T12:08:51.617" v="68" actId="20577"/>
        <pc:sldMkLst>
          <pc:docMk/>
          <pc:sldMk cId="4073262272" sldId="586"/>
        </pc:sldMkLst>
        <pc:spChg chg="mod">
          <ac:chgData name="Avinash Arun Chauhan" userId="S::avinash.chauhan@mahindrauniversity.edu.in::241b5f3e-36f4-4c61-9553-90e6a1c1b8a6" providerId="AD" clId="Web-{99D72D46-8691-ADE4-3D93-9A577A17C00F}" dt="2026-03-29T12:08:51.617" v="68" actId="20577"/>
          <ac:spMkLst>
            <pc:docMk/>
            <pc:sldMk cId="4073262272" sldId="586"/>
            <ac:spMk id="2" creationId="{35F72A3A-5469-9110-6F2C-A65EF7486528}"/>
          </ac:spMkLst>
        </pc:spChg>
      </pc:sldChg>
      <pc:sldChg chg="modSp">
        <pc:chgData name="Avinash Arun Chauhan" userId="S::avinash.chauhan@mahindrauniversity.edu.in::241b5f3e-36f4-4c61-9553-90e6a1c1b8a6" providerId="AD" clId="Web-{99D72D46-8691-ADE4-3D93-9A577A17C00F}" dt="2026-03-29T12:09:48.291" v="115" actId="20577"/>
        <pc:sldMkLst>
          <pc:docMk/>
          <pc:sldMk cId="723050566" sldId="599"/>
        </pc:sldMkLst>
        <pc:spChg chg="mod">
          <ac:chgData name="Avinash Arun Chauhan" userId="S::avinash.chauhan@mahindrauniversity.edu.in::241b5f3e-36f4-4c61-9553-90e6a1c1b8a6" providerId="AD" clId="Web-{99D72D46-8691-ADE4-3D93-9A577A17C00F}" dt="2026-03-29T12:09:48.291" v="115" actId="20577"/>
          <ac:spMkLst>
            <pc:docMk/>
            <pc:sldMk cId="723050566" sldId="599"/>
            <ac:spMk id="3" creationId="{433B0058-2DF5-3EDF-4FA4-8B04C14867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815828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2920583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309291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85A2-E956-5CCD-920F-F0C42CEA3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63AFB-ED00-AD75-B53B-051CE8153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8F987-4355-6CE1-176F-6285258502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2D08B9-A7AD-47C1-2416-D398626B2FCC}"/>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1408006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85A2-E956-5CCD-920F-F0C42CEA3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63AFB-ED00-AD75-B53B-051CE8153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8F987-4355-6CE1-176F-6285258502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2D08B9-A7AD-47C1-2416-D398626B2FCC}"/>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2748614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9418-856A-7904-74AD-CC826E042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3295-A536-683F-3A8D-91BFC3A85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A3A7-515B-40A7-7E56-F869D000F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147153-92B1-5A41-F2B9-761E48FCA4F6}"/>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896040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6814-7C00-CF06-FFD4-F7B9D8A66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9E1E1-4EDE-D53A-04A6-25451BAF3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FFD12-6B2D-8A77-DEEE-3F2609A0F3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6F9DAC-6365-867E-C48E-F2CA0CF677A0}"/>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1887836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B2D92-AE23-97BE-3806-F95D1FF61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A15CC-62E9-10F0-4A48-2EAC7025B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7236C-010D-42A7-0432-01BB415598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F81546-49A8-E3AB-7E8B-F3543BF35202}"/>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3019358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B0671-0DD3-0A5E-BB34-D519FD68C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CFDCC-F59E-BEE1-D4A2-F1EF66E9A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DD845-D3D9-3995-B20D-C35DA88DFB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C83629-C763-075C-D9AE-CF9CF771F85D}"/>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584345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1BFB4-DBF8-7E93-98A7-F44CCFD90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5C1D1-EB64-E0AA-9515-0D2411F2D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5F1C7-EE80-87D4-E4A4-39FFA1D13F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E5A35B-5E18-BCB2-9B92-CCA6CAE9ECBF}"/>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175414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4EF27-C42D-173A-9CC6-5E115D5FF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31B06-E0EE-3239-8538-3788F225E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767FDD-0EF9-6A21-D18D-0ECCCD9EF1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C2E70A-3F45-FF56-910D-3FD7C22B3AC5}"/>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1451576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F5339-FBD5-E3BF-0930-23281D198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67A1B-0D34-1356-EDF1-0782F1669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A1908-FDFF-6153-6433-9EC5502ACE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22A88F-D7B8-A574-D5A2-BE08022EEDE6}"/>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3468140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DDDE-2D86-1B63-2FB9-1B1A19C54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84AB8-7B77-D850-C50E-F1A201382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734D70-2DF6-7237-F9DF-B46EA869AB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40A4D6-2AFC-FC2A-3C93-50BFB32488B7}"/>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3341919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D7052-B5BD-345C-6AC2-11E8427D9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36A42-53F6-9EAC-6E84-D5152076E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08092-1B01-C520-355D-C4E5EA9296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A37311-3855-EF91-ED66-AA3A11FD7F18}"/>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2938954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F0AE-1E1D-690D-0AEB-C276E3917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A53CB-A46B-1CFB-1280-20B9EF308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6747A-D8B1-44CA-3260-6E05DACDEB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58D4EF-F150-B170-BC46-CC5BA72E1CE6}"/>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940642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6BF7-CCF0-9525-223D-7C85C5702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FBDE5-282B-B10D-C6C6-4D2E2ECEC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13A20-9D55-D82A-B185-FC65379C82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42EDE1-6F01-D805-76EC-A1186557D116}"/>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612346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B6B4-2285-1C23-9850-93DA5F7DF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BDAE7-14F0-2EAD-74EE-06AE178A5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9272B-07E1-D880-41F3-6D378D1B0B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11378C-1995-A544-10D7-88A4C2982FAD}"/>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1762475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B6B4-2285-1C23-9850-93DA5F7DF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BDAE7-14F0-2EAD-74EE-06AE178A5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9272B-07E1-D880-41F3-6D378D1B0B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11378C-1995-A544-10D7-88A4C2982FAD}"/>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1965169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3FE74-D8BE-CA19-38F0-A4B00B8F6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C62A5-F698-7D5C-18D6-5E57FEAF7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FC354-C4F0-9234-6C0A-0CA8763D9A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90AF0F-F6C4-48FE-9113-F5E039A9B5AF}"/>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4240164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BBE69-8625-ACE0-DD60-71A928F37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39A93-A90B-6B2F-2003-483841E12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A5D90-3D73-7D9A-541A-753805B440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1B86A1-EA10-7A55-4B7F-7A6D7EBCE3FC}"/>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8419474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FFA88-51A2-A316-8491-0C27A777F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CA89C-26D8-8002-F8C9-788E87646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32956-B876-F3E7-4882-7DE36E7E6F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E9A415-EE1F-D17C-50E2-B54A8C9D9EE1}"/>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919909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C789-21BA-F9EE-4092-FA16E41F0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9CD7E-C42A-9C60-2F60-911551749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05855-1EC1-C04D-DC10-6E059EB1F0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695C0C-51A9-F7E7-DD3E-3F9FAE4E6782}"/>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3504655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8C055-EDD4-6BBF-AB52-14C5332D0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B099B-DB05-2A48-2B39-C1A613B95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EB978-DDDC-4612-447C-7370D785C3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4F2EAF-570F-C9F0-4D4D-43A620B28525}"/>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2587503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4014-3A59-D4D3-8728-C6F288ED5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5F077-7ABE-EDE4-2AEA-8430E2FDA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3130F-7F1C-4C14-4F35-BF7B337AFB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F5ED36-4AAB-3517-ABEB-A33465972ED6}"/>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252480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7E7B-5AD1-6D22-60D6-D38672EBD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BBADF-1CF7-F1DD-082A-072B81EF8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C541D-A4AA-6F08-7A47-832B4C3761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8F8847-EF22-46AA-F580-F495CB7FD47A}"/>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1222967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8C055-EDD4-6BBF-AB52-14C5332D0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B099B-DB05-2A48-2B39-C1A613B95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EB978-DDDC-4612-447C-7370D785C3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4F2EAF-570F-C9F0-4D4D-43A620B28525}"/>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2062056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98662-B9D1-C469-C3FA-85AEE1073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6CD29-B815-3404-8322-EAD380338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6CB2-93BF-7229-9B04-BFF0E554AD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D409B5-6710-E346-BAA2-332E32E26F3E}"/>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1133410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25AA-D485-7A20-01D5-D3DC0111C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214C4-7035-728F-72BA-343478EC3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189D7-1C47-4822-4698-446F4A2C24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816425-0CCF-B7C2-15B5-2423600FB3EB}"/>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41422789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FF273-91E8-B2BC-0521-38F1D6F24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99549-E872-DB92-F38D-FA02E6987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A8A03-3514-6A3B-C37A-B80160382A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97D8E3-42A0-B1E2-F53A-C210823F25A0}"/>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3648897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44D9-152C-AB69-A126-338C840C5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1B245-F9EE-6E4D-74C2-FB190B441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653EF-5566-D56F-4FDA-57B4630C66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1ED8E-1C6B-3F17-6407-C977AE1B8E94}"/>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18953949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F8ABF-55AE-7EEA-E91E-B556C5A9E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DF80F-E7A1-CAFF-B450-DB8E58542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C9C3E-E949-DD9B-D426-0311147334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269871-CD61-7AE7-69A8-2978C432AFA0}"/>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2502270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AA5F-B71B-8AA6-8ED2-DD1EC7929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CB72-EBFC-5F2F-C09E-A448D86E0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4FA5F-973C-4032-1E3B-8E5B70F1EE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EF9353-9E27-0102-A21A-5960E989E801}"/>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749471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3/31/2026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3/31/2026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3/31/2026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3/31/2026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3/31/2026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3/31/2026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3/31/2026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3/31/2026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3/31/2026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3/31/2026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3/31/2026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3/31/2026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refactoring.guru/design-patterns"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refactoring.guru/design-patterns/observer"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fontScale="90000"/>
          </a:bodyPr>
          <a:lstStyle/>
          <a:p>
            <a:r>
              <a:rPr lang="en-US" strike="sngStrike" dirty="0"/>
              <a:t>Software Engineering</a:t>
            </a:r>
            <a:br>
              <a:rPr lang="en-US" strike="sngStrike" dirty="0"/>
            </a:br>
            <a:r>
              <a:rPr lang="en-US" sz="4000" strike="sngStrike" dirty="0"/>
              <a:t>(CS3201)</a:t>
            </a:r>
            <a:br>
              <a:rPr lang="en-US" sz="4000" strike="sngStrike" dirty="0">
                <a:ea typeface="Calibri Light"/>
                <a:cs typeface="Calibri Light"/>
              </a:rPr>
            </a:br>
            <a:r>
              <a:rPr lang="en-US" sz="4000" strike="sngStrike" dirty="0">
                <a:ea typeface="Calibri Light"/>
                <a:cs typeface="Calibri Light"/>
              </a:rPr>
              <a:t>Design and Implementation</a:t>
            </a:r>
            <a:br>
              <a:rPr lang="en-US" sz="4000" strike="sngStrike" dirty="0">
                <a:ea typeface="Calibri Light"/>
                <a:cs typeface="Calibri Light"/>
              </a:rPr>
            </a:br>
            <a:r>
              <a:rPr lang="en-US" sz="4000" dirty="0">
                <a:ea typeface="Calibri Light"/>
                <a:cs typeface="Calibri Light"/>
              </a:rPr>
              <a:t>MISSION: Save Earth </a:t>
            </a:r>
            <a:r>
              <a:rPr lang="en-IN" dirty="0"/>
              <a:t>🚀</a:t>
            </a:r>
            <a:br>
              <a:rPr lang="en-US" dirty="0"/>
            </a:br>
            <a:endParaRPr lang="en-US" sz="4000" dirty="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dirty="0">
                <a:ea typeface="Calibri Light"/>
                <a:cs typeface="Calibri Light"/>
              </a:rPr>
              <a:t>Recap (design classes so far)</a:t>
            </a:r>
            <a:endParaRPr lang="en-US" dirty="0"/>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Architectural design – Organization and structure of software</a:t>
            </a:r>
          </a:p>
          <a:p>
            <a:r>
              <a:rPr lang="en-US" dirty="0">
                <a:ea typeface="Calibri" panose="020F0502020204030204"/>
                <a:cs typeface="Calibri"/>
              </a:rPr>
              <a:t>System Architecture – Example (MVC etc.), Levels of abstraction (arch of small vs large), Importance and Advantages</a:t>
            </a:r>
          </a:p>
          <a:p>
            <a:r>
              <a:rPr lang="en-US" dirty="0">
                <a:ea typeface="Calibri" panose="020F0502020204030204"/>
                <a:cs typeface="Calibri"/>
              </a:rPr>
              <a:t>Architectural design decisions (the questions that need to be asked to select the right architecture patterns)</a:t>
            </a:r>
          </a:p>
          <a:p>
            <a:r>
              <a:rPr lang="en-US" dirty="0">
                <a:ea typeface="Calibri" panose="020F0502020204030204"/>
                <a:cs typeface="Calibri"/>
              </a:rPr>
              <a:t>Architectural views – showing design from various perspectives</a:t>
            </a:r>
          </a:p>
          <a:p>
            <a:r>
              <a:rPr lang="en-US" dirty="0">
                <a:ea typeface="Calibri" panose="020F0502020204030204"/>
                <a:cs typeface="Calibri"/>
              </a:rPr>
              <a:t>Architectural patterns – standard reusable design architectures</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
        <p:nvSpPr>
          <p:cNvPr id="4" name="TextBox 3"/>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
        <p:nvSpPr>
          <p:cNvPr id="5" name="TextBox 4"/>
          <p:cNvSpPr txBox="1"/>
          <p:nvPr/>
        </p:nvSpPr>
        <p:spPr>
          <a:xfrm>
            <a:off x="5107548" y="5710019"/>
            <a:ext cx="7026442" cy="646331"/>
          </a:xfrm>
          <a:prstGeom prst="rect">
            <a:avLst/>
          </a:prstGeom>
          <a:noFill/>
        </p:spPr>
        <p:txBody>
          <a:bodyPr wrap="square" rtlCol="0">
            <a:spAutoFit/>
          </a:bodyPr>
          <a:lstStyle/>
          <a:p>
            <a:r>
              <a:rPr lang="en-US" b="1" dirty="0">
                <a:solidFill>
                  <a:srgbClr val="FF0000"/>
                </a:solidFill>
              </a:rPr>
              <a:t>NOTE: Slides marked ‘TEXTBOOK THEORY’ are based on textbook chapters. Marked such for easy reference before preparation for exam!</a:t>
            </a:r>
            <a:endParaRPr lang="en-IN" b="1" dirty="0">
              <a:solidFill>
                <a:srgbClr val="FF0000"/>
              </a:solidFill>
            </a:endParaRPr>
          </a:p>
        </p:txBody>
      </p:sp>
    </p:spTree>
    <p:extLst>
      <p:ext uri="{BB962C8B-B14F-4D97-AF65-F5344CB8AC3E}">
        <p14:creationId xmlns:p14="http://schemas.microsoft.com/office/powerpoint/2010/main" val="4277043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dirty="0">
                <a:ea typeface="Calibri Light"/>
                <a:cs typeface="Calibri Light"/>
              </a:rPr>
              <a:t>You wake up… </a:t>
            </a:r>
            <a:endParaRPr lang="en-US" dirty="0"/>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A spaceship in deep space</a:t>
            </a:r>
          </a:p>
          <a:p>
            <a:r>
              <a:rPr lang="en-US" dirty="0">
                <a:ea typeface="Calibri" panose="020F0502020204030204"/>
                <a:cs typeface="Calibri"/>
              </a:rPr>
              <a:t>You wake up alone… alarms blaring… you have no memory… and you must design a system to save earth</a:t>
            </a:r>
          </a:p>
          <a:p>
            <a:r>
              <a:rPr lang="en-US" dirty="0">
                <a:ea typeface="Calibri" panose="020F0502020204030204"/>
                <a:cs typeface="Calibri"/>
              </a:rPr>
              <a:t>Today you are not students, but engineers on a failing spaceship, systems failing around you</a:t>
            </a:r>
          </a:p>
          <a:p>
            <a:r>
              <a:rPr lang="en-US" dirty="0">
                <a:ea typeface="Calibri" panose="020F0502020204030204"/>
                <a:cs typeface="Calibri"/>
              </a:rPr>
              <a:t>There are no instructions on what is to be done</a:t>
            </a:r>
          </a:p>
          <a:p>
            <a:endParaRPr lang="en-US" dirty="0">
              <a:ea typeface="Calibri" panose="020F0502020204030204"/>
              <a:cs typeface="Calibri"/>
            </a:endParaRPr>
          </a:p>
          <a:p>
            <a:r>
              <a:rPr lang="en-US" dirty="0">
                <a:ea typeface="Calibri" panose="020F0502020204030204"/>
                <a:cs typeface="Calibri"/>
              </a:rPr>
              <a:t>This is exactly how software with bad design feels like</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69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dirty="0">
                <a:ea typeface="Calibri Light"/>
                <a:cs typeface="Calibri Light"/>
              </a:rPr>
              <a:t>What is Design and what is Implementation?</a:t>
            </a:r>
            <a:endParaRPr lang="en-US" dirty="0"/>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Architectural pattern deals with how the spaceship is organized</a:t>
            </a:r>
          </a:p>
          <a:p>
            <a:r>
              <a:rPr lang="en-US" dirty="0">
                <a:ea typeface="Calibri" panose="020F0502020204030204"/>
                <a:cs typeface="Calibri"/>
              </a:rPr>
              <a:t>Design pattern concerns with how individual components communicate</a:t>
            </a:r>
          </a:p>
          <a:p>
            <a:r>
              <a:rPr lang="en-US" dirty="0">
                <a:ea typeface="Calibri" panose="020F0502020204030204"/>
                <a:cs typeface="Calibri"/>
              </a:rPr>
              <a:t>Implementation deals with fixing and running the system in space</a:t>
            </a:r>
          </a:p>
          <a:p>
            <a:pPr marL="0" indent="0">
              <a:buNone/>
            </a:pPr>
            <a:endParaRPr lang="en-US" dirty="0">
              <a:ea typeface="Calibri" panose="020F0502020204030204"/>
              <a:cs typeface="Calibri"/>
            </a:endParaRPr>
          </a:p>
          <a:p>
            <a:r>
              <a:rPr lang="en-US" dirty="0">
                <a:ea typeface="Calibri" panose="020F0502020204030204"/>
                <a:cs typeface="Calibri"/>
              </a:rPr>
              <a:t>Bad design means you, earth’s last hope, dies</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27832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dirty="0">
                <a:ea typeface="Calibri Light"/>
                <a:cs typeface="Calibri Light"/>
              </a:rPr>
              <a:t>System is the spaceship</a:t>
            </a:r>
            <a:endParaRPr lang="en-US" dirty="0"/>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A system is a collection of components (spaceship is the system architecture)</a:t>
            </a:r>
          </a:p>
          <a:p>
            <a:r>
              <a:rPr lang="en-US" dirty="0">
                <a:ea typeface="Calibri" panose="020F0502020204030204"/>
                <a:cs typeface="Calibri"/>
              </a:rPr>
              <a:t>Communication, Life support, Navigation are all components of the spaceship</a:t>
            </a:r>
          </a:p>
          <a:p>
            <a:r>
              <a:rPr lang="en-US" dirty="0">
                <a:ea typeface="Calibri" panose="020F0502020204030204"/>
                <a:cs typeface="Calibri"/>
              </a:rPr>
              <a:t>Each module must work independently and interact with one or more components to get the job done (design patterns)</a:t>
            </a:r>
          </a:p>
          <a:p>
            <a:endParaRPr lang="en-US" dirty="0">
              <a:ea typeface="Calibri" panose="020F0502020204030204"/>
              <a:cs typeface="Calibri"/>
            </a:endParaRPr>
          </a:p>
          <a:p>
            <a:r>
              <a:rPr lang="en-US" dirty="0">
                <a:ea typeface="Calibri" panose="020F0502020204030204"/>
                <a:cs typeface="Calibri"/>
              </a:rPr>
              <a:t>If life support stops, does navigation also stop working? No (why? Modular design/ layered design)</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45041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A40B3-2385-012C-E8BB-A020F495E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7AEC2-2128-C001-4BAC-6009D4BEE530}"/>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744E3821-D3B0-85B2-8205-9E10F7C88307}"/>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Design – a creative process (?) where you identify components and their relationships</a:t>
            </a:r>
            <a:endParaRPr lang="en-US"/>
          </a:p>
          <a:p>
            <a:r>
              <a:rPr lang="en-US" dirty="0">
                <a:ea typeface="Calibri"/>
                <a:cs typeface="Calibri"/>
              </a:rPr>
              <a:t>Implementation – realizing the design as a program</a:t>
            </a:r>
          </a:p>
          <a:p>
            <a:r>
              <a:rPr lang="en-US" dirty="0">
                <a:ea typeface="Calibri"/>
                <a:cs typeface="Calibri"/>
              </a:rPr>
              <a:t>A design language like UML is more appropriate when using object oriented based development</a:t>
            </a:r>
          </a:p>
          <a:p>
            <a:r>
              <a:rPr lang="en-US" dirty="0">
                <a:ea typeface="Calibri"/>
                <a:cs typeface="Calibri"/>
              </a:rPr>
              <a:t>Less appropriate (useful) when developing using off the shelf components</a:t>
            </a:r>
          </a:p>
          <a:p>
            <a:r>
              <a:rPr lang="en-US" dirty="0">
                <a:ea typeface="Calibri"/>
                <a:cs typeface="Calibri"/>
              </a:rPr>
              <a:t>Dynamically typed languages (like Python) do not enforce type, making it less rigorous – some say this makes design less apt (SOM.), however, I believe it puts the onus on us to follow design carefully?</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E9EE346-F5A9-9099-2B85-674B391D3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49B77CF-8C55-9407-B1C1-FCC54EC38FE3}"/>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EDF0FD0E-93EA-8BC7-111B-4F77BCDEA98A}"/>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978924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A40B3-2385-012C-E8BB-A020F495E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7AEC2-2128-C001-4BAC-6009D4BEE530}"/>
              </a:ext>
            </a:extLst>
          </p:cNvPr>
          <p:cNvSpPr>
            <a:spLocks noGrp="1"/>
          </p:cNvSpPr>
          <p:nvPr>
            <p:ph type="title"/>
          </p:nvPr>
        </p:nvSpPr>
        <p:spPr/>
        <p:txBody>
          <a:bodyPr/>
          <a:lstStyle/>
          <a:p>
            <a:r>
              <a:rPr lang="en-GB" dirty="0">
                <a:ea typeface="Calibri Light"/>
                <a:cs typeface="Calibri Light"/>
              </a:rPr>
              <a:t>Design Steps</a:t>
            </a:r>
            <a:endParaRPr lang="en-US" dirty="0"/>
          </a:p>
        </p:txBody>
      </p:sp>
      <p:sp>
        <p:nvSpPr>
          <p:cNvPr id="3" name="Content Placeholder 2">
            <a:extLst>
              <a:ext uri="{FF2B5EF4-FFF2-40B4-BE49-F238E27FC236}">
                <a16:creationId xmlns:a16="http://schemas.microsoft.com/office/drawing/2014/main" id="{744E3821-D3B0-85B2-8205-9E10F7C88307}"/>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514350" indent="-514350">
              <a:buFont typeface="+mj-lt"/>
              <a:buAutoNum type="arabicPeriod"/>
            </a:pPr>
            <a:r>
              <a:rPr lang="en-US" dirty="0">
                <a:ea typeface="Calibri"/>
                <a:cs typeface="Calibri"/>
              </a:rPr>
              <a:t>Context</a:t>
            </a:r>
          </a:p>
          <a:p>
            <a:pPr marL="514350" indent="-514350">
              <a:buFont typeface="+mj-lt"/>
              <a:buAutoNum type="arabicPeriod"/>
            </a:pPr>
            <a:r>
              <a:rPr lang="en-US" dirty="0">
                <a:ea typeface="Calibri"/>
                <a:cs typeface="Calibri"/>
              </a:rPr>
              <a:t>Architecture</a:t>
            </a:r>
          </a:p>
          <a:p>
            <a:pPr marL="514350" indent="-514350">
              <a:buFont typeface="+mj-lt"/>
              <a:buAutoNum type="arabicPeriod"/>
            </a:pPr>
            <a:r>
              <a:rPr lang="en-US" dirty="0">
                <a:ea typeface="Calibri"/>
                <a:cs typeface="Calibri"/>
              </a:rPr>
              <a:t>Objects</a:t>
            </a:r>
          </a:p>
          <a:p>
            <a:pPr marL="514350" indent="-514350">
              <a:buFont typeface="+mj-lt"/>
              <a:buAutoNum type="arabicPeriod"/>
            </a:pPr>
            <a:r>
              <a:rPr lang="en-US" dirty="0">
                <a:ea typeface="Calibri"/>
                <a:cs typeface="Calibri"/>
              </a:rPr>
              <a:t>UML Models</a:t>
            </a:r>
          </a:p>
          <a:p>
            <a:pPr marL="514350" indent="-514350">
              <a:buFont typeface="+mj-lt"/>
              <a:buAutoNum type="arabicPeriod"/>
            </a:pPr>
            <a:r>
              <a:rPr lang="en-US" dirty="0">
                <a:ea typeface="Calibri"/>
                <a:cs typeface="Calibri"/>
              </a:rPr>
              <a:t>Interfaces</a:t>
            </a: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E9EE346-F5A9-9099-2B85-674B391D3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49B77CF-8C55-9407-B1C1-FCC54EC38FE3}"/>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EDF0FD0E-93EA-8BC7-111B-4F77BCDEA98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16703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A91A-26FF-7479-9D95-ABFD5F4DD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32CB-8EEB-212A-37CE-13EEEEAD8DA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96E9C779-DF31-3741-3B77-D003BD44266C}"/>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panose="020F0502020204030204"/>
                <a:cs typeface="Calibri"/>
              </a:rPr>
              <a:t>Object Oriented Design using UML</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E5B61B7-1E3A-26A3-8BAF-21276D72B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51A60A3-6232-A32F-85ED-8C6CFAADF69A}"/>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495DC561-4971-43EF-A66B-151AC6DF05B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12470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Calibri"/>
                <a:cs typeface="Calibri"/>
              </a:rPr>
              <a:t>Object oriented system – set of interacting objects, that maintain their own state/ data and provide operations on that state (using methods), to fulfill an objective</a:t>
            </a:r>
          </a:p>
          <a:p>
            <a:r>
              <a:rPr lang="en-US" dirty="0">
                <a:ea typeface="Calibri"/>
                <a:cs typeface="Calibri"/>
              </a:rPr>
              <a:t>We design classes and their relationships, when design is realized at runtime, objects are created out of these class definitions</a:t>
            </a:r>
          </a:p>
          <a:p>
            <a:r>
              <a:rPr lang="en-US" dirty="0">
                <a:ea typeface="Calibri"/>
                <a:cs typeface="Calibri"/>
              </a:rPr>
              <a:t>Changes to class (objects) should not affect other classes (objects) in a system</a:t>
            </a:r>
          </a:p>
          <a:p>
            <a:r>
              <a:rPr lang="en-US">
                <a:ea typeface="Calibri"/>
                <a:cs typeface="Calibri"/>
              </a:rPr>
              <a:t>To develop system design (in OOP): (already saw this in slide #7)</a:t>
            </a:r>
          </a:p>
          <a:p>
            <a:pPr lvl="1"/>
            <a:r>
              <a:rPr lang="en-US" dirty="0">
                <a:ea typeface="Calibri"/>
                <a:cs typeface="Calibri"/>
              </a:rPr>
              <a:t>Understand context and external interactions</a:t>
            </a:r>
          </a:p>
          <a:p>
            <a:pPr lvl="1"/>
            <a:r>
              <a:rPr lang="en-US" dirty="0">
                <a:ea typeface="Calibri"/>
                <a:cs typeface="Calibri"/>
              </a:rPr>
              <a:t>Design system architecture</a:t>
            </a:r>
          </a:p>
          <a:p>
            <a:pPr lvl="1"/>
            <a:r>
              <a:rPr lang="en-US" dirty="0">
                <a:ea typeface="Calibri"/>
                <a:cs typeface="Calibri"/>
              </a:rPr>
              <a:t>Identify principal objects</a:t>
            </a:r>
          </a:p>
          <a:p>
            <a:pPr lvl="1"/>
            <a:r>
              <a:rPr lang="en-US" dirty="0">
                <a:ea typeface="Calibri"/>
                <a:cs typeface="Calibri"/>
              </a:rPr>
              <a:t>Develop design models</a:t>
            </a:r>
          </a:p>
          <a:p>
            <a:pPr lvl="1"/>
            <a:r>
              <a:rPr lang="en-US" dirty="0">
                <a:ea typeface="Calibri"/>
                <a:cs typeface="Calibri"/>
              </a:rPr>
              <a:t>Specify interfaces</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883900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FFE9-CF8A-55C6-7DC4-8A96CD53F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2FC6C-21EB-72F6-3DF3-30EEBF755A7F}"/>
              </a:ext>
            </a:extLst>
          </p:cNvPr>
          <p:cNvSpPr>
            <a:spLocks noGrp="1"/>
          </p:cNvSpPr>
          <p:nvPr>
            <p:ph type="title"/>
          </p:nvPr>
        </p:nvSpPr>
        <p:spPr/>
        <p:txBody>
          <a:bodyPr/>
          <a:lstStyle/>
          <a:p>
            <a:r>
              <a:rPr lang="en-GB">
                <a:ea typeface="Calibri Light"/>
                <a:cs typeface="Calibri Light"/>
              </a:rPr>
              <a:t>Step 1: System context and Interactions</a:t>
            </a:r>
            <a:endParaRPr lang="en-US"/>
          </a:p>
        </p:txBody>
      </p:sp>
      <p:sp>
        <p:nvSpPr>
          <p:cNvPr id="3" name="Content Placeholder 2">
            <a:extLst>
              <a:ext uri="{FF2B5EF4-FFF2-40B4-BE49-F238E27FC236}">
                <a16:creationId xmlns:a16="http://schemas.microsoft.com/office/drawing/2014/main" id="{C5FE8B11-4EA5-5E19-AD21-B6E34B99E0BA}"/>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First stage – understand what your system should do, and its relation to the external environment</a:t>
            </a:r>
          </a:p>
          <a:p>
            <a:r>
              <a:rPr lang="en-US" dirty="0">
                <a:ea typeface="Calibri"/>
                <a:cs typeface="Calibri"/>
              </a:rPr>
              <a:t>System context models are complementary – shows both structure (using simple block diagram and association) and interaction (using use cases)</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4A86125-D05B-0AB6-9F5A-81B96583F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95B9C43-B70D-4F45-6C81-012C4CCC1FFC}"/>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FED864BE-B890-0DE1-E1C5-7F40FBA76E16}"/>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1709140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50709-F00B-EA4C-FD20-B6C89C422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72595-8BDF-1ECC-9F45-1DE1F5D7EAFA}"/>
              </a:ext>
            </a:extLst>
          </p:cNvPr>
          <p:cNvSpPr>
            <a:spLocks noGrp="1"/>
          </p:cNvSpPr>
          <p:nvPr>
            <p:ph type="title"/>
          </p:nvPr>
        </p:nvSpPr>
        <p:spPr/>
        <p:txBody>
          <a:bodyPr/>
          <a:lstStyle/>
          <a:p>
            <a:r>
              <a:rPr lang="en-GB" dirty="0">
                <a:ea typeface="Calibri Light"/>
                <a:cs typeface="Calibri Light"/>
              </a:rPr>
              <a:t>System context for a weather station</a:t>
            </a:r>
            <a:endParaRPr lang="en-US" dirty="0"/>
          </a:p>
        </p:txBody>
      </p:sp>
      <p:sp>
        <p:nvSpPr>
          <p:cNvPr id="3" name="Content Placeholder 2">
            <a:extLst>
              <a:ext uri="{FF2B5EF4-FFF2-40B4-BE49-F238E27FC236}">
                <a16:creationId xmlns:a16="http://schemas.microsoft.com/office/drawing/2014/main" id="{0E83EF3D-3BBE-C0C1-B7BC-091AEA10A3B8}"/>
              </a:ext>
            </a:extLst>
          </p:cNvPr>
          <p:cNvSpPr>
            <a:spLocks noGrp="1"/>
          </p:cNvSpPr>
          <p:nvPr>
            <p:ph idx="1"/>
          </p:nvPr>
        </p:nvSpPr>
        <p:spPr>
          <a:xfrm>
            <a:off x="838201" y="1719082"/>
            <a:ext cx="5009070" cy="5016770"/>
          </a:xfrm>
        </p:spPr>
        <p:txBody>
          <a:bodyPr vert="horz" lIns="91440" tIns="45720" rIns="91440" bIns="45720" rtlCol="0" anchor="t">
            <a:normAutofit/>
          </a:bodyPr>
          <a:lstStyle/>
          <a:p>
            <a:r>
              <a:rPr lang="en-US" dirty="0">
                <a:ea typeface="Calibri" panose="020F0502020204030204"/>
                <a:cs typeface="Calibri"/>
              </a:rPr>
              <a:t>Shows the components of a weather station system and the links between them</a:t>
            </a:r>
          </a:p>
          <a:p>
            <a:r>
              <a:rPr lang="en-US" dirty="0">
                <a:ea typeface="Calibri" panose="020F0502020204030204"/>
                <a:cs typeface="Calibri"/>
              </a:rPr>
              <a:t>Informal model of architecture</a:t>
            </a:r>
          </a:p>
          <a:p>
            <a:r>
              <a:rPr lang="en-US" dirty="0">
                <a:ea typeface="Calibri" panose="020F0502020204030204"/>
                <a:cs typeface="Calibri"/>
              </a:rPr>
              <a:t>Box = Component (can be decomposed into subcomponents)</a:t>
            </a:r>
          </a:p>
          <a:p>
            <a:r>
              <a:rPr lang="en-US" dirty="0">
                <a:ea typeface="Calibri" panose="020F0502020204030204"/>
                <a:cs typeface="Calibri"/>
              </a:rPr>
              <a:t>Association – relationship between components</a:t>
            </a:r>
          </a:p>
          <a:p>
            <a:r>
              <a:rPr lang="en-US" dirty="0">
                <a:ea typeface="Calibri" panose="020F0502020204030204"/>
                <a:cs typeface="Calibri"/>
              </a:rPr>
              <a:t>High-level picture of system structure</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F80B6C3-F81A-BBFB-5CBA-B0133BC4C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33D505F-8973-7AF4-DA1C-34AC2CE343AD}"/>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8D1EC211-A97E-9C56-E8DF-60F82CF493D4}"/>
              </a:ext>
            </a:extLst>
          </p:cNvPr>
          <p:cNvSpPr>
            <a:spLocks noGrp="1"/>
          </p:cNvSpPr>
          <p:nvPr>
            <p:ph type="ftr" sz="quarter" idx="11"/>
          </p:nvPr>
        </p:nvSpPr>
        <p:spPr/>
        <p:txBody>
          <a:bodyPr/>
          <a:lstStyle/>
          <a:p>
            <a:r>
              <a:rPr lang="en-US"/>
              <a:t>Software Engineering</a:t>
            </a:r>
          </a:p>
        </p:txBody>
      </p:sp>
      <p:pic>
        <p:nvPicPr>
          <p:cNvPr id="4" name="Picture 3" descr="A diagram of weather and weather systems&#10;&#10;AI-generated content may be incorrect.">
            <a:extLst>
              <a:ext uri="{FF2B5EF4-FFF2-40B4-BE49-F238E27FC236}">
                <a16:creationId xmlns:a16="http://schemas.microsoft.com/office/drawing/2014/main" id="{3C205B69-81C2-F07A-0759-021991D5AA5B}"/>
              </a:ext>
            </a:extLst>
          </p:cNvPr>
          <p:cNvPicPr>
            <a:picLocks noChangeAspect="1"/>
          </p:cNvPicPr>
          <p:nvPr/>
        </p:nvPicPr>
        <p:blipFill>
          <a:blip r:embed="rId4"/>
          <a:stretch>
            <a:fillRect/>
          </a:stretch>
        </p:blipFill>
        <p:spPr>
          <a:xfrm>
            <a:off x="6099235" y="2042215"/>
            <a:ext cx="5801983" cy="3535572"/>
          </a:xfrm>
          <a:prstGeom prst="rect">
            <a:avLst/>
          </a:prstGeo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42556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4873-C7F4-B9C4-B29D-4A42C0E93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0F6E3-5AB7-811C-2D4B-20DF278AAB03}"/>
              </a:ext>
            </a:extLst>
          </p:cNvPr>
          <p:cNvSpPr>
            <a:spLocks noGrp="1"/>
          </p:cNvSpPr>
          <p:nvPr>
            <p:ph type="title"/>
          </p:nvPr>
        </p:nvSpPr>
        <p:spPr/>
        <p:txBody>
          <a:bodyPr/>
          <a:lstStyle/>
          <a:p>
            <a:r>
              <a:rPr lang="en-GB" dirty="0">
                <a:ea typeface="Calibri Light"/>
                <a:cs typeface="Calibri Light"/>
              </a:rPr>
              <a:t>Use cases for Weather Station</a:t>
            </a:r>
            <a:endParaRPr lang="en-US" dirty="0"/>
          </a:p>
        </p:txBody>
      </p:sp>
      <p:pic>
        <p:nvPicPr>
          <p:cNvPr id="6" name="Picture 5" descr="A black and white logo&#10;&#10;Description automatically generated">
            <a:extLst>
              <a:ext uri="{FF2B5EF4-FFF2-40B4-BE49-F238E27FC236}">
                <a16:creationId xmlns:a16="http://schemas.microsoft.com/office/drawing/2014/main" id="{7F5CE6B9-A5BA-9901-E1FE-3AFD5A6A2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6AA6216-BF6F-60A8-75EF-69630BFE4550}"/>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4449FAD7-6A55-ADC3-9B3E-BE0A96A58660}"/>
              </a:ext>
            </a:extLst>
          </p:cNvPr>
          <p:cNvSpPr>
            <a:spLocks noGrp="1"/>
          </p:cNvSpPr>
          <p:nvPr>
            <p:ph type="ftr" sz="quarter" idx="11"/>
          </p:nvPr>
        </p:nvSpPr>
        <p:spPr/>
        <p:txBody>
          <a:bodyPr/>
          <a:lstStyle/>
          <a:p>
            <a:r>
              <a:rPr lang="en-US"/>
              <a:t>Software Engineering</a:t>
            </a:r>
          </a:p>
        </p:txBody>
      </p:sp>
      <p:pic>
        <p:nvPicPr>
          <p:cNvPr id="10" name="Content Placeholder 9" descr="A diagram of a person with text&#10;&#10;AI-generated content may be incorrect.">
            <a:extLst>
              <a:ext uri="{FF2B5EF4-FFF2-40B4-BE49-F238E27FC236}">
                <a16:creationId xmlns:a16="http://schemas.microsoft.com/office/drawing/2014/main" id="{AB861A6E-98D4-D257-F0EE-3FEABC203069}"/>
              </a:ext>
            </a:extLst>
          </p:cNvPr>
          <p:cNvPicPr>
            <a:picLocks noGrp="1" noChangeAspect="1"/>
          </p:cNvPicPr>
          <p:nvPr>
            <p:ph idx="1"/>
          </p:nvPr>
        </p:nvPicPr>
        <p:blipFill>
          <a:blip r:embed="rId4"/>
          <a:stretch>
            <a:fillRect/>
          </a:stretch>
        </p:blipFill>
        <p:spPr>
          <a:xfrm>
            <a:off x="6934228" y="1351173"/>
            <a:ext cx="4117619" cy="5372130"/>
          </a:xfr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122602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6D162-82D4-1842-107D-662F8ECFB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9CD25-2914-532A-5B0B-EB7F6B33AF88}"/>
              </a:ext>
            </a:extLst>
          </p:cNvPr>
          <p:cNvSpPr>
            <a:spLocks noGrp="1"/>
          </p:cNvSpPr>
          <p:nvPr>
            <p:ph type="title"/>
          </p:nvPr>
        </p:nvSpPr>
        <p:spPr/>
        <p:txBody>
          <a:bodyPr/>
          <a:lstStyle/>
          <a:p>
            <a:r>
              <a:rPr lang="en-GB" dirty="0">
                <a:ea typeface="Calibri Light"/>
                <a:cs typeface="Calibri Light"/>
              </a:rPr>
              <a:t>Use case description for Weather Station</a:t>
            </a:r>
            <a:endParaRPr lang="en-US" dirty="0"/>
          </a:p>
        </p:txBody>
      </p:sp>
      <p:pic>
        <p:nvPicPr>
          <p:cNvPr id="6" name="Picture 5" descr="A black and white logo&#10;&#10;Description automatically generated">
            <a:extLst>
              <a:ext uri="{FF2B5EF4-FFF2-40B4-BE49-F238E27FC236}">
                <a16:creationId xmlns:a16="http://schemas.microsoft.com/office/drawing/2014/main" id="{5A0E1232-2C11-6B91-85E9-A68D4A8CC3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623F501-DA42-C1A0-3E8D-DD9E69961D98}"/>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FB18B237-F580-84B4-8408-44B0B69D581D}"/>
              </a:ext>
            </a:extLst>
          </p:cNvPr>
          <p:cNvSpPr>
            <a:spLocks noGrp="1"/>
          </p:cNvSpPr>
          <p:nvPr>
            <p:ph type="ftr" sz="quarter" idx="11"/>
          </p:nvPr>
        </p:nvSpPr>
        <p:spPr/>
        <p:txBody>
          <a:bodyPr/>
          <a:lstStyle/>
          <a:p>
            <a:r>
              <a:rPr lang="en-US"/>
              <a:t>Software Engineering</a:t>
            </a:r>
          </a:p>
        </p:txBody>
      </p:sp>
      <p:pic>
        <p:nvPicPr>
          <p:cNvPr id="5" name="Content Placeholder 4" descr="A blue text with black text&#10;&#10;AI-generated content may be incorrect.">
            <a:extLst>
              <a:ext uri="{FF2B5EF4-FFF2-40B4-BE49-F238E27FC236}">
                <a16:creationId xmlns:a16="http://schemas.microsoft.com/office/drawing/2014/main" id="{1FBAEBEC-5EC6-3700-F25F-B8E225BFBD2B}"/>
              </a:ext>
            </a:extLst>
          </p:cNvPr>
          <p:cNvPicPr>
            <a:picLocks noGrp="1" noChangeAspect="1"/>
          </p:cNvPicPr>
          <p:nvPr>
            <p:ph idx="1"/>
          </p:nvPr>
        </p:nvPicPr>
        <p:blipFill>
          <a:blip r:embed="rId4"/>
          <a:stretch>
            <a:fillRect/>
          </a:stretch>
        </p:blipFill>
        <p:spPr>
          <a:xfrm>
            <a:off x="1052871" y="1578978"/>
            <a:ext cx="10100633" cy="4628970"/>
          </a:xfr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2344524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8FB0-537D-4FA6-01EC-E02F874DF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F744A-1E70-F257-DDB4-2F958456F417}"/>
              </a:ext>
            </a:extLst>
          </p:cNvPr>
          <p:cNvSpPr>
            <a:spLocks noGrp="1"/>
          </p:cNvSpPr>
          <p:nvPr>
            <p:ph type="title"/>
          </p:nvPr>
        </p:nvSpPr>
        <p:spPr/>
        <p:txBody>
          <a:bodyPr/>
          <a:lstStyle/>
          <a:p>
            <a:r>
              <a:rPr lang="en-GB" dirty="0">
                <a:ea typeface="Calibri Light"/>
                <a:cs typeface="Calibri Light"/>
              </a:rPr>
              <a:t>Step 2: System Architecture (previous lecture)</a:t>
            </a:r>
          </a:p>
        </p:txBody>
      </p:sp>
      <p:sp>
        <p:nvSpPr>
          <p:cNvPr id="3" name="Content Placeholder 2">
            <a:extLst>
              <a:ext uri="{FF2B5EF4-FFF2-40B4-BE49-F238E27FC236}">
                <a16:creationId xmlns:a16="http://schemas.microsoft.com/office/drawing/2014/main" id="{D2F75FF2-1B1C-4A68-E1FC-8B090AB0BF92}"/>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Calibri"/>
                <a:cs typeface="Calibri"/>
              </a:rPr>
              <a:t>You understand the components, how they interact with environment (people and other systems) - call this X</a:t>
            </a:r>
          </a:p>
          <a:p>
            <a:r>
              <a:rPr lang="en-US" dirty="0">
                <a:ea typeface="Calibri"/>
                <a:cs typeface="Calibri"/>
              </a:rPr>
              <a:t>Using X, principles of architecture design (modularity, decoupling, etc.), and domain knowledge (file download app has several users requesting similar service), you then need to design system architecture</a:t>
            </a:r>
          </a:p>
          <a:p>
            <a:r>
              <a:rPr lang="en-US" dirty="0">
                <a:ea typeface="Calibri"/>
                <a:cs typeface="Calibri"/>
              </a:rPr>
              <a:t>May use a particular architectural pattern (like layered or client-server) to organize the components of your system (and their interactions)</a:t>
            </a:r>
          </a:p>
          <a:p>
            <a:r>
              <a:rPr lang="en-US" dirty="0">
                <a:ea typeface="Calibri"/>
                <a:cs typeface="Calibri"/>
              </a:rPr>
              <a:t>Finally the design pattern (how components interact to one another or events) - In the following example (weather station), a "listener model" is followed (this is an example of an event-based design pattern – components listen and react to specific events)</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EDFD44F-26A8-501C-F606-6C2D3627F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08C04AA-A2B5-9B9B-8275-9184B9C33AD7}"/>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2EEE7ACA-E372-F1B4-698D-DEFB8117C7D9}"/>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060705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69DE6-DD0B-061D-E18D-246FD5439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912C4-E0CD-068B-AFBB-1E95A091E636}"/>
              </a:ext>
            </a:extLst>
          </p:cNvPr>
          <p:cNvSpPr>
            <a:spLocks noGrp="1"/>
          </p:cNvSpPr>
          <p:nvPr>
            <p:ph type="title"/>
          </p:nvPr>
        </p:nvSpPr>
        <p:spPr/>
        <p:txBody>
          <a:bodyPr/>
          <a:lstStyle/>
          <a:p>
            <a:r>
              <a:rPr lang="en-GB" dirty="0">
                <a:ea typeface="Calibri Light"/>
                <a:cs typeface="Calibri Light"/>
              </a:rPr>
              <a:t>System Architecture – Weather station</a:t>
            </a:r>
            <a:endParaRPr lang="en-US" dirty="0"/>
          </a:p>
        </p:txBody>
      </p:sp>
      <p:sp>
        <p:nvSpPr>
          <p:cNvPr id="3" name="Content Placeholder 2">
            <a:extLst>
              <a:ext uri="{FF2B5EF4-FFF2-40B4-BE49-F238E27FC236}">
                <a16:creationId xmlns:a16="http://schemas.microsoft.com/office/drawing/2014/main" id="{273B5020-5480-7B83-B678-B36D3E43BF92}"/>
              </a:ext>
            </a:extLst>
          </p:cNvPr>
          <p:cNvSpPr>
            <a:spLocks noGrp="1"/>
          </p:cNvSpPr>
          <p:nvPr>
            <p:ph idx="1"/>
          </p:nvPr>
        </p:nvSpPr>
        <p:spPr>
          <a:xfrm>
            <a:off x="263106" y="1510219"/>
            <a:ext cx="2981864" cy="5031147"/>
          </a:xfrm>
        </p:spPr>
        <p:txBody>
          <a:bodyPr vert="horz" lIns="91440" tIns="45720" rIns="91440" bIns="45720" rtlCol="0" anchor="t">
            <a:normAutofit/>
          </a:bodyPr>
          <a:lstStyle/>
          <a:p>
            <a:r>
              <a:rPr lang="en-US" dirty="0">
                <a:ea typeface="Calibri"/>
                <a:cs typeface="Calibri"/>
              </a:rPr>
              <a:t>Composed of independent subsystems</a:t>
            </a:r>
          </a:p>
          <a:p>
            <a:r>
              <a:rPr lang="en-US" dirty="0">
                <a:ea typeface="Calibri"/>
                <a:cs typeface="Calibri"/>
              </a:rPr>
              <a:t>Easy to support different configurations because sender and receiver do not have to address one another</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86AB1F1-C233-55BA-A3E6-651C194D58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7409708-F672-4DBA-1601-F91FA6DA8C52}"/>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61C80086-3F9E-BB54-6C9B-7155D2A89E95}"/>
              </a:ext>
            </a:extLst>
          </p:cNvPr>
          <p:cNvSpPr>
            <a:spLocks noGrp="1"/>
          </p:cNvSpPr>
          <p:nvPr>
            <p:ph type="ftr" sz="quarter" idx="11"/>
          </p:nvPr>
        </p:nvSpPr>
        <p:spPr/>
        <p:txBody>
          <a:bodyPr/>
          <a:lstStyle/>
          <a:p>
            <a:r>
              <a:rPr lang="en-US"/>
              <a:t>Software Engineering</a:t>
            </a:r>
          </a:p>
        </p:txBody>
      </p:sp>
      <p:pic>
        <p:nvPicPr>
          <p:cNvPr id="4" name="Picture 3" descr="A diagram of a diagram&#10;&#10;AI-generated content may be incorrect.">
            <a:extLst>
              <a:ext uri="{FF2B5EF4-FFF2-40B4-BE49-F238E27FC236}">
                <a16:creationId xmlns:a16="http://schemas.microsoft.com/office/drawing/2014/main" id="{2919BF15-1A3C-98A9-E9CE-24C798401B62}"/>
              </a:ext>
            </a:extLst>
          </p:cNvPr>
          <p:cNvPicPr>
            <a:picLocks noChangeAspect="1"/>
          </p:cNvPicPr>
          <p:nvPr/>
        </p:nvPicPr>
        <p:blipFill>
          <a:blip r:embed="rId4"/>
          <a:stretch>
            <a:fillRect/>
          </a:stretch>
        </p:blipFill>
        <p:spPr>
          <a:xfrm>
            <a:off x="3249464" y="1712164"/>
            <a:ext cx="8985489" cy="3922502"/>
          </a:xfrm>
          <a:prstGeom prst="rect">
            <a:avLst/>
          </a:prstGeo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274696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3D1A-839F-C040-927A-786389435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AA63C-FAE8-0800-1DF3-064B8D61CF89}"/>
              </a:ext>
            </a:extLst>
          </p:cNvPr>
          <p:cNvSpPr>
            <a:spLocks noGrp="1"/>
          </p:cNvSpPr>
          <p:nvPr>
            <p:ph type="title"/>
          </p:nvPr>
        </p:nvSpPr>
        <p:spPr/>
        <p:txBody>
          <a:bodyPr/>
          <a:lstStyle/>
          <a:p>
            <a:r>
              <a:rPr lang="en-GB">
                <a:ea typeface="Calibri Light"/>
                <a:cs typeface="Calibri Light"/>
              </a:rPr>
              <a:t>Step 3: Object class identification</a:t>
            </a:r>
            <a:endParaRPr lang="en-US"/>
          </a:p>
        </p:txBody>
      </p:sp>
      <p:sp>
        <p:nvSpPr>
          <p:cNvPr id="3" name="Content Placeholder 2">
            <a:extLst>
              <a:ext uri="{FF2B5EF4-FFF2-40B4-BE49-F238E27FC236}">
                <a16:creationId xmlns:a16="http://schemas.microsoft.com/office/drawing/2014/main" id="{8E1398E2-E93D-D52B-D80B-7411EF652549}"/>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By this stage (in design process), you should have an idea of the essential objects in your system</a:t>
            </a:r>
          </a:p>
          <a:p>
            <a:r>
              <a:rPr lang="en-US" dirty="0">
                <a:ea typeface="Calibri"/>
                <a:cs typeface="Calibri"/>
              </a:rPr>
              <a:t>As system understanding develops, you understand objects needed (which can and will be later refined)</a:t>
            </a:r>
          </a:p>
          <a:p>
            <a:endParaRPr lang="en-US">
              <a:ea typeface="Calibri"/>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3F16B05-7EED-ABEB-E4D7-FCE76BBDE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4C2B47D-3C06-570B-3D5F-F6BA0B62AB59}"/>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A2DE582F-BF01-33B4-24D3-722D14642DF8}"/>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76847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8F0B-FD27-A5A4-9DBA-2B03769BC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44478-0CEB-66A4-CC4C-1BE99F4F8C5D}"/>
              </a:ext>
            </a:extLst>
          </p:cNvPr>
          <p:cNvSpPr>
            <a:spLocks noGrp="1"/>
          </p:cNvSpPr>
          <p:nvPr>
            <p:ph type="title"/>
          </p:nvPr>
        </p:nvSpPr>
        <p:spPr/>
        <p:txBody>
          <a:bodyPr/>
          <a:lstStyle/>
          <a:p>
            <a:r>
              <a:rPr lang="en-GB" dirty="0">
                <a:ea typeface="Calibri Light"/>
                <a:cs typeface="Calibri Light"/>
              </a:rPr>
              <a:t>Object class identification</a:t>
            </a:r>
            <a:endParaRPr lang="en-US" dirty="0"/>
          </a:p>
        </p:txBody>
      </p:sp>
      <p:sp>
        <p:nvSpPr>
          <p:cNvPr id="3" name="Content Placeholder 2">
            <a:extLst>
              <a:ext uri="{FF2B5EF4-FFF2-40B4-BE49-F238E27FC236}">
                <a16:creationId xmlns:a16="http://schemas.microsoft.com/office/drawing/2014/main" id="{6AE993DF-A407-6584-94C9-2332550B43FB}"/>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Some approaches to identify objects:</a:t>
            </a:r>
            <a:endParaRPr lang="en-US" dirty="0"/>
          </a:p>
          <a:p>
            <a:pPr lvl="1"/>
            <a:r>
              <a:rPr lang="en-US" dirty="0">
                <a:ea typeface="Calibri" panose="020F0502020204030204"/>
                <a:cs typeface="Calibri"/>
              </a:rPr>
              <a:t>Grammatical analysis of natural language description of the system, where </a:t>
            </a:r>
            <a:r>
              <a:rPr lang="en-US" b="1" dirty="0">
                <a:ea typeface="Calibri" panose="020F0502020204030204"/>
                <a:cs typeface="Calibri"/>
              </a:rPr>
              <a:t>objects and attributes are nouns</a:t>
            </a:r>
            <a:r>
              <a:rPr lang="en-US" dirty="0">
                <a:ea typeface="Calibri" panose="020F0502020204030204"/>
                <a:cs typeface="Calibri"/>
              </a:rPr>
              <a:t>, and </a:t>
            </a:r>
            <a:r>
              <a:rPr lang="en-US" b="1" dirty="0">
                <a:ea typeface="Calibri" panose="020F0502020204030204"/>
                <a:cs typeface="Calibri"/>
              </a:rPr>
              <a:t>operations / services / interfaces / methods are verbs</a:t>
            </a:r>
          </a:p>
          <a:p>
            <a:pPr lvl="1"/>
            <a:r>
              <a:rPr lang="en-US" dirty="0">
                <a:ea typeface="Calibri" panose="020F0502020204030204"/>
                <a:cs typeface="Calibri"/>
              </a:rPr>
              <a:t>Objects are </a:t>
            </a:r>
            <a:r>
              <a:rPr lang="en-US" b="1" dirty="0">
                <a:ea typeface="Calibri" panose="020F0502020204030204"/>
                <a:cs typeface="Calibri"/>
              </a:rPr>
              <a:t>tangible entities</a:t>
            </a:r>
            <a:r>
              <a:rPr lang="en-US" dirty="0">
                <a:ea typeface="Calibri" panose="020F0502020204030204"/>
                <a:cs typeface="Calibri"/>
              </a:rPr>
              <a:t> (student, faculty, etc.), </a:t>
            </a:r>
            <a:r>
              <a:rPr lang="en-US" b="1" dirty="0">
                <a:ea typeface="Calibri" panose="020F0502020204030204"/>
                <a:cs typeface="Calibri"/>
              </a:rPr>
              <a:t>roles</a:t>
            </a:r>
            <a:r>
              <a:rPr lang="en-US" dirty="0">
                <a:ea typeface="Calibri" panose="020F0502020204030204"/>
                <a:cs typeface="Calibri"/>
              </a:rPr>
              <a:t> such as admin, </a:t>
            </a:r>
            <a:r>
              <a:rPr lang="en-US" b="1" dirty="0">
                <a:ea typeface="Calibri" panose="020F0502020204030204"/>
                <a:cs typeface="Calibri"/>
              </a:rPr>
              <a:t>interactions</a:t>
            </a:r>
            <a:r>
              <a:rPr lang="en-US" dirty="0">
                <a:ea typeface="Calibri" panose="020F0502020204030204"/>
                <a:cs typeface="Calibri"/>
              </a:rPr>
              <a:t> such as meetings, </a:t>
            </a:r>
            <a:r>
              <a:rPr lang="en-US" b="1" dirty="0">
                <a:ea typeface="Calibri" panose="020F0502020204030204"/>
                <a:cs typeface="Calibri"/>
              </a:rPr>
              <a:t>locations</a:t>
            </a:r>
            <a:r>
              <a:rPr lang="en-US" dirty="0">
                <a:ea typeface="Calibri" panose="020F0502020204030204"/>
                <a:cs typeface="Calibri"/>
              </a:rPr>
              <a:t> such as offices or classrooms</a:t>
            </a:r>
          </a:p>
          <a:p>
            <a:pPr lvl="1"/>
            <a:r>
              <a:rPr lang="en-US" dirty="0">
                <a:ea typeface="Calibri" panose="020F0502020204030204"/>
                <a:cs typeface="Calibri"/>
              </a:rPr>
              <a:t>Scenario analysis – Take various usage scenarios one by one, and identify the required objects (what objects and interactions take place during withdrawal of money from ATM – lab example)</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EC77924-58FF-1227-6A4A-CBDF2B7C8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A2F90AC-D277-21A4-DE01-8B0A7A3B13D2}"/>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9BA030E0-8DD4-BF49-6436-D89E896479A6}"/>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2070251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B42F-14B3-0730-1463-49645930A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1BEDD-6804-80CD-A659-907A81EFE2D8}"/>
              </a:ext>
            </a:extLst>
          </p:cNvPr>
          <p:cNvSpPr>
            <a:spLocks noGrp="1"/>
          </p:cNvSpPr>
          <p:nvPr>
            <p:ph type="title"/>
          </p:nvPr>
        </p:nvSpPr>
        <p:spPr/>
        <p:txBody>
          <a:bodyPr/>
          <a:lstStyle/>
          <a:p>
            <a:r>
              <a:rPr lang="en-GB" dirty="0">
                <a:ea typeface="Calibri Light"/>
                <a:cs typeface="Calibri Light"/>
              </a:rPr>
              <a:t>Object class identification</a:t>
            </a:r>
            <a:endParaRPr lang="en-US" dirty="0"/>
          </a:p>
        </p:txBody>
      </p:sp>
      <p:sp>
        <p:nvSpPr>
          <p:cNvPr id="3" name="Content Placeholder 2">
            <a:extLst>
              <a:ext uri="{FF2B5EF4-FFF2-40B4-BE49-F238E27FC236}">
                <a16:creationId xmlns:a16="http://schemas.microsoft.com/office/drawing/2014/main" id="{EA7E7FA0-2A86-816D-4ACE-19E8CC3D60A4}"/>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In practice, use several knowledge sources to discover objects</a:t>
            </a:r>
          </a:p>
          <a:p>
            <a:r>
              <a:rPr lang="en-US" dirty="0">
                <a:ea typeface="Calibri"/>
                <a:cs typeface="Calibri"/>
              </a:rPr>
              <a:t>Apart from object identification in previous slide, you may have to design "implementation objects", that are used to provide services – searching database (here search is an abstract operation, providing a service of searching database, and yet it can be converted to an object)</a:t>
            </a:r>
          </a:p>
          <a:p>
            <a:r>
              <a:rPr lang="en-US" dirty="0">
                <a:ea typeface="Calibri"/>
                <a:cs typeface="Calibri"/>
              </a:rPr>
              <a:t>Your tangible hardware can become objects too</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DEFA024-2F68-3A5D-2105-6AE8B7658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FC6338E-E724-3D81-BA8E-25E5D7928A00}"/>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3859ED3D-377D-F341-2AC6-D0DA20B8FBB7}"/>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44826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7718-A410-5F35-0983-E19C86D3E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04016-803B-F5E7-60B0-8F9A64EAB366}"/>
              </a:ext>
            </a:extLst>
          </p:cNvPr>
          <p:cNvSpPr>
            <a:spLocks noGrp="1"/>
          </p:cNvSpPr>
          <p:nvPr>
            <p:ph type="title"/>
          </p:nvPr>
        </p:nvSpPr>
        <p:spPr/>
        <p:txBody>
          <a:bodyPr/>
          <a:lstStyle/>
          <a:p>
            <a:r>
              <a:rPr lang="en-GB" dirty="0">
                <a:ea typeface="Calibri Light"/>
                <a:cs typeface="Calibri Light"/>
              </a:rPr>
              <a:t>Object class identification</a:t>
            </a:r>
            <a:endParaRPr lang="en-US" dirty="0"/>
          </a:p>
        </p:txBody>
      </p:sp>
      <p:pic>
        <p:nvPicPr>
          <p:cNvPr id="6" name="Picture 5" descr="A black and white logo&#10;&#10;Description automatically generated">
            <a:extLst>
              <a:ext uri="{FF2B5EF4-FFF2-40B4-BE49-F238E27FC236}">
                <a16:creationId xmlns:a16="http://schemas.microsoft.com/office/drawing/2014/main" id="{EF19BB4A-BD09-E3A5-1023-A742F02A0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6365629-13D9-CF63-69C8-DF1B6FD8128A}"/>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F6B29F5A-14BD-9B2F-B057-8EA880472D64}"/>
              </a:ext>
            </a:extLst>
          </p:cNvPr>
          <p:cNvSpPr>
            <a:spLocks noGrp="1"/>
          </p:cNvSpPr>
          <p:nvPr>
            <p:ph type="ftr" sz="quarter" idx="11"/>
          </p:nvPr>
        </p:nvSpPr>
        <p:spPr/>
        <p:txBody>
          <a:bodyPr/>
          <a:lstStyle/>
          <a:p>
            <a:r>
              <a:rPr lang="en-US"/>
              <a:t>Software Engineering</a:t>
            </a:r>
          </a:p>
        </p:txBody>
      </p:sp>
      <p:pic>
        <p:nvPicPr>
          <p:cNvPr id="19" name="Content Placeholder 18" descr="A screenshot of a computer&#10;&#10;AI-generated content may be incorrect.">
            <a:extLst>
              <a:ext uri="{FF2B5EF4-FFF2-40B4-BE49-F238E27FC236}">
                <a16:creationId xmlns:a16="http://schemas.microsoft.com/office/drawing/2014/main" id="{D24A8D2A-012D-EB40-8966-0E02DE967E08}"/>
              </a:ext>
            </a:extLst>
          </p:cNvPr>
          <p:cNvPicPr>
            <a:picLocks noGrp="1" noChangeAspect="1"/>
          </p:cNvPicPr>
          <p:nvPr>
            <p:ph idx="1"/>
          </p:nvPr>
        </p:nvPicPr>
        <p:blipFill>
          <a:blip r:embed="rId4"/>
          <a:stretch>
            <a:fillRect/>
          </a:stretch>
        </p:blipFill>
        <p:spPr>
          <a:xfrm>
            <a:off x="2614618" y="1394305"/>
            <a:ext cx="6977140" cy="5458394"/>
          </a:xfr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2717123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4D9C-EB37-253D-C5A5-808A54BB5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89376-BD58-DFFE-8117-9C454FD6CB66}"/>
              </a:ext>
            </a:extLst>
          </p:cNvPr>
          <p:cNvSpPr>
            <a:spLocks noGrp="1"/>
          </p:cNvSpPr>
          <p:nvPr>
            <p:ph type="title"/>
          </p:nvPr>
        </p:nvSpPr>
        <p:spPr/>
        <p:txBody>
          <a:bodyPr/>
          <a:lstStyle/>
          <a:p>
            <a:r>
              <a:rPr lang="en-GB" dirty="0">
                <a:ea typeface="Calibri Light"/>
                <a:cs typeface="Calibri Light"/>
              </a:rPr>
              <a:t>Object class identification</a:t>
            </a:r>
            <a:endParaRPr lang="en-US" dirty="0"/>
          </a:p>
        </p:txBody>
      </p:sp>
      <p:sp>
        <p:nvSpPr>
          <p:cNvPr id="3" name="Content Placeholder 2">
            <a:extLst>
              <a:ext uri="{FF2B5EF4-FFF2-40B4-BE49-F238E27FC236}">
                <a16:creationId xmlns:a16="http://schemas.microsoft.com/office/drawing/2014/main" id="{0310DB07-F92D-6EC6-0F60-F7A09683A8BA}"/>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Knowledge of application domain can be used to identify objects, attributes and services</a:t>
            </a:r>
          </a:p>
          <a:p>
            <a:pPr lvl="1"/>
            <a:r>
              <a:rPr lang="en-US" dirty="0">
                <a:ea typeface="Calibri"/>
                <a:cs typeface="Calibri"/>
              </a:rPr>
              <a:t>Weather stations are located in remote places and include instruments whose functioning can go wrong. This implies that we need attributes and operations to check the proper functioning of the system</a:t>
            </a:r>
          </a:p>
          <a:p>
            <a:pPr lvl="1"/>
            <a:r>
              <a:rPr lang="en-US" dirty="0">
                <a:ea typeface="Calibri"/>
                <a:cs typeface="Calibri"/>
              </a:rPr>
              <a:t>Many remote weather stations, so each station needs a unique identifier</a:t>
            </a:r>
          </a:p>
          <a:p>
            <a:pPr lvl="1"/>
            <a:r>
              <a:rPr lang="en-US" dirty="0">
                <a:ea typeface="Calibri"/>
                <a:cs typeface="Calibri"/>
              </a:rPr>
              <a:t>Weather stations can be installed at different times, and hence have different instruments, therefore each system should be uniquely identified, and might need a database table containing information of all instruments in use</a:t>
            </a:r>
          </a:p>
          <a:p>
            <a:r>
              <a:rPr lang="en-US" dirty="0">
                <a:ea typeface="Calibri"/>
                <a:cs typeface="Calibri"/>
              </a:rPr>
              <a:t>You may also identify a hierarchy in objects, and apply generalization (all instrument classes can have 'Instrument' superclass) </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1915B3C7-D199-5476-B432-0B8F62311B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F44192E-729D-ED7A-941C-7F1A858D99C7}"/>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4AF8280E-C3DF-DB4F-13E7-23B05F7F9191}"/>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594482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4D9C-EB37-253D-C5A5-808A54BB5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89376-BD58-DFFE-8117-9C454FD6CB66}"/>
              </a:ext>
            </a:extLst>
          </p:cNvPr>
          <p:cNvSpPr>
            <a:spLocks noGrp="1"/>
          </p:cNvSpPr>
          <p:nvPr>
            <p:ph type="title"/>
          </p:nvPr>
        </p:nvSpPr>
        <p:spPr/>
        <p:txBody>
          <a:bodyPr/>
          <a:lstStyle/>
          <a:p>
            <a:r>
              <a:rPr lang="en-GB" dirty="0">
                <a:ea typeface="Calibri Light"/>
                <a:cs typeface="Calibri Light"/>
              </a:rPr>
              <a:t>Object class identification: Game time!</a:t>
            </a:r>
            <a:endParaRPr lang="en-US" dirty="0"/>
          </a:p>
        </p:txBody>
      </p:sp>
      <p:sp>
        <p:nvSpPr>
          <p:cNvPr id="3" name="Content Placeholder 2">
            <a:extLst>
              <a:ext uri="{FF2B5EF4-FFF2-40B4-BE49-F238E27FC236}">
                <a16:creationId xmlns:a16="http://schemas.microsoft.com/office/drawing/2014/main" id="{0310DB07-F92D-6EC6-0F60-F7A09683A8BA}"/>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What objects exist in a spaceship?</a:t>
            </a:r>
          </a:p>
          <a:p>
            <a:endParaRPr lang="en-US" dirty="0">
              <a:ea typeface="Calibri"/>
              <a:cs typeface="Calibri"/>
            </a:endParaRPr>
          </a:p>
          <a:p>
            <a:r>
              <a:rPr lang="en-US" dirty="0">
                <a:ea typeface="Calibri"/>
                <a:cs typeface="Calibri"/>
              </a:rPr>
              <a:t>_________________</a:t>
            </a:r>
          </a:p>
          <a:p>
            <a:r>
              <a:rPr lang="en-US" dirty="0">
                <a:ea typeface="Calibri"/>
                <a:cs typeface="Calibri"/>
              </a:rPr>
              <a:t>_________________</a:t>
            </a:r>
          </a:p>
          <a:p>
            <a:r>
              <a:rPr lang="en-US" dirty="0">
                <a:ea typeface="Calibri"/>
                <a:cs typeface="Calibri"/>
              </a:rPr>
              <a:t>_________________</a:t>
            </a:r>
          </a:p>
          <a:p>
            <a:endParaRPr lang="en-US" dirty="0">
              <a:ea typeface="Calibri"/>
              <a:cs typeface="Calibri"/>
            </a:endParaRPr>
          </a:p>
          <a:p>
            <a:r>
              <a:rPr lang="en-US" dirty="0">
                <a:ea typeface="Calibri"/>
                <a:cs typeface="Calibri"/>
              </a:rPr>
              <a:t>Turn objects into spaceship entities: ‘</a:t>
            </a:r>
            <a:r>
              <a:rPr lang="en-US" dirty="0" err="1">
                <a:ea typeface="Calibri"/>
                <a:cs typeface="Calibri"/>
              </a:rPr>
              <a:t>OxygenSystem</a:t>
            </a:r>
            <a:r>
              <a:rPr lang="en-US" dirty="0">
                <a:ea typeface="Calibri"/>
                <a:cs typeface="Calibri"/>
              </a:rPr>
              <a:t>’ class can have a method say </a:t>
            </a:r>
            <a:r>
              <a:rPr lang="en-US" dirty="0" err="1">
                <a:ea typeface="Calibri"/>
                <a:cs typeface="Calibri"/>
              </a:rPr>
              <a:t>generateOxygen</a:t>
            </a:r>
            <a:r>
              <a:rPr lang="en-US" dirty="0">
                <a:ea typeface="Calibri"/>
                <a:cs typeface="Calibri"/>
              </a:rPr>
              <a:t>()</a:t>
            </a:r>
          </a:p>
          <a:p>
            <a:pPr marL="0" indent="0">
              <a:buNone/>
            </a:pPr>
            <a:endParaRPr lang="en-US" dirty="0">
              <a:ea typeface="Calibri"/>
              <a:cs typeface="Calibri"/>
            </a:endParaRPr>
          </a:p>
          <a:p>
            <a:pPr marL="0" indent="0">
              <a:buNone/>
            </a:pPr>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1915B3C7-D199-5476-B432-0B8F62311B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F44192E-729D-ED7A-941C-7F1A858D99C7}"/>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4AF8280E-C3DF-DB4F-13E7-23B05F7F919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88858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272FF-9FF5-765C-E643-D49002AF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FC3BF-3D75-B42C-AF71-98645B88E8E2}"/>
              </a:ext>
            </a:extLst>
          </p:cNvPr>
          <p:cNvSpPr>
            <a:spLocks noGrp="1"/>
          </p:cNvSpPr>
          <p:nvPr>
            <p:ph type="title"/>
          </p:nvPr>
        </p:nvSpPr>
        <p:spPr/>
        <p:txBody>
          <a:bodyPr/>
          <a:lstStyle/>
          <a:p>
            <a:r>
              <a:rPr lang="en-GB">
                <a:ea typeface="Calibri Light"/>
                <a:cs typeface="Calibri Light"/>
              </a:rPr>
              <a:t>Step 4: Design Model</a:t>
            </a:r>
            <a:endParaRPr lang="en-US"/>
          </a:p>
        </p:txBody>
      </p:sp>
      <p:sp>
        <p:nvSpPr>
          <p:cNvPr id="3" name="Content Placeholder 2">
            <a:extLst>
              <a:ext uri="{FF2B5EF4-FFF2-40B4-BE49-F238E27FC236}">
                <a16:creationId xmlns:a16="http://schemas.microsoft.com/office/drawing/2014/main" id="{6460C14C-AD4C-BAE0-B4CD-874ADC3F3916}"/>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Calibri"/>
                <a:cs typeface="Calibri"/>
              </a:rPr>
              <a:t>Stage 4 – show objects/ classes, and relationships and interactions between these entities</a:t>
            </a:r>
          </a:p>
          <a:p>
            <a:r>
              <a:rPr lang="en-US" dirty="0">
                <a:ea typeface="Calibri"/>
                <a:cs typeface="Calibri"/>
              </a:rPr>
              <a:t>Abstract but at the same time, detailed enough for programmers to make implementation decisions</a:t>
            </a:r>
          </a:p>
          <a:p>
            <a:r>
              <a:rPr lang="en-US" dirty="0">
                <a:ea typeface="Calibri"/>
                <a:cs typeface="Calibri"/>
              </a:rPr>
              <a:t>Plan based development usually requires more detailed design model</a:t>
            </a:r>
          </a:p>
          <a:p>
            <a:r>
              <a:rPr lang="en-US" dirty="0">
                <a:ea typeface="Calibri"/>
                <a:cs typeface="Calibri"/>
              </a:rPr>
              <a:t>UML supports two kinds of design model:</a:t>
            </a:r>
          </a:p>
          <a:p>
            <a:pPr lvl="1"/>
            <a:r>
              <a:rPr lang="en-US" dirty="0">
                <a:ea typeface="Calibri"/>
                <a:cs typeface="Calibri"/>
              </a:rPr>
              <a:t>Structural models: Static structure of the system</a:t>
            </a:r>
          </a:p>
          <a:p>
            <a:pPr lvl="1"/>
            <a:r>
              <a:rPr lang="en-US" dirty="0">
                <a:ea typeface="Calibri"/>
                <a:cs typeface="Calibri"/>
              </a:rPr>
              <a:t>Dynamic models: dynamic structure and runtime interactions</a:t>
            </a:r>
          </a:p>
          <a:p>
            <a:r>
              <a:rPr lang="en-US" dirty="0">
                <a:ea typeface="Calibri"/>
                <a:cs typeface="Calibri"/>
              </a:rPr>
              <a:t>Three UML model types:</a:t>
            </a:r>
          </a:p>
          <a:p>
            <a:pPr lvl="1"/>
            <a:r>
              <a:rPr lang="en-US" dirty="0">
                <a:ea typeface="Calibri"/>
                <a:cs typeface="Calibri"/>
              </a:rPr>
              <a:t>Subsystem model: logical grouping of objects into systems and subsystems</a:t>
            </a:r>
          </a:p>
          <a:p>
            <a:pPr lvl="1"/>
            <a:r>
              <a:rPr lang="en-US" dirty="0">
                <a:ea typeface="Calibri"/>
                <a:cs typeface="Calibri"/>
              </a:rPr>
              <a:t>Sequence model: shows sequence of object interactions</a:t>
            </a:r>
          </a:p>
          <a:p>
            <a:pPr lvl="1"/>
            <a:r>
              <a:rPr lang="en-US" dirty="0">
                <a:ea typeface="Calibri"/>
                <a:cs typeface="Calibri"/>
              </a:rPr>
              <a:t>State machine model: shows how objects change in response to events</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F8944A4-B623-877A-67F3-F0D3DA18C8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3966ACC-2897-D26C-9DE7-CFDA74F89885}"/>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0CCDC520-65AD-15DF-52CA-72A8855A967A}"/>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1605451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F52B2-0631-C704-4A6D-EE4F2682B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72A3A-5469-9110-6F2C-A65EF7486528}"/>
              </a:ext>
            </a:extLst>
          </p:cNvPr>
          <p:cNvSpPr>
            <a:spLocks noGrp="1"/>
          </p:cNvSpPr>
          <p:nvPr>
            <p:ph type="title"/>
          </p:nvPr>
        </p:nvSpPr>
        <p:spPr/>
        <p:txBody>
          <a:bodyPr/>
          <a:lstStyle/>
          <a:p>
            <a:r>
              <a:rPr lang="en-GB">
                <a:ea typeface="Calibri Light"/>
                <a:cs typeface="Calibri Light"/>
              </a:rPr>
              <a:t>Step 5: Interface Specification</a:t>
            </a:r>
            <a:endParaRPr lang="en-US"/>
          </a:p>
        </p:txBody>
      </p:sp>
      <p:sp>
        <p:nvSpPr>
          <p:cNvPr id="3" name="Content Placeholder 2">
            <a:extLst>
              <a:ext uri="{FF2B5EF4-FFF2-40B4-BE49-F238E27FC236}">
                <a16:creationId xmlns:a16="http://schemas.microsoft.com/office/drawing/2014/main" id="{7A2BFC52-1A19-4401-4B4F-67BA99F350FE}"/>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Calibri"/>
                <a:cs typeface="Calibri"/>
              </a:rPr>
              <a:t>Specifies the interfaces between the components identified by design</a:t>
            </a:r>
          </a:p>
          <a:p>
            <a:r>
              <a:rPr lang="en-US" dirty="0">
                <a:ea typeface="Calibri"/>
                <a:cs typeface="Calibri"/>
              </a:rPr>
              <a:t>Important since it enables parallel implementation of objects/ subsystems</a:t>
            </a:r>
          </a:p>
          <a:p>
            <a:r>
              <a:rPr lang="en-US" dirty="0">
                <a:ea typeface="Calibri"/>
                <a:cs typeface="Calibri"/>
              </a:rPr>
              <a:t>Once interface is specified, it is assumed that the person developing the particular object/ component/ subsystem</a:t>
            </a:r>
            <a:r>
              <a:rPr lang="en-US">
                <a:ea typeface="Calibri"/>
                <a:cs typeface="Calibri"/>
              </a:rPr>
              <a:t> will provide the specified interfaces</a:t>
            </a:r>
            <a:endParaRPr lang="en-US" dirty="0">
              <a:ea typeface="Calibri"/>
              <a:cs typeface="Calibri"/>
            </a:endParaRPr>
          </a:p>
          <a:p>
            <a:r>
              <a:rPr lang="en-US" dirty="0">
                <a:ea typeface="Calibri"/>
                <a:cs typeface="Calibri"/>
              </a:rPr>
              <a:t>Specified in UML in notation similar to class diagram, however, there is no attributes section</a:t>
            </a:r>
          </a:p>
          <a:p>
            <a:r>
              <a:rPr lang="en-US" dirty="0">
                <a:ea typeface="Calibri"/>
                <a:cs typeface="Calibri"/>
              </a:rPr>
              <a:t>UML stereotype &lt;&lt;interface&gt;&gt; is used to indicate interfaces</a:t>
            </a:r>
          </a:p>
          <a:p>
            <a:r>
              <a:rPr lang="en-US" dirty="0">
                <a:ea typeface="Calibri"/>
                <a:cs typeface="Calibri"/>
              </a:rPr>
              <a:t>Include operations to access and update data</a:t>
            </a:r>
          </a:p>
          <a:p>
            <a:r>
              <a:rPr lang="en-US" dirty="0">
                <a:ea typeface="Calibri"/>
                <a:cs typeface="Calibri"/>
              </a:rPr>
              <a:t>As data is hidden, it can be changed without affecting object behavior, and code is more maintainable</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6AC82E91-7D58-6522-E950-36EF6379E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E6D64E-C8CC-911E-6C38-44884E9815AE}"/>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F3E00376-9222-1A9C-A344-90800E932B01}"/>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4073262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808CA-6A18-4047-80D9-227CF6AA1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40094-F890-9618-CE5E-8AED6E1EE8C4}"/>
              </a:ext>
            </a:extLst>
          </p:cNvPr>
          <p:cNvSpPr>
            <a:spLocks noGrp="1"/>
          </p:cNvSpPr>
          <p:nvPr>
            <p:ph type="title"/>
          </p:nvPr>
        </p:nvSpPr>
        <p:spPr/>
        <p:txBody>
          <a:bodyPr/>
          <a:lstStyle/>
          <a:p>
            <a:r>
              <a:rPr lang="en-GB" dirty="0">
                <a:ea typeface="Calibri Light"/>
                <a:cs typeface="Calibri Light"/>
              </a:rPr>
              <a:t>Interface Specification</a:t>
            </a:r>
            <a:endParaRPr lang="en-US" dirty="0"/>
          </a:p>
        </p:txBody>
      </p:sp>
      <p:sp>
        <p:nvSpPr>
          <p:cNvPr id="3" name="Content Placeholder 2">
            <a:extLst>
              <a:ext uri="{FF2B5EF4-FFF2-40B4-BE49-F238E27FC236}">
                <a16:creationId xmlns:a16="http://schemas.microsoft.com/office/drawing/2014/main" id="{BC56635F-8B4D-049C-1953-140A96010099}"/>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D3DEBFA-2C24-496F-2AA6-E7CDFBC6B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BC1CEC1-294E-6F0E-3851-EA8623552F11}"/>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4FB120BE-E9D1-98AC-CFF1-0DB27DCFCE9D}"/>
              </a:ext>
            </a:extLst>
          </p:cNvPr>
          <p:cNvSpPr>
            <a:spLocks noGrp="1"/>
          </p:cNvSpPr>
          <p:nvPr>
            <p:ph type="ftr" sz="quarter" idx="11"/>
          </p:nvPr>
        </p:nvSpPr>
        <p:spPr/>
        <p:txBody>
          <a:bodyPr/>
          <a:lstStyle/>
          <a:p>
            <a:r>
              <a:rPr lang="en-US"/>
              <a:t>Software Engineering</a:t>
            </a:r>
          </a:p>
        </p:txBody>
      </p:sp>
      <p:pic>
        <p:nvPicPr>
          <p:cNvPr id="4" name="Picture 3" descr="A screenshot of a computer screen&#10;&#10;AI-generated content may be incorrect.">
            <a:extLst>
              <a:ext uri="{FF2B5EF4-FFF2-40B4-BE49-F238E27FC236}">
                <a16:creationId xmlns:a16="http://schemas.microsoft.com/office/drawing/2014/main" id="{55CCB0CC-FE3C-8A1B-761E-D0E1C56867D7}"/>
              </a:ext>
            </a:extLst>
          </p:cNvPr>
          <p:cNvPicPr>
            <a:picLocks noChangeAspect="1"/>
          </p:cNvPicPr>
          <p:nvPr/>
        </p:nvPicPr>
        <p:blipFill>
          <a:blip r:embed="rId4"/>
          <a:stretch>
            <a:fillRect/>
          </a:stretch>
        </p:blipFill>
        <p:spPr>
          <a:xfrm>
            <a:off x="831641" y="2500762"/>
            <a:ext cx="10528719" cy="3064174"/>
          </a:xfrm>
          <a:prstGeom prst="rect">
            <a:avLst/>
          </a:prstGeo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932050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425A-CE2A-1D09-FC8D-DECEFE54C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A488E-9372-FFFF-F142-AE3C52021539}"/>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5E795F41-6892-08EE-6779-C8A7A5CE3AB0}"/>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panose="020F0502020204030204"/>
                <a:cs typeface="Calibri"/>
              </a:rPr>
              <a:t>Design Patterns</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172A3E8-1F2A-A6BB-23A2-671FC5392C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4C3FD79-9F57-33CB-D3A0-E94B1CB0675C}"/>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05586D90-4869-BB9D-14BD-6E8D5C2E0489}"/>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2236724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D823-2F2E-2E98-96F4-49B551B52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2A68B-B736-2C71-AE16-7245D256EE90}"/>
              </a:ext>
            </a:extLst>
          </p:cNvPr>
          <p:cNvSpPr>
            <a:spLocks noGrp="1"/>
          </p:cNvSpPr>
          <p:nvPr>
            <p:ph type="title"/>
          </p:nvPr>
        </p:nvSpPr>
        <p:spPr/>
        <p:txBody>
          <a:bodyPr/>
          <a:lstStyle/>
          <a:p>
            <a:r>
              <a:rPr lang="en-GB" dirty="0">
                <a:ea typeface="Calibri Light"/>
                <a:cs typeface="Calibri Light"/>
              </a:rPr>
              <a:t>Design Patterns</a:t>
            </a:r>
          </a:p>
        </p:txBody>
      </p:sp>
      <p:sp>
        <p:nvSpPr>
          <p:cNvPr id="3" name="Content Placeholder 2">
            <a:extLst>
              <a:ext uri="{FF2B5EF4-FFF2-40B4-BE49-F238E27FC236}">
                <a16:creationId xmlns:a16="http://schemas.microsoft.com/office/drawing/2014/main" id="{433B0058-2DF5-3EDF-4FA4-8B04C1486768}"/>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Certain common patterns of building design that are effective</a:t>
            </a:r>
          </a:p>
          <a:p>
            <a:r>
              <a:rPr lang="en-US" dirty="0">
                <a:ea typeface="Calibri"/>
                <a:cs typeface="Calibri"/>
              </a:rPr>
              <a:t>Pattern is a description of the problem and the solution</a:t>
            </a:r>
          </a:p>
          <a:p>
            <a:r>
              <a:rPr lang="en-US" dirty="0">
                <a:ea typeface="Calibri"/>
                <a:cs typeface="Calibri"/>
              </a:rPr>
              <a:t>A well-tried solution to a common problem</a:t>
            </a:r>
          </a:p>
          <a:p>
            <a:r>
              <a:rPr lang="en-US" dirty="0">
                <a:ea typeface="Calibri"/>
                <a:cs typeface="Calibri"/>
              </a:rPr>
              <a:t>Apart from being tested solution to common problems, they have become a vocabulary for talking about a design (you can explain your design by mentioning your design pattern)</a:t>
            </a:r>
          </a:p>
          <a:p>
            <a:r>
              <a:rPr lang="en-US" dirty="0">
                <a:ea typeface="Calibri"/>
                <a:cs typeface="Calibri"/>
              </a:rPr>
              <a:t>Four essential elements to design patterns</a:t>
            </a:r>
          </a:p>
          <a:p>
            <a:pPr lvl="1"/>
            <a:r>
              <a:rPr lang="en-US" dirty="0">
                <a:ea typeface="Calibri"/>
                <a:cs typeface="Calibri"/>
              </a:rPr>
              <a:t>A name</a:t>
            </a:r>
          </a:p>
          <a:p>
            <a:pPr lvl="1"/>
            <a:r>
              <a:rPr lang="en-US" dirty="0">
                <a:ea typeface="Calibri"/>
                <a:cs typeface="Calibri"/>
              </a:rPr>
              <a:t>A description of the problem area</a:t>
            </a:r>
          </a:p>
          <a:p>
            <a:pPr lvl="1"/>
            <a:r>
              <a:rPr lang="en-US" dirty="0">
                <a:ea typeface="Calibri"/>
                <a:cs typeface="Calibri"/>
              </a:rPr>
              <a:t>A solution description</a:t>
            </a:r>
          </a:p>
          <a:p>
            <a:pPr lvl="1"/>
            <a:r>
              <a:rPr lang="en-US" dirty="0">
                <a:ea typeface="Calibri"/>
                <a:cs typeface="Calibri"/>
              </a:rPr>
              <a:t>A statement of consequences (results and tradeoffs of applying this pattern)</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4F33E1EE-F68A-74EC-A823-034174C62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71D675D-B946-DA49-ED1A-42FC1ACCF461}"/>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A81FCE0E-EBD7-D151-5BF3-1ED6BF27FF27}"/>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807726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C287-6ACE-BF78-3737-AEE1B22CD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AD302-0A9D-C54F-C87C-F28EF41695F2}"/>
              </a:ext>
            </a:extLst>
          </p:cNvPr>
          <p:cNvSpPr>
            <a:spLocks noGrp="1"/>
          </p:cNvSpPr>
          <p:nvPr>
            <p:ph type="title"/>
          </p:nvPr>
        </p:nvSpPr>
        <p:spPr/>
        <p:txBody>
          <a:bodyPr/>
          <a:lstStyle/>
          <a:p>
            <a:r>
              <a:rPr lang="en-GB" dirty="0">
                <a:ea typeface="Calibri Light"/>
                <a:cs typeface="Calibri Light"/>
              </a:rPr>
              <a:t>Design Patterns: Sample</a:t>
            </a:r>
          </a:p>
        </p:txBody>
      </p:sp>
      <p:pic>
        <p:nvPicPr>
          <p:cNvPr id="6" name="Picture 5" descr="A black and white logo&#10;&#10;Description automatically generated">
            <a:extLst>
              <a:ext uri="{FF2B5EF4-FFF2-40B4-BE49-F238E27FC236}">
                <a16:creationId xmlns:a16="http://schemas.microsoft.com/office/drawing/2014/main" id="{3E05D5D1-871D-0471-0B0C-FAC692A9D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A5172A4-D7A6-22A0-2882-300E4EBD0EC9}"/>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DAE269E1-E40E-F856-1D62-DA883C66E082}"/>
              </a:ext>
            </a:extLst>
          </p:cNvPr>
          <p:cNvSpPr>
            <a:spLocks noGrp="1"/>
          </p:cNvSpPr>
          <p:nvPr>
            <p:ph type="ftr" sz="quarter" idx="11"/>
          </p:nvPr>
        </p:nvSpPr>
        <p:spPr/>
        <p:txBody>
          <a:bodyPr/>
          <a:lstStyle/>
          <a:p>
            <a:r>
              <a:rPr lang="en-US"/>
              <a:t>Software Engineering</a:t>
            </a:r>
          </a:p>
        </p:txBody>
      </p:sp>
      <p:pic>
        <p:nvPicPr>
          <p:cNvPr id="9" name="Content Placeholder 8" descr="A blue text with white text&#10;&#10;AI-generated content may be incorrect.">
            <a:extLst>
              <a:ext uri="{FF2B5EF4-FFF2-40B4-BE49-F238E27FC236}">
                <a16:creationId xmlns:a16="http://schemas.microsoft.com/office/drawing/2014/main" id="{1AB0A391-B777-191A-2E20-4947DD6945E7}"/>
              </a:ext>
            </a:extLst>
          </p:cNvPr>
          <p:cNvPicPr>
            <a:picLocks noGrp="1" noChangeAspect="1"/>
          </p:cNvPicPr>
          <p:nvPr>
            <p:ph idx="1"/>
          </p:nvPr>
        </p:nvPicPr>
        <p:blipFill>
          <a:blip r:embed="rId4"/>
          <a:stretch>
            <a:fillRect/>
          </a:stretch>
        </p:blipFill>
        <p:spPr>
          <a:xfrm>
            <a:off x="1771317" y="1408682"/>
            <a:ext cx="8649364" cy="5444017"/>
          </a:xfrm>
        </p:spPr>
      </p:pic>
      <p:sp>
        <p:nvSpPr>
          <p:cNvPr id="10" name="TextBox 9"/>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1634174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87C2-8D05-4632-47FB-27D4E48A8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6EEEF-0CB9-8C72-3ED7-E9FF9A5A055D}"/>
              </a:ext>
            </a:extLst>
          </p:cNvPr>
          <p:cNvSpPr>
            <a:spLocks noGrp="1"/>
          </p:cNvSpPr>
          <p:nvPr>
            <p:ph type="title"/>
          </p:nvPr>
        </p:nvSpPr>
        <p:spPr/>
        <p:txBody>
          <a:bodyPr/>
          <a:lstStyle/>
          <a:p>
            <a:r>
              <a:rPr lang="en-GB" dirty="0">
                <a:ea typeface="Calibri Light"/>
                <a:cs typeface="Calibri Light"/>
              </a:rPr>
              <a:t>Design Patterns: Sample</a:t>
            </a:r>
          </a:p>
        </p:txBody>
      </p:sp>
      <p:pic>
        <p:nvPicPr>
          <p:cNvPr id="6" name="Picture 5" descr="A black and white logo&#10;&#10;Description automatically generated">
            <a:extLst>
              <a:ext uri="{FF2B5EF4-FFF2-40B4-BE49-F238E27FC236}">
                <a16:creationId xmlns:a16="http://schemas.microsoft.com/office/drawing/2014/main" id="{7EDD5360-2F37-F93C-1864-60D50CC78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1DC8B2D-5F29-005D-11E0-2899260DD1B8}"/>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593F73BD-0CE0-C836-E303-5882ACCFD410}"/>
              </a:ext>
            </a:extLst>
          </p:cNvPr>
          <p:cNvSpPr>
            <a:spLocks noGrp="1"/>
          </p:cNvSpPr>
          <p:nvPr>
            <p:ph type="ftr" sz="quarter" idx="11"/>
          </p:nvPr>
        </p:nvSpPr>
        <p:spPr/>
        <p:txBody>
          <a:bodyPr/>
          <a:lstStyle/>
          <a:p>
            <a:r>
              <a:rPr lang="en-US"/>
              <a:t>Software Engineering</a:t>
            </a:r>
          </a:p>
        </p:txBody>
      </p:sp>
      <p:pic>
        <p:nvPicPr>
          <p:cNvPr id="5" name="Content Placeholder 4" descr="A diagram of a graph&#10;&#10;AI-generated content may be incorrect.">
            <a:extLst>
              <a:ext uri="{FF2B5EF4-FFF2-40B4-BE49-F238E27FC236}">
                <a16:creationId xmlns:a16="http://schemas.microsoft.com/office/drawing/2014/main" id="{9BC4DD54-CE51-CE62-AE52-1F08C0C7303D}"/>
              </a:ext>
            </a:extLst>
          </p:cNvPr>
          <p:cNvPicPr>
            <a:picLocks noGrp="1" noChangeAspect="1"/>
          </p:cNvPicPr>
          <p:nvPr>
            <p:ph idx="1"/>
          </p:nvPr>
        </p:nvPicPr>
        <p:blipFill>
          <a:blip r:embed="rId4"/>
          <a:stretch>
            <a:fillRect/>
          </a:stretch>
        </p:blipFill>
        <p:spPr>
          <a:xfrm>
            <a:off x="2823983" y="1701815"/>
            <a:ext cx="6529657" cy="4383297"/>
          </a:xfrm>
        </p:spPr>
      </p:pic>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3392806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D823-2F2E-2E98-96F4-49B551B52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2A68B-B736-2C71-AE16-7245D256EE90}"/>
              </a:ext>
            </a:extLst>
          </p:cNvPr>
          <p:cNvSpPr>
            <a:spLocks noGrp="1"/>
          </p:cNvSpPr>
          <p:nvPr>
            <p:ph type="title"/>
          </p:nvPr>
        </p:nvSpPr>
        <p:spPr/>
        <p:txBody>
          <a:bodyPr/>
          <a:lstStyle/>
          <a:p>
            <a:r>
              <a:rPr lang="en-GB" dirty="0">
                <a:ea typeface="Calibri Light"/>
                <a:cs typeface="Calibri Light"/>
              </a:rPr>
              <a:t>Design pattern: Back to our spaceship </a:t>
            </a:r>
          </a:p>
        </p:txBody>
      </p:sp>
      <p:sp>
        <p:nvSpPr>
          <p:cNvPr id="3" name="Content Placeholder 2">
            <a:extLst>
              <a:ext uri="{FF2B5EF4-FFF2-40B4-BE49-F238E27FC236}">
                <a16:creationId xmlns:a16="http://schemas.microsoft.com/office/drawing/2014/main" id="{433B0058-2DF5-3EDF-4FA4-8B04C1486768}"/>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a:ea typeface="Calibri"/>
                <a:cs typeface="Calibri"/>
              </a:rPr>
              <a:t>Observer pattern: Sensors notify and alert the ship</a:t>
            </a:r>
          </a:p>
          <a:p>
            <a:pPr lvl="1">
              <a:buFont typeface="Courier New" panose="020B0604020202020204" pitchFamily="34" charset="0"/>
              <a:buChar char="o"/>
            </a:pPr>
            <a:r>
              <a:rPr lang="en-US" dirty="0">
                <a:ea typeface="Calibri"/>
                <a:cs typeface="Calibri"/>
              </a:rPr>
              <a:t>Grace doesn’t constantly ask Rocky if he is there? He just listens, he reacts to any signal sent by Rocky</a:t>
            </a:r>
          </a:p>
          <a:p>
            <a:r>
              <a:rPr lang="en-US" dirty="0">
                <a:ea typeface="Calibri"/>
                <a:cs typeface="Calibri"/>
              </a:rPr>
              <a:t>Singleton: Only one main control system on the ship! You do not want </a:t>
            </a:r>
            <a:r>
              <a:rPr lang="en-US">
                <a:ea typeface="Calibri"/>
                <a:cs typeface="Calibri"/>
              </a:rPr>
              <a:t>TWO captains issuing commands on the ship</a:t>
            </a:r>
          </a:p>
          <a:p>
            <a:endParaRPr lang="en-US" dirty="0">
              <a:ea typeface="Calibri"/>
              <a:cs typeface="Calibri"/>
            </a:endParaRPr>
          </a:p>
          <a:p>
            <a:r>
              <a:rPr lang="en-US" dirty="0">
                <a:ea typeface="Calibri"/>
                <a:cs typeface="Calibri"/>
              </a:rPr>
              <a:t>Architectural pattern – spaceship blueprint</a:t>
            </a:r>
          </a:p>
          <a:p>
            <a:r>
              <a:rPr lang="en-US" dirty="0">
                <a:ea typeface="Calibri"/>
                <a:cs typeface="Calibri"/>
              </a:rPr>
              <a:t>Design pattern – how buttons and controls work</a:t>
            </a:r>
          </a:p>
          <a:p>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4F33E1EE-F68A-74EC-A823-034174C62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71D675D-B946-DA49-ED1A-42FC1ACCF461}"/>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A81FCE0E-EBD7-D151-5BF3-1ED6BF27FF2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23050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CEA6-8F72-8643-E4B8-1FFF406E8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73FE7-9344-323A-112E-4464F7CB6AD5}"/>
              </a:ext>
            </a:extLst>
          </p:cNvPr>
          <p:cNvSpPr>
            <a:spLocks noGrp="1"/>
          </p:cNvSpPr>
          <p:nvPr>
            <p:ph type="title"/>
          </p:nvPr>
        </p:nvSpPr>
        <p:spPr/>
        <p:txBody>
          <a:bodyPr/>
          <a:lstStyle/>
          <a:p>
            <a:r>
              <a:rPr lang="en-GB">
                <a:ea typeface="Calibri Light"/>
                <a:cs typeface="Calibri Light"/>
              </a:rPr>
              <a:t>Difference between design and arch. pattern?</a:t>
            </a:r>
            <a:endParaRPr lang="en-US"/>
          </a:p>
        </p:txBody>
      </p:sp>
      <p:sp>
        <p:nvSpPr>
          <p:cNvPr id="3" name="Content Placeholder 2">
            <a:extLst>
              <a:ext uri="{FF2B5EF4-FFF2-40B4-BE49-F238E27FC236}">
                <a16:creationId xmlns:a16="http://schemas.microsoft.com/office/drawing/2014/main" id="{6153BF39-67CD-18C6-7A50-09815897C3D7}"/>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50B83D3C-4690-261A-1B09-59FC03B00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E9019F-7098-CAD2-A5D4-6C0C453175DD}"/>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03E8D682-3D4A-D832-A208-1B3522E42779}"/>
              </a:ext>
            </a:extLst>
          </p:cNvPr>
          <p:cNvSpPr>
            <a:spLocks noGrp="1"/>
          </p:cNvSpPr>
          <p:nvPr>
            <p:ph type="ftr" sz="quarter" idx="11"/>
          </p:nvPr>
        </p:nvSpPr>
        <p:spPr/>
        <p:txBody>
          <a:bodyPr/>
          <a:lstStyle/>
          <a:p>
            <a:r>
              <a:rPr lang="en-US"/>
              <a:t>Software Engineering</a:t>
            </a:r>
          </a:p>
        </p:txBody>
      </p:sp>
      <p:graphicFrame>
        <p:nvGraphicFramePr>
          <p:cNvPr id="4" name="Table 3">
            <a:extLst>
              <a:ext uri="{FF2B5EF4-FFF2-40B4-BE49-F238E27FC236}">
                <a16:creationId xmlns:a16="http://schemas.microsoft.com/office/drawing/2014/main" id="{B5D0F6CB-C5D5-DD35-809E-258F0FA5C08E}"/>
              </a:ext>
            </a:extLst>
          </p:cNvPr>
          <p:cNvGraphicFramePr>
            <a:graphicFrameLocks noGrp="1"/>
          </p:cNvGraphicFramePr>
          <p:nvPr>
            <p:extLst>
              <p:ext uri="{D42A27DB-BD31-4B8C-83A1-F6EECF244321}">
                <p14:modId xmlns:p14="http://schemas.microsoft.com/office/powerpoint/2010/main" val="44705775"/>
              </p:ext>
            </p:extLst>
          </p:nvPr>
        </p:nvGraphicFramePr>
        <p:xfrm>
          <a:off x="1350322" y="1944452"/>
          <a:ext cx="9506394" cy="3844728"/>
        </p:xfrm>
        <a:graphic>
          <a:graphicData uri="http://schemas.openxmlformats.org/drawingml/2006/table">
            <a:tbl>
              <a:tblPr firstRow="1" bandRow="1">
                <a:tableStyleId>{5940675A-B579-460E-94D1-54222C63F5DA}</a:tableStyleId>
              </a:tblPr>
              <a:tblGrid>
                <a:gridCol w="1891820">
                  <a:extLst>
                    <a:ext uri="{9D8B030D-6E8A-4147-A177-3AD203B41FA5}">
                      <a16:colId xmlns:a16="http://schemas.microsoft.com/office/drawing/2014/main" val="3141833067"/>
                    </a:ext>
                  </a:extLst>
                </a:gridCol>
                <a:gridCol w="3960999">
                  <a:extLst>
                    <a:ext uri="{9D8B030D-6E8A-4147-A177-3AD203B41FA5}">
                      <a16:colId xmlns:a16="http://schemas.microsoft.com/office/drawing/2014/main" val="849878576"/>
                    </a:ext>
                  </a:extLst>
                </a:gridCol>
                <a:gridCol w="3653575">
                  <a:extLst>
                    <a:ext uri="{9D8B030D-6E8A-4147-A177-3AD203B41FA5}">
                      <a16:colId xmlns:a16="http://schemas.microsoft.com/office/drawing/2014/main" val="3930535329"/>
                    </a:ext>
                  </a:extLst>
                </a:gridCol>
              </a:tblGrid>
              <a:tr h="676672">
                <a:tc>
                  <a:txBody>
                    <a:bodyPr/>
                    <a:lstStyle/>
                    <a:p>
                      <a:r>
                        <a:rPr lang="en-GB" dirty="0"/>
                        <a:t>Feature</a:t>
                      </a:r>
                    </a:p>
                  </a:txBody>
                  <a:tcPr/>
                </a:tc>
                <a:tc>
                  <a:txBody>
                    <a:bodyPr/>
                    <a:lstStyle/>
                    <a:p>
                      <a:r>
                        <a:rPr lang="en-GB" dirty="0"/>
                        <a:t>Design Pattern</a:t>
                      </a:r>
                    </a:p>
                  </a:txBody>
                  <a:tcPr/>
                </a:tc>
                <a:tc>
                  <a:txBody>
                    <a:bodyPr/>
                    <a:lstStyle/>
                    <a:p>
                      <a:r>
                        <a:rPr lang="en-GB" dirty="0"/>
                        <a:t>Architecture Pattern</a:t>
                      </a:r>
                    </a:p>
                  </a:txBody>
                  <a:tcPr/>
                </a:tc>
                <a:extLst>
                  <a:ext uri="{0D108BD9-81ED-4DB2-BD59-A6C34878D82A}">
                    <a16:rowId xmlns:a16="http://schemas.microsoft.com/office/drawing/2014/main" val="3025753303"/>
                  </a:ext>
                </a:extLst>
              </a:tr>
              <a:tr h="676672">
                <a:tc>
                  <a:txBody>
                    <a:bodyPr/>
                    <a:lstStyle/>
                    <a:p>
                      <a:r>
                        <a:rPr lang="en-GB" dirty="0"/>
                        <a:t>Scope</a:t>
                      </a:r>
                    </a:p>
                  </a:txBody>
                  <a:tcPr/>
                </a:tc>
                <a:tc>
                  <a:txBody>
                    <a:bodyPr/>
                    <a:lstStyle/>
                    <a:p>
                      <a:r>
                        <a:rPr lang="en-GB" dirty="0"/>
                        <a:t>Local (class / module)</a:t>
                      </a:r>
                    </a:p>
                  </a:txBody>
                  <a:tcPr/>
                </a:tc>
                <a:tc>
                  <a:txBody>
                    <a:bodyPr/>
                    <a:lstStyle/>
                    <a:p>
                      <a:r>
                        <a:rPr lang="en-GB" dirty="0"/>
                        <a:t>Global (application/ system)</a:t>
                      </a:r>
                    </a:p>
                  </a:txBody>
                  <a:tcPr/>
                </a:tc>
                <a:extLst>
                  <a:ext uri="{0D108BD9-81ED-4DB2-BD59-A6C34878D82A}">
                    <a16:rowId xmlns:a16="http://schemas.microsoft.com/office/drawing/2014/main" val="4025164428"/>
                  </a:ext>
                </a:extLst>
              </a:tr>
              <a:tr h="676672">
                <a:tc>
                  <a:txBody>
                    <a:bodyPr/>
                    <a:lstStyle/>
                    <a:p>
                      <a:r>
                        <a:rPr lang="en-GB" dirty="0"/>
                        <a:t>Abstraction</a:t>
                      </a:r>
                    </a:p>
                  </a:txBody>
                  <a:tcPr/>
                </a:tc>
                <a:tc>
                  <a:txBody>
                    <a:bodyPr/>
                    <a:lstStyle/>
                    <a:p>
                      <a:r>
                        <a:rPr lang="en-GB" dirty="0"/>
                        <a:t>Lower</a:t>
                      </a:r>
                    </a:p>
                  </a:txBody>
                  <a:tcPr/>
                </a:tc>
                <a:tc>
                  <a:txBody>
                    <a:bodyPr/>
                    <a:lstStyle/>
                    <a:p>
                      <a:r>
                        <a:rPr lang="en-GB" dirty="0"/>
                        <a:t>Higher</a:t>
                      </a:r>
                    </a:p>
                  </a:txBody>
                  <a:tcPr/>
                </a:tc>
                <a:extLst>
                  <a:ext uri="{0D108BD9-81ED-4DB2-BD59-A6C34878D82A}">
                    <a16:rowId xmlns:a16="http://schemas.microsoft.com/office/drawing/2014/main" val="3218868001"/>
                  </a:ext>
                </a:extLst>
              </a:tr>
              <a:tr h="1138040">
                <a:tc>
                  <a:txBody>
                    <a:bodyPr/>
                    <a:lstStyle/>
                    <a:p>
                      <a:r>
                        <a:rPr lang="en-GB" dirty="0"/>
                        <a:t>Focus</a:t>
                      </a:r>
                    </a:p>
                  </a:txBody>
                  <a:tcPr/>
                </a:tc>
                <a:tc>
                  <a:txBody>
                    <a:bodyPr/>
                    <a:lstStyle/>
                    <a:p>
                      <a:r>
                        <a:rPr lang="en-GB" dirty="0"/>
                        <a:t>Object creation, interaction</a:t>
                      </a:r>
                    </a:p>
                  </a:txBody>
                  <a:tcPr/>
                </a:tc>
                <a:tc>
                  <a:txBody>
                    <a:bodyPr/>
                    <a:lstStyle/>
                    <a:p>
                      <a:r>
                        <a:rPr lang="en-GB" dirty="0"/>
                        <a:t>Application structure and data flow between components</a:t>
                      </a:r>
                    </a:p>
                  </a:txBody>
                  <a:tcPr/>
                </a:tc>
                <a:extLst>
                  <a:ext uri="{0D108BD9-81ED-4DB2-BD59-A6C34878D82A}">
                    <a16:rowId xmlns:a16="http://schemas.microsoft.com/office/drawing/2014/main" val="659299079"/>
                  </a:ext>
                </a:extLst>
              </a:tr>
              <a:tr h="676672">
                <a:tc>
                  <a:txBody>
                    <a:bodyPr/>
                    <a:lstStyle/>
                    <a:p>
                      <a:r>
                        <a:rPr lang="en-GB" dirty="0"/>
                        <a:t>Examples</a:t>
                      </a:r>
                    </a:p>
                  </a:txBody>
                  <a:tcPr/>
                </a:tc>
                <a:tc>
                  <a:txBody>
                    <a:bodyPr/>
                    <a:lstStyle/>
                    <a:p>
                      <a:r>
                        <a:rPr lang="en-GB" dirty="0"/>
                        <a:t>Observer, Singleton, etc.</a:t>
                      </a:r>
                    </a:p>
                  </a:txBody>
                  <a:tcPr/>
                </a:tc>
                <a:tc>
                  <a:txBody>
                    <a:bodyPr/>
                    <a:lstStyle/>
                    <a:p>
                      <a:r>
                        <a:rPr lang="en-GB" dirty="0"/>
                        <a:t>MVC, microservices, Layered</a:t>
                      </a:r>
                    </a:p>
                  </a:txBody>
                  <a:tcPr/>
                </a:tc>
                <a:extLst>
                  <a:ext uri="{0D108BD9-81ED-4DB2-BD59-A6C34878D82A}">
                    <a16:rowId xmlns:a16="http://schemas.microsoft.com/office/drawing/2014/main" val="3601243632"/>
                  </a:ext>
                </a:extLst>
              </a:tr>
            </a:tbl>
          </a:graphicData>
        </a:graphic>
      </p:graphicFrame>
    </p:spTree>
    <p:extLst>
      <p:ext uri="{BB962C8B-B14F-4D97-AF65-F5344CB8AC3E}">
        <p14:creationId xmlns:p14="http://schemas.microsoft.com/office/powerpoint/2010/main" val="1751194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0C5B-511D-75EB-46E6-7CD897C7D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D8CC2-28BF-D0BD-AA97-E21707D7D473}"/>
              </a:ext>
            </a:extLst>
          </p:cNvPr>
          <p:cNvSpPr>
            <a:spLocks noGrp="1"/>
          </p:cNvSpPr>
          <p:nvPr>
            <p:ph type="title"/>
          </p:nvPr>
        </p:nvSpPr>
        <p:spPr/>
        <p:txBody>
          <a:bodyPr/>
          <a:lstStyle/>
          <a:p>
            <a:r>
              <a:rPr lang="en-GB" dirty="0">
                <a:ea typeface="Calibri Light"/>
                <a:cs typeface="Calibri Light"/>
              </a:rPr>
              <a:t>Design pattern: Back to our spaceship </a:t>
            </a:r>
          </a:p>
        </p:txBody>
      </p:sp>
      <p:sp>
        <p:nvSpPr>
          <p:cNvPr id="3" name="Content Placeholder 2">
            <a:extLst>
              <a:ext uri="{FF2B5EF4-FFF2-40B4-BE49-F238E27FC236}">
                <a16:creationId xmlns:a16="http://schemas.microsoft.com/office/drawing/2014/main" id="{3FDB4767-823E-6E46-04CA-D29D5CC720B9}"/>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a:ea typeface="Calibri"/>
                <a:cs typeface="Calibri"/>
              </a:rPr>
              <a:t>Forget the 3 textbooks, just check this site out for everything related to Design patterns:</a:t>
            </a:r>
            <a:endParaRPr lang="en-US" dirty="0">
              <a:ea typeface="Calibri"/>
              <a:cs typeface="Calibri"/>
            </a:endParaRPr>
          </a:p>
          <a:p>
            <a:pPr lvl="1">
              <a:buFont typeface="Courier New" panose="020B0604020202020204" pitchFamily="34" charset="0"/>
              <a:buChar char="o"/>
            </a:pPr>
            <a:r>
              <a:rPr lang="en-US" dirty="0">
                <a:ea typeface="+mn-lt"/>
                <a:cs typeface="+mn-lt"/>
                <a:hlinkClick r:id="rId3"/>
              </a:rPr>
              <a:t>https://refactoring.guru/design-patterns</a:t>
            </a:r>
            <a:r>
              <a:rPr lang="en-US" dirty="0">
                <a:ea typeface="+mn-lt"/>
                <a:cs typeface="+mn-lt"/>
              </a:rPr>
              <a:t> </a:t>
            </a:r>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r>
              <a:rPr lang="en-US">
                <a:ea typeface="Calibri"/>
                <a:cs typeface="Calibri"/>
              </a:rPr>
              <a:t>Example: Observer pattern</a:t>
            </a:r>
            <a:endParaRPr lang="en-US" dirty="0">
              <a:ea typeface="Calibri"/>
              <a:cs typeface="Calibri"/>
            </a:endParaRPr>
          </a:p>
          <a:p>
            <a:pPr lvl="1">
              <a:buFont typeface="Courier New" panose="020B0604020202020204" pitchFamily="34" charset="0"/>
              <a:buChar char="o"/>
            </a:pPr>
            <a:r>
              <a:rPr lang="en-US" dirty="0">
                <a:ea typeface="+mn-lt"/>
                <a:cs typeface="+mn-lt"/>
                <a:hlinkClick r:id="rId4"/>
              </a:rPr>
              <a:t>https://refactoring.guru/design-patterns/observer</a:t>
            </a:r>
            <a:r>
              <a:rPr lang="en-US" dirty="0">
                <a:ea typeface="+mn-lt"/>
                <a:cs typeface="+mn-lt"/>
              </a:rPr>
              <a:t> </a:t>
            </a:r>
            <a:endParaRPr lang="en-US" dirty="0">
              <a:ea typeface="Calibri"/>
              <a:cs typeface="Calibri"/>
            </a:endParaRPr>
          </a:p>
          <a:p>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BBBC50C-8A42-EE6E-9DF6-65D99F96DA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583D6FD-FA88-41DF-7491-8606A88489C7}"/>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1D770514-E803-BA48-57EA-DFBE8852818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41571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F08B7-B526-5606-0ED8-2A986609C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444B7-6B2B-3041-CC94-86073C5262B8}"/>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A369B04-E809-1254-2A71-5F5A3411E45B}"/>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Implementation Issues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C4C2685-D12B-5B0A-22AB-B7A372896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699973D-E83E-AACE-B638-84A3D24F5F08}"/>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A78F1F98-28C4-2BBB-53B4-4BBA90FB9DCC}"/>
              </a:ext>
            </a:extLst>
          </p:cNvPr>
          <p:cNvSpPr>
            <a:spLocks noGrp="1"/>
          </p:cNvSpPr>
          <p:nvPr>
            <p:ph type="ftr" sz="quarter" idx="11"/>
          </p:nvPr>
        </p:nvSpPr>
        <p:spPr/>
        <p:txBody>
          <a:bodyPr/>
          <a:lstStyle/>
          <a:p>
            <a:r>
              <a:rPr lang="en-US"/>
              <a:t>Software Engineering</a:t>
            </a:r>
          </a:p>
        </p:txBody>
      </p:sp>
      <p:sp>
        <p:nvSpPr>
          <p:cNvPr id="9" name="TextBox 8"/>
          <p:cNvSpPr txBox="1"/>
          <p:nvPr/>
        </p:nvSpPr>
        <p:spPr>
          <a:xfrm>
            <a:off x="132348" y="6488668"/>
            <a:ext cx="2049379" cy="369332"/>
          </a:xfrm>
          <a:prstGeom prst="rect">
            <a:avLst/>
          </a:prstGeom>
          <a:noFill/>
        </p:spPr>
        <p:txBody>
          <a:bodyPr wrap="square" rtlCol="0">
            <a:spAutoFit/>
          </a:bodyPr>
          <a:lstStyle/>
          <a:p>
            <a:r>
              <a:rPr lang="en-US" dirty="0"/>
              <a:t>TEXTBOOK THEORY</a:t>
            </a:r>
            <a:endParaRPr lang="en-IN" dirty="0"/>
          </a:p>
        </p:txBody>
      </p:sp>
    </p:spTree>
    <p:extLst>
      <p:ext uri="{BB962C8B-B14F-4D97-AF65-F5344CB8AC3E}">
        <p14:creationId xmlns:p14="http://schemas.microsoft.com/office/powerpoint/2010/main" val="89438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FE41-F3A6-A665-E73A-A9F9B786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AD2A8-9986-CFEA-ABCD-D4731C470283}"/>
              </a:ext>
            </a:extLst>
          </p:cNvPr>
          <p:cNvSpPr>
            <a:spLocks noGrp="1"/>
          </p:cNvSpPr>
          <p:nvPr>
            <p:ph type="title"/>
          </p:nvPr>
        </p:nvSpPr>
        <p:spPr/>
        <p:txBody>
          <a:bodyPr/>
          <a:lstStyle/>
          <a:p>
            <a:r>
              <a:rPr lang="en-GB" dirty="0">
                <a:ea typeface="Calibri Light"/>
                <a:cs typeface="Calibri Light"/>
              </a:rPr>
              <a:t>Implementation Issues</a:t>
            </a:r>
            <a:endParaRPr lang="en-US" dirty="0"/>
          </a:p>
        </p:txBody>
      </p:sp>
      <p:sp>
        <p:nvSpPr>
          <p:cNvPr id="3" name="Content Placeholder 2">
            <a:extLst>
              <a:ext uri="{FF2B5EF4-FFF2-40B4-BE49-F238E27FC236}">
                <a16:creationId xmlns:a16="http://schemas.microsoft.com/office/drawing/2014/main" id="{AAF291D0-0B66-9B72-E375-37FAAFD0A785}"/>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Reuse: Can Grace reuse existing tools or must he build them from scratch?</a:t>
            </a:r>
          </a:p>
          <a:p>
            <a:r>
              <a:rPr lang="en-US" dirty="0">
                <a:ea typeface="Calibri"/>
                <a:cs typeface="Calibri"/>
              </a:rPr>
              <a:t>Configuration Management: What if settings are configured wrong? Incorrect Oxygen levels?</a:t>
            </a:r>
          </a:p>
          <a:p>
            <a:r>
              <a:rPr lang="en-US" dirty="0">
                <a:ea typeface="Calibri"/>
                <a:cs typeface="Calibri"/>
              </a:rPr>
              <a:t>Host-target development: Testing on earth while planning for the mission versus Testing in deep space where the system should do what it is supposed to do</a:t>
            </a: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791792B-A1B3-DBC4-8014-45944C00F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AE6D77-96DB-E129-2BF0-E95069844143}"/>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87871300-C6CE-8C2F-F0A9-6F5F83020A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44865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3CD5-6C6F-726A-D7E6-5EDEE03D3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62B75-F8BD-B951-4EC3-41D56756B021}"/>
              </a:ext>
            </a:extLst>
          </p:cNvPr>
          <p:cNvSpPr>
            <a:spLocks noGrp="1"/>
          </p:cNvSpPr>
          <p:nvPr>
            <p:ph type="title"/>
          </p:nvPr>
        </p:nvSpPr>
        <p:spPr/>
        <p:txBody>
          <a:bodyPr/>
          <a:lstStyle/>
          <a:p>
            <a:r>
              <a:rPr lang="en-GB">
                <a:ea typeface="Calibri Light"/>
                <a:cs typeface="Calibri Light"/>
              </a:rPr>
              <a:t>Summary</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64C01328-BD98-3E4F-C9B9-12567C9AA59F}"/>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&lt;&lt;</a:t>
            </a:r>
            <a:r>
              <a:rPr lang="en-US" err="1">
                <a:ea typeface="Calibri"/>
                <a:cs typeface="Calibri"/>
              </a:rPr>
              <a:t>ToDo</a:t>
            </a:r>
            <a:r>
              <a:rPr lang="en-US" dirty="0">
                <a:ea typeface="Calibri"/>
                <a:cs typeface="Calibri"/>
              </a:rPr>
              <a:t>: Insert image of summary written down on board in </a:t>
            </a:r>
            <a:r>
              <a:rPr lang="en-US">
                <a:ea typeface="Calibri"/>
                <a:cs typeface="Calibri"/>
              </a:rPr>
              <a:t>class&gt;&gt;</a:t>
            </a:r>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5FABF73C-E075-FCAB-AD83-D5447782A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20051C2-1EA7-526D-0F3D-27242D057215}"/>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9ABD27B9-6245-C993-C841-C0DB1DF04E5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60045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C8693-F005-B7BE-CF5D-63CE74539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55DA3-7A7C-530F-022D-1B7942AF25D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A8106FEE-EA22-055D-D6C0-72A0AF6F3A14}"/>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Open-source Development</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84CBAA6-6104-87FF-E7A4-F10C785B4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FD6FAE2-5D41-0261-1350-9C8CBBA11E21}"/>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D9C628C7-0C74-7313-FC10-E5545E78EFF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37086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3.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TM04033919[[fn=Circuit]]</Template>
  <TotalTime>55</TotalTime>
  <Words>1769</Words>
  <Application>Microsoft Office PowerPoint</Application>
  <PresentationFormat>Widescreen</PresentationFormat>
  <Paragraphs>336</Paragraphs>
  <Slides>35</Slides>
  <Notes>34</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Software Engineering (CS3201) Design and Implementation MISSION: Save Earth 🚀 </vt:lpstr>
      <vt:lpstr>Recap (design classes so far)</vt:lpstr>
      <vt:lpstr>You wake up… </vt:lpstr>
      <vt:lpstr>What is Design and what is Implementation?</vt:lpstr>
      <vt:lpstr>System is the spaceship</vt:lpstr>
      <vt:lpstr>Introduction</vt:lpstr>
      <vt:lpstr>Design Steps</vt:lpstr>
      <vt:lpstr> </vt:lpstr>
      <vt:lpstr>Introduction</vt:lpstr>
      <vt:lpstr>Step 1: System context and Interactions</vt:lpstr>
      <vt:lpstr>System context for a weather station</vt:lpstr>
      <vt:lpstr>Use cases for Weather Station</vt:lpstr>
      <vt:lpstr>Use case description for Weather Station</vt:lpstr>
      <vt:lpstr>Step 2: System Architecture (previous lecture)</vt:lpstr>
      <vt:lpstr>System Architecture – Weather station</vt:lpstr>
      <vt:lpstr>Step 3: Object class identification</vt:lpstr>
      <vt:lpstr>Object class identification</vt:lpstr>
      <vt:lpstr>Object class identification</vt:lpstr>
      <vt:lpstr>Object class identification</vt:lpstr>
      <vt:lpstr>Object class identification</vt:lpstr>
      <vt:lpstr>Object class identification: Game time!</vt:lpstr>
      <vt:lpstr>Step 4: Design Model</vt:lpstr>
      <vt:lpstr>Step 5: Interface Specification</vt:lpstr>
      <vt:lpstr>Interface Specification</vt:lpstr>
      <vt:lpstr> </vt:lpstr>
      <vt:lpstr>Design Patterns</vt:lpstr>
      <vt:lpstr>Design Patterns: Sample</vt:lpstr>
      <vt:lpstr>Design Patterns: Sample</vt:lpstr>
      <vt:lpstr>Design pattern: Back to our spaceship </vt:lpstr>
      <vt:lpstr>Difference between design and arch. pattern?</vt:lpstr>
      <vt:lpstr>Design pattern: Back to our spaceship </vt:lpstr>
      <vt:lpstr> </vt:lpstr>
      <vt:lpstr>Implementation Issues</vt:lpstr>
      <vt:lpstr>Summary</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lastModifiedBy>Avinish</cp:lastModifiedBy>
  <cp:revision>1631</cp:revision>
  <dcterms:created xsi:type="dcterms:W3CDTF">2022-08-02T06:42:39Z</dcterms:created>
  <dcterms:modified xsi:type="dcterms:W3CDTF">2026-03-31T12:00:07Z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