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5"/>
  </p:notesMasterIdLst>
  <p:sldIdLst>
    <p:sldId id="256" r:id="rId5"/>
    <p:sldId id="445" r:id="rId6"/>
    <p:sldId id="426" r:id="rId7"/>
    <p:sldId id="446" r:id="rId8"/>
    <p:sldId id="447" r:id="rId9"/>
    <p:sldId id="448" r:id="rId10"/>
    <p:sldId id="449" r:id="rId11"/>
    <p:sldId id="484" r:id="rId12"/>
    <p:sldId id="485" r:id="rId13"/>
    <p:sldId id="486" r:id="rId14"/>
    <p:sldId id="450" r:id="rId15"/>
    <p:sldId id="451" r:id="rId16"/>
    <p:sldId id="487" r:id="rId17"/>
    <p:sldId id="452" r:id="rId18"/>
    <p:sldId id="453" r:id="rId19"/>
    <p:sldId id="454" r:id="rId20"/>
    <p:sldId id="458" r:id="rId21"/>
    <p:sldId id="459" r:id="rId22"/>
    <p:sldId id="460" r:id="rId23"/>
    <p:sldId id="461" r:id="rId24"/>
    <p:sldId id="506" r:id="rId25"/>
    <p:sldId id="462" r:id="rId26"/>
    <p:sldId id="507" r:id="rId27"/>
    <p:sldId id="463" r:id="rId28"/>
    <p:sldId id="489" r:id="rId29"/>
    <p:sldId id="488" r:id="rId30"/>
    <p:sldId id="508" r:id="rId31"/>
    <p:sldId id="464" r:id="rId32"/>
    <p:sldId id="465" r:id="rId33"/>
    <p:sldId id="467" r:id="rId34"/>
    <p:sldId id="468" r:id="rId35"/>
    <p:sldId id="469" r:id="rId36"/>
    <p:sldId id="490" r:id="rId37"/>
    <p:sldId id="455" r:id="rId38"/>
    <p:sldId id="470" r:id="rId39"/>
    <p:sldId id="456" r:id="rId40"/>
    <p:sldId id="457" r:id="rId41"/>
    <p:sldId id="482" r:id="rId42"/>
    <p:sldId id="471" r:id="rId43"/>
    <p:sldId id="473" r:id="rId44"/>
    <p:sldId id="474" r:id="rId45"/>
    <p:sldId id="491" r:id="rId46"/>
    <p:sldId id="475" r:id="rId47"/>
    <p:sldId id="499" r:id="rId48"/>
    <p:sldId id="500" r:id="rId49"/>
    <p:sldId id="476" r:id="rId50"/>
    <p:sldId id="494" r:id="rId51"/>
    <p:sldId id="501" r:id="rId52"/>
    <p:sldId id="495" r:id="rId53"/>
    <p:sldId id="496" r:id="rId54"/>
    <p:sldId id="502" r:id="rId55"/>
    <p:sldId id="497" r:id="rId56"/>
    <p:sldId id="503" r:id="rId57"/>
    <p:sldId id="504" r:id="rId58"/>
    <p:sldId id="505" r:id="rId59"/>
    <p:sldId id="472" r:id="rId60"/>
    <p:sldId id="477" r:id="rId61"/>
    <p:sldId id="493" r:id="rId62"/>
    <p:sldId id="492" r:id="rId63"/>
    <p:sldId id="510" r:id="rId64"/>
    <p:sldId id="478" r:id="rId65"/>
    <p:sldId id="511" r:id="rId66"/>
    <p:sldId id="498" r:id="rId67"/>
    <p:sldId id="479" r:id="rId68"/>
    <p:sldId id="480" r:id="rId69"/>
    <p:sldId id="512" r:id="rId70"/>
    <p:sldId id="513" r:id="rId71"/>
    <p:sldId id="509" r:id="rId72"/>
    <p:sldId id="514" r:id="rId73"/>
    <p:sldId id="483"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EF2CB-B644-1257-8691-A964D101D95A}" v="91" dt="2026-03-11T04:06:47.695"/>
    <p1510:client id="{3673E7FF-8E31-543A-5F96-CFF80988FC77}" v="467" dt="2026-03-10T06:08:20.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4C06A4B0-8370-D69E-A218-AA00537CCC60}"/>
    <pc:docChg chg="modSld">
      <pc:chgData name="Avinash Arun Chauhan" userId="S::avinash.chauhan@mahindrauniversity.edu.in::241b5f3e-36f4-4c61-9553-90e6a1c1b8a6" providerId="AD" clId="Web-{4C06A4B0-8370-D69E-A218-AA00537CCC60}" dt="2026-03-03T12:05:58.353" v="36" actId="20577"/>
      <pc:docMkLst>
        <pc:docMk/>
      </pc:docMkLst>
      <pc:sldChg chg="modSp">
        <pc:chgData name="Avinash Arun Chauhan" userId="S::avinash.chauhan@mahindrauniversity.edu.in::241b5f3e-36f4-4c61-9553-90e6a1c1b8a6" providerId="AD" clId="Web-{4C06A4B0-8370-D69E-A218-AA00537CCC60}" dt="2026-03-03T11:45:59.305" v="1" actId="20577"/>
        <pc:sldMkLst>
          <pc:docMk/>
          <pc:sldMk cId="1547259945" sldId="450"/>
        </pc:sldMkLst>
        <pc:spChg chg="mod">
          <ac:chgData name="Avinash Arun Chauhan" userId="S::avinash.chauhan@mahindrauniversity.edu.in::241b5f3e-36f4-4c61-9553-90e6a1c1b8a6" providerId="AD" clId="Web-{4C06A4B0-8370-D69E-A218-AA00537CCC60}" dt="2026-03-03T11:45:59.305" v="1" actId="20577"/>
          <ac:spMkLst>
            <pc:docMk/>
            <pc:sldMk cId="1547259945" sldId="450"/>
            <ac:spMk id="3" creationId="{35ED2F53-1304-99AB-504A-F87136F1B587}"/>
          </ac:spMkLst>
        </pc:spChg>
      </pc:sldChg>
      <pc:sldChg chg="modSp">
        <pc:chgData name="Avinash Arun Chauhan" userId="S::avinash.chauhan@mahindrauniversity.edu.in::241b5f3e-36f4-4c61-9553-90e6a1c1b8a6" providerId="AD" clId="Web-{4C06A4B0-8370-D69E-A218-AA00537CCC60}" dt="2026-03-03T11:49:53.953" v="3" actId="20577"/>
        <pc:sldMkLst>
          <pc:docMk/>
          <pc:sldMk cId="2254286999" sldId="463"/>
        </pc:sldMkLst>
        <pc:spChg chg="mod">
          <ac:chgData name="Avinash Arun Chauhan" userId="S::avinash.chauhan@mahindrauniversity.edu.in::241b5f3e-36f4-4c61-9553-90e6a1c1b8a6" providerId="AD" clId="Web-{4C06A4B0-8370-D69E-A218-AA00537CCC60}" dt="2026-03-03T11:49:53.953" v="3" actId="20577"/>
          <ac:spMkLst>
            <pc:docMk/>
            <pc:sldMk cId="2254286999" sldId="463"/>
            <ac:spMk id="3" creationId="{A25BB368-9615-09A2-C1EC-877985F1BC86}"/>
          </ac:spMkLst>
        </pc:spChg>
      </pc:sldChg>
      <pc:sldChg chg="modSp">
        <pc:chgData name="Avinash Arun Chauhan" userId="S::avinash.chauhan@mahindrauniversity.edu.in::241b5f3e-36f4-4c61-9553-90e6a1c1b8a6" providerId="AD" clId="Web-{4C06A4B0-8370-D69E-A218-AA00537CCC60}" dt="2026-03-03T11:50:46.110" v="4" actId="20577"/>
        <pc:sldMkLst>
          <pc:docMk/>
          <pc:sldMk cId="661248127" sldId="467"/>
        </pc:sldMkLst>
        <pc:spChg chg="mod">
          <ac:chgData name="Avinash Arun Chauhan" userId="S::avinash.chauhan@mahindrauniversity.edu.in::241b5f3e-36f4-4c61-9553-90e6a1c1b8a6" providerId="AD" clId="Web-{4C06A4B0-8370-D69E-A218-AA00537CCC60}" dt="2026-03-03T11:50:46.110" v="4" actId="20577"/>
          <ac:spMkLst>
            <pc:docMk/>
            <pc:sldMk cId="661248127" sldId="467"/>
            <ac:spMk id="3" creationId="{87F64AFB-12D2-CE32-8255-52C5E6C16B7D}"/>
          </ac:spMkLst>
        </pc:spChg>
      </pc:sldChg>
      <pc:sldChg chg="modSp">
        <pc:chgData name="Avinash Arun Chauhan" userId="S::avinash.chauhan@mahindrauniversity.edu.in::241b5f3e-36f4-4c61-9553-90e6a1c1b8a6" providerId="AD" clId="Web-{4C06A4B0-8370-D69E-A218-AA00537CCC60}" dt="2026-03-03T12:05:58.353" v="36" actId="20577"/>
        <pc:sldMkLst>
          <pc:docMk/>
          <pc:sldMk cId="3193196148" sldId="493"/>
        </pc:sldMkLst>
        <pc:spChg chg="mod">
          <ac:chgData name="Avinash Arun Chauhan" userId="S::avinash.chauhan@mahindrauniversity.edu.in::241b5f3e-36f4-4c61-9553-90e6a1c1b8a6" providerId="AD" clId="Web-{4C06A4B0-8370-D69E-A218-AA00537CCC60}" dt="2026-03-03T12:05:58.353" v="36" actId="20577"/>
          <ac:spMkLst>
            <pc:docMk/>
            <pc:sldMk cId="3193196148" sldId="493"/>
            <ac:spMk id="3" creationId="{C223E96F-71E0-80EF-C164-C9FBB282CDDF}"/>
          </ac:spMkLst>
        </pc:spChg>
      </pc:sldChg>
      <pc:sldChg chg="modSp">
        <pc:chgData name="Avinash Arun Chauhan" userId="S::avinash.chauhan@mahindrauniversity.edu.in::241b5f3e-36f4-4c61-9553-90e6a1c1b8a6" providerId="AD" clId="Web-{4C06A4B0-8370-D69E-A218-AA00537CCC60}" dt="2026-03-03T11:58:26.670" v="7" actId="20577"/>
        <pc:sldMkLst>
          <pc:docMk/>
          <pc:sldMk cId="1216913954" sldId="494"/>
        </pc:sldMkLst>
        <pc:spChg chg="mod">
          <ac:chgData name="Avinash Arun Chauhan" userId="S::avinash.chauhan@mahindrauniversity.edu.in::241b5f3e-36f4-4c61-9553-90e6a1c1b8a6" providerId="AD" clId="Web-{4C06A4B0-8370-D69E-A218-AA00537CCC60}" dt="2026-03-03T11:58:26.670" v="7" actId="20577"/>
          <ac:spMkLst>
            <pc:docMk/>
            <pc:sldMk cId="1216913954" sldId="494"/>
            <ac:spMk id="3" creationId="{CBD7EC55-E3FE-AC8A-B8AD-8424FBAF0CA2}"/>
          </ac:spMkLst>
        </pc:spChg>
      </pc:sldChg>
      <pc:sldChg chg="modSp">
        <pc:chgData name="Avinash Arun Chauhan" userId="S::avinash.chauhan@mahindrauniversity.edu.in::241b5f3e-36f4-4c61-9553-90e6a1c1b8a6" providerId="AD" clId="Web-{4C06A4B0-8370-D69E-A218-AA00537CCC60}" dt="2026-03-03T11:59:53.380" v="8" actId="20577"/>
        <pc:sldMkLst>
          <pc:docMk/>
          <pc:sldMk cId="2740781287" sldId="496"/>
        </pc:sldMkLst>
        <pc:spChg chg="mod">
          <ac:chgData name="Avinash Arun Chauhan" userId="S::avinash.chauhan@mahindrauniversity.edu.in::241b5f3e-36f4-4c61-9553-90e6a1c1b8a6" providerId="AD" clId="Web-{4C06A4B0-8370-D69E-A218-AA00537CCC60}" dt="2026-03-03T11:59:53.380" v="8" actId="20577"/>
          <ac:spMkLst>
            <pc:docMk/>
            <pc:sldMk cId="2740781287" sldId="496"/>
            <ac:spMk id="3" creationId="{26F071AC-B205-492F-726A-E8A97D87FEC8}"/>
          </ac:spMkLst>
        </pc:spChg>
      </pc:sldChg>
      <pc:sldChg chg="modSp">
        <pc:chgData name="Avinash Arun Chauhan" userId="S::avinash.chauhan@mahindrauniversity.edu.in::241b5f3e-36f4-4c61-9553-90e6a1c1b8a6" providerId="AD" clId="Web-{4C06A4B0-8370-D69E-A218-AA00537CCC60}" dt="2026-03-03T12:04:34.723" v="34" actId="20577"/>
        <pc:sldMkLst>
          <pc:docMk/>
          <pc:sldMk cId="1423176506" sldId="497"/>
        </pc:sldMkLst>
        <pc:spChg chg="mod">
          <ac:chgData name="Avinash Arun Chauhan" userId="S::avinash.chauhan@mahindrauniversity.edu.in::241b5f3e-36f4-4c61-9553-90e6a1c1b8a6" providerId="AD" clId="Web-{4C06A4B0-8370-D69E-A218-AA00537CCC60}" dt="2026-03-03T12:04:34.723" v="34" actId="20577"/>
          <ac:spMkLst>
            <pc:docMk/>
            <pc:sldMk cId="1423176506" sldId="497"/>
            <ac:spMk id="3" creationId="{43BA66E9-48D9-EF0E-DAF5-818626CDEAD4}"/>
          </ac:spMkLst>
        </pc:spChg>
      </pc:sldChg>
      <pc:sldChg chg="modSp">
        <pc:chgData name="Avinash Arun Chauhan" userId="S::avinash.chauhan@mahindrauniversity.edu.in::241b5f3e-36f4-4c61-9553-90e6a1c1b8a6" providerId="AD" clId="Web-{4C06A4B0-8370-D69E-A218-AA00537CCC60}" dt="2026-03-03T12:01:01.369" v="11" actId="20577"/>
        <pc:sldMkLst>
          <pc:docMk/>
          <pc:sldMk cId="1862785142" sldId="502"/>
        </pc:sldMkLst>
        <pc:spChg chg="mod">
          <ac:chgData name="Avinash Arun Chauhan" userId="S::avinash.chauhan@mahindrauniversity.edu.in::241b5f3e-36f4-4c61-9553-90e6a1c1b8a6" providerId="AD" clId="Web-{4C06A4B0-8370-D69E-A218-AA00537CCC60}" dt="2026-03-03T12:01:01.369" v="11" actId="20577"/>
          <ac:spMkLst>
            <pc:docMk/>
            <pc:sldMk cId="1862785142" sldId="502"/>
            <ac:spMk id="3" creationId="{FBF20382-5C4B-BFD2-F736-2A111840DFF0}"/>
          </ac:spMkLst>
        </pc:spChg>
      </pc:sldChg>
      <pc:sldChg chg="modSp">
        <pc:chgData name="Avinash Arun Chauhan" userId="S::avinash.chauhan@mahindrauniversity.edu.in::241b5f3e-36f4-4c61-9553-90e6a1c1b8a6" providerId="AD" clId="Web-{4C06A4B0-8370-D69E-A218-AA00537CCC60}" dt="2026-03-03T12:04:50.473" v="35" actId="20577"/>
        <pc:sldMkLst>
          <pc:docMk/>
          <pc:sldMk cId="3553987302" sldId="503"/>
        </pc:sldMkLst>
        <pc:spChg chg="mod">
          <ac:chgData name="Avinash Arun Chauhan" userId="S::avinash.chauhan@mahindrauniversity.edu.in::241b5f3e-36f4-4c61-9553-90e6a1c1b8a6" providerId="AD" clId="Web-{4C06A4B0-8370-D69E-A218-AA00537CCC60}" dt="2026-03-03T12:04:50.473" v="35" actId="20577"/>
          <ac:spMkLst>
            <pc:docMk/>
            <pc:sldMk cId="3553987302" sldId="503"/>
            <ac:spMk id="3" creationId="{C0CB77D6-E847-B4F0-FFF3-EB2CD9791BDD}"/>
          </ac:spMkLst>
        </pc:spChg>
      </pc:sldChg>
    </pc:docChg>
  </pc:docChgLst>
  <pc:docChgLst>
    <pc:chgData name="Avinash Arun Chauhan" userId="S::avinash.chauhan@mahindrauniversity.edu.in::241b5f3e-36f4-4c61-9553-90e6a1c1b8a6" providerId="AD" clId="Web-{5C39234D-98A7-D8D0-26AB-722B596575DF}"/>
    <pc:docChg chg="modSld">
      <pc:chgData name="Avinash Arun Chauhan" userId="S::avinash.chauhan@mahindrauniversity.edu.in::241b5f3e-36f4-4c61-9553-90e6a1c1b8a6" providerId="AD" clId="Web-{5C39234D-98A7-D8D0-26AB-722B596575DF}" dt="2026-02-17T14:28:50.319" v="6" actId="20577"/>
      <pc:docMkLst>
        <pc:docMk/>
      </pc:docMkLst>
      <pc:sldChg chg="modSp">
        <pc:chgData name="Avinash Arun Chauhan" userId="S::avinash.chauhan@mahindrauniversity.edu.in::241b5f3e-36f4-4c61-9553-90e6a1c1b8a6" providerId="AD" clId="Web-{5C39234D-98A7-D8D0-26AB-722B596575DF}" dt="2026-02-17T14:24:47.473" v="3" actId="20577"/>
        <pc:sldMkLst>
          <pc:docMk/>
          <pc:sldMk cId="3811169343" sldId="426"/>
        </pc:sldMkLst>
        <pc:spChg chg="mod">
          <ac:chgData name="Avinash Arun Chauhan" userId="S::avinash.chauhan@mahindrauniversity.edu.in::241b5f3e-36f4-4c61-9553-90e6a1c1b8a6" providerId="AD" clId="Web-{5C39234D-98A7-D8D0-26AB-722B596575DF}" dt="2026-02-17T14:24:47.473" v="3"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5C39234D-98A7-D8D0-26AB-722B596575DF}" dt="2026-02-17T14:25:32.879" v="5" actId="20577"/>
        <pc:sldMkLst>
          <pc:docMk/>
          <pc:sldMk cId="3245650646" sldId="448"/>
        </pc:sldMkLst>
        <pc:spChg chg="mod">
          <ac:chgData name="Avinash Arun Chauhan" userId="S::avinash.chauhan@mahindrauniversity.edu.in::241b5f3e-36f4-4c61-9553-90e6a1c1b8a6" providerId="AD" clId="Web-{5C39234D-98A7-D8D0-26AB-722B596575DF}" dt="2026-02-17T14:25:32.879" v="5" actId="20577"/>
          <ac:spMkLst>
            <pc:docMk/>
            <pc:sldMk cId="3245650646" sldId="448"/>
            <ac:spMk id="3" creationId="{AA5D3276-030C-B00D-CA3B-85DFB1127F1C}"/>
          </ac:spMkLst>
        </pc:spChg>
      </pc:sldChg>
      <pc:sldChg chg="modSp">
        <pc:chgData name="Avinash Arun Chauhan" userId="S::avinash.chauhan@mahindrauniversity.edu.in::241b5f3e-36f4-4c61-9553-90e6a1c1b8a6" providerId="AD" clId="Web-{5C39234D-98A7-D8D0-26AB-722B596575DF}" dt="2026-02-17T14:28:50.319" v="6" actId="20577"/>
        <pc:sldMkLst>
          <pc:docMk/>
          <pc:sldMk cId="1929007449" sldId="449"/>
        </pc:sldMkLst>
        <pc:spChg chg="mod">
          <ac:chgData name="Avinash Arun Chauhan" userId="S::avinash.chauhan@mahindrauniversity.edu.in::241b5f3e-36f4-4c61-9553-90e6a1c1b8a6" providerId="AD" clId="Web-{5C39234D-98A7-D8D0-26AB-722B596575DF}" dt="2026-02-17T14:28:50.319" v="6" actId="20577"/>
          <ac:spMkLst>
            <pc:docMk/>
            <pc:sldMk cId="1929007449" sldId="449"/>
            <ac:spMk id="3" creationId="{167220CA-E969-0C11-4B20-1B5E88FEAD25}"/>
          </ac:spMkLst>
        </pc:spChg>
      </pc:sldChg>
    </pc:docChg>
  </pc:docChgLst>
  <pc:docChgLst>
    <pc:chgData name="Avinash Arun Chauhan" userId="S::avinash.chauhan@mahindrauniversity.edu.in::241b5f3e-36f4-4c61-9553-90e6a1c1b8a6" providerId="AD" clId="Web-{608F13DE-7566-4C81-E546-B7AA06FA6546}"/>
    <pc:docChg chg="addSld modSld">
      <pc:chgData name="Avinash Arun Chauhan" userId="S::avinash.chauhan@mahindrauniversity.edu.in::241b5f3e-36f4-4c61-9553-90e6a1c1b8a6" providerId="AD" clId="Web-{608F13DE-7566-4C81-E546-B7AA06FA6546}" dt="2026-02-27T15:39:45.390" v="1035" actId="20577"/>
      <pc:docMkLst>
        <pc:docMk/>
      </pc:docMkLst>
      <pc:sldChg chg="modSp">
        <pc:chgData name="Avinash Arun Chauhan" userId="S::avinash.chauhan@mahindrauniversity.edu.in::241b5f3e-36f4-4c61-9553-90e6a1c1b8a6" providerId="AD" clId="Web-{608F13DE-7566-4C81-E546-B7AA06FA6546}" dt="2026-02-27T15:03:00.737" v="152" actId="20577"/>
        <pc:sldMkLst>
          <pc:docMk/>
          <pc:sldMk cId="1547259945" sldId="450"/>
        </pc:sldMkLst>
        <pc:spChg chg="mod">
          <ac:chgData name="Avinash Arun Chauhan" userId="S::avinash.chauhan@mahindrauniversity.edu.in::241b5f3e-36f4-4c61-9553-90e6a1c1b8a6" providerId="AD" clId="Web-{608F13DE-7566-4C81-E546-B7AA06FA6546}" dt="2026-02-27T15:03:00.737" v="152" actId="20577"/>
          <ac:spMkLst>
            <pc:docMk/>
            <pc:sldMk cId="1547259945" sldId="450"/>
            <ac:spMk id="3" creationId="{35ED2F53-1304-99AB-504A-F87136F1B587}"/>
          </ac:spMkLst>
        </pc:spChg>
      </pc:sldChg>
      <pc:sldChg chg="modSp">
        <pc:chgData name="Avinash Arun Chauhan" userId="S::avinash.chauhan@mahindrauniversity.edu.in::241b5f3e-36f4-4c61-9553-90e6a1c1b8a6" providerId="AD" clId="Web-{608F13DE-7566-4C81-E546-B7AA06FA6546}" dt="2026-02-27T15:10:40.452" v="344" actId="20577"/>
        <pc:sldMkLst>
          <pc:docMk/>
          <pc:sldMk cId="1257462275" sldId="451"/>
        </pc:sldMkLst>
        <pc:spChg chg="mod">
          <ac:chgData name="Avinash Arun Chauhan" userId="S::avinash.chauhan@mahindrauniversity.edu.in::241b5f3e-36f4-4c61-9553-90e6a1c1b8a6" providerId="AD" clId="Web-{608F13DE-7566-4C81-E546-B7AA06FA6546}" dt="2026-02-27T15:10:40.452" v="344" actId="20577"/>
          <ac:spMkLst>
            <pc:docMk/>
            <pc:sldMk cId="1257462275" sldId="451"/>
            <ac:spMk id="3" creationId="{D723B647-E000-FF48-8207-2C1A0A765E54}"/>
          </ac:spMkLst>
        </pc:spChg>
      </pc:sldChg>
      <pc:sldChg chg="modSp">
        <pc:chgData name="Avinash Arun Chauhan" userId="S::avinash.chauhan@mahindrauniversity.edu.in::241b5f3e-36f4-4c61-9553-90e6a1c1b8a6" providerId="AD" clId="Web-{608F13DE-7566-4C81-E546-B7AA06FA6546}" dt="2026-02-27T15:31:16.369" v="1014" actId="20577"/>
        <pc:sldMkLst>
          <pc:docMk/>
          <pc:sldMk cId="1797309917" sldId="488"/>
        </pc:sldMkLst>
        <pc:spChg chg="mod">
          <ac:chgData name="Avinash Arun Chauhan" userId="S::avinash.chauhan@mahindrauniversity.edu.in::241b5f3e-36f4-4c61-9553-90e6a1c1b8a6" providerId="AD" clId="Web-{608F13DE-7566-4C81-E546-B7AA06FA6546}" dt="2026-02-27T15:31:16.369" v="1014" actId="20577"/>
          <ac:spMkLst>
            <pc:docMk/>
            <pc:sldMk cId="1797309917" sldId="488"/>
            <ac:spMk id="3" creationId="{D292A6DE-3CE6-3178-E2C4-EC70EB74E655}"/>
          </ac:spMkLst>
        </pc:spChg>
      </pc:sldChg>
      <pc:sldChg chg="modSp">
        <pc:chgData name="Avinash Arun Chauhan" userId="S::avinash.chauhan@mahindrauniversity.edu.in::241b5f3e-36f4-4c61-9553-90e6a1c1b8a6" providerId="AD" clId="Web-{608F13DE-7566-4C81-E546-B7AA06FA6546}" dt="2026-02-27T15:34:57.356" v="1027" actId="20577"/>
        <pc:sldMkLst>
          <pc:docMk/>
          <pc:sldMk cId="3241686281" sldId="490"/>
        </pc:sldMkLst>
        <pc:spChg chg="mod">
          <ac:chgData name="Avinash Arun Chauhan" userId="S::avinash.chauhan@mahindrauniversity.edu.in::241b5f3e-36f4-4c61-9553-90e6a1c1b8a6" providerId="AD" clId="Web-{608F13DE-7566-4C81-E546-B7AA06FA6546}" dt="2026-02-27T15:34:57.356" v="1027" actId="20577"/>
          <ac:spMkLst>
            <pc:docMk/>
            <pc:sldMk cId="3241686281" sldId="490"/>
            <ac:spMk id="3" creationId="{852FB649-6BF5-FB20-1246-5DB120B396CD}"/>
          </ac:spMkLst>
        </pc:spChg>
      </pc:sldChg>
      <pc:sldChg chg="modSp">
        <pc:chgData name="Avinash Arun Chauhan" userId="S::avinash.chauhan@mahindrauniversity.edu.in::241b5f3e-36f4-4c61-9553-90e6a1c1b8a6" providerId="AD" clId="Web-{608F13DE-7566-4C81-E546-B7AA06FA6546}" dt="2026-02-27T15:39:45.390" v="1035" actId="20577"/>
        <pc:sldMkLst>
          <pc:docMk/>
          <pc:sldMk cId="1216913954" sldId="494"/>
        </pc:sldMkLst>
        <pc:spChg chg="mod">
          <ac:chgData name="Avinash Arun Chauhan" userId="S::avinash.chauhan@mahindrauniversity.edu.in::241b5f3e-36f4-4c61-9553-90e6a1c1b8a6" providerId="AD" clId="Web-{608F13DE-7566-4C81-E546-B7AA06FA6546}" dt="2026-02-27T15:39:45.390" v="1035" actId="20577"/>
          <ac:spMkLst>
            <pc:docMk/>
            <pc:sldMk cId="1216913954" sldId="494"/>
            <ac:spMk id="3" creationId="{CBD7EC55-E3FE-AC8A-B8AD-8424FBAF0CA2}"/>
          </ac:spMkLst>
        </pc:spChg>
      </pc:sldChg>
      <pc:sldChg chg="addSp delSp modSp add replId">
        <pc:chgData name="Avinash Arun Chauhan" userId="S::avinash.chauhan@mahindrauniversity.edu.in::241b5f3e-36f4-4c61-9553-90e6a1c1b8a6" providerId="AD" clId="Web-{608F13DE-7566-4C81-E546-B7AA06FA6546}" dt="2026-02-27T15:24:35.483" v="987" actId="20577"/>
        <pc:sldMkLst>
          <pc:docMk/>
          <pc:sldMk cId="1206372345" sldId="507"/>
        </pc:sldMkLst>
        <pc:spChg chg="mod">
          <ac:chgData name="Avinash Arun Chauhan" userId="S::avinash.chauhan@mahindrauniversity.edu.in::241b5f3e-36f4-4c61-9553-90e6a1c1b8a6" providerId="AD" clId="Web-{608F13DE-7566-4C81-E546-B7AA06FA6546}" dt="2026-02-27T15:16:33.942" v="402" actId="20577"/>
          <ac:spMkLst>
            <pc:docMk/>
            <pc:sldMk cId="1206372345" sldId="507"/>
            <ac:spMk id="2" creationId="{944A4614-8DC9-17DE-63F9-54AC0EEE1AB8}"/>
          </ac:spMkLst>
        </pc:spChg>
        <pc:spChg chg="add mod">
          <ac:chgData name="Avinash Arun Chauhan" userId="S::avinash.chauhan@mahindrauniversity.edu.in::241b5f3e-36f4-4c61-9553-90e6a1c1b8a6" providerId="AD" clId="Web-{608F13DE-7566-4C81-E546-B7AA06FA6546}" dt="2026-02-27T15:19:19.850" v="585" actId="20577"/>
          <ac:spMkLst>
            <pc:docMk/>
            <pc:sldMk cId="1206372345" sldId="507"/>
            <ac:spMk id="4" creationId="{43A05D10-BDEB-09AD-ADB8-0EDA14B5A310}"/>
          </ac:spMkLst>
        </pc:spChg>
        <pc:spChg chg="add mod">
          <ac:chgData name="Avinash Arun Chauhan" userId="S::avinash.chauhan@mahindrauniversity.edu.in::241b5f3e-36f4-4c61-9553-90e6a1c1b8a6" providerId="AD" clId="Web-{608F13DE-7566-4C81-E546-B7AA06FA6546}" dt="2026-02-27T15:20:32.310" v="682" actId="20577"/>
          <ac:spMkLst>
            <pc:docMk/>
            <pc:sldMk cId="1206372345" sldId="507"/>
            <ac:spMk id="5" creationId="{67985F99-ED5A-73EC-8B1E-D1B11F394A13}"/>
          </ac:spMkLst>
        </pc:spChg>
        <pc:spChg chg="add mod">
          <ac:chgData name="Avinash Arun Chauhan" userId="S::avinash.chauhan@mahindrauniversity.edu.in::241b5f3e-36f4-4c61-9553-90e6a1c1b8a6" providerId="AD" clId="Web-{608F13DE-7566-4C81-E546-B7AA06FA6546}" dt="2026-02-27T15:23:14.432" v="908" actId="20577"/>
          <ac:spMkLst>
            <pc:docMk/>
            <pc:sldMk cId="1206372345" sldId="507"/>
            <ac:spMk id="9" creationId="{8250FA1D-0EF6-0A34-AEA8-D8410CE22688}"/>
          </ac:spMkLst>
        </pc:spChg>
        <pc:spChg chg="add mod">
          <ac:chgData name="Avinash Arun Chauhan" userId="S::avinash.chauhan@mahindrauniversity.edu.in::241b5f3e-36f4-4c61-9553-90e6a1c1b8a6" providerId="AD" clId="Web-{608F13DE-7566-4C81-E546-B7AA06FA6546}" dt="2026-02-27T15:24:35.483" v="987" actId="20577"/>
          <ac:spMkLst>
            <pc:docMk/>
            <pc:sldMk cId="1206372345" sldId="507"/>
            <ac:spMk id="11" creationId="{854FCDEE-23EC-547B-DE30-AAEED721D73D}"/>
          </ac:spMkLst>
        </pc:spChg>
      </pc:sldChg>
      <pc:sldChg chg="addSp delSp modSp add replId">
        <pc:chgData name="Avinash Arun Chauhan" userId="S::avinash.chauhan@mahindrauniversity.edu.in::241b5f3e-36f4-4c61-9553-90e6a1c1b8a6" providerId="AD" clId="Web-{608F13DE-7566-4C81-E546-B7AA06FA6546}" dt="2026-02-27T15:32:31.745" v="1026" actId="1076"/>
        <pc:sldMkLst>
          <pc:docMk/>
          <pc:sldMk cId="1576928433" sldId="508"/>
        </pc:sldMkLst>
        <pc:spChg chg="add mod">
          <ac:chgData name="Avinash Arun Chauhan" userId="S::avinash.chauhan@mahindrauniversity.edu.in::241b5f3e-36f4-4c61-9553-90e6a1c1b8a6" providerId="AD" clId="Web-{608F13DE-7566-4C81-E546-B7AA06FA6546}" dt="2026-02-27T15:32:31.745" v="1026" actId="1076"/>
          <ac:spMkLst>
            <pc:docMk/>
            <pc:sldMk cId="1576928433" sldId="508"/>
            <ac:spMk id="4" creationId="{B17AD876-7AA1-607A-B303-0E3476D18920}"/>
          </ac:spMkLst>
        </pc:spChg>
      </pc:sldChg>
    </pc:docChg>
  </pc:docChgLst>
  <pc:docChgLst>
    <pc:chgData name="Avinash Arun Chauhan" userId="S::avinash.chauhan@mahindrauniversity.edu.in::241b5f3e-36f4-4c61-9553-90e6a1c1b8a6" providerId="AD" clId="Web-{3673E7FF-8E31-543A-5F96-CFF80988FC77}"/>
    <pc:docChg chg="addSld modSld sldOrd">
      <pc:chgData name="Avinash Arun Chauhan" userId="S::avinash.chauhan@mahindrauniversity.edu.in::241b5f3e-36f4-4c61-9553-90e6a1c1b8a6" providerId="AD" clId="Web-{3673E7FF-8E31-543A-5F96-CFF80988FC77}" dt="2026-03-10T06:08:20.526" v="398"/>
      <pc:docMkLst>
        <pc:docMk/>
      </pc:docMkLst>
      <pc:sldChg chg="modSp">
        <pc:chgData name="Avinash Arun Chauhan" userId="S::avinash.chauhan@mahindrauniversity.edu.in::241b5f3e-36f4-4c61-9553-90e6a1c1b8a6" providerId="AD" clId="Web-{3673E7FF-8E31-543A-5F96-CFF80988FC77}" dt="2026-03-10T05:26:12.769" v="50" actId="20577"/>
        <pc:sldMkLst>
          <pc:docMk/>
          <pc:sldMk cId="3296502734" sldId="492"/>
        </pc:sldMkLst>
        <pc:spChg chg="mod">
          <ac:chgData name="Avinash Arun Chauhan" userId="S::avinash.chauhan@mahindrauniversity.edu.in::241b5f3e-36f4-4c61-9553-90e6a1c1b8a6" providerId="AD" clId="Web-{3673E7FF-8E31-543A-5F96-CFF80988FC77}" dt="2026-03-10T05:26:12.769" v="50" actId="20577"/>
          <ac:spMkLst>
            <pc:docMk/>
            <pc:sldMk cId="3296502734" sldId="492"/>
            <ac:spMk id="3" creationId="{B8EC958A-0A25-3A49-6AC5-5FF825D0E7D5}"/>
          </ac:spMkLst>
        </pc:spChg>
      </pc:sldChg>
      <pc:sldChg chg="addSp modSp add ord replId">
        <pc:chgData name="Avinash Arun Chauhan" userId="S::avinash.chauhan@mahindrauniversity.edu.in::241b5f3e-36f4-4c61-9553-90e6a1c1b8a6" providerId="AD" clId="Web-{3673E7FF-8E31-543A-5F96-CFF80988FC77}" dt="2026-03-10T05:54:58.548" v="230"/>
        <pc:sldMkLst>
          <pc:docMk/>
          <pc:sldMk cId="415604366" sldId="509"/>
        </pc:sldMkLst>
        <pc:spChg chg="mod">
          <ac:chgData name="Avinash Arun Chauhan" userId="S::avinash.chauhan@mahindrauniversity.edu.in::241b5f3e-36f4-4c61-9553-90e6a1c1b8a6" providerId="AD" clId="Web-{3673E7FF-8E31-543A-5F96-CFF80988FC77}" dt="2026-03-10T05:54:21.187" v="212" actId="20577"/>
          <ac:spMkLst>
            <pc:docMk/>
            <pc:sldMk cId="415604366" sldId="509"/>
            <ac:spMk id="2" creationId="{1C57F21B-6F33-501C-AB55-0A971AF167DF}"/>
          </ac:spMkLst>
        </pc:spChg>
        <pc:spChg chg="mod">
          <ac:chgData name="Avinash Arun Chauhan" userId="S::avinash.chauhan@mahindrauniversity.edu.in::241b5f3e-36f4-4c61-9553-90e6a1c1b8a6" providerId="AD" clId="Web-{3673E7FF-8E31-543A-5F96-CFF80988FC77}" dt="2026-03-10T05:54:25.078" v="214" actId="20577"/>
          <ac:spMkLst>
            <pc:docMk/>
            <pc:sldMk cId="415604366" sldId="509"/>
            <ac:spMk id="3" creationId="{09402990-F479-7365-07EB-44473E3305A1}"/>
          </ac:spMkLst>
        </pc:spChg>
        <pc:graphicFrameChg chg="add mod modGraphic">
          <ac:chgData name="Avinash Arun Chauhan" userId="S::avinash.chauhan@mahindrauniversity.edu.in::241b5f3e-36f4-4c61-9553-90e6a1c1b8a6" providerId="AD" clId="Web-{3673E7FF-8E31-543A-5F96-CFF80988FC77}" dt="2026-03-10T05:54:58.548" v="230"/>
          <ac:graphicFrameMkLst>
            <pc:docMk/>
            <pc:sldMk cId="415604366" sldId="509"/>
            <ac:graphicFrameMk id="5" creationId="{017349E0-EBF3-114A-5D15-DA0035D91A1C}"/>
          </ac:graphicFrameMkLst>
        </pc:graphicFrameChg>
      </pc:sldChg>
      <pc:sldChg chg="addSp delSp modSp add replId">
        <pc:chgData name="Avinash Arun Chauhan" userId="S::avinash.chauhan@mahindrauniversity.edu.in::241b5f3e-36f4-4c61-9553-90e6a1c1b8a6" providerId="AD" clId="Web-{3673E7FF-8E31-543A-5F96-CFF80988FC77}" dt="2026-03-10T05:33:09.051" v="89"/>
        <pc:sldMkLst>
          <pc:docMk/>
          <pc:sldMk cId="1493575146" sldId="510"/>
        </pc:sldMkLst>
        <pc:spChg chg="mod">
          <ac:chgData name="Avinash Arun Chauhan" userId="S::avinash.chauhan@mahindrauniversity.edu.in::241b5f3e-36f4-4c61-9553-90e6a1c1b8a6" providerId="AD" clId="Web-{3673E7FF-8E31-543A-5F96-CFF80988FC77}" dt="2026-03-10T05:31:46.358" v="60" actId="20577"/>
          <ac:spMkLst>
            <pc:docMk/>
            <pc:sldMk cId="1493575146" sldId="510"/>
            <ac:spMk id="2" creationId="{36BE5FA8-205D-646B-4D17-EFADB729CD76}"/>
          </ac:spMkLst>
        </pc:spChg>
        <pc:spChg chg="mod">
          <ac:chgData name="Avinash Arun Chauhan" userId="S::avinash.chauhan@mahindrauniversity.edu.in::241b5f3e-36f4-4c61-9553-90e6a1c1b8a6" providerId="AD" clId="Web-{3673E7FF-8E31-543A-5F96-CFF80988FC77}" dt="2026-03-10T05:31:54.312" v="61" actId="20577"/>
          <ac:spMkLst>
            <pc:docMk/>
            <pc:sldMk cId="1493575146" sldId="510"/>
            <ac:spMk id="3" creationId="{E3225240-30EF-3724-AB07-3124ED5F1519}"/>
          </ac:spMkLst>
        </pc:spChg>
        <pc:spChg chg="add del mod">
          <ac:chgData name="Avinash Arun Chauhan" userId="S::avinash.chauhan@mahindrauniversity.edu.in::241b5f3e-36f4-4c61-9553-90e6a1c1b8a6" providerId="AD" clId="Web-{3673E7FF-8E31-543A-5F96-CFF80988FC77}" dt="2026-03-10T05:32:10.329" v="66"/>
          <ac:spMkLst>
            <pc:docMk/>
            <pc:sldMk cId="1493575146" sldId="510"/>
            <ac:spMk id="9" creationId="{79991DB5-937C-52AD-AFD7-0B05664CDA40}"/>
          </ac:spMkLst>
        </pc:spChg>
        <pc:graphicFrameChg chg="add mod modGraphic">
          <ac:chgData name="Avinash Arun Chauhan" userId="S::avinash.chauhan@mahindrauniversity.edu.in::241b5f3e-36f4-4c61-9553-90e6a1c1b8a6" providerId="AD" clId="Web-{3673E7FF-8E31-543A-5F96-CFF80988FC77}" dt="2026-03-10T05:33:09.051" v="89"/>
          <ac:graphicFrameMkLst>
            <pc:docMk/>
            <pc:sldMk cId="1493575146" sldId="510"/>
            <ac:graphicFrameMk id="5" creationId="{582B6D08-6CD5-2E79-F538-ECC9D1E589DE}"/>
          </ac:graphicFrameMkLst>
        </pc:graphicFrameChg>
      </pc:sldChg>
      <pc:sldChg chg="addSp delSp modSp add replId">
        <pc:chgData name="Avinash Arun Chauhan" userId="S::avinash.chauhan@mahindrauniversity.edu.in::241b5f3e-36f4-4c61-9553-90e6a1c1b8a6" providerId="AD" clId="Web-{3673E7FF-8E31-543A-5F96-CFF80988FC77}" dt="2026-03-10T05:47:16.460" v="122" actId="20577"/>
        <pc:sldMkLst>
          <pc:docMk/>
          <pc:sldMk cId="1651009539" sldId="511"/>
        </pc:sldMkLst>
        <pc:spChg chg="mod">
          <ac:chgData name="Avinash Arun Chauhan" userId="S::avinash.chauhan@mahindrauniversity.edu.in::241b5f3e-36f4-4c61-9553-90e6a1c1b8a6" providerId="AD" clId="Web-{3673E7FF-8E31-543A-5F96-CFF80988FC77}" dt="2026-03-10T05:34:51.697" v="96" actId="20577"/>
          <ac:spMkLst>
            <pc:docMk/>
            <pc:sldMk cId="1651009539" sldId="511"/>
            <ac:spMk id="2" creationId="{4E6726D1-19E7-6215-FD9B-30359B114DAD}"/>
          </ac:spMkLst>
        </pc:spChg>
        <pc:spChg chg="mod">
          <ac:chgData name="Avinash Arun Chauhan" userId="S::avinash.chauhan@mahindrauniversity.edu.in::241b5f3e-36f4-4c61-9553-90e6a1c1b8a6" providerId="AD" clId="Web-{3673E7FF-8E31-543A-5F96-CFF80988FC77}" dt="2026-03-10T05:47:16.460" v="122" actId="20577"/>
          <ac:spMkLst>
            <pc:docMk/>
            <pc:sldMk cId="1651009539" sldId="511"/>
            <ac:spMk id="3" creationId="{DA59A2D4-12D9-5C3C-BB2A-14805844766D}"/>
          </ac:spMkLst>
        </pc:spChg>
        <pc:spChg chg="add del">
          <ac:chgData name="Avinash Arun Chauhan" userId="S::avinash.chauhan@mahindrauniversity.edu.in::241b5f3e-36f4-4c61-9553-90e6a1c1b8a6" providerId="AD" clId="Web-{3673E7FF-8E31-543A-5F96-CFF80988FC77}" dt="2026-03-10T05:47:06.179" v="116"/>
          <ac:spMkLst>
            <pc:docMk/>
            <pc:sldMk cId="1651009539" sldId="511"/>
            <ac:spMk id="9" creationId="{F92856AE-B66E-40E3-0252-25A942FB98F3}"/>
          </ac:spMkLst>
        </pc:spChg>
        <pc:graphicFrameChg chg="add mod modGraphic">
          <ac:chgData name="Avinash Arun Chauhan" userId="S::avinash.chauhan@mahindrauniversity.edu.in::241b5f3e-36f4-4c61-9553-90e6a1c1b8a6" providerId="AD" clId="Web-{3673E7FF-8E31-543A-5F96-CFF80988FC77}" dt="2026-03-10T05:46:54.819" v="114" actId="1076"/>
          <ac:graphicFrameMkLst>
            <pc:docMk/>
            <pc:sldMk cId="1651009539" sldId="511"/>
            <ac:graphicFrameMk id="5" creationId="{8AE9EF02-8C1D-A63F-E0F3-394A1D196E1F}"/>
          </ac:graphicFrameMkLst>
        </pc:graphicFrameChg>
      </pc:sldChg>
      <pc:sldChg chg="addSp modSp add ord replId">
        <pc:chgData name="Avinash Arun Chauhan" userId="S::avinash.chauhan@mahindrauniversity.edu.in::241b5f3e-36f4-4c61-9553-90e6a1c1b8a6" providerId="AD" clId="Web-{3673E7FF-8E31-543A-5F96-CFF80988FC77}" dt="2026-03-10T05:52:02.745" v="183" actId="1076"/>
        <pc:sldMkLst>
          <pc:docMk/>
          <pc:sldMk cId="1667948444" sldId="512"/>
        </pc:sldMkLst>
        <pc:spChg chg="mod">
          <ac:chgData name="Avinash Arun Chauhan" userId="S::avinash.chauhan@mahindrauniversity.edu.in::241b5f3e-36f4-4c61-9553-90e6a1c1b8a6" providerId="AD" clId="Web-{3673E7FF-8E31-543A-5F96-CFF80988FC77}" dt="2026-03-10T05:48:45.078" v="129" actId="20577"/>
          <ac:spMkLst>
            <pc:docMk/>
            <pc:sldMk cId="1667948444" sldId="512"/>
            <ac:spMk id="2" creationId="{58530475-0606-33D0-4728-B0E1313A6455}"/>
          </ac:spMkLst>
        </pc:spChg>
        <pc:spChg chg="mod">
          <ac:chgData name="Avinash Arun Chauhan" userId="S::avinash.chauhan@mahindrauniversity.edu.in::241b5f3e-36f4-4c61-9553-90e6a1c1b8a6" providerId="AD" clId="Web-{3673E7FF-8E31-543A-5F96-CFF80988FC77}" dt="2026-03-10T05:51:50.839" v="181" actId="20577"/>
          <ac:spMkLst>
            <pc:docMk/>
            <pc:sldMk cId="1667948444" sldId="512"/>
            <ac:spMk id="3" creationId="{6345B73F-924E-55E7-931D-58965D9B494D}"/>
          </ac:spMkLst>
        </pc:spChg>
        <pc:graphicFrameChg chg="add mod modGraphic">
          <ac:chgData name="Avinash Arun Chauhan" userId="S::avinash.chauhan@mahindrauniversity.edu.in::241b5f3e-36f4-4c61-9553-90e6a1c1b8a6" providerId="AD" clId="Web-{3673E7FF-8E31-543A-5F96-CFF80988FC77}" dt="2026-03-10T05:51:55.323" v="182" actId="1076"/>
          <ac:graphicFrameMkLst>
            <pc:docMk/>
            <pc:sldMk cId="1667948444" sldId="512"/>
            <ac:graphicFrameMk id="5" creationId="{8A96799C-C95F-4460-CF90-614C2337DB04}"/>
          </ac:graphicFrameMkLst>
        </pc:graphicFrameChg>
        <pc:graphicFrameChg chg="add mod modGraphic">
          <ac:chgData name="Avinash Arun Chauhan" userId="S::avinash.chauhan@mahindrauniversity.edu.in::241b5f3e-36f4-4c61-9553-90e6a1c1b8a6" providerId="AD" clId="Web-{3673E7FF-8E31-543A-5F96-CFF80988FC77}" dt="2026-03-10T05:52:02.745" v="183" actId="1076"/>
          <ac:graphicFrameMkLst>
            <pc:docMk/>
            <pc:sldMk cId="1667948444" sldId="512"/>
            <ac:graphicFrameMk id="10" creationId="{B787C96D-92AD-E5D9-2ADF-AE37E2A2F4BB}"/>
          </ac:graphicFrameMkLst>
        </pc:graphicFrameChg>
      </pc:sldChg>
      <pc:sldChg chg="delSp modSp add replId">
        <pc:chgData name="Avinash Arun Chauhan" userId="S::avinash.chauhan@mahindrauniversity.edu.in::241b5f3e-36f4-4c61-9553-90e6a1c1b8a6" providerId="AD" clId="Web-{3673E7FF-8E31-543A-5F96-CFF80988FC77}" dt="2026-03-10T05:53:07.810" v="204" actId="20577"/>
        <pc:sldMkLst>
          <pc:docMk/>
          <pc:sldMk cId="3312818760" sldId="513"/>
        </pc:sldMkLst>
        <pc:spChg chg="mod">
          <ac:chgData name="Avinash Arun Chauhan" userId="S::avinash.chauhan@mahindrauniversity.edu.in::241b5f3e-36f4-4c61-9553-90e6a1c1b8a6" providerId="AD" clId="Web-{3673E7FF-8E31-543A-5F96-CFF80988FC77}" dt="2026-03-10T05:53:07.810" v="204" actId="20577"/>
          <ac:spMkLst>
            <pc:docMk/>
            <pc:sldMk cId="3312818760" sldId="513"/>
            <ac:spMk id="2" creationId="{AABD7278-4DC4-0ED6-4123-0CD1A4D69BF5}"/>
          </ac:spMkLst>
        </pc:spChg>
        <pc:spChg chg="mod">
          <ac:chgData name="Avinash Arun Chauhan" userId="S::avinash.chauhan@mahindrauniversity.edu.in::241b5f3e-36f4-4c61-9553-90e6a1c1b8a6" providerId="AD" clId="Web-{3673E7FF-8E31-543A-5F96-CFF80988FC77}" dt="2026-03-10T05:53:03.248" v="194" actId="20577"/>
          <ac:spMkLst>
            <pc:docMk/>
            <pc:sldMk cId="3312818760" sldId="513"/>
            <ac:spMk id="3" creationId="{6A29D057-8501-1BDC-0D73-A434C994F7B5}"/>
          </ac:spMkLst>
        </pc:spChg>
        <pc:graphicFrameChg chg="del">
          <ac:chgData name="Avinash Arun Chauhan" userId="S::avinash.chauhan@mahindrauniversity.edu.in::241b5f3e-36f4-4c61-9553-90e6a1c1b8a6" providerId="AD" clId="Web-{3673E7FF-8E31-543A-5F96-CFF80988FC77}" dt="2026-03-10T05:52:48.575" v="190"/>
          <ac:graphicFrameMkLst>
            <pc:docMk/>
            <pc:sldMk cId="3312818760" sldId="513"/>
            <ac:graphicFrameMk id="5" creationId="{19511EAA-B537-99DC-7D45-707226DA5E97}"/>
          </ac:graphicFrameMkLst>
        </pc:graphicFrameChg>
        <pc:graphicFrameChg chg="del">
          <ac:chgData name="Avinash Arun Chauhan" userId="S::avinash.chauhan@mahindrauniversity.edu.in::241b5f3e-36f4-4c61-9553-90e6a1c1b8a6" providerId="AD" clId="Web-{3673E7FF-8E31-543A-5F96-CFF80988FC77}" dt="2026-03-10T05:52:45.497" v="189"/>
          <ac:graphicFrameMkLst>
            <pc:docMk/>
            <pc:sldMk cId="3312818760" sldId="513"/>
            <ac:graphicFrameMk id="10" creationId="{1B7A2F6B-B032-AA91-7878-64A0DDC1D350}"/>
          </ac:graphicFrameMkLst>
        </pc:graphicFrameChg>
      </pc:sldChg>
      <pc:sldChg chg="addSp delSp modSp add replId">
        <pc:chgData name="Avinash Arun Chauhan" userId="S::avinash.chauhan@mahindrauniversity.edu.in::241b5f3e-36f4-4c61-9553-90e6a1c1b8a6" providerId="AD" clId="Web-{3673E7FF-8E31-543A-5F96-CFF80988FC77}" dt="2026-03-10T06:08:20.526" v="398"/>
        <pc:sldMkLst>
          <pc:docMk/>
          <pc:sldMk cId="3781963817" sldId="514"/>
        </pc:sldMkLst>
        <pc:spChg chg="mod">
          <ac:chgData name="Avinash Arun Chauhan" userId="S::avinash.chauhan@mahindrauniversity.edu.in::241b5f3e-36f4-4c61-9553-90e6a1c1b8a6" providerId="AD" clId="Web-{3673E7FF-8E31-543A-5F96-CFF80988FC77}" dt="2026-03-10T05:59:51.678" v="249" actId="1076"/>
          <ac:spMkLst>
            <pc:docMk/>
            <pc:sldMk cId="3781963817" sldId="514"/>
            <ac:spMk id="2" creationId="{061DD56E-F208-25D9-9065-4346F33D76E6}"/>
          </ac:spMkLst>
        </pc:spChg>
        <pc:spChg chg="add mod">
          <ac:chgData name="Avinash Arun Chauhan" userId="S::avinash.chauhan@mahindrauniversity.edu.in::241b5f3e-36f4-4c61-9553-90e6a1c1b8a6" providerId="AD" clId="Web-{3673E7FF-8E31-543A-5F96-CFF80988FC77}" dt="2026-03-10T06:06:22.738" v="356" actId="20577"/>
          <ac:spMkLst>
            <pc:docMk/>
            <pc:sldMk cId="3781963817" sldId="514"/>
            <ac:spMk id="40" creationId="{366E26B6-11EC-5502-33C3-713ADD903D0C}"/>
          </ac:spMkLst>
        </pc:spChg>
        <pc:spChg chg="add mod">
          <ac:chgData name="Avinash Arun Chauhan" userId="S::avinash.chauhan@mahindrauniversity.edu.in::241b5f3e-36f4-4c61-9553-90e6a1c1b8a6" providerId="AD" clId="Web-{3673E7FF-8E31-543A-5F96-CFF80988FC77}" dt="2026-03-10T06:07:19.210" v="363" actId="20577"/>
          <ac:spMkLst>
            <pc:docMk/>
            <pc:sldMk cId="3781963817" sldId="514"/>
            <ac:spMk id="41" creationId="{FE44BBD9-C048-D2C5-3356-133E18EA45AD}"/>
          </ac:spMkLst>
        </pc:spChg>
        <pc:spChg chg="add mod">
          <ac:chgData name="Avinash Arun Chauhan" userId="S::avinash.chauhan@mahindrauniversity.edu.in::241b5f3e-36f4-4c61-9553-90e6a1c1b8a6" providerId="AD" clId="Web-{3673E7FF-8E31-543A-5F96-CFF80988FC77}" dt="2026-03-10T06:07:41.821" v="376" actId="20577"/>
          <ac:spMkLst>
            <pc:docMk/>
            <pc:sldMk cId="3781963817" sldId="514"/>
            <ac:spMk id="42" creationId="{A230701E-34DD-8D50-9C34-EE8028749AFE}"/>
          </ac:spMkLst>
        </pc:spChg>
        <pc:spChg chg="add mod">
          <ac:chgData name="Avinash Arun Chauhan" userId="S::avinash.chauhan@mahindrauniversity.edu.in::241b5f3e-36f4-4c61-9553-90e6a1c1b8a6" providerId="AD" clId="Web-{3673E7FF-8E31-543A-5F96-CFF80988FC77}" dt="2026-03-10T06:08:01.681" v="393" actId="20577"/>
          <ac:spMkLst>
            <pc:docMk/>
            <pc:sldMk cId="3781963817" sldId="514"/>
            <ac:spMk id="43" creationId="{DC46AADD-B5A3-B674-B8DA-C4A6B8E78FEC}"/>
          </ac:spMkLst>
        </pc:spChg>
        <pc:graphicFrameChg chg="del">
          <ac:chgData name="Avinash Arun Chauhan" userId="S::avinash.chauhan@mahindrauniversity.edu.in::241b5f3e-36f4-4c61-9553-90e6a1c1b8a6" providerId="AD" clId="Web-{3673E7FF-8E31-543A-5F96-CFF80988FC77}" dt="2026-03-10T05:57:29.348" v="243"/>
          <ac:graphicFrameMkLst>
            <pc:docMk/>
            <pc:sldMk cId="3781963817" sldId="514"/>
            <ac:graphicFrameMk id="5" creationId="{8003EA75-95BF-594E-416D-CEBB29FD3A24}"/>
          </ac:graphicFrameMkLst>
        </pc:graphicFrameChg>
        <pc:graphicFrameChg chg="add del mod modGraphic">
          <ac:chgData name="Avinash Arun Chauhan" userId="S::avinash.chauhan@mahindrauniversity.edu.in::241b5f3e-36f4-4c61-9553-90e6a1c1b8a6" providerId="AD" clId="Web-{3673E7FF-8E31-543A-5F96-CFF80988FC77}" dt="2026-03-10T05:59:31.756" v="248"/>
          <ac:graphicFrameMkLst>
            <pc:docMk/>
            <pc:sldMk cId="3781963817" sldId="514"/>
            <ac:graphicFrameMk id="9" creationId="{3E9EFD3E-B4AD-945C-79D5-8FE654744BEA}"/>
          </ac:graphicFrameMkLst>
        </pc:graphicFrameChg>
        <pc:graphicFrameChg chg="add del mod modGraphic">
          <ac:chgData name="Avinash Arun Chauhan" userId="S::avinash.chauhan@mahindrauniversity.edu.in::241b5f3e-36f4-4c61-9553-90e6a1c1b8a6" providerId="AD" clId="Web-{3673E7FF-8E31-543A-5F96-CFF80988FC77}" dt="2026-03-10T06:01:51.242" v="279"/>
          <ac:graphicFrameMkLst>
            <pc:docMk/>
            <pc:sldMk cId="3781963817" sldId="514"/>
            <ac:graphicFrameMk id="11" creationId="{083A2B61-9DA9-A446-F77C-3D59241163E4}"/>
          </ac:graphicFrameMkLst>
        </pc:graphicFrameChg>
        <pc:graphicFrameChg chg="add del mod">
          <ac:chgData name="Avinash Arun Chauhan" userId="S::avinash.chauhan@mahindrauniversity.edu.in::241b5f3e-36f4-4c61-9553-90e6a1c1b8a6" providerId="AD" clId="Web-{3673E7FF-8E31-543A-5F96-CFF80988FC77}" dt="2026-03-10T06:02:29.164" v="305"/>
          <ac:graphicFrameMkLst>
            <pc:docMk/>
            <pc:sldMk cId="3781963817" sldId="514"/>
            <ac:graphicFrameMk id="13" creationId="{3810A0DE-B4F1-36AA-AE56-10BA2C5C921A}"/>
          </ac:graphicFrameMkLst>
        </pc:graphicFrameChg>
        <pc:graphicFrameChg chg="add del mod">
          <ac:chgData name="Avinash Arun Chauhan" userId="S::avinash.chauhan@mahindrauniversity.edu.in::241b5f3e-36f4-4c61-9553-90e6a1c1b8a6" providerId="AD" clId="Web-{3673E7FF-8E31-543A-5F96-CFF80988FC77}" dt="2026-03-10T06:02:29.164" v="304"/>
          <ac:graphicFrameMkLst>
            <pc:docMk/>
            <pc:sldMk cId="3781963817" sldId="514"/>
            <ac:graphicFrameMk id="15" creationId="{40AD417F-ED6D-0F82-A28B-4573BE0E7CD9}"/>
          </ac:graphicFrameMkLst>
        </pc:graphicFrameChg>
        <pc:graphicFrameChg chg="add del mod">
          <ac:chgData name="Avinash Arun Chauhan" userId="S::avinash.chauhan@mahindrauniversity.edu.in::241b5f3e-36f4-4c61-9553-90e6a1c1b8a6" providerId="AD" clId="Web-{3673E7FF-8E31-543A-5F96-CFF80988FC77}" dt="2026-03-10T06:02:29.164" v="303"/>
          <ac:graphicFrameMkLst>
            <pc:docMk/>
            <pc:sldMk cId="3781963817" sldId="514"/>
            <ac:graphicFrameMk id="17" creationId="{F0CF19A8-24F8-A4FA-E7A5-DDBBD7BE728C}"/>
          </ac:graphicFrameMkLst>
        </pc:graphicFrameChg>
        <pc:graphicFrameChg chg="add del mod">
          <ac:chgData name="Avinash Arun Chauhan" userId="S::avinash.chauhan@mahindrauniversity.edu.in::241b5f3e-36f4-4c61-9553-90e6a1c1b8a6" providerId="AD" clId="Web-{3673E7FF-8E31-543A-5F96-CFF80988FC77}" dt="2026-03-10T06:02:29.164" v="302"/>
          <ac:graphicFrameMkLst>
            <pc:docMk/>
            <pc:sldMk cId="3781963817" sldId="514"/>
            <ac:graphicFrameMk id="19" creationId="{1FE85225-07C8-3E07-D35F-BBEA8271FA37}"/>
          </ac:graphicFrameMkLst>
        </pc:graphicFrameChg>
        <pc:graphicFrameChg chg="add del mod">
          <ac:chgData name="Avinash Arun Chauhan" userId="S::avinash.chauhan@mahindrauniversity.edu.in::241b5f3e-36f4-4c61-9553-90e6a1c1b8a6" providerId="AD" clId="Web-{3673E7FF-8E31-543A-5F96-CFF80988FC77}" dt="2026-03-10T06:02:29.164" v="301"/>
          <ac:graphicFrameMkLst>
            <pc:docMk/>
            <pc:sldMk cId="3781963817" sldId="514"/>
            <ac:graphicFrameMk id="21" creationId="{44FF1C3C-76F8-3B1B-8A59-5AB2BEA35BBD}"/>
          </ac:graphicFrameMkLst>
        </pc:graphicFrameChg>
        <pc:graphicFrameChg chg="add del mod">
          <ac:chgData name="Avinash Arun Chauhan" userId="S::avinash.chauhan@mahindrauniversity.edu.in::241b5f3e-36f4-4c61-9553-90e6a1c1b8a6" providerId="AD" clId="Web-{3673E7FF-8E31-543A-5F96-CFF80988FC77}" dt="2026-03-10T06:02:29.148" v="300"/>
          <ac:graphicFrameMkLst>
            <pc:docMk/>
            <pc:sldMk cId="3781963817" sldId="514"/>
            <ac:graphicFrameMk id="23" creationId="{89DD4CD5-8047-6E71-EC5A-902FA9D2BEF0}"/>
          </ac:graphicFrameMkLst>
        </pc:graphicFrameChg>
        <pc:graphicFrameChg chg="add del mod">
          <ac:chgData name="Avinash Arun Chauhan" userId="S::avinash.chauhan@mahindrauniversity.edu.in::241b5f3e-36f4-4c61-9553-90e6a1c1b8a6" providerId="AD" clId="Web-{3673E7FF-8E31-543A-5F96-CFF80988FC77}" dt="2026-03-10T06:02:29.148" v="299"/>
          <ac:graphicFrameMkLst>
            <pc:docMk/>
            <pc:sldMk cId="3781963817" sldId="514"/>
            <ac:graphicFrameMk id="25" creationId="{76A1B1E5-8707-B373-7DD8-7230579CC671}"/>
          </ac:graphicFrameMkLst>
        </pc:graphicFrameChg>
        <pc:graphicFrameChg chg="add del mod">
          <ac:chgData name="Avinash Arun Chauhan" userId="S::avinash.chauhan@mahindrauniversity.edu.in::241b5f3e-36f4-4c61-9553-90e6a1c1b8a6" providerId="AD" clId="Web-{3673E7FF-8E31-543A-5F96-CFF80988FC77}" dt="2026-03-10T06:02:29.148" v="298"/>
          <ac:graphicFrameMkLst>
            <pc:docMk/>
            <pc:sldMk cId="3781963817" sldId="514"/>
            <ac:graphicFrameMk id="27" creationId="{D58B6F62-F122-9117-CB75-3ADEF5A43DB3}"/>
          </ac:graphicFrameMkLst>
        </pc:graphicFrameChg>
        <pc:graphicFrameChg chg="add del mod">
          <ac:chgData name="Avinash Arun Chauhan" userId="S::avinash.chauhan@mahindrauniversity.edu.in::241b5f3e-36f4-4c61-9553-90e6a1c1b8a6" providerId="AD" clId="Web-{3673E7FF-8E31-543A-5F96-CFF80988FC77}" dt="2026-03-10T06:02:29.148" v="297"/>
          <ac:graphicFrameMkLst>
            <pc:docMk/>
            <pc:sldMk cId="3781963817" sldId="514"/>
            <ac:graphicFrameMk id="29" creationId="{A935876C-C170-A355-5C30-1075E09B6032}"/>
          </ac:graphicFrameMkLst>
        </pc:graphicFrameChg>
        <pc:graphicFrameChg chg="add del mod modGraphic">
          <ac:chgData name="Avinash Arun Chauhan" userId="S::avinash.chauhan@mahindrauniversity.edu.in::241b5f3e-36f4-4c61-9553-90e6a1c1b8a6" providerId="AD" clId="Web-{3673E7FF-8E31-543A-5F96-CFF80988FC77}" dt="2026-03-10T06:02:29.148" v="296"/>
          <ac:graphicFrameMkLst>
            <pc:docMk/>
            <pc:sldMk cId="3781963817" sldId="514"/>
            <ac:graphicFrameMk id="31" creationId="{EFE8F0D5-CE53-58B5-3658-0D13042A271C}"/>
          </ac:graphicFrameMkLst>
        </pc:graphicFrameChg>
        <pc:graphicFrameChg chg="add mod modGraphic">
          <ac:chgData name="Avinash Arun Chauhan" userId="S::avinash.chauhan@mahindrauniversity.edu.in::241b5f3e-36f4-4c61-9553-90e6a1c1b8a6" providerId="AD" clId="Web-{3673E7FF-8E31-543A-5F96-CFF80988FC77}" dt="2026-03-10T06:08:20.526" v="398"/>
          <ac:graphicFrameMkLst>
            <pc:docMk/>
            <pc:sldMk cId="3781963817" sldId="514"/>
            <ac:graphicFrameMk id="33" creationId="{D362F25A-85BB-C62B-4C86-51A20B29CC84}"/>
          </ac:graphicFrameMkLst>
        </pc:graphicFrameChg>
        <pc:graphicFrameChg chg="add mod modGraphic">
          <ac:chgData name="Avinash Arun Chauhan" userId="S::avinash.chauhan@mahindrauniversity.edu.in::241b5f3e-36f4-4c61-9553-90e6a1c1b8a6" providerId="AD" clId="Web-{3673E7FF-8E31-543A-5F96-CFF80988FC77}" dt="2026-03-10T06:08:13.744" v="394" actId="1076"/>
          <ac:graphicFrameMkLst>
            <pc:docMk/>
            <pc:sldMk cId="3781963817" sldId="514"/>
            <ac:graphicFrameMk id="35" creationId="{9CD194E9-77D1-744C-001A-D5A32953E83E}"/>
          </ac:graphicFrameMkLst>
        </pc:graphicFrameChg>
        <pc:graphicFrameChg chg="add mod modGraphic">
          <ac:chgData name="Avinash Arun Chauhan" userId="S::avinash.chauhan@mahindrauniversity.edu.in::241b5f3e-36f4-4c61-9553-90e6a1c1b8a6" providerId="AD" clId="Web-{3673E7FF-8E31-543A-5F96-CFF80988FC77}" dt="2026-03-10T06:04:51.746" v="332"/>
          <ac:graphicFrameMkLst>
            <pc:docMk/>
            <pc:sldMk cId="3781963817" sldId="514"/>
            <ac:graphicFrameMk id="37" creationId="{42D397CD-EF2F-C69A-E6B2-CA8803BDDE63}"/>
          </ac:graphicFrameMkLst>
        </pc:graphicFrameChg>
        <pc:graphicFrameChg chg="add mod modGraphic">
          <ac:chgData name="Avinash Arun Chauhan" userId="S::avinash.chauhan@mahindrauniversity.edu.in::241b5f3e-36f4-4c61-9553-90e6a1c1b8a6" providerId="AD" clId="Web-{3673E7FF-8E31-543A-5F96-CFF80988FC77}" dt="2026-03-10T06:05:45.298" v="336" actId="1076"/>
          <ac:graphicFrameMkLst>
            <pc:docMk/>
            <pc:sldMk cId="3781963817" sldId="514"/>
            <ac:graphicFrameMk id="39" creationId="{B46FD0AD-E85D-6302-E1C6-4A28B4D22080}"/>
          </ac:graphicFrameMkLst>
        </pc:graphicFrameChg>
      </pc:sldChg>
    </pc:docChg>
  </pc:docChgLst>
  <pc:docChgLst>
    <pc:chgData name="Avinash Arun Chauhan" userId="S::avinash.chauhan@mahindrauniversity.edu.in::241b5f3e-36f4-4c61-9553-90e6a1c1b8a6" providerId="AD" clId="Web-{70AC1DCB-C848-3339-9EEA-64840C64E1BD}"/>
    <pc:docChg chg="addSld modSld">
      <pc:chgData name="Avinash Arun Chauhan" userId="S::avinash.chauhan@mahindrauniversity.edu.in::241b5f3e-36f4-4c61-9553-90e6a1c1b8a6" providerId="AD" clId="Web-{70AC1DCB-C848-3339-9EEA-64840C64E1BD}" dt="2026-02-27T07:56:51.038" v="72" actId="20577"/>
      <pc:docMkLst>
        <pc:docMk/>
      </pc:docMkLst>
      <pc:sldChg chg="modSp">
        <pc:chgData name="Avinash Arun Chauhan" userId="S::avinash.chauhan@mahindrauniversity.edu.in::241b5f3e-36f4-4c61-9553-90e6a1c1b8a6" providerId="AD" clId="Web-{70AC1DCB-C848-3339-9EEA-64840C64E1BD}" dt="2026-02-27T07:56:51.038" v="72" actId="20577"/>
        <pc:sldMkLst>
          <pc:docMk/>
          <pc:sldMk cId="3573909319" sldId="461"/>
        </pc:sldMkLst>
        <pc:spChg chg="mod">
          <ac:chgData name="Avinash Arun Chauhan" userId="S::avinash.chauhan@mahindrauniversity.edu.in::241b5f3e-36f4-4c61-9553-90e6a1c1b8a6" providerId="AD" clId="Web-{70AC1DCB-C848-3339-9EEA-64840C64E1BD}" dt="2026-02-27T07:56:51.038" v="72" actId="20577"/>
          <ac:spMkLst>
            <pc:docMk/>
            <pc:sldMk cId="3573909319" sldId="461"/>
            <ac:spMk id="3" creationId="{127A5B15-E472-15EF-377E-89C7D795216F}"/>
          </ac:spMkLst>
        </pc:spChg>
      </pc:sldChg>
      <pc:sldChg chg="modSp">
        <pc:chgData name="Avinash Arun Chauhan" userId="S::avinash.chauhan@mahindrauniversity.edu.in::241b5f3e-36f4-4c61-9553-90e6a1c1b8a6" providerId="AD" clId="Web-{70AC1DCB-C848-3339-9EEA-64840C64E1BD}" dt="2026-02-27T07:52:02.360" v="9" actId="20577"/>
        <pc:sldMkLst>
          <pc:docMk/>
          <pc:sldMk cId="1554059342" sldId="484"/>
        </pc:sldMkLst>
        <pc:spChg chg="mod">
          <ac:chgData name="Avinash Arun Chauhan" userId="S::avinash.chauhan@mahindrauniversity.edu.in::241b5f3e-36f4-4c61-9553-90e6a1c1b8a6" providerId="AD" clId="Web-{70AC1DCB-C848-3339-9EEA-64840C64E1BD}" dt="2026-02-27T07:52:02.360" v="9" actId="20577"/>
          <ac:spMkLst>
            <pc:docMk/>
            <pc:sldMk cId="1554059342" sldId="484"/>
            <ac:spMk id="3" creationId="{64E90AAB-6A22-B4A4-A437-D94BB399C404}"/>
          </ac:spMkLst>
        </pc:spChg>
      </pc:sldChg>
      <pc:sldChg chg="modSp">
        <pc:chgData name="Avinash Arun Chauhan" userId="S::avinash.chauhan@mahindrauniversity.edu.in::241b5f3e-36f4-4c61-9553-90e6a1c1b8a6" providerId="AD" clId="Web-{70AC1DCB-C848-3339-9EEA-64840C64E1BD}" dt="2026-02-27T07:52:32.189" v="10" actId="20577"/>
        <pc:sldMkLst>
          <pc:docMk/>
          <pc:sldMk cId="2260623868" sldId="485"/>
        </pc:sldMkLst>
        <pc:spChg chg="mod">
          <ac:chgData name="Avinash Arun Chauhan" userId="S::avinash.chauhan@mahindrauniversity.edu.in::241b5f3e-36f4-4c61-9553-90e6a1c1b8a6" providerId="AD" clId="Web-{70AC1DCB-C848-3339-9EEA-64840C64E1BD}" dt="2026-02-27T07:52:32.189" v="10" actId="20577"/>
          <ac:spMkLst>
            <pc:docMk/>
            <pc:sldMk cId="2260623868" sldId="485"/>
            <ac:spMk id="3" creationId="{7E72C7A4-DE55-E64D-BC1A-F4B87C408258}"/>
          </ac:spMkLst>
        </pc:spChg>
      </pc:sldChg>
      <pc:sldChg chg="modSp add replId">
        <pc:chgData name="Avinash Arun Chauhan" userId="S::avinash.chauhan@mahindrauniversity.edu.in::241b5f3e-36f4-4c61-9553-90e6a1c1b8a6" providerId="AD" clId="Web-{70AC1DCB-C848-3339-9EEA-64840C64E1BD}" dt="2026-02-27T07:56:30.207" v="45" actId="20577"/>
        <pc:sldMkLst>
          <pc:docMk/>
          <pc:sldMk cId="2723245005" sldId="506"/>
        </pc:sldMkLst>
        <pc:spChg chg="mod">
          <ac:chgData name="Avinash Arun Chauhan" userId="S::avinash.chauhan@mahindrauniversity.edu.in::241b5f3e-36f4-4c61-9553-90e6a1c1b8a6" providerId="AD" clId="Web-{70AC1DCB-C848-3339-9EEA-64840C64E1BD}" dt="2026-02-27T07:56:15.707" v="39" actId="20577"/>
          <ac:spMkLst>
            <pc:docMk/>
            <pc:sldMk cId="2723245005" sldId="506"/>
            <ac:spMk id="2" creationId="{DAECF693-81AD-8FAB-2786-EC69824110EC}"/>
          </ac:spMkLst>
        </pc:spChg>
        <pc:spChg chg="mod">
          <ac:chgData name="Avinash Arun Chauhan" userId="S::avinash.chauhan@mahindrauniversity.edu.in::241b5f3e-36f4-4c61-9553-90e6a1c1b8a6" providerId="AD" clId="Web-{70AC1DCB-C848-3339-9EEA-64840C64E1BD}" dt="2026-02-27T07:56:30.207" v="45" actId="20577"/>
          <ac:spMkLst>
            <pc:docMk/>
            <pc:sldMk cId="2723245005" sldId="506"/>
            <ac:spMk id="3" creationId="{9C2D0D2A-2B34-E3FB-1D84-540A74774014}"/>
          </ac:spMkLst>
        </pc:spChg>
      </pc:sldChg>
    </pc:docChg>
  </pc:docChgLst>
  <pc:docChgLst>
    <pc:chgData name="Avinash Arun Chauhan" userId="S::avinash.chauhan@mahindrauniversity.edu.in::241b5f3e-36f4-4c61-9553-90e6a1c1b8a6" providerId="AD" clId="Web-{258EF2CB-B644-1257-8691-A964D101D95A}"/>
    <pc:docChg chg="modSld">
      <pc:chgData name="Avinash Arun Chauhan" userId="S::avinash.chauhan@mahindrauniversity.edu.in::241b5f3e-36f4-4c61-9553-90e6a1c1b8a6" providerId="AD" clId="Web-{258EF2CB-B644-1257-8691-A964D101D95A}" dt="2026-03-11T04:06:47.695" v="90"/>
      <pc:docMkLst>
        <pc:docMk/>
      </pc:docMkLst>
      <pc:sldChg chg="modSp">
        <pc:chgData name="Avinash Arun Chauhan" userId="S::avinash.chauhan@mahindrauniversity.edu.in::241b5f3e-36f4-4c61-9553-90e6a1c1b8a6" providerId="AD" clId="Web-{258EF2CB-B644-1257-8691-A964D101D95A}" dt="2026-03-11T04:06:47.695" v="90"/>
        <pc:sldMkLst>
          <pc:docMk/>
          <pc:sldMk cId="1667948444" sldId="512"/>
        </pc:sldMkLst>
        <pc:spChg chg="mod">
          <ac:chgData name="Avinash Arun Chauhan" userId="S::avinash.chauhan@mahindrauniversity.edu.in::241b5f3e-36f4-4c61-9553-90e6a1c1b8a6" providerId="AD" clId="Web-{258EF2CB-B644-1257-8691-A964D101D95A}" dt="2026-03-11T04:05:46.691" v="30" actId="20577"/>
          <ac:spMkLst>
            <pc:docMk/>
            <pc:sldMk cId="1667948444" sldId="512"/>
            <ac:spMk id="2" creationId="{58530475-0606-33D0-4728-B0E1313A6455}"/>
          </ac:spMkLst>
        </pc:spChg>
        <pc:graphicFrameChg chg="mod modGraphic">
          <ac:chgData name="Avinash Arun Chauhan" userId="S::avinash.chauhan@mahindrauniversity.edu.in::241b5f3e-36f4-4c61-9553-90e6a1c1b8a6" providerId="AD" clId="Web-{258EF2CB-B644-1257-8691-A964D101D95A}" dt="2026-03-11T04:06:47.695" v="90"/>
          <ac:graphicFrameMkLst>
            <pc:docMk/>
            <pc:sldMk cId="1667948444" sldId="512"/>
            <ac:graphicFrameMk id="5" creationId="{8A96799C-C95F-4460-CF90-614C2337DB0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EC4F-CE24-7037-D3E0-E6B58204E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85646-4BF4-C513-2DFA-864F0C616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FC7B3-8FE4-72F6-F45F-5DEFB6175C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C7271-B4BC-B00B-3018-11D6403CB820}"/>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2037932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762234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DED52-F232-E39A-F219-305705F39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28F00-5054-A0FA-6744-CD5CCF0AA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7ADD5-E3F6-C02A-86F8-D0ED464ABB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D66204-49D7-6172-0C77-6978FFBC844C}"/>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150770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882F-B441-6A1A-1295-B7E31DA71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22DF8-3EB8-576D-83C1-D22F165FC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1E3B3-8FE7-B6F0-D133-E96E5DCAAD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BCAAD2-CE86-756D-9FB0-8CCB9AC5DE41}"/>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4122234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0E330-3C7A-6395-6B90-0C202ECEA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25E16-E854-9C46-E63F-CF0320CAA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A01C7-64C3-79AC-2938-B2EED4804E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05173D-1A79-04EE-BF8E-742275CBD405}"/>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2820422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B9A85-5E78-B1F8-1783-E87000F55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7CB74-2CCF-28F8-0363-C29E1F784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0689E-EF26-2A4F-68B0-6B49E9DF95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E84B24-7706-0A09-0147-0EE4D27A74C2}"/>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751632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F5345-91C9-AF7B-AA0D-D8CB0B3DA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EC439-E418-CAFA-C8D3-DFC50E211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159A7-7C07-EB85-D639-EBB1DDEAFF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B3C545-91AD-12CF-8882-D50809F44459}"/>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2126692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7A53-88F1-CB76-C3BF-4565E67BE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084F6-73DE-357E-0307-FCCC2B37F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04A7D-ECBB-7909-8966-10D87D9472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5EEE49-88CA-F694-1242-F068FE67C939}"/>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1265422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1E8B-3A0E-1D6F-E2E0-48E4A9330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2DBE3-E76F-D8E2-3B88-6A07E5C72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6061E-FD2D-86DF-9BFF-095CFA0B9C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683F79-79D9-14CA-576E-BB890888A363}"/>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68988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9CD7E-7984-BFA0-C114-96D056FD5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3D0B5-1C17-F736-7755-2AA2CB177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DD402-C296-E58D-875F-F03B1D34B6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4146F7-612F-51C5-FDBA-5BB80629CB67}"/>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3907301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6DB02-F0B9-396B-D02B-77F3FB932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D30C1-13E9-E833-1D1E-27D908A07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30843-4513-CB3B-4F19-156E524FFF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ED3612-403A-D26A-9F17-59055A4A5018}"/>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575754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85E77-2485-D832-89DC-90628B85F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06C48-B6F5-E009-6785-EDE2CC0847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2C1B7-56D5-A737-1BD8-ABAE78731B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4ABCE5-645B-82FF-8C37-CE10EB6AD82A}"/>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203144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71CE5-570B-41B3-4D70-1E4D20307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CA3D7-83A1-BBB2-98DE-FED3A94B4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C4909-9FDD-1763-C6B4-51628827ED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D9AFAC-7661-95C8-D6A7-6BEF8884809C}"/>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1381780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8806B-E6A5-3069-9C39-598167BB4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9C4B9-6009-B191-F00D-C4BDA34A4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E19F0-037D-080E-B076-2903A10EF7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5D58A8-1219-28DA-021C-916A17B3DAB2}"/>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263969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63F47-803D-CEEB-038F-9BA585053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6CC1C-51B6-1035-62DA-087032856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69054-DF75-633D-379E-10E559F704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A0830A-B98D-54EE-3906-85928A1D9545}"/>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3062340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2B8D0-F22D-B135-91B0-14D9D15ED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8E617F-5F15-1706-CCB7-81DAE5AA3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C0D8B-754C-6D82-8A79-A046D7188F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FDFE45-644F-7A88-5CEA-6E2E0995671D}"/>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4050611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2A1C-F590-45CC-EBF7-0EE98FCB7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0FD11-1285-8DC3-5291-917EAC9BC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4D82D-2A90-3C13-B8CA-9EAF142356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F1C8567-A2A0-2252-5EA8-8B16BEA37C94}"/>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1674469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1453-CA24-E130-79D1-80C29D029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33242-5C23-8BFB-4E8F-884D2C63F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318A7-7288-E726-FC76-AA0978D0A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1C64B2-A7F8-E8CD-9870-97FA0D83BD34}"/>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480561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71357-048B-446B-7918-567AFB016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F74BE-C9CA-EF6B-0EE0-D672FEE7A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035F0-9D07-19AB-B474-6ED9382486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71F334-D63F-F106-2B7C-6CE2591493B4}"/>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213470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7B6EA-4E38-667F-FE09-910AA7C9C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6A4F4-DEF3-360C-471F-93190AB18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37D69-1599-54C1-6280-24C873DFA9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4954A1-5921-6E25-DA99-B64FA7728BF0}"/>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2699313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389B-045E-96C6-C0B7-D9514A76A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32DD8-207C-8EE1-AD97-664AA3E22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6992A-7195-8728-7CBF-6F3D76175D29}"/>
              </a:ext>
            </a:extLst>
          </p:cNvPr>
          <p:cNvSpPr>
            <a:spLocks noGrp="1"/>
          </p:cNvSpPr>
          <p:nvPr>
            <p:ph type="body" idx="1"/>
          </p:nvPr>
        </p:nvSpPr>
        <p:spPr/>
        <p:txBody>
          <a:bodyPr/>
          <a:lstStyle/>
          <a:p>
            <a:r>
              <a:rPr lang="en-US" dirty="0"/>
              <a:t>People often find it very difficult to articulate details of their work because it is second nature to them. They understand their own work but may not understand its relationship to other work in the organization. Social and organizational factors that affect the work, but that are not obvious to individuals, may only become clear when noticed by an unbiased observer. For example, a workgroup may self-organize so that members know of each other’s work and can cover for each other if someone is absent. This may not be mentioned during an interview as the group might not see it as an integral part of their work</a:t>
            </a:r>
          </a:p>
        </p:txBody>
      </p:sp>
      <p:sp>
        <p:nvSpPr>
          <p:cNvPr id="4" name="Slide Number Placeholder 3">
            <a:extLst>
              <a:ext uri="{FF2B5EF4-FFF2-40B4-BE49-F238E27FC236}">
                <a16:creationId xmlns:a16="http://schemas.microsoft.com/office/drawing/2014/main" id="{ABE3AD7F-994E-09C6-3780-95C60F95C7AF}"/>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3170921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D74CB-5034-8A5A-19CE-A83227294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6FBBE-8FE6-564C-388B-3D4AC252B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DF134-6A15-3C38-09A3-DC7CFB4620BC}"/>
              </a:ext>
            </a:extLst>
          </p:cNvPr>
          <p:cNvSpPr>
            <a:spLocks noGrp="1"/>
          </p:cNvSpPr>
          <p:nvPr>
            <p:ph type="body" idx="1"/>
          </p:nvPr>
        </p:nvSpPr>
        <p:spPr/>
        <p:txBody>
          <a:bodyPr/>
          <a:lstStyle/>
          <a:p>
            <a:r>
              <a:rPr lang="en-US" dirty="0"/>
              <a:t>People often find it very difficult to articulate details of their work because it is second nature to them. They understand their own work but may not understand its relationship to other work in the organization. Social and organizational factors that affect the work, but that are not obvious to individuals, may only become clear when noticed by an unbiased observer. For example, a workgroup may self-organize so that members know of each other’s work and can cover for each other if someone is absent. This may not be mentioned during an interview as the group might not see it as an integral part of their work</a:t>
            </a:r>
          </a:p>
        </p:txBody>
      </p:sp>
      <p:sp>
        <p:nvSpPr>
          <p:cNvPr id="4" name="Slide Number Placeholder 3">
            <a:extLst>
              <a:ext uri="{FF2B5EF4-FFF2-40B4-BE49-F238E27FC236}">
                <a16:creationId xmlns:a16="http://schemas.microsoft.com/office/drawing/2014/main" id="{C45FD286-C02C-613E-BC1D-278F298DCC13}"/>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22184464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7652-64B4-EDCD-9561-48B8F1FD9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A672A-161D-96BE-FAE1-DFE140AE7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D1B30-06FE-F945-2E3A-A057927FCF5E}"/>
              </a:ext>
            </a:extLst>
          </p:cNvPr>
          <p:cNvSpPr>
            <a:spLocks noGrp="1"/>
          </p:cNvSpPr>
          <p:nvPr>
            <p:ph type="body" idx="1"/>
          </p:nvPr>
        </p:nvSpPr>
        <p:spPr/>
        <p:txBody>
          <a:bodyPr/>
          <a:lstStyle/>
          <a:p>
            <a:r>
              <a:rPr lang="en-US" dirty="0"/>
              <a:t>People often find it very difficult to articulate details of their work because it is second nature to them. They understand their own work but may not understand its relationship to other work in the organization. Social and organizational factors that affect the work, but that are not obvious to individuals, may only become clear when noticed by an unbiased observer. For example, a workgroup may self-organize so that members know of each other’s work and can cover for each other if someone is absent. This may not be mentioned during an interview as the group might not see it as an integral part of their work</a:t>
            </a:r>
          </a:p>
        </p:txBody>
      </p:sp>
      <p:sp>
        <p:nvSpPr>
          <p:cNvPr id="4" name="Slide Number Placeholder 3">
            <a:extLst>
              <a:ext uri="{FF2B5EF4-FFF2-40B4-BE49-F238E27FC236}">
                <a16:creationId xmlns:a16="http://schemas.microsoft.com/office/drawing/2014/main" id="{8EF5727E-3AE0-5DF6-1797-46FA1E98FC5C}"/>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1821258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3472A-3AF4-BBD2-0B99-A2F5765F7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C4D04-98E8-83DD-FF46-3690F6E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E2CF6D-95B8-DE65-2C07-1B3698233CCA}"/>
              </a:ext>
            </a:extLst>
          </p:cNvPr>
          <p:cNvSpPr>
            <a:spLocks noGrp="1"/>
          </p:cNvSpPr>
          <p:nvPr>
            <p:ph type="body" idx="1"/>
          </p:nvPr>
        </p:nvSpPr>
        <p:spPr/>
        <p:txBody>
          <a:bodyPr/>
          <a:lstStyle/>
          <a:p>
            <a:r>
              <a:rPr lang="en-US" dirty="0"/>
              <a:t>People often find it very difficult to articulate details of their work because it is second nature to them. They understand their own work but may not understand its relationship to other work in the organization. Social and organizational factors that affect the work, but that are not obvious to individuals, may only become clear when noticed by an unbiased observer. For example, a workgroup may self-organize so that members know of each other’s work and can cover for each other if someone is absent. This may not be mentioned during an interview as the group might not see it as an integral part of their work</a:t>
            </a:r>
          </a:p>
        </p:txBody>
      </p:sp>
      <p:sp>
        <p:nvSpPr>
          <p:cNvPr id="4" name="Slide Number Placeholder 3">
            <a:extLst>
              <a:ext uri="{FF2B5EF4-FFF2-40B4-BE49-F238E27FC236}">
                <a16:creationId xmlns:a16="http://schemas.microsoft.com/office/drawing/2014/main" id="{4A21E510-D4FE-A719-4C52-14602FA70F0D}"/>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2641893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5DD8-0BF0-B5D7-D749-132BCADC5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C0788-2926-CACC-8B2F-87C8E8948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31510-97E8-015A-88B5-5B55FDC1A8E0}"/>
              </a:ext>
            </a:extLst>
          </p:cNvPr>
          <p:cNvSpPr>
            <a:spLocks noGrp="1"/>
          </p:cNvSpPr>
          <p:nvPr>
            <p:ph type="body" idx="1"/>
          </p:nvPr>
        </p:nvSpPr>
        <p:spPr/>
        <p:txBody>
          <a:bodyPr/>
          <a:lstStyle/>
          <a:p>
            <a:r>
              <a:rPr lang="en-US" dirty="0"/>
              <a:t>People often find it very difficult to articulate details of their work because it is second nature to them. They understand their own work but may not understand its relationship to other work in the organization. Social and organizational factors that affect the work, but that are not obvious to individuals, may only become clear when noticed by an unbiased observer. For example, a workgroup may self-organize so that members know of each other’s work and can cover for each other if someone is absent. This may not be mentioned during an interview as the group might not see it as an integral part of their work</a:t>
            </a:r>
          </a:p>
        </p:txBody>
      </p:sp>
      <p:sp>
        <p:nvSpPr>
          <p:cNvPr id="4" name="Slide Number Placeholder 3">
            <a:extLst>
              <a:ext uri="{FF2B5EF4-FFF2-40B4-BE49-F238E27FC236}">
                <a16:creationId xmlns:a16="http://schemas.microsoft.com/office/drawing/2014/main" id="{1C1547F1-0916-3BD2-2C43-5FB524EA05C9}"/>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27223443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3F6D9-C98E-4304-54F1-4C0C8916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F7758-D153-54F6-C211-3E676C072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86CA4-B797-4B59-AB8F-550BF6DC3011}"/>
              </a:ext>
            </a:extLst>
          </p:cNvPr>
          <p:cNvSpPr>
            <a:spLocks noGrp="1"/>
          </p:cNvSpPr>
          <p:nvPr>
            <p:ph type="body" idx="1"/>
          </p:nvPr>
        </p:nvSpPr>
        <p:spPr/>
        <p:txBody>
          <a:bodyPr/>
          <a:lstStyle/>
          <a:p>
            <a:r>
              <a:rPr lang="en-US" dirty="0"/>
              <a:t>People often find it very difficult to articulate details of their work because it is second nature to them. They understand their own work but may not understand its relationship to other work in the organization. Social and organizational factors that affect the work, but that are not obvious to individuals, may only become clear when noticed by an unbiased observer. For example, a workgroup may self-organize so that members know of each other’s work and can cover for each other if someone is absent. This may not be mentioned during an interview as the group might not see it as an integral part of their work</a:t>
            </a:r>
          </a:p>
        </p:txBody>
      </p:sp>
      <p:sp>
        <p:nvSpPr>
          <p:cNvPr id="4" name="Slide Number Placeholder 3">
            <a:extLst>
              <a:ext uri="{FF2B5EF4-FFF2-40B4-BE49-F238E27FC236}">
                <a16:creationId xmlns:a16="http://schemas.microsoft.com/office/drawing/2014/main" id="{09A11F64-8CE3-9805-A5BE-3267FE2A74A3}"/>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312009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C4822-9BCF-1324-3F53-692E5F95A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4F3C5-B92E-D114-9C1E-428E3D1D0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E2CF59-6934-E018-6AA1-E0EA3F1D6E44}"/>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DB2F78EF-0B1E-885C-865A-42E3B0D48F8A}"/>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3239267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DF8D3-1514-471C-33A7-BEDF63F4B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3EE6D-D69D-EFD9-1929-1246E12E3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025B11-5AAE-A430-32B6-DBE76604E34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CE10933-ED0F-5522-5F4D-6518F85EE443}"/>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2994053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C5231-4258-5A7C-1B16-B92A5DF86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84C03-6EE6-CE22-0E9A-32AFEC367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9A473-6FC5-4DC7-D0A9-242D0C6714F8}"/>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8A696A2-9A5B-AA07-AD96-38DE0821A9E1}"/>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38922162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106EA-87FA-443C-266A-D01BAB32B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6A12-7DDA-1758-A4E5-E3C8233C1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0449-46EA-98B5-2A39-BC401BFA716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CFF202CF-4203-D126-A7C5-78A869457CE1}"/>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474691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3B779-ED05-F5F3-FFF4-2B7D7556A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681B1-0EDC-7CF0-6A7E-DE3291AF0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65182-9BDA-C0EF-B4DF-5D1379560BB8}"/>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5145704-6E42-76E7-68FF-8F682CCC4AED}"/>
              </a:ext>
            </a:extLst>
          </p:cNvPr>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28994965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DBBD9-2506-FD1F-C658-5724D3C76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ACAD9-2AA4-C9D0-E83C-E4968E46B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5B64D-498E-C2A3-0B3E-7EEBC453E70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D393AB58-363B-9C0D-6F79-56D0F145DE5F}"/>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31823328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384BA-13CC-5B67-C542-17A2C298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49DE1-C3DD-5375-509A-B135A2992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1BAC04-E6A4-DF58-B9BB-E553625975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3D2CD9-9D0F-AFA5-AB13-CA8729DBC78E}"/>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14461074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BBE9F-D89B-566B-07E1-C232EDB92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121C3-E5AF-7451-30A7-65F45E141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E48EF-5B46-B3E3-EB23-CAE79D9ED38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14AF2BC7-5658-1F83-F250-528F4631BB9E}"/>
              </a:ext>
            </a:extLst>
          </p:cNvPr>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13351833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66FB-38BD-B74D-742C-20A5EEC2E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D03233-3137-1E58-BFAD-8434B9395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FD424-2614-ED32-BA90-E46979B89A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1DD97B-9021-1F41-7478-10E78C614A6A}"/>
              </a:ext>
            </a:extLst>
          </p:cNvPr>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17767519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E611-6091-6AE1-59B2-8A462A7A9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A33EB-8381-D3B6-DE7E-A7E178F57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947E2-4F74-C987-75DD-97D66963F1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6292E2-5D00-DB4B-C260-3353517D09DD}"/>
              </a:ext>
            </a:extLst>
          </p:cNvPr>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37114074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4DB3-F5C1-D091-B75F-E4BD075DE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0D226-1791-DBF9-0855-BBFD0552C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01414-A64E-C04F-F3D6-9D903633A3F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947C378-E836-111E-0B6D-E31FB1E92A0D}"/>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9481586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45286-14AA-E636-3C38-43966F0F9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EC8A5-254A-DEE9-1CEB-175847E355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5DCE0-5570-73D3-458B-1B492D1743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C76E51-80A5-DED4-1C16-B00CFD3BA5ED}"/>
              </a:ext>
            </a:extLst>
          </p:cNvPr>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2605697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F4196-7A1A-F2D3-1464-F9824D136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04C48-D352-FF6D-66A3-C2C6E736F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4A441-9E7B-B224-D616-4B899E16A766}"/>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D6D91D9-9966-0116-B028-A6A1B66FE2AD}"/>
              </a:ext>
            </a:extLst>
          </p:cNvPr>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7810251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B6A1-A226-418D-C259-B0049695A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893E2-0ADF-E5D6-BF9E-39886FFAF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AD1B1-BB9A-4A18-5741-D9A51805CCF9}"/>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2A34112-81C4-3421-C662-0229E9B11976}"/>
              </a:ext>
            </a:extLst>
          </p:cNvPr>
          <p:cNvSpPr>
            <a:spLocks noGrp="1"/>
          </p:cNvSpPr>
          <p:nvPr>
            <p:ph type="sldNum" sz="quarter" idx="5"/>
          </p:nvPr>
        </p:nvSpPr>
        <p:spPr/>
        <p:txBody>
          <a:bodyPr/>
          <a:lstStyle/>
          <a:p>
            <a:fld id="{2E5A36BE-6307-4311-8670-04B167AD63B7}" type="slidenum">
              <a:rPr lang="en-US" smtClean="0"/>
              <a:t>41</a:t>
            </a:fld>
            <a:endParaRPr lang="en-US"/>
          </a:p>
        </p:txBody>
      </p:sp>
    </p:spTree>
    <p:extLst>
      <p:ext uri="{BB962C8B-B14F-4D97-AF65-F5344CB8AC3E}">
        <p14:creationId xmlns:p14="http://schemas.microsoft.com/office/powerpoint/2010/main" val="24654832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21CFD-3F84-6D83-ACB9-AFCDE9117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1560F-5F99-DF52-B4B1-54C1490EB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FAD65-9619-D32A-DAF0-81FF939AE85E}"/>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46C8999-D709-A4E1-816C-D83C18CF56E9}"/>
              </a:ext>
            </a:extLst>
          </p:cNvPr>
          <p:cNvSpPr>
            <a:spLocks noGrp="1"/>
          </p:cNvSpPr>
          <p:nvPr>
            <p:ph type="sldNum" sz="quarter" idx="5"/>
          </p:nvPr>
        </p:nvSpPr>
        <p:spPr/>
        <p:txBody>
          <a:bodyPr/>
          <a:lstStyle/>
          <a:p>
            <a:fld id="{2E5A36BE-6307-4311-8670-04B167AD63B7}" type="slidenum">
              <a:rPr lang="en-US" smtClean="0"/>
              <a:t>42</a:t>
            </a:fld>
            <a:endParaRPr lang="en-US"/>
          </a:p>
        </p:txBody>
      </p:sp>
    </p:spTree>
    <p:extLst>
      <p:ext uri="{BB962C8B-B14F-4D97-AF65-F5344CB8AC3E}">
        <p14:creationId xmlns:p14="http://schemas.microsoft.com/office/powerpoint/2010/main" val="2593733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A838C-E2AD-4118-9E61-1B852BB0B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D9667-F925-1F60-E9BE-D74FA2E0E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7CFB4-72BC-7385-F4D7-2AF8BD2C9884}"/>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EB08876-6D68-EDFA-E098-9B7053B050B3}"/>
              </a:ext>
            </a:extLst>
          </p:cNvPr>
          <p:cNvSpPr>
            <a:spLocks noGrp="1"/>
          </p:cNvSpPr>
          <p:nvPr>
            <p:ph type="sldNum" sz="quarter" idx="5"/>
          </p:nvPr>
        </p:nvSpPr>
        <p:spPr/>
        <p:txBody>
          <a:bodyPr/>
          <a:lstStyle/>
          <a:p>
            <a:fld id="{2E5A36BE-6307-4311-8670-04B167AD63B7}" type="slidenum">
              <a:rPr lang="en-US" smtClean="0"/>
              <a:t>43</a:t>
            </a:fld>
            <a:endParaRPr lang="en-US"/>
          </a:p>
        </p:txBody>
      </p:sp>
    </p:spTree>
    <p:extLst>
      <p:ext uri="{BB962C8B-B14F-4D97-AF65-F5344CB8AC3E}">
        <p14:creationId xmlns:p14="http://schemas.microsoft.com/office/powerpoint/2010/main" val="42026332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AB7E8-5422-7C99-54C6-2597C9B19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CE5E5-5492-6097-AD15-91A4DCF10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CCB86-5533-F2A0-812D-C9DBE5F00B8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886CE2C-0D0A-EE2E-31DD-84709F3E2A59}"/>
              </a:ext>
            </a:extLst>
          </p:cNvPr>
          <p:cNvSpPr>
            <a:spLocks noGrp="1"/>
          </p:cNvSpPr>
          <p:nvPr>
            <p:ph type="sldNum" sz="quarter" idx="5"/>
          </p:nvPr>
        </p:nvSpPr>
        <p:spPr/>
        <p:txBody>
          <a:bodyPr/>
          <a:lstStyle/>
          <a:p>
            <a:fld id="{2E5A36BE-6307-4311-8670-04B167AD63B7}" type="slidenum">
              <a:rPr lang="en-US" smtClean="0"/>
              <a:t>44</a:t>
            </a:fld>
            <a:endParaRPr lang="en-US"/>
          </a:p>
        </p:txBody>
      </p:sp>
    </p:spTree>
    <p:extLst>
      <p:ext uri="{BB962C8B-B14F-4D97-AF65-F5344CB8AC3E}">
        <p14:creationId xmlns:p14="http://schemas.microsoft.com/office/powerpoint/2010/main" val="6445805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29C61-57FB-1DF8-9B0D-9473F9C99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97E3B-C6D8-0E52-6C46-9499989AE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2C7F71-4471-8C4B-0853-C36884DB0C0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3743E3E4-BB08-EF45-BBC5-61D32E74B59D}"/>
              </a:ext>
            </a:extLst>
          </p:cNvPr>
          <p:cNvSpPr>
            <a:spLocks noGrp="1"/>
          </p:cNvSpPr>
          <p:nvPr>
            <p:ph type="sldNum" sz="quarter" idx="5"/>
          </p:nvPr>
        </p:nvSpPr>
        <p:spPr/>
        <p:txBody>
          <a:bodyPr/>
          <a:lstStyle/>
          <a:p>
            <a:fld id="{2E5A36BE-6307-4311-8670-04B167AD63B7}" type="slidenum">
              <a:rPr lang="en-US" smtClean="0"/>
              <a:t>45</a:t>
            </a:fld>
            <a:endParaRPr lang="en-US"/>
          </a:p>
        </p:txBody>
      </p:sp>
    </p:spTree>
    <p:extLst>
      <p:ext uri="{BB962C8B-B14F-4D97-AF65-F5344CB8AC3E}">
        <p14:creationId xmlns:p14="http://schemas.microsoft.com/office/powerpoint/2010/main" val="6569199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95AE-F001-F6EA-BA87-E133BAFA2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80396-3441-9DB9-5BF2-8B268E6DA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E59ED-A118-4664-761C-AE46CC5594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E2A5A8-340C-D587-1017-37A0C54AA1D7}"/>
              </a:ext>
            </a:extLst>
          </p:cNvPr>
          <p:cNvSpPr>
            <a:spLocks noGrp="1"/>
          </p:cNvSpPr>
          <p:nvPr>
            <p:ph type="sldNum" sz="quarter" idx="5"/>
          </p:nvPr>
        </p:nvSpPr>
        <p:spPr/>
        <p:txBody>
          <a:bodyPr/>
          <a:lstStyle/>
          <a:p>
            <a:fld id="{2E5A36BE-6307-4311-8670-04B167AD63B7}" type="slidenum">
              <a:rPr lang="en-US" smtClean="0"/>
              <a:t>46</a:t>
            </a:fld>
            <a:endParaRPr lang="en-US"/>
          </a:p>
        </p:txBody>
      </p:sp>
    </p:spTree>
    <p:extLst>
      <p:ext uri="{BB962C8B-B14F-4D97-AF65-F5344CB8AC3E}">
        <p14:creationId xmlns:p14="http://schemas.microsoft.com/office/powerpoint/2010/main" val="13094373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8C30-885E-6569-F786-4B95AF1CE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A06D6-AABC-4490-2151-C4EB7387A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89FFCF-9EAF-F504-B6AC-F8D5A6C79C46}"/>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E0C6E6B-0BC8-AFC0-2388-30BDEDCE8EAE}"/>
              </a:ext>
            </a:extLst>
          </p:cNvPr>
          <p:cNvSpPr>
            <a:spLocks noGrp="1"/>
          </p:cNvSpPr>
          <p:nvPr>
            <p:ph type="sldNum" sz="quarter" idx="5"/>
          </p:nvPr>
        </p:nvSpPr>
        <p:spPr/>
        <p:txBody>
          <a:bodyPr/>
          <a:lstStyle/>
          <a:p>
            <a:fld id="{2E5A36BE-6307-4311-8670-04B167AD63B7}" type="slidenum">
              <a:rPr lang="en-US" smtClean="0"/>
              <a:t>47</a:t>
            </a:fld>
            <a:endParaRPr lang="en-US"/>
          </a:p>
        </p:txBody>
      </p:sp>
    </p:spTree>
    <p:extLst>
      <p:ext uri="{BB962C8B-B14F-4D97-AF65-F5344CB8AC3E}">
        <p14:creationId xmlns:p14="http://schemas.microsoft.com/office/powerpoint/2010/main" val="6419692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6B28-6C4E-FDBD-7E3D-FA1032770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EBD54-57AC-69FC-27E4-C9AB3641A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E2DDE-83B4-5675-AB4C-A6E824731BB2}"/>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FF9AADE-038A-C430-1526-1C829DBC77D7}"/>
              </a:ext>
            </a:extLst>
          </p:cNvPr>
          <p:cNvSpPr>
            <a:spLocks noGrp="1"/>
          </p:cNvSpPr>
          <p:nvPr>
            <p:ph type="sldNum" sz="quarter" idx="5"/>
          </p:nvPr>
        </p:nvSpPr>
        <p:spPr/>
        <p:txBody>
          <a:bodyPr/>
          <a:lstStyle/>
          <a:p>
            <a:fld id="{2E5A36BE-6307-4311-8670-04B167AD63B7}" type="slidenum">
              <a:rPr lang="en-US" smtClean="0"/>
              <a:t>48</a:t>
            </a:fld>
            <a:endParaRPr lang="en-US"/>
          </a:p>
        </p:txBody>
      </p:sp>
    </p:spTree>
    <p:extLst>
      <p:ext uri="{BB962C8B-B14F-4D97-AF65-F5344CB8AC3E}">
        <p14:creationId xmlns:p14="http://schemas.microsoft.com/office/powerpoint/2010/main" val="16707343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8D8EC-345D-CD5F-69AA-AD24FF19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9442C-CE4C-3393-FBF7-EEA2CA964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C03F4-7DE7-BBA7-E89D-3267790BF242}"/>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152CE68-14EE-F304-96AF-F4EB5CDCCEEA}"/>
              </a:ext>
            </a:extLst>
          </p:cNvPr>
          <p:cNvSpPr>
            <a:spLocks noGrp="1"/>
          </p:cNvSpPr>
          <p:nvPr>
            <p:ph type="sldNum" sz="quarter" idx="5"/>
          </p:nvPr>
        </p:nvSpPr>
        <p:spPr/>
        <p:txBody>
          <a:bodyPr/>
          <a:lstStyle/>
          <a:p>
            <a:fld id="{2E5A36BE-6307-4311-8670-04B167AD63B7}" type="slidenum">
              <a:rPr lang="en-US" smtClean="0"/>
              <a:t>49</a:t>
            </a:fld>
            <a:endParaRPr lang="en-US"/>
          </a:p>
        </p:txBody>
      </p:sp>
    </p:spTree>
    <p:extLst>
      <p:ext uri="{BB962C8B-B14F-4D97-AF65-F5344CB8AC3E}">
        <p14:creationId xmlns:p14="http://schemas.microsoft.com/office/powerpoint/2010/main" val="20642983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BBD9D-E07F-D285-7612-07D7D3FFC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3D3B4-5369-E94C-3363-D4D6ED63C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FF9EA-9F35-F204-6BE2-3E10418AB64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8DF5533-9112-2EA2-21C9-F9291E8B58EB}"/>
              </a:ext>
            </a:extLst>
          </p:cNvPr>
          <p:cNvSpPr>
            <a:spLocks noGrp="1"/>
          </p:cNvSpPr>
          <p:nvPr>
            <p:ph type="sldNum" sz="quarter" idx="5"/>
          </p:nvPr>
        </p:nvSpPr>
        <p:spPr/>
        <p:txBody>
          <a:bodyPr/>
          <a:lstStyle/>
          <a:p>
            <a:fld id="{2E5A36BE-6307-4311-8670-04B167AD63B7}" type="slidenum">
              <a:rPr lang="en-US" smtClean="0"/>
              <a:t>50</a:t>
            </a:fld>
            <a:endParaRPr lang="en-US"/>
          </a:p>
        </p:txBody>
      </p:sp>
    </p:spTree>
    <p:extLst>
      <p:ext uri="{BB962C8B-B14F-4D97-AF65-F5344CB8AC3E}">
        <p14:creationId xmlns:p14="http://schemas.microsoft.com/office/powerpoint/2010/main" val="3640039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8C9A9-B9BB-EA9F-5CFD-B32EC7354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92F89-912C-8509-84F2-A8A12D6E1E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82A13-B923-0CCE-87FC-A06B93DDDEB3}"/>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1447B13-F427-2341-27BA-15B0420F2AC2}"/>
              </a:ext>
            </a:extLst>
          </p:cNvPr>
          <p:cNvSpPr>
            <a:spLocks noGrp="1"/>
          </p:cNvSpPr>
          <p:nvPr>
            <p:ph type="sldNum" sz="quarter" idx="5"/>
          </p:nvPr>
        </p:nvSpPr>
        <p:spPr/>
        <p:txBody>
          <a:bodyPr/>
          <a:lstStyle/>
          <a:p>
            <a:fld id="{2E5A36BE-6307-4311-8670-04B167AD63B7}" type="slidenum">
              <a:rPr lang="en-US" smtClean="0"/>
              <a:t>51</a:t>
            </a:fld>
            <a:endParaRPr lang="en-US"/>
          </a:p>
        </p:txBody>
      </p:sp>
    </p:spTree>
    <p:extLst>
      <p:ext uri="{BB962C8B-B14F-4D97-AF65-F5344CB8AC3E}">
        <p14:creationId xmlns:p14="http://schemas.microsoft.com/office/powerpoint/2010/main" val="20673698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9A119-5184-E167-1050-699D0F41C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E4955-9C9A-3603-9566-AC3421BF7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C8F70-2DA3-5DB1-051A-8A3B1098CD59}"/>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AB8A741-911E-0498-6BF6-513C64F04181}"/>
              </a:ext>
            </a:extLst>
          </p:cNvPr>
          <p:cNvSpPr>
            <a:spLocks noGrp="1"/>
          </p:cNvSpPr>
          <p:nvPr>
            <p:ph type="sldNum" sz="quarter" idx="5"/>
          </p:nvPr>
        </p:nvSpPr>
        <p:spPr/>
        <p:txBody>
          <a:bodyPr/>
          <a:lstStyle/>
          <a:p>
            <a:fld id="{2E5A36BE-6307-4311-8670-04B167AD63B7}" type="slidenum">
              <a:rPr lang="en-US" smtClean="0"/>
              <a:t>52</a:t>
            </a:fld>
            <a:endParaRPr lang="en-US"/>
          </a:p>
        </p:txBody>
      </p:sp>
    </p:spTree>
    <p:extLst>
      <p:ext uri="{BB962C8B-B14F-4D97-AF65-F5344CB8AC3E}">
        <p14:creationId xmlns:p14="http://schemas.microsoft.com/office/powerpoint/2010/main" val="24719681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595F-C9B0-BE1F-9D5A-64CFF5A39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4CC7B-4700-6144-69A9-A871B4A19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4C53E-3FF1-D8DE-9A76-545ADFEB7EC7}"/>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C2BCA323-6F6F-0A94-EE51-BA3EE7F826EE}"/>
              </a:ext>
            </a:extLst>
          </p:cNvPr>
          <p:cNvSpPr>
            <a:spLocks noGrp="1"/>
          </p:cNvSpPr>
          <p:nvPr>
            <p:ph type="sldNum" sz="quarter" idx="5"/>
          </p:nvPr>
        </p:nvSpPr>
        <p:spPr/>
        <p:txBody>
          <a:bodyPr/>
          <a:lstStyle/>
          <a:p>
            <a:fld id="{2E5A36BE-6307-4311-8670-04B167AD63B7}" type="slidenum">
              <a:rPr lang="en-US" smtClean="0"/>
              <a:t>53</a:t>
            </a:fld>
            <a:endParaRPr lang="en-US"/>
          </a:p>
        </p:txBody>
      </p:sp>
    </p:spTree>
    <p:extLst>
      <p:ext uri="{BB962C8B-B14F-4D97-AF65-F5344CB8AC3E}">
        <p14:creationId xmlns:p14="http://schemas.microsoft.com/office/powerpoint/2010/main" val="12297445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3A04-D740-6A47-55A4-BAED65297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85FEB-DAAF-A207-ADCE-CF04B38C5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269DA-C3A3-4B77-E862-8E259DE13AC7}"/>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71B9494-7B84-AF47-7941-D78B431BB7B4}"/>
              </a:ext>
            </a:extLst>
          </p:cNvPr>
          <p:cNvSpPr>
            <a:spLocks noGrp="1"/>
          </p:cNvSpPr>
          <p:nvPr>
            <p:ph type="sldNum" sz="quarter" idx="5"/>
          </p:nvPr>
        </p:nvSpPr>
        <p:spPr/>
        <p:txBody>
          <a:bodyPr/>
          <a:lstStyle/>
          <a:p>
            <a:fld id="{2E5A36BE-6307-4311-8670-04B167AD63B7}" type="slidenum">
              <a:rPr lang="en-US" smtClean="0"/>
              <a:t>54</a:t>
            </a:fld>
            <a:endParaRPr lang="en-US"/>
          </a:p>
        </p:txBody>
      </p:sp>
    </p:spTree>
    <p:extLst>
      <p:ext uri="{BB962C8B-B14F-4D97-AF65-F5344CB8AC3E}">
        <p14:creationId xmlns:p14="http://schemas.microsoft.com/office/powerpoint/2010/main" val="34364686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E0C7F-E8C5-A2D9-3A8D-961093EAC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634BA-DB4A-200A-40A5-C8FD86241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D4CCF-0C04-7A2C-E580-D1B2D2A74AF3}"/>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0F57CD3A-71EB-4F8D-8146-08B5D05CAAA3}"/>
              </a:ext>
            </a:extLst>
          </p:cNvPr>
          <p:cNvSpPr>
            <a:spLocks noGrp="1"/>
          </p:cNvSpPr>
          <p:nvPr>
            <p:ph type="sldNum" sz="quarter" idx="5"/>
          </p:nvPr>
        </p:nvSpPr>
        <p:spPr/>
        <p:txBody>
          <a:bodyPr/>
          <a:lstStyle/>
          <a:p>
            <a:fld id="{2E5A36BE-6307-4311-8670-04B167AD63B7}" type="slidenum">
              <a:rPr lang="en-US" smtClean="0"/>
              <a:t>55</a:t>
            </a:fld>
            <a:endParaRPr lang="en-US"/>
          </a:p>
        </p:txBody>
      </p:sp>
    </p:spTree>
    <p:extLst>
      <p:ext uri="{BB962C8B-B14F-4D97-AF65-F5344CB8AC3E}">
        <p14:creationId xmlns:p14="http://schemas.microsoft.com/office/powerpoint/2010/main" val="41787286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6AD28-BBB6-CA51-B66B-C5B271715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2B72A-6371-CA00-9CC1-D0ABC1246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BA2D7-A4D7-FAA6-57DD-F1BFF1538D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D2B585-01AA-A6C7-A123-A2856166FD1F}"/>
              </a:ext>
            </a:extLst>
          </p:cNvPr>
          <p:cNvSpPr>
            <a:spLocks noGrp="1"/>
          </p:cNvSpPr>
          <p:nvPr>
            <p:ph type="sldNum" sz="quarter" idx="5"/>
          </p:nvPr>
        </p:nvSpPr>
        <p:spPr/>
        <p:txBody>
          <a:bodyPr/>
          <a:lstStyle/>
          <a:p>
            <a:fld id="{2E5A36BE-6307-4311-8670-04B167AD63B7}" type="slidenum">
              <a:rPr lang="en-US" smtClean="0"/>
              <a:t>56</a:t>
            </a:fld>
            <a:endParaRPr lang="en-US"/>
          </a:p>
        </p:txBody>
      </p:sp>
    </p:spTree>
    <p:extLst>
      <p:ext uri="{BB962C8B-B14F-4D97-AF65-F5344CB8AC3E}">
        <p14:creationId xmlns:p14="http://schemas.microsoft.com/office/powerpoint/2010/main" val="40975859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6222B-232C-E3F1-D2CE-9050B47BD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47AC5-4806-8EE8-7211-7F4CD2916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F5615-FB99-A815-D074-1BBECCD1F10B}"/>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33E93AD-F673-5880-661B-23DA1B3253D8}"/>
              </a:ext>
            </a:extLst>
          </p:cNvPr>
          <p:cNvSpPr>
            <a:spLocks noGrp="1"/>
          </p:cNvSpPr>
          <p:nvPr>
            <p:ph type="sldNum" sz="quarter" idx="5"/>
          </p:nvPr>
        </p:nvSpPr>
        <p:spPr/>
        <p:txBody>
          <a:bodyPr/>
          <a:lstStyle/>
          <a:p>
            <a:fld id="{2E5A36BE-6307-4311-8670-04B167AD63B7}" type="slidenum">
              <a:rPr lang="en-US" smtClean="0"/>
              <a:t>57</a:t>
            </a:fld>
            <a:endParaRPr lang="en-US"/>
          </a:p>
        </p:txBody>
      </p:sp>
    </p:spTree>
    <p:extLst>
      <p:ext uri="{BB962C8B-B14F-4D97-AF65-F5344CB8AC3E}">
        <p14:creationId xmlns:p14="http://schemas.microsoft.com/office/powerpoint/2010/main" val="17155268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7A7B0-9254-14C6-4233-DFB447371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0DBF2-76EB-D48C-1C11-BCFB884DC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12FB1-AC37-F04F-15B3-005838332AF8}"/>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0235D23-5AFA-A1FD-415D-1BB2CCFC7C76}"/>
              </a:ext>
            </a:extLst>
          </p:cNvPr>
          <p:cNvSpPr>
            <a:spLocks noGrp="1"/>
          </p:cNvSpPr>
          <p:nvPr>
            <p:ph type="sldNum" sz="quarter" idx="5"/>
          </p:nvPr>
        </p:nvSpPr>
        <p:spPr/>
        <p:txBody>
          <a:bodyPr/>
          <a:lstStyle/>
          <a:p>
            <a:fld id="{2E5A36BE-6307-4311-8670-04B167AD63B7}" type="slidenum">
              <a:rPr lang="en-US" smtClean="0"/>
              <a:t>58</a:t>
            </a:fld>
            <a:endParaRPr lang="en-US"/>
          </a:p>
        </p:txBody>
      </p:sp>
    </p:spTree>
    <p:extLst>
      <p:ext uri="{BB962C8B-B14F-4D97-AF65-F5344CB8AC3E}">
        <p14:creationId xmlns:p14="http://schemas.microsoft.com/office/powerpoint/2010/main" val="24963166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6DD12-368A-7DDE-5774-3C3860910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EA39D-4D35-8057-AB8C-15D543DAA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0BD24-193C-E8CC-1C92-B7E6FD7E7680}"/>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941D040-0D02-05DC-BC4C-496656EC365F}"/>
              </a:ext>
            </a:extLst>
          </p:cNvPr>
          <p:cNvSpPr>
            <a:spLocks noGrp="1"/>
          </p:cNvSpPr>
          <p:nvPr>
            <p:ph type="sldNum" sz="quarter" idx="5"/>
          </p:nvPr>
        </p:nvSpPr>
        <p:spPr/>
        <p:txBody>
          <a:bodyPr/>
          <a:lstStyle/>
          <a:p>
            <a:fld id="{2E5A36BE-6307-4311-8670-04B167AD63B7}" type="slidenum">
              <a:rPr lang="en-US" smtClean="0"/>
              <a:t>59</a:t>
            </a:fld>
            <a:endParaRPr lang="en-US"/>
          </a:p>
        </p:txBody>
      </p:sp>
    </p:spTree>
    <p:extLst>
      <p:ext uri="{BB962C8B-B14F-4D97-AF65-F5344CB8AC3E}">
        <p14:creationId xmlns:p14="http://schemas.microsoft.com/office/powerpoint/2010/main" val="31121272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E918-81D6-772F-9B44-318E96A92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67D1D-81FF-7B01-0B65-A29ECBF19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966CB-67B6-8623-2F71-8FD6463884BC}"/>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6F09A714-0A7C-9C69-50CB-398DC5421CCE}"/>
              </a:ext>
            </a:extLst>
          </p:cNvPr>
          <p:cNvSpPr>
            <a:spLocks noGrp="1"/>
          </p:cNvSpPr>
          <p:nvPr>
            <p:ph type="sldNum" sz="quarter" idx="5"/>
          </p:nvPr>
        </p:nvSpPr>
        <p:spPr/>
        <p:txBody>
          <a:bodyPr/>
          <a:lstStyle/>
          <a:p>
            <a:fld id="{2E5A36BE-6307-4311-8670-04B167AD63B7}" type="slidenum">
              <a:rPr lang="en-US" smtClean="0"/>
              <a:t>60</a:t>
            </a:fld>
            <a:endParaRPr lang="en-US"/>
          </a:p>
        </p:txBody>
      </p:sp>
    </p:spTree>
    <p:extLst>
      <p:ext uri="{BB962C8B-B14F-4D97-AF65-F5344CB8AC3E}">
        <p14:creationId xmlns:p14="http://schemas.microsoft.com/office/powerpoint/2010/main" val="23445337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17BE-467D-F9FE-5CF0-82416CD85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541ED-2010-A83C-6909-74A26F877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9A552-5C62-3D6E-8EFD-18A61FA07013}"/>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464F650-CE36-0C8E-8D76-2B8994030908}"/>
              </a:ext>
            </a:extLst>
          </p:cNvPr>
          <p:cNvSpPr>
            <a:spLocks noGrp="1"/>
          </p:cNvSpPr>
          <p:nvPr>
            <p:ph type="sldNum" sz="quarter" idx="5"/>
          </p:nvPr>
        </p:nvSpPr>
        <p:spPr/>
        <p:txBody>
          <a:bodyPr/>
          <a:lstStyle/>
          <a:p>
            <a:fld id="{2E5A36BE-6307-4311-8670-04B167AD63B7}" type="slidenum">
              <a:rPr lang="en-US" smtClean="0"/>
              <a:t>61</a:t>
            </a:fld>
            <a:endParaRPr lang="en-US"/>
          </a:p>
        </p:txBody>
      </p:sp>
    </p:spTree>
    <p:extLst>
      <p:ext uri="{BB962C8B-B14F-4D97-AF65-F5344CB8AC3E}">
        <p14:creationId xmlns:p14="http://schemas.microsoft.com/office/powerpoint/2010/main" val="12489361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7772-0213-88CD-A680-618F1AD7B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F1DE2-4536-6CA1-7787-3AA34C393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7DEA07-1F91-F025-3DEE-B54E514B64E8}"/>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8D2F0A0-9DB2-6008-FF34-7377AD1BDE35}"/>
              </a:ext>
            </a:extLst>
          </p:cNvPr>
          <p:cNvSpPr>
            <a:spLocks noGrp="1"/>
          </p:cNvSpPr>
          <p:nvPr>
            <p:ph type="sldNum" sz="quarter" idx="5"/>
          </p:nvPr>
        </p:nvSpPr>
        <p:spPr/>
        <p:txBody>
          <a:bodyPr/>
          <a:lstStyle/>
          <a:p>
            <a:fld id="{2E5A36BE-6307-4311-8670-04B167AD63B7}" type="slidenum">
              <a:rPr lang="en-US" smtClean="0"/>
              <a:t>62</a:t>
            </a:fld>
            <a:endParaRPr lang="en-US"/>
          </a:p>
        </p:txBody>
      </p:sp>
    </p:spTree>
    <p:extLst>
      <p:ext uri="{BB962C8B-B14F-4D97-AF65-F5344CB8AC3E}">
        <p14:creationId xmlns:p14="http://schemas.microsoft.com/office/powerpoint/2010/main" val="31097973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7E338-A6AD-966C-BA9C-0B031FF51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412D1-8AC0-A0F1-CEE0-2D2BD4AC3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462AA-97A3-143D-A12C-5D374211F1B6}"/>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EC0B654-8B66-2ED4-BD6E-DD38895E717C}"/>
              </a:ext>
            </a:extLst>
          </p:cNvPr>
          <p:cNvSpPr>
            <a:spLocks noGrp="1"/>
          </p:cNvSpPr>
          <p:nvPr>
            <p:ph type="sldNum" sz="quarter" idx="5"/>
          </p:nvPr>
        </p:nvSpPr>
        <p:spPr/>
        <p:txBody>
          <a:bodyPr/>
          <a:lstStyle/>
          <a:p>
            <a:fld id="{2E5A36BE-6307-4311-8670-04B167AD63B7}" type="slidenum">
              <a:rPr lang="en-US" smtClean="0"/>
              <a:t>63</a:t>
            </a:fld>
            <a:endParaRPr lang="en-US"/>
          </a:p>
        </p:txBody>
      </p:sp>
    </p:spTree>
    <p:extLst>
      <p:ext uri="{BB962C8B-B14F-4D97-AF65-F5344CB8AC3E}">
        <p14:creationId xmlns:p14="http://schemas.microsoft.com/office/powerpoint/2010/main" val="31247785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517CA-9C75-8073-00E4-086B481E7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0EF2C-F436-69F3-0176-BC9B01B14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BB9C3-E150-1796-5AE8-4C4AE531626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4F2673D-0D9D-D8AA-5752-79CA1B672187}"/>
              </a:ext>
            </a:extLst>
          </p:cNvPr>
          <p:cNvSpPr>
            <a:spLocks noGrp="1"/>
          </p:cNvSpPr>
          <p:nvPr>
            <p:ph type="sldNum" sz="quarter" idx="5"/>
          </p:nvPr>
        </p:nvSpPr>
        <p:spPr/>
        <p:txBody>
          <a:bodyPr/>
          <a:lstStyle/>
          <a:p>
            <a:fld id="{2E5A36BE-6307-4311-8670-04B167AD63B7}" type="slidenum">
              <a:rPr lang="en-US" smtClean="0"/>
              <a:t>64</a:t>
            </a:fld>
            <a:endParaRPr lang="en-US"/>
          </a:p>
        </p:txBody>
      </p:sp>
    </p:spTree>
    <p:extLst>
      <p:ext uri="{BB962C8B-B14F-4D97-AF65-F5344CB8AC3E}">
        <p14:creationId xmlns:p14="http://schemas.microsoft.com/office/powerpoint/2010/main" val="5486962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B0FD7-06C4-64DE-20DD-E678E144B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0A7B0-EBE5-B4B1-3C0C-5CA6850B8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74B65-3027-A9C5-281E-A13D281D1A56}"/>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D319B260-E590-F5C9-06A6-67C74841DCB8}"/>
              </a:ext>
            </a:extLst>
          </p:cNvPr>
          <p:cNvSpPr>
            <a:spLocks noGrp="1"/>
          </p:cNvSpPr>
          <p:nvPr>
            <p:ph type="sldNum" sz="quarter" idx="5"/>
          </p:nvPr>
        </p:nvSpPr>
        <p:spPr/>
        <p:txBody>
          <a:bodyPr/>
          <a:lstStyle/>
          <a:p>
            <a:fld id="{2E5A36BE-6307-4311-8670-04B167AD63B7}" type="slidenum">
              <a:rPr lang="en-US" smtClean="0"/>
              <a:t>65</a:t>
            </a:fld>
            <a:endParaRPr lang="en-US"/>
          </a:p>
        </p:txBody>
      </p:sp>
    </p:spTree>
    <p:extLst>
      <p:ext uri="{BB962C8B-B14F-4D97-AF65-F5344CB8AC3E}">
        <p14:creationId xmlns:p14="http://schemas.microsoft.com/office/powerpoint/2010/main" val="40372508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0784-BE89-E206-628C-DE4CE4B5C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AF5BB-89D8-A193-6157-C699B99C9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B13B4-021C-A9A1-7B90-9D5CBE5CF76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5AB8D37-FD2E-694E-6F44-FC96BC3FCEE9}"/>
              </a:ext>
            </a:extLst>
          </p:cNvPr>
          <p:cNvSpPr>
            <a:spLocks noGrp="1"/>
          </p:cNvSpPr>
          <p:nvPr>
            <p:ph type="sldNum" sz="quarter" idx="5"/>
          </p:nvPr>
        </p:nvSpPr>
        <p:spPr/>
        <p:txBody>
          <a:bodyPr/>
          <a:lstStyle/>
          <a:p>
            <a:fld id="{2E5A36BE-6307-4311-8670-04B167AD63B7}" type="slidenum">
              <a:rPr lang="en-US" smtClean="0"/>
              <a:t>66</a:t>
            </a:fld>
            <a:endParaRPr lang="en-US"/>
          </a:p>
        </p:txBody>
      </p:sp>
    </p:spTree>
    <p:extLst>
      <p:ext uri="{BB962C8B-B14F-4D97-AF65-F5344CB8AC3E}">
        <p14:creationId xmlns:p14="http://schemas.microsoft.com/office/powerpoint/2010/main" val="32911148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63E7D-CB9D-BB89-7C47-3A2D18D56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6939F-1EAF-5740-2EC3-BC2D65082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3E8CB-234E-6C8D-C49A-3D30EB4B70AD}"/>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377137DE-0E1F-C9DF-E3FA-455DEFBC999E}"/>
              </a:ext>
            </a:extLst>
          </p:cNvPr>
          <p:cNvSpPr>
            <a:spLocks noGrp="1"/>
          </p:cNvSpPr>
          <p:nvPr>
            <p:ph type="sldNum" sz="quarter" idx="5"/>
          </p:nvPr>
        </p:nvSpPr>
        <p:spPr/>
        <p:txBody>
          <a:bodyPr/>
          <a:lstStyle/>
          <a:p>
            <a:fld id="{2E5A36BE-6307-4311-8670-04B167AD63B7}" type="slidenum">
              <a:rPr lang="en-US" smtClean="0"/>
              <a:t>67</a:t>
            </a:fld>
            <a:endParaRPr lang="en-US"/>
          </a:p>
        </p:txBody>
      </p:sp>
    </p:spTree>
    <p:extLst>
      <p:ext uri="{BB962C8B-B14F-4D97-AF65-F5344CB8AC3E}">
        <p14:creationId xmlns:p14="http://schemas.microsoft.com/office/powerpoint/2010/main" val="31466245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6AD3A-1F98-A55F-E4F8-95878C36D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E1867-726A-0DE0-96E9-183431040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B789D-F040-A320-0DF0-402307856B1E}"/>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8F9AC49-7D41-BA59-39B5-8BF094EE268E}"/>
              </a:ext>
            </a:extLst>
          </p:cNvPr>
          <p:cNvSpPr>
            <a:spLocks noGrp="1"/>
          </p:cNvSpPr>
          <p:nvPr>
            <p:ph type="sldNum" sz="quarter" idx="5"/>
          </p:nvPr>
        </p:nvSpPr>
        <p:spPr/>
        <p:txBody>
          <a:bodyPr/>
          <a:lstStyle/>
          <a:p>
            <a:fld id="{2E5A36BE-6307-4311-8670-04B167AD63B7}" type="slidenum">
              <a:rPr lang="en-US" smtClean="0"/>
              <a:t>68</a:t>
            </a:fld>
            <a:endParaRPr lang="en-US"/>
          </a:p>
        </p:txBody>
      </p:sp>
    </p:spTree>
    <p:extLst>
      <p:ext uri="{BB962C8B-B14F-4D97-AF65-F5344CB8AC3E}">
        <p14:creationId xmlns:p14="http://schemas.microsoft.com/office/powerpoint/2010/main" val="29749619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4E21-7928-9215-F31A-AC737FC07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F368D-E762-D667-E79C-B48ADF09D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A14B6-CAB4-5E50-D77E-6BA6A2303C20}"/>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125C9164-1914-1A1A-1810-49B047423522}"/>
              </a:ext>
            </a:extLst>
          </p:cNvPr>
          <p:cNvSpPr>
            <a:spLocks noGrp="1"/>
          </p:cNvSpPr>
          <p:nvPr>
            <p:ph type="sldNum" sz="quarter" idx="5"/>
          </p:nvPr>
        </p:nvSpPr>
        <p:spPr/>
        <p:txBody>
          <a:bodyPr/>
          <a:lstStyle/>
          <a:p>
            <a:fld id="{2E5A36BE-6307-4311-8670-04B167AD63B7}" type="slidenum">
              <a:rPr lang="en-US" smtClean="0"/>
              <a:t>69</a:t>
            </a:fld>
            <a:endParaRPr lang="en-US"/>
          </a:p>
        </p:txBody>
      </p:sp>
    </p:spTree>
    <p:extLst>
      <p:ext uri="{BB962C8B-B14F-4D97-AF65-F5344CB8AC3E}">
        <p14:creationId xmlns:p14="http://schemas.microsoft.com/office/powerpoint/2010/main" val="11379328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07F4-B59A-0C5A-B038-3BD43B156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F2B38-C7D7-149D-4C28-C568A8579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6C5A0-96E4-6A05-02C8-58F3FAE9A576}"/>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D23B700D-4995-B8FB-286F-B298308E7B7D}"/>
              </a:ext>
            </a:extLst>
          </p:cNvPr>
          <p:cNvSpPr>
            <a:spLocks noGrp="1"/>
          </p:cNvSpPr>
          <p:nvPr>
            <p:ph type="sldNum" sz="quarter" idx="5"/>
          </p:nvPr>
        </p:nvSpPr>
        <p:spPr/>
        <p:txBody>
          <a:bodyPr/>
          <a:lstStyle/>
          <a:p>
            <a:fld id="{2E5A36BE-6307-4311-8670-04B167AD63B7}" type="slidenum">
              <a:rPr lang="en-US" smtClean="0"/>
              <a:t>70</a:t>
            </a:fld>
            <a:endParaRPr lang="en-US"/>
          </a:p>
        </p:txBody>
      </p:sp>
    </p:spTree>
    <p:extLst>
      <p:ext uri="{BB962C8B-B14F-4D97-AF65-F5344CB8AC3E}">
        <p14:creationId xmlns:p14="http://schemas.microsoft.com/office/powerpoint/2010/main" val="76507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3/10/2026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3/10/2026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3/10/2026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3/10/2026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3/10/2026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3/10/2026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3/10/2026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3/10/2026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3/10/2026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3/10/2026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3/10/2026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3/10/2026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hyperlink" Target="https://mahindraecolecentrale-my.sharepoint.com/:w:/g/personal/avinash_chauhan_mahindrauniversity_edu_in/IQDW25VbTCo_SpRSWiC-EvlCAWTDBiiHLZBYi-coILACzww?e=CyGuvT"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dl.acm.org/doi/abs/10.1145/3444689" TargetMode="External"/><Relationship Id="rId7"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hyperlink" Target="https://link.springer.com/journal/766" TargetMode="External"/><Relationship Id="rId5" Type="http://schemas.openxmlformats.org/officeDocument/2006/relationships/hyperlink" Target="https://ieeexplore.ieee.org/document/10371698" TargetMode="External"/><Relationship Id="rId4" Type="http://schemas.openxmlformats.org/officeDocument/2006/relationships/hyperlink" Target="https://ieeexplore.ieee.org/document/84745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fontScale="90000"/>
          </a:bodyPr>
          <a:lstStyle/>
          <a:p>
            <a:r>
              <a:rPr lang="en-US" dirty="0"/>
              <a:t>Software Engineering</a:t>
            </a:r>
            <a:br>
              <a:rPr lang="en-US" dirty="0"/>
            </a:br>
            <a:r>
              <a:rPr lang="en-US" sz="4000" dirty="0"/>
              <a:t>(CS3201)</a:t>
            </a:r>
            <a:br>
              <a:rPr lang="en-US" sz="4000" dirty="0">
                <a:ea typeface="Calibri Light"/>
                <a:cs typeface="Calibri Light"/>
              </a:rPr>
            </a:br>
            <a:r>
              <a:rPr lang="en-US" sz="3200" dirty="0">
                <a:ea typeface="Calibri Light"/>
                <a:cs typeface="Calibri Light"/>
              </a:rPr>
              <a:t>Requirements Engineering</a:t>
            </a:r>
            <a:br>
              <a:rPr lang="en-US" dirty="0"/>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06E37-87F1-AC20-72FB-2A2C17D1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2DAEA-B1E4-AF1D-9DCC-AEB20C430C47}"/>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CD8EBB5-37D0-C01C-F305-06E1A81FA5D6}"/>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Requirements Engineering </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27A97DE-5F11-E65F-1CAE-A09954943D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BB87A94-F1F3-59E2-55A9-C6F5D1367073}"/>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26D720D2-929C-9827-AFD1-1A7322C969B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24505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Involves three key activities</a:t>
            </a:r>
          </a:p>
          <a:p>
            <a:pPr lvl="1"/>
            <a:r>
              <a:rPr lang="en-US" dirty="0">
                <a:ea typeface="Calibri" panose="020F0502020204030204"/>
                <a:cs typeface="Calibri"/>
              </a:rPr>
              <a:t>Requirements Elicitation (and Analysis)</a:t>
            </a:r>
          </a:p>
          <a:p>
            <a:pPr lvl="1"/>
            <a:r>
              <a:rPr lang="en-US" dirty="0">
                <a:ea typeface="Calibri" panose="020F0502020204030204"/>
                <a:cs typeface="Calibri"/>
              </a:rPr>
              <a:t>Requirements Specification</a:t>
            </a:r>
          </a:p>
          <a:p>
            <a:pPr lvl="1"/>
            <a:r>
              <a:rPr lang="en-US" dirty="0">
                <a:ea typeface="Calibri" panose="020F0502020204030204"/>
                <a:cs typeface="Calibri"/>
              </a:rPr>
              <a:t>Requirements Validation</a:t>
            </a:r>
          </a:p>
          <a:p>
            <a:r>
              <a:rPr lang="en-US" dirty="0">
                <a:ea typeface="Calibri" panose="020F0502020204030204"/>
                <a:cs typeface="Calibri"/>
              </a:rPr>
              <a:t>Requirements Elicitation: </a:t>
            </a:r>
            <a:r>
              <a:rPr lang="en-US" dirty="0">
                <a:highlight>
                  <a:srgbClr val="FFFF00"/>
                </a:highlight>
                <a:ea typeface="Calibri" panose="020F0502020204030204"/>
                <a:cs typeface="Calibri"/>
              </a:rPr>
              <a:t>Discovering requirements</a:t>
            </a:r>
            <a:r>
              <a:rPr lang="en-US" dirty="0">
                <a:ea typeface="Calibri" panose="020F0502020204030204"/>
                <a:cs typeface="Calibri"/>
              </a:rPr>
              <a:t> by interacting with stakeholders</a:t>
            </a:r>
          </a:p>
          <a:p>
            <a:r>
              <a:rPr lang="en-US" dirty="0">
                <a:ea typeface="Calibri" panose="020F0502020204030204"/>
                <a:cs typeface="Calibri"/>
              </a:rPr>
              <a:t>Requirements Specification: </a:t>
            </a:r>
            <a:r>
              <a:rPr lang="en-US" dirty="0">
                <a:highlight>
                  <a:srgbClr val="FFFF00"/>
                </a:highlight>
                <a:ea typeface="Calibri" panose="020F0502020204030204"/>
                <a:cs typeface="Calibri"/>
              </a:rPr>
              <a:t>Converting</a:t>
            </a:r>
            <a:r>
              <a:rPr lang="en-US" dirty="0">
                <a:ea typeface="Calibri" panose="020F0502020204030204"/>
                <a:cs typeface="Calibri"/>
              </a:rPr>
              <a:t> requirements </a:t>
            </a:r>
            <a:r>
              <a:rPr lang="en-US" dirty="0">
                <a:highlight>
                  <a:srgbClr val="FFFF00"/>
                </a:highlight>
                <a:ea typeface="Calibri" panose="020F0502020204030204"/>
                <a:cs typeface="Calibri"/>
              </a:rPr>
              <a:t>to standard form</a:t>
            </a:r>
          </a:p>
          <a:p>
            <a:r>
              <a:rPr lang="en-US" dirty="0">
                <a:ea typeface="Calibri" panose="020F0502020204030204"/>
                <a:cs typeface="Calibri"/>
              </a:rPr>
              <a:t>Requirements Validation: </a:t>
            </a:r>
            <a:r>
              <a:rPr lang="en-US" dirty="0">
                <a:highlight>
                  <a:srgbClr val="FFFF00"/>
                </a:highlight>
                <a:ea typeface="Calibri" panose="020F0502020204030204"/>
                <a:cs typeface="Calibri"/>
              </a:rPr>
              <a:t>Checking</a:t>
            </a:r>
            <a:r>
              <a:rPr lang="en-US" dirty="0">
                <a:ea typeface="Calibri" panose="020F0502020204030204"/>
                <a:cs typeface="Calibri"/>
              </a:rPr>
              <a:t> whether the requirements define what the customer wants</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11169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B3288-B33F-B6DD-49CB-03C1A59E6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3CF2B-854C-CC48-9680-45A162759D65}"/>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BB1998E0-72CB-339E-B9FC-7C9E76D9C74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The output of the RE process is a system requirements document</a:t>
            </a:r>
            <a:endParaRPr lang="en-US" dirty="0">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E159651-2745-78FD-9633-CF9DFA58B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B9DF0F1-FAB3-944B-3874-384FFCDD4A29}"/>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30F48C76-C90E-AAA7-3029-795B1010E84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42564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223B9-C888-E89E-9491-9DA9BCB1C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47788-3F79-4A9A-8806-0A3C5A40040F}"/>
              </a:ext>
            </a:extLst>
          </p:cNvPr>
          <p:cNvSpPr>
            <a:spLocks noGrp="1"/>
          </p:cNvSpPr>
          <p:nvPr>
            <p:ph type="title"/>
          </p:nvPr>
        </p:nvSpPr>
        <p:spPr/>
        <p:txBody>
          <a:bodyPr/>
          <a:lstStyle/>
          <a:p>
            <a:r>
              <a:rPr lang="en-GB" dirty="0">
                <a:ea typeface="Calibri Light"/>
                <a:cs typeface="Calibri Light"/>
              </a:rPr>
              <a:t>Introduction</a:t>
            </a:r>
            <a:endParaRPr lang="en-US" dirty="0"/>
          </a:p>
        </p:txBody>
      </p:sp>
      <p:pic>
        <p:nvPicPr>
          <p:cNvPr id="6" name="Picture 5" descr="A black and white logo&#10;&#10;Description automatically generated">
            <a:extLst>
              <a:ext uri="{FF2B5EF4-FFF2-40B4-BE49-F238E27FC236}">
                <a16:creationId xmlns:a16="http://schemas.microsoft.com/office/drawing/2014/main" id="{C38992AC-5174-6107-AB99-EB39B1934C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DC5A7A1-D036-2192-B2DB-3A681E631D01}"/>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BDD26376-B8E4-487C-552A-1BEDB94DB9C4}"/>
              </a:ext>
            </a:extLst>
          </p:cNvPr>
          <p:cNvSpPr>
            <a:spLocks noGrp="1"/>
          </p:cNvSpPr>
          <p:nvPr>
            <p:ph type="ftr" sz="quarter" idx="11"/>
          </p:nvPr>
        </p:nvSpPr>
        <p:spPr/>
        <p:txBody>
          <a:bodyPr/>
          <a:lstStyle/>
          <a:p>
            <a:r>
              <a:rPr lang="en-US"/>
              <a:t>Software Engineering</a:t>
            </a:r>
          </a:p>
        </p:txBody>
      </p:sp>
      <p:pic>
        <p:nvPicPr>
          <p:cNvPr id="4" name="Picture 3" descr="A screen shot of a diagram&#10;&#10;AI-generated content may be incorrect.">
            <a:extLst>
              <a:ext uri="{FF2B5EF4-FFF2-40B4-BE49-F238E27FC236}">
                <a16:creationId xmlns:a16="http://schemas.microsoft.com/office/drawing/2014/main" id="{8788B275-F108-24A3-1962-74B5424587B2}"/>
              </a:ext>
            </a:extLst>
          </p:cNvPr>
          <p:cNvPicPr>
            <a:picLocks noChangeAspect="1"/>
          </p:cNvPicPr>
          <p:nvPr/>
        </p:nvPicPr>
        <p:blipFill>
          <a:blip r:embed="rId4"/>
          <a:srcRect l="27509" t="17207" r="18001" b="527"/>
          <a:stretch/>
        </p:blipFill>
        <p:spPr>
          <a:xfrm>
            <a:off x="4040038" y="1092994"/>
            <a:ext cx="6643398" cy="5639057"/>
          </a:xfrm>
          <a:prstGeom prst="rect">
            <a:avLst/>
          </a:prstGeom>
        </p:spPr>
      </p:pic>
    </p:spTree>
    <p:extLst>
      <p:ext uri="{BB962C8B-B14F-4D97-AF65-F5344CB8AC3E}">
        <p14:creationId xmlns:p14="http://schemas.microsoft.com/office/powerpoint/2010/main" val="220289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D45AE-F756-67A0-41EB-972EB06D2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0FBEF-CCAF-EC83-4521-A76FE00219F2}"/>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AA5D3276-030C-B00D-CA3B-85DFB1127F1C}"/>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The </a:t>
            </a:r>
            <a:r>
              <a:rPr lang="en-US" u="sng" dirty="0">
                <a:highlight>
                  <a:srgbClr val="FFFF00"/>
                </a:highlight>
                <a:ea typeface="+mn-lt"/>
                <a:cs typeface="+mn-lt"/>
              </a:rPr>
              <a:t>time and effort</a:t>
            </a:r>
            <a:r>
              <a:rPr lang="en-US" dirty="0">
                <a:ea typeface="+mn-lt"/>
                <a:cs typeface="+mn-lt"/>
              </a:rPr>
              <a:t> devoted to each activity in each iteration depends on the </a:t>
            </a:r>
            <a:r>
              <a:rPr lang="en-US" u="sng" dirty="0">
                <a:highlight>
                  <a:srgbClr val="FFFF00"/>
                </a:highlight>
                <a:ea typeface="+mn-lt"/>
                <a:cs typeface="+mn-lt"/>
              </a:rPr>
              <a:t>type of system being developed and the budget</a:t>
            </a:r>
            <a:endParaRPr lang="en-US" u="sng" dirty="0">
              <a:highlight>
                <a:srgbClr val="FFFF00"/>
              </a:highlight>
              <a:ea typeface="Calibri" panose="020F0502020204030204"/>
              <a:cs typeface="Calibri" panose="020F0502020204030204"/>
            </a:endParaRPr>
          </a:p>
          <a:p>
            <a:r>
              <a:rPr lang="en-US" dirty="0">
                <a:ea typeface="Calibri" panose="020F0502020204030204"/>
                <a:cs typeface="Calibri" panose="020F0502020204030204"/>
              </a:rPr>
              <a:t>Early in the process – more effort on understanding high level business, non-functional and user requirements</a:t>
            </a:r>
          </a:p>
          <a:p>
            <a:r>
              <a:rPr lang="en-US" dirty="0">
                <a:ea typeface="Calibri" panose="020F0502020204030204"/>
                <a:cs typeface="Calibri" panose="020F0502020204030204"/>
              </a:rPr>
              <a:t>Later in the process – more effort on eliciting and understanding the non-functional requirements and system requirements</a:t>
            </a:r>
          </a:p>
          <a:p>
            <a:r>
              <a:rPr lang="en-US" dirty="0">
                <a:ea typeface="Calibri" panose="020F0502020204030204"/>
                <a:cs typeface="Calibri" panose="020F0502020204030204"/>
              </a:rPr>
              <a:t>Spiral allows development in different levels of detail</a:t>
            </a:r>
          </a:p>
          <a:p>
            <a:r>
              <a:rPr lang="en-US" dirty="0">
                <a:ea typeface="Calibri" panose="020F0502020204030204"/>
                <a:cs typeface="Calibri" panose="020F0502020204030204"/>
              </a:rPr>
              <a:t>Number of iterations can vary, and </a:t>
            </a:r>
            <a:r>
              <a:rPr lang="en-US" u="sng" dirty="0">
                <a:ea typeface="Calibri" panose="020F0502020204030204"/>
                <a:cs typeface="Calibri" panose="020F0502020204030204"/>
              </a:rPr>
              <a:t>can exit spiral at any stage</a:t>
            </a:r>
            <a:r>
              <a:rPr lang="en-US" dirty="0">
                <a:ea typeface="Calibri" panose="020F0502020204030204"/>
                <a:cs typeface="Calibri" panose="020F0502020204030204"/>
              </a:rPr>
              <a:t> (once you think you have gathered sufficient, and sufficient level, of requirements)</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AD48A4ED-CF7F-8762-990B-1100562CAE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0957B7E-FAFE-2590-EC1D-BD56EB40254F}"/>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D4EBD900-5F40-5985-4F47-D26EFDCA870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45650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2B747-FF6F-D3CB-A187-3FA1603BA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E89E2-B402-5729-F513-5835A9C6E9BA}"/>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167220CA-E969-0C11-4B20-1B5E88FEAD2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Sometimes, Agile development can be used instead of prototyping so that the requirements and the system implementation are developed together (feedback and refinement)</a:t>
            </a:r>
            <a:endParaRPr lang="en-US" dirty="0">
              <a:ea typeface="Calibri" panose="020F0502020204030204"/>
              <a:cs typeface="Calibri"/>
            </a:endParaRPr>
          </a:p>
          <a:p>
            <a:r>
              <a:rPr lang="en-US" dirty="0">
                <a:ea typeface="+mn-lt"/>
                <a:cs typeface="+mn-lt"/>
              </a:rPr>
              <a:t>In </a:t>
            </a:r>
            <a:r>
              <a:rPr lang="en-US" u="sng" dirty="0">
                <a:ea typeface="+mn-lt"/>
                <a:cs typeface="+mn-lt"/>
              </a:rPr>
              <a:t>virtually all systems, requirements change</a:t>
            </a:r>
            <a:endParaRPr lang="en-US" u="sng" dirty="0">
              <a:ea typeface="Calibri" panose="020F0502020204030204"/>
              <a:cs typeface="Calibri"/>
            </a:endParaRPr>
          </a:p>
          <a:p>
            <a:pPr lvl="1">
              <a:buFont typeface="Courier New" panose="020B0604020202020204" pitchFamily="34" charset="0"/>
              <a:buChar char="o"/>
            </a:pPr>
            <a:r>
              <a:rPr lang="en-US" dirty="0">
                <a:ea typeface="+mn-lt"/>
                <a:cs typeface="+mn-lt"/>
              </a:rPr>
              <a:t>People develop a better understanding of what they want</a:t>
            </a:r>
            <a:endParaRPr lang="en-US">
              <a:ea typeface="Calibri"/>
              <a:cs typeface="Calibri"/>
            </a:endParaRPr>
          </a:p>
          <a:p>
            <a:pPr lvl="1">
              <a:buFont typeface="Courier New" panose="020B0604020202020204" pitchFamily="34" charset="0"/>
              <a:buChar char="o"/>
            </a:pPr>
            <a:r>
              <a:rPr lang="en-US" dirty="0">
                <a:ea typeface="+mn-lt"/>
                <a:cs typeface="+mn-lt"/>
              </a:rPr>
              <a:t>Organization buying the system changes</a:t>
            </a:r>
          </a:p>
          <a:p>
            <a:pPr lvl="1">
              <a:buFont typeface="Courier New" panose="020B0604020202020204" pitchFamily="34" charset="0"/>
              <a:buChar char="o"/>
            </a:pPr>
            <a:r>
              <a:rPr lang="en-US" dirty="0">
                <a:ea typeface="+mn-lt"/>
                <a:cs typeface="+mn-lt"/>
              </a:rPr>
              <a:t>Modifications are made to the system’s hardware, software, and organizational environment</a:t>
            </a:r>
          </a:p>
          <a:p>
            <a:r>
              <a:rPr lang="en-US" dirty="0">
                <a:ea typeface="+mn-lt"/>
                <a:cs typeface="+mn-lt"/>
              </a:rPr>
              <a:t>Changes must be </a:t>
            </a:r>
            <a:r>
              <a:rPr lang="en-US" u="sng" dirty="0">
                <a:highlight>
                  <a:srgbClr val="FFFF00"/>
                </a:highlight>
                <a:ea typeface="+mn-lt"/>
                <a:cs typeface="+mn-lt"/>
              </a:rPr>
              <a:t>managed</a:t>
            </a:r>
            <a:r>
              <a:rPr lang="en-US" dirty="0">
                <a:ea typeface="+mn-lt"/>
                <a:cs typeface="+mn-lt"/>
              </a:rPr>
              <a:t> to understand the impact on other requirements and the cost and system implications of making the change (we will look into this in requirements management)</a:t>
            </a:r>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8EC2C82-7885-1581-41CA-03BE871E8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2A0983D-2E25-718D-0BB7-0406900602A8}"/>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14EE9CAF-479E-4D23-DB70-3828B56EA4D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929007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8D048-6715-23A0-031A-9DD74492C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AAA4E-5EAD-E94F-71FF-65074198C743}"/>
              </a:ext>
            </a:extLst>
          </p:cNvPr>
          <p:cNvSpPr>
            <a:spLocks noGrp="1"/>
          </p:cNvSpPr>
          <p:nvPr>
            <p:ph type="title"/>
          </p:nvPr>
        </p:nvSpPr>
        <p:spPr/>
        <p:txBody>
          <a:bodyPr/>
          <a:lstStyle/>
          <a:p>
            <a:r>
              <a:rPr lang="en-GB" dirty="0">
                <a:ea typeface="Calibri Light"/>
                <a:cs typeface="Calibri Light"/>
              </a:rPr>
              <a:t>Business Requirements Specification??</a:t>
            </a:r>
            <a:br>
              <a:rPr lang="en-GB" dirty="0">
                <a:ea typeface="Calibri Light"/>
                <a:cs typeface="Calibri Light"/>
              </a:rPr>
            </a:br>
            <a:r>
              <a:rPr lang="en-GB" dirty="0">
                <a:ea typeface="Calibri Light"/>
                <a:cs typeface="Calibri Light"/>
              </a:rPr>
              <a:t>Example</a:t>
            </a:r>
          </a:p>
        </p:txBody>
      </p:sp>
      <p:sp>
        <p:nvSpPr>
          <p:cNvPr id="3" name="Content Placeholder 2">
            <a:extLst>
              <a:ext uri="{FF2B5EF4-FFF2-40B4-BE49-F238E27FC236}">
                <a16:creationId xmlns:a16="http://schemas.microsoft.com/office/drawing/2014/main" id="{64E90AAB-6A22-B4A4-A437-D94BB399C404}"/>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A </a:t>
            </a:r>
            <a:r>
              <a:rPr lang="en-US" b="1" dirty="0">
                <a:ea typeface="+mn-lt"/>
                <a:cs typeface="+mn-lt"/>
              </a:rPr>
              <a:t>Business Requirement Specification (BRS)</a:t>
            </a:r>
            <a:r>
              <a:rPr lang="en-US" dirty="0">
                <a:ea typeface="+mn-lt"/>
                <a:cs typeface="+mn-lt"/>
              </a:rPr>
              <a:t> is like defining the </a:t>
            </a:r>
            <a:r>
              <a:rPr lang="en-US" b="1" dirty="0">
                <a:ea typeface="+mn-lt"/>
                <a:cs typeface="+mn-lt"/>
              </a:rPr>
              <a:t>vision and goals</a:t>
            </a:r>
            <a:r>
              <a:rPr lang="en-US" dirty="0">
                <a:ea typeface="+mn-lt"/>
                <a:cs typeface="+mn-lt"/>
              </a:rPr>
              <a:t> for the Student Portal </a:t>
            </a:r>
            <a:r>
              <a:rPr lang="en-US" b="1" dirty="0">
                <a:ea typeface="+mn-lt"/>
                <a:cs typeface="+mn-lt"/>
              </a:rPr>
              <a:t>before</a:t>
            </a:r>
            <a:r>
              <a:rPr lang="en-US">
                <a:ea typeface="+mn-lt"/>
                <a:cs typeface="+mn-lt"/>
              </a:rPr>
              <a:t> getting into technical details</a:t>
            </a:r>
          </a:p>
          <a:p>
            <a:r>
              <a:rPr lang="en-US">
                <a:ea typeface="+mn-lt"/>
                <a:cs typeface="+mn-lt"/>
              </a:rPr>
              <a:t>It answers the big questions</a:t>
            </a:r>
            <a:endParaRPr lang="en-US" dirty="0">
              <a:ea typeface="+mn-lt"/>
              <a:cs typeface="+mn-lt"/>
            </a:endParaRPr>
          </a:p>
          <a:p>
            <a:r>
              <a:rPr lang="en-US">
                <a:ea typeface="+mn-lt"/>
                <a:cs typeface="+mn-lt"/>
              </a:rPr>
              <a:t>It answers:</a:t>
            </a:r>
            <a:endParaRPr lang="en-US">
              <a:ea typeface="Calibri"/>
              <a:cs typeface="Calibri"/>
            </a:endParaRPr>
          </a:p>
          <a:p>
            <a:pPr lvl="1">
              <a:buFont typeface="Courier New" panose="020B0604020202020204" pitchFamily="34" charset="0"/>
              <a:buChar char="o"/>
            </a:pPr>
            <a:r>
              <a:rPr lang="en-US" b="1" dirty="0">
                <a:ea typeface="+mn-lt"/>
                <a:cs typeface="+mn-lt"/>
              </a:rPr>
              <a:t>Why</a:t>
            </a:r>
            <a:r>
              <a:rPr lang="en-US" dirty="0">
                <a:ea typeface="+mn-lt"/>
                <a:cs typeface="+mn-lt"/>
              </a:rPr>
              <a:t> is the system needed? (To improve efficiency in student services)</a:t>
            </a:r>
          </a:p>
          <a:p>
            <a:pPr lvl="1">
              <a:buFont typeface="Courier New" panose="020B0604020202020204" pitchFamily="34" charset="0"/>
              <a:buChar char="o"/>
            </a:pPr>
            <a:r>
              <a:rPr lang="en-US" b="1" dirty="0">
                <a:ea typeface="+mn-lt"/>
                <a:cs typeface="+mn-lt"/>
              </a:rPr>
              <a:t>Who</a:t>
            </a:r>
            <a:r>
              <a:rPr lang="en-US" dirty="0">
                <a:ea typeface="+mn-lt"/>
                <a:cs typeface="+mn-lt"/>
              </a:rPr>
              <a:t> benefits? (Students, professors, administrators)</a:t>
            </a:r>
          </a:p>
          <a:p>
            <a:pPr lvl="1">
              <a:buFont typeface="Courier New" panose="020B0604020202020204" pitchFamily="34" charset="0"/>
              <a:buChar char="o"/>
            </a:pPr>
            <a:r>
              <a:rPr lang="en-US" b="1" dirty="0">
                <a:ea typeface="+mn-lt"/>
                <a:cs typeface="+mn-lt"/>
              </a:rPr>
              <a:t>What</a:t>
            </a:r>
            <a:r>
              <a:rPr lang="en-US" dirty="0">
                <a:ea typeface="+mn-lt"/>
                <a:cs typeface="+mn-lt"/>
              </a:rPr>
              <a:t> should the system do? (Provide self-service, course management, messaging, etc.)</a:t>
            </a:r>
            <a:endParaRPr lang="en-US">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2C7470CE-3D3D-7EE9-6B80-FB7C23D12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9F6D69A-F299-36C8-49CB-3BE2E177477E}"/>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FC7D9F72-C0BE-8C62-BCF2-898A27AE780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554059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EE4A-9A05-8411-05DA-0E226E090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C0EA1-2BED-5278-761A-983E9CAEC245}"/>
              </a:ext>
            </a:extLst>
          </p:cNvPr>
          <p:cNvSpPr>
            <a:spLocks noGrp="1"/>
          </p:cNvSpPr>
          <p:nvPr>
            <p:ph type="title"/>
          </p:nvPr>
        </p:nvSpPr>
        <p:spPr/>
        <p:txBody>
          <a:bodyPr/>
          <a:lstStyle/>
          <a:p>
            <a:r>
              <a:rPr lang="en-GB" dirty="0">
                <a:ea typeface="Calibri Light"/>
                <a:cs typeface="Calibri Light"/>
              </a:rPr>
              <a:t>Feasibility study</a:t>
            </a:r>
            <a:endParaRPr lang="en-US" dirty="0"/>
          </a:p>
        </p:txBody>
      </p:sp>
      <p:sp>
        <p:nvSpPr>
          <p:cNvPr id="3" name="Content Placeholder 2">
            <a:extLst>
              <a:ext uri="{FF2B5EF4-FFF2-40B4-BE49-F238E27FC236}">
                <a16:creationId xmlns:a16="http://schemas.microsoft.com/office/drawing/2014/main" id="{7E72C7A4-DE55-E64D-BC1A-F4B87C408258}"/>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Technical feasibility:</a:t>
            </a:r>
          </a:p>
          <a:p>
            <a:pPr lvl="1">
              <a:buFont typeface="Courier New" panose="020B0604020202020204" pitchFamily="34" charset="0"/>
              <a:buChar char="o"/>
            </a:pPr>
            <a:r>
              <a:rPr lang="en-US" dirty="0">
                <a:ea typeface="Calibri"/>
                <a:cs typeface="Calibri"/>
              </a:rPr>
              <a:t>Can it be developed using existing technology</a:t>
            </a:r>
          </a:p>
          <a:p>
            <a:pPr lvl="2"/>
            <a:r>
              <a:rPr lang="en-US" dirty="0">
                <a:ea typeface="+mn-lt"/>
                <a:cs typeface="+mn-lt"/>
              </a:rPr>
              <a:t>Does the university (or business) have the necessary hardware/software infrastructure?</a:t>
            </a:r>
            <a:endParaRPr lang="en-US" dirty="0">
              <a:ea typeface="Calibri"/>
              <a:cs typeface="Calibri"/>
            </a:endParaRPr>
          </a:p>
          <a:p>
            <a:pPr lvl="2"/>
            <a:r>
              <a:rPr lang="en-US" dirty="0">
                <a:ea typeface="+mn-lt"/>
                <a:cs typeface="+mn-lt"/>
              </a:rPr>
              <a:t>Are the proposed features (e.g., AI-based student score predictions) technically achievable?</a:t>
            </a:r>
            <a:endParaRPr lang="en-US" dirty="0"/>
          </a:p>
          <a:p>
            <a:pPr lvl="2"/>
            <a:r>
              <a:rPr lang="en-US" dirty="0">
                <a:ea typeface="+mn-lt"/>
                <a:cs typeface="+mn-lt"/>
              </a:rPr>
              <a:t>Can existing university databases integrate with the new portal?</a:t>
            </a:r>
            <a:endParaRPr lang="en-US" dirty="0"/>
          </a:p>
          <a:p>
            <a:pPr lvl="2"/>
            <a:endParaRPr lang="en-US" dirty="0">
              <a:ea typeface="Calibri"/>
              <a:cs typeface="Calibri"/>
            </a:endParaRPr>
          </a:p>
          <a:p>
            <a:r>
              <a:rPr lang="en-US" dirty="0">
                <a:ea typeface="Calibri"/>
                <a:cs typeface="Calibri"/>
              </a:rPr>
              <a:t>Economic feasibility (Cost-benefit analysis):</a:t>
            </a:r>
          </a:p>
          <a:p>
            <a:pPr lvl="1">
              <a:buFont typeface="Courier New" panose="020B0604020202020204" pitchFamily="34" charset="0"/>
              <a:buChar char="o"/>
            </a:pPr>
            <a:r>
              <a:rPr lang="en-US" dirty="0">
                <a:ea typeface="+mn-lt"/>
                <a:cs typeface="+mn-lt"/>
              </a:rPr>
              <a:t>Is the project financially </a:t>
            </a:r>
            <a:r>
              <a:rPr lang="en-US">
                <a:ea typeface="+mn-lt"/>
                <a:cs typeface="+mn-lt"/>
              </a:rPr>
              <a:t>practical</a:t>
            </a:r>
            <a:r>
              <a:rPr lang="en-US" dirty="0">
                <a:ea typeface="+mn-lt"/>
                <a:cs typeface="+mn-lt"/>
              </a:rPr>
              <a:t>?</a:t>
            </a:r>
            <a:endParaRPr lang="en-US">
              <a:ea typeface="Calibri"/>
              <a:cs typeface="Calibri"/>
            </a:endParaRPr>
          </a:p>
          <a:p>
            <a:pPr lvl="2"/>
            <a:r>
              <a:rPr lang="en-US" dirty="0">
                <a:ea typeface="+mn-lt"/>
                <a:cs typeface="+mn-lt"/>
              </a:rPr>
              <a:t>What is the estimated budget for development and maintenance?</a:t>
            </a:r>
            <a:endParaRPr lang="en-US" dirty="0">
              <a:ea typeface="Calibri"/>
              <a:cs typeface="Calibri"/>
            </a:endParaRPr>
          </a:p>
          <a:p>
            <a:pPr lvl="2"/>
            <a:r>
              <a:rPr lang="en-US" dirty="0">
                <a:ea typeface="+mn-lt"/>
                <a:cs typeface="+mn-lt"/>
              </a:rPr>
              <a:t>Will the benefits (e.g., improved efficiency, reduced manual work) outweigh the costs?</a:t>
            </a:r>
            <a:endParaRPr lang="en-US">
              <a:ea typeface="Calibri"/>
              <a:cs typeface="Calibri"/>
            </a:endParaRPr>
          </a:p>
          <a:p>
            <a:pPr lvl="2"/>
            <a:r>
              <a:rPr lang="en-US" dirty="0">
                <a:ea typeface="+mn-lt"/>
                <a:cs typeface="+mn-lt"/>
              </a:rPr>
              <a:t>Can the university afford the necessary infrastructure upgrades?</a:t>
            </a:r>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E943D405-841F-0AAE-111B-E4F83A3DB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0B5A877-AA28-FDA0-E362-5243F6EA955B}"/>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1AD1B2A2-F49C-DA76-800E-144909BF014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60623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E943F-0A1E-7277-16DD-454F4CE99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CCAA7-45D3-AF33-83A7-BC2C46CDEF50}"/>
              </a:ext>
            </a:extLst>
          </p:cNvPr>
          <p:cNvSpPr>
            <a:spLocks noGrp="1"/>
          </p:cNvSpPr>
          <p:nvPr>
            <p:ph type="title"/>
          </p:nvPr>
        </p:nvSpPr>
        <p:spPr/>
        <p:txBody>
          <a:bodyPr/>
          <a:lstStyle/>
          <a:p>
            <a:r>
              <a:rPr lang="en-GB" dirty="0">
                <a:ea typeface="Calibri Light"/>
                <a:cs typeface="Calibri Light"/>
              </a:rPr>
              <a:t>Feasibility study</a:t>
            </a:r>
            <a:endParaRPr lang="en-US" dirty="0"/>
          </a:p>
        </p:txBody>
      </p:sp>
      <p:sp>
        <p:nvSpPr>
          <p:cNvPr id="3" name="Content Placeholder 2">
            <a:extLst>
              <a:ext uri="{FF2B5EF4-FFF2-40B4-BE49-F238E27FC236}">
                <a16:creationId xmlns:a16="http://schemas.microsoft.com/office/drawing/2014/main" id="{33BF4E44-2FFF-2789-59E8-0AACE90A188A}"/>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a:cs typeface="Calibri"/>
              </a:rPr>
              <a:t>Legal and Compliance:</a:t>
            </a:r>
            <a:endParaRPr lang="en-US" dirty="0"/>
          </a:p>
          <a:p>
            <a:pPr lvl="1">
              <a:buFont typeface="Courier New" panose="020B0604020202020204" pitchFamily="34" charset="0"/>
              <a:buChar char="o"/>
            </a:pPr>
            <a:r>
              <a:rPr lang="en-US" dirty="0">
                <a:ea typeface="+mn-lt"/>
                <a:cs typeface="+mn-lt"/>
              </a:rPr>
              <a:t>Does the system comply with relevant laws and regulations? (data storage and privacy laws, for example)</a:t>
            </a:r>
          </a:p>
          <a:p>
            <a:r>
              <a:rPr lang="en-US" dirty="0">
                <a:ea typeface="Calibri"/>
                <a:cs typeface="Calibri"/>
              </a:rPr>
              <a:t>Operation feasibility:</a:t>
            </a:r>
          </a:p>
          <a:p>
            <a:pPr lvl="1">
              <a:buFont typeface="Courier New" panose="020B0604020202020204" pitchFamily="34" charset="0"/>
              <a:buChar char="o"/>
            </a:pPr>
            <a:r>
              <a:rPr lang="en-US" dirty="0">
                <a:ea typeface="+mn-lt"/>
                <a:cs typeface="+mn-lt"/>
              </a:rPr>
              <a:t>Will users (students, professors, administrators) </a:t>
            </a:r>
            <a:r>
              <a:rPr lang="en-US" b="1" dirty="0">
                <a:ea typeface="+mn-lt"/>
                <a:cs typeface="+mn-lt"/>
              </a:rPr>
              <a:t>accept and use</a:t>
            </a:r>
            <a:r>
              <a:rPr lang="en-US" dirty="0">
                <a:ea typeface="+mn-lt"/>
                <a:cs typeface="+mn-lt"/>
              </a:rPr>
              <a:t> the system?</a:t>
            </a:r>
            <a:endParaRPr lang="en-US" dirty="0">
              <a:ea typeface="Calibri"/>
              <a:cs typeface="Calibri"/>
            </a:endParaRPr>
          </a:p>
          <a:p>
            <a:pPr lvl="2"/>
            <a:r>
              <a:rPr lang="en-US" dirty="0">
                <a:ea typeface="+mn-lt"/>
                <a:cs typeface="+mn-lt"/>
              </a:rPr>
              <a:t>How will students register and access their courses?</a:t>
            </a:r>
            <a:endParaRPr lang="en-US" dirty="0">
              <a:ea typeface="Calibri" panose="020F0502020204030204"/>
              <a:cs typeface="Calibri" panose="020F0502020204030204"/>
            </a:endParaRPr>
          </a:p>
          <a:p>
            <a:pPr lvl="2"/>
            <a:r>
              <a:rPr lang="en-US" dirty="0">
                <a:ea typeface="+mn-lt"/>
                <a:cs typeface="+mn-lt"/>
              </a:rPr>
              <a:t>Will professors be comfortable with online grading and communication?</a:t>
            </a:r>
            <a:endParaRPr lang="en-US" dirty="0">
              <a:ea typeface="Calibri"/>
              <a:cs typeface="Calibri"/>
            </a:endParaRPr>
          </a:p>
          <a:p>
            <a:pPr lvl="2"/>
            <a:r>
              <a:rPr lang="en-US" dirty="0">
                <a:ea typeface="+mn-lt"/>
                <a:cs typeface="+mn-lt"/>
              </a:rPr>
              <a:t>Will training be needed for users?</a:t>
            </a:r>
            <a:endParaRPr lang="en-US" dirty="0">
              <a:ea typeface="Calibri" panose="020F0502020204030204"/>
              <a:cs typeface="Calibri" panose="020F0502020204030204"/>
            </a:endParaRPr>
          </a:p>
          <a:p>
            <a:r>
              <a:rPr lang="en-US" dirty="0">
                <a:ea typeface="Calibri" panose="020F0502020204030204"/>
                <a:cs typeface="Calibri" panose="020F0502020204030204"/>
              </a:rPr>
              <a:t>Schedule feasibility:</a:t>
            </a:r>
          </a:p>
          <a:p>
            <a:pPr lvl="1">
              <a:buFont typeface="Courier New" panose="020B0604020202020204" pitchFamily="34" charset="0"/>
              <a:buChar char="o"/>
            </a:pPr>
            <a:r>
              <a:rPr lang="en-US" dirty="0">
                <a:ea typeface="+mn-lt"/>
                <a:cs typeface="+mn-lt"/>
              </a:rPr>
              <a:t>Can the system be developed within the given time frame?</a:t>
            </a:r>
            <a:endParaRPr lang="en-US" dirty="0">
              <a:ea typeface="Calibri"/>
              <a:cs typeface="Calibri"/>
            </a:endParaRPr>
          </a:p>
          <a:p>
            <a:pPr lvl="2"/>
            <a:r>
              <a:rPr lang="en-US" dirty="0">
                <a:ea typeface="+mn-lt"/>
                <a:cs typeface="+mn-lt"/>
              </a:rPr>
              <a:t>How long will it take to build, test, and deploy?</a:t>
            </a:r>
            <a:endParaRPr lang="en-US" dirty="0">
              <a:ea typeface="Calibri" panose="020F0502020204030204"/>
              <a:cs typeface="Calibri" panose="020F0502020204030204"/>
            </a:endParaRPr>
          </a:p>
          <a:p>
            <a:pPr lvl="2"/>
            <a:r>
              <a:rPr lang="en-US" dirty="0">
                <a:ea typeface="+mn-lt"/>
                <a:cs typeface="+mn-lt"/>
              </a:rPr>
              <a:t>Are there critical deadlines (e.g., before the next semester begins)?</a:t>
            </a:r>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80A519F-51D7-74C4-9E07-288E27965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0C06C7A-EE3D-0CC6-373A-6E3F87D31B34}"/>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B259350B-EBB2-3350-2F9F-DD3445A3974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48879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917DF-4CBE-71EA-006A-E92B0F9D3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A0732-688A-B530-0B87-6EDCEB03FD54}"/>
              </a:ext>
            </a:extLst>
          </p:cNvPr>
          <p:cNvSpPr>
            <a:spLocks noGrp="1"/>
          </p:cNvSpPr>
          <p:nvPr>
            <p:ph type="title"/>
          </p:nvPr>
        </p:nvSpPr>
        <p:spPr/>
        <p:txBody>
          <a:bodyPr/>
          <a:lstStyle/>
          <a:p>
            <a:r>
              <a:rPr lang="en-GB" dirty="0">
                <a:ea typeface="Calibri Light"/>
                <a:cs typeface="Calibri Light"/>
              </a:rPr>
              <a:t>Requirements Elicitation</a:t>
            </a:r>
            <a:endParaRPr lang="en-US" dirty="0"/>
          </a:p>
        </p:txBody>
      </p:sp>
      <p:sp>
        <p:nvSpPr>
          <p:cNvPr id="3" name="Content Placeholder 2">
            <a:extLst>
              <a:ext uri="{FF2B5EF4-FFF2-40B4-BE49-F238E27FC236}">
                <a16:creationId xmlns:a16="http://schemas.microsoft.com/office/drawing/2014/main" id="{35ED2F53-1304-99AB-504A-F87136F1B587}"/>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mn-lt"/>
                <a:cs typeface="+mn-lt"/>
              </a:rPr>
              <a:t>Aim:</a:t>
            </a:r>
          </a:p>
          <a:p>
            <a:pPr lvl="1"/>
            <a:r>
              <a:rPr lang="en-US" dirty="0">
                <a:ea typeface="Calibri"/>
                <a:cs typeface="Calibri"/>
              </a:rPr>
              <a:t>Understand the new system needed / wanted</a:t>
            </a:r>
          </a:p>
          <a:p>
            <a:pPr lvl="1"/>
            <a:r>
              <a:rPr lang="en-US">
                <a:ea typeface="Calibri"/>
                <a:cs typeface="Calibri"/>
              </a:rPr>
              <a:t>Understand the stakeholder work (needed for the following point)</a:t>
            </a:r>
            <a:endParaRPr lang="en-US"/>
          </a:p>
          <a:p>
            <a:pPr lvl="1"/>
            <a:r>
              <a:rPr lang="en-US" dirty="0">
                <a:ea typeface="Calibri"/>
                <a:cs typeface="Calibri"/>
              </a:rPr>
              <a:t>How the new system will support/ improve the work</a:t>
            </a:r>
          </a:p>
          <a:p>
            <a:endParaRPr lang="en-US" dirty="0">
              <a:ea typeface="Calibri"/>
              <a:cs typeface="Calibri"/>
            </a:endParaRPr>
          </a:p>
          <a:p>
            <a:r>
              <a:rPr lang="en-US" dirty="0">
                <a:ea typeface="Calibri"/>
                <a:cs typeface="Calibri"/>
              </a:rPr>
              <a:t>Software Engineers work with stakeholders to find out:</a:t>
            </a:r>
          </a:p>
          <a:p>
            <a:pPr lvl="1"/>
            <a:r>
              <a:rPr lang="en-US" dirty="0">
                <a:ea typeface="Calibri"/>
                <a:cs typeface="Calibri"/>
              </a:rPr>
              <a:t>Application domain (where the application is to be used – university, hotel, </a:t>
            </a:r>
            <a:r>
              <a:rPr lang="en-US">
                <a:ea typeface="Calibri"/>
                <a:cs typeface="Calibri"/>
              </a:rPr>
              <a:t>etc.</a:t>
            </a:r>
            <a:r>
              <a:rPr lang="en-US" dirty="0">
                <a:ea typeface="Calibri"/>
                <a:cs typeface="Calibri"/>
              </a:rPr>
              <a:t>)</a:t>
            </a:r>
          </a:p>
          <a:p>
            <a:pPr lvl="1"/>
            <a:r>
              <a:rPr lang="en-US" dirty="0">
                <a:ea typeface="Calibri"/>
                <a:cs typeface="Calibri"/>
              </a:rPr>
              <a:t>Work activities (general everyday tasks at </a:t>
            </a:r>
            <a:r>
              <a:rPr lang="en-US">
                <a:ea typeface="Calibri"/>
                <a:cs typeface="Calibri"/>
              </a:rPr>
              <a:t>work-place, some involve existing </a:t>
            </a:r>
            <a:r>
              <a:rPr lang="en-US" dirty="0">
                <a:ea typeface="Calibri"/>
                <a:cs typeface="Calibri"/>
              </a:rPr>
              <a:t>system, some manual)</a:t>
            </a:r>
          </a:p>
          <a:p>
            <a:pPr lvl="1"/>
            <a:r>
              <a:rPr lang="en-US">
                <a:ea typeface="Calibri"/>
                <a:cs typeface="Calibri"/>
              </a:rPr>
              <a:t>Services and System features needed (functional requirements)</a:t>
            </a:r>
          </a:p>
          <a:p>
            <a:pPr lvl="1"/>
            <a:r>
              <a:rPr lang="en-US">
                <a:ea typeface="Calibri"/>
                <a:cs typeface="Calibri"/>
              </a:rPr>
              <a:t>Required performance (non-functional</a:t>
            </a:r>
            <a:r>
              <a:rPr lang="en-US" dirty="0">
                <a:ea typeface="Calibri"/>
                <a:cs typeface="Calibri"/>
              </a:rPr>
              <a:t> requirements)</a:t>
            </a:r>
          </a:p>
          <a:p>
            <a:pPr lvl="1"/>
            <a:r>
              <a:rPr lang="en-US" dirty="0">
                <a:ea typeface="Calibri"/>
                <a:cs typeface="Calibri"/>
              </a:rPr>
              <a:t>Hardware constraints</a:t>
            </a:r>
          </a:p>
        </p:txBody>
      </p:sp>
      <p:pic>
        <p:nvPicPr>
          <p:cNvPr id="6" name="Picture 5" descr="A black and white logo&#10;&#10;Description automatically generated">
            <a:extLst>
              <a:ext uri="{FF2B5EF4-FFF2-40B4-BE49-F238E27FC236}">
                <a16:creationId xmlns:a16="http://schemas.microsoft.com/office/drawing/2014/main" id="{86E8C05E-0430-65EE-71C3-2098B5C15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3E9E48D-6BFD-800E-EC8E-CB789930FC3B}"/>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B7E5D9E0-373A-5D7A-335A-1ABC1CDB577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547259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D28AB-80BD-6633-042B-61DC0CFE0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B2B0F-9EE5-1D63-70C8-67988C7570EF}"/>
              </a:ext>
            </a:extLst>
          </p:cNvPr>
          <p:cNvSpPr>
            <a:spLocks noGrp="1"/>
          </p:cNvSpPr>
          <p:nvPr>
            <p:ph type="title"/>
          </p:nvPr>
        </p:nvSpPr>
        <p:spPr/>
        <p:txBody>
          <a:bodyPr/>
          <a:lstStyle/>
          <a:p>
            <a:r>
              <a:rPr lang="en-GB" dirty="0">
                <a:ea typeface="Calibri Light"/>
                <a:cs typeface="Calibri Light"/>
              </a:rPr>
              <a:t>Requirements Elicitation</a:t>
            </a:r>
            <a:endParaRPr lang="en-US" dirty="0"/>
          </a:p>
        </p:txBody>
      </p:sp>
      <p:sp>
        <p:nvSpPr>
          <p:cNvPr id="3" name="Content Placeholder 2">
            <a:extLst>
              <a:ext uri="{FF2B5EF4-FFF2-40B4-BE49-F238E27FC236}">
                <a16:creationId xmlns:a16="http://schemas.microsoft.com/office/drawing/2014/main" id="{D723B647-E000-FF48-8207-2C1A0A765E54}"/>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Challenges (of eliciting requirements from stakeholders):</a:t>
            </a:r>
          </a:p>
          <a:p>
            <a:pPr marL="914400" lvl="1" indent="-457200">
              <a:buAutoNum type="arabicPeriod"/>
            </a:pPr>
            <a:r>
              <a:rPr lang="en-US">
                <a:ea typeface="Calibri"/>
                <a:cs typeface="Calibri"/>
              </a:rPr>
              <a:t>Stakeholders do not know what they want from the system (except in most general terms)</a:t>
            </a:r>
          </a:p>
          <a:p>
            <a:pPr marL="914400" lvl="1" indent="-457200">
              <a:buAutoNum type="arabicPeriod"/>
            </a:pPr>
            <a:r>
              <a:rPr lang="en-US">
                <a:ea typeface="Calibri"/>
                <a:cs typeface="Calibri"/>
              </a:rPr>
              <a:t>Stakeholders</a:t>
            </a:r>
            <a:r>
              <a:rPr lang="en-US" dirty="0">
                <a:ea typeface="Calibri"/>
                <a:cs typeface="Calibri"/>
              </a:rPr>
              <a:t> express requirements in their own way (and with their own </a:t>
            </a:r>
            <a:r>
              <a:rPr lang="en-US">
                <a:ea typeface="Calibri"/>
                <a:cs typeface="Calibri"/>
              </a:rPr>
              <a:t>implicit knowledge of their own work)</a:t>
            </a:r>
            <a:endParaRPr lang="en-US"/>
          </a:p>
          <a:p>
            <a:pPr marL="914400" lvl="1" indent="-457200">
              <a:buAutoNum type="arabicPeriod"/>
            </a:pPr>
            <a:r>
              <a:rPr lang="en-US" dirty="0">
                <a:ea typeface="Calibri"/>
                <a:cs typeface="Calibri"/>
              </a:rPr>
              <a:t>Different stakeholders express requirements in different ways (requirements engineers then must check for commonality and resolve </a:t>
            </a:r>
            <a:r>
              <a:rPr lang="en-US">
                <a:ea typeface="Calibri"/>
                <a:cs typeface="Calibri"/>
              </a:rPr>
              <a:t>conflict)</a:t>
            </a:r>
          </a:p>
          <a:p>
            <a:pPr marL="914400" lvl="1" indent="-457200">
              <a:buAutoNum type="arabicPeriod"/>
            </a:pPr>
            <a:r>
              <a:rPr lang="en-US" dirty="0">
                <a:ea typeface="Calibri"/>
                <a:cs typeface="Calibri"/>
              </a:rPr>
              <a:t>The economic and business environment in which the analysis takes place is dynamic (importance and priority of requirements may change, new requirements may emerge)</a:t>
            </a:r>
            <a:endParaRPr lang="en-US"/>
          </a:p>
        </p:txBody>
      </p:sp>
      <p:pic>
        <p:nvPicPr>
          <p:cNvPr id="6" name="Picture 5" descr="A black and white logo&#10;&#10;Description automatically generated">
            <a:extLst>
              <a:ext uri="{FF2B5EF4-FFF2-40B4-BE49-F238E27FC236}">
                <a16:creationId xmlns:a16="http://schemas.microsoft.com/office/drawing/2014/main" id="{2FF17814-ECED-2752-2836-FF1CDCB48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565DAD7-FBD9-9F4F-89B4-CDE8796D7BA0}"/>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66196646-C973-B90A-ACCE-18534059E0B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5746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C990-FC16-F7C2-5BF3-40B457B88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BC812-1020-27E2-38A5-CC2637A0C2FC}"/>
              </a:ext>
            </a:extLst>
          </p:cNvPr>
          <p:cNvSpPr>
            <a:spLocks noGrp="1"/>
          </p:cNvSpPr>
          <p:nvPr>
            <p:ph type="title"/>
          </p:nvPr>
        </p:nvSpPr>
        <p:spPr/>
        <p:txBody>
          <a:bodyPr/>
          <a:lstStyle/>
          <a:p>
            <a:r>
              <a:rPr lang="en-GB" dirty="0">
                <a:ea typeface="Calibri Light"/>
                <a:cs typeface="Calibri Light"/>
              </a:rPr>
              <a:t>Requirements Elicitation challenges - Examples</a:t>
            </a:r>
            <a:endParaRPr lang="en-US" dirty="0"/>
          </a:p>
        </p:txBody>
      </p:sp>
      <p:pic>
        <p:nvPicPr>
          <p:cNvPr id="6" name="Picture 5" descr="A black and white logo&#10;&#10;Description automatically generated">
            <a:extLst>
              <a:ext uri="{FF2B5EF4-FFF2-40B4-BE49-F238E27FC236}">
                <a16:creationId xmlns:a16="http://schemas.microsoft.com/office/drawing/2014/main" id="{1E61196C-F769-63E7-E33F-775C8D384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CB8E763-8A09-A932-FD9D-09B231805E53}"/>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0B8242E1-A9DE-A803-8B06-E069DA5D4A19}"/>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19EBD78E-1548-1B4B-B4D0-9415255E0983}"/>
              </a:ext>
            </a:extLst>
          </p:cNvPr>
          <p:cNvSpPr txBox="1"/>
          <p:nvPr/>
        </p:nvSpPr>
        <p:spPr>
          <a:xfrm>
            <a:off x="254000" y="2144888"/>
            <a:ext cx="488244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#1: Stakeholders don't know what they want (except in general terms)</a:t>
            </a:r>
            <a:endParaRPr lang="en-US" b="1" dirty="0"/>
          </a:p>
          <a:p>
            <a:r>
              <a:rPr lang="en-US" dirty="0">
                <a:ea typeface="Calibri"/>
                <a:cs typeface="Calibri"/>
              </a:rPr>
              <a:t>"</a:t>
            </a:r>
            <a:r>
              <a:rPr lang="en-US" dirty="0">
                <a:ea typeface="+mn-lt"/>
                <a:cs typeface="+mn-lt"/>
              </a:rPr>
              <a:t>We need a system where students can register for courses</a:t>
            </a:r>
            <a:r>
              <a:rPr lang="en-US" dirty="0">
                <a:ea typeface="Calibri"/>
                <a:cs typeface="Calibri"/>
              </a:rPr>
              <a:t>"</a:t>
            </a:r>
            <a:endParaRPr lang="en-US" dirty="0"/>
          </a:p>
          <a:p>
            <a:r>
              <a:rPr lang="en-US" dirty="0">
                <a:ea typeface="Calibri"/>
                <a:cs typeface="Calibri"/>
              </a:rPr>
              <a:t>Can they edit (add/ drop)? Prerequisites? What if some course is full? Are there limits?</a:t>
            </a:r>
          </a:p>
        </p:txBody>
      </p:sp>
      <p:sp>
        <p:nvSpPr>
          <p:cNvPr id="5" name="TextBox 4">
            <a:extLst>
              <a:ext uri="{FF2B5EF4-FFF2-40B4-BE49-F238E27FC236}">
                <a16:creationId xmlns:a16="http://schemas.microsoft.com/office/drawing/2014/main" id="{069370F4-1BDA-0241-73D8-FDF8D95BCEF0}"/>
              </a:ext>
            </a:extLst>
          </p:cNvPr>
          <p:cNvSpPr txBox="1"/>
          <p:nvPr/>
        </p:nvSpPr>
        <p:spPr>
          <a:xfrm>
            <a:off x="253999" y="4143341"/>
            <a:ext cx="488244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#2: </a:t>
            </a:r>
            <a:r>
              <a:rPr lang="en-US" b="1" dirty="0">
                <a:ea typeface="+mn-lt"/>
                <a:cs typeface="+mn-lt"/>
              </a:rPr>
              <a:t>Stakeholders express requirements in their own way (with own implicit knowledge)</a:t>
            </a:r>
          </a:p>
          <a:p>
            <a:r>
              <a:rPr lang="en-US" dirty="0">
                <a:ea typeface="Calibri"/>
                <a:cs typeface="Calibri"/>
              </a:rPr>
              <a:t>"</a:t>
            </a:r>
            <a:r>
              <a:rPr lang="en-US" dirty="0">
                <a:ea typeface="+mn-lt"/>
                <a:cs typeface="+mn-lt"/>
              </a:rPr>
              <a:t>We need a system that supports a curved grading policy.</a:t>
            </a:r>
            <a:r>
              <a:rPr lang="en-US" dirty="0">
                <a:ea typeface="Calibri"/>
                <a:cs typeface="Calibri"/>
              </a:rPr>
              <a:t>" - Professor X</a:t>
            </a:r>
          </a:p>
          <a:p>
            <a:r>
              <a:rPr lang="en-US" dirty="0">
                <a:ea typeface="Calibri"/>
                <a:cs typeface="Calibri"/>
              </a:rPr>
              <a:t>What is curved – bell curve? Linear scaling? Professor assumes everyone understands grading policy, and is on the same grading policy</a:t>
            </a:r>
          </a:p>
        </p:txBody>
      </p:sp>
      <p:sp>
        <p:nvSpPr>
          <p:cNvPr id="9" name="TextBox 8">
            <a:extLst>
              <a:ext uri="{FF2B5EF4-FFF2-40B4-BE49-F238E27FC236}">
                <a16:creationId xmlns:a16="http://schemas.microsoft.com/office/drawing/2014/main" id="{60BF97BA-445C-C439-A560-B6A18A0BEAF8}"/>
              </a:ext>
            </a:extLst>
          </p:cNvPr>
          <p:cNvSpPr txBox="1"/>
          <p:nvPr/>
        </p:nvSpPr>
        <p:spPr>
          <a:xfrm>
            <a:off x="6335622" y="2144888"/>
            <a:ext cx="488244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#3: </a:t>
            </a:r>
            <a:r>
              <a:rPr lang="en-US" b="1" dirty="0">
                <a:ea typeface="+mn-lt"/>
                <a:cs typeface="+mn-lt"/>
              </a:rPr>
              <a:t>Different stakeholders express requirements in different ways</a:t>
            </a:r>
            <a:endParaRPr lang="en-US" b="1" dirty="0"/>
          </a:p>
          <a:p>
            <a:r>
              <a:rPr lang="en-US" dirty="0">
                <a:ea typeface="+mn-lt"/>
                <a:cs typeface="+mn-lt"/>
              </a:rPr>
              <a:t>Students want an easy way to reset forgotten passwords via email.</a:t>
            </a:r>
          </a:p>
          <a:p>
            <a:r>
              <a:rPr lang="en-US" dirty="0">
                <a:ea typeface="+mn-lt"/>
                <a:cs typeface="+mn-lt"/>
              </a:rPr>
              <a:t>IT security staff want a strict, multi-step authentication process to prevent hacking.</a:t>
            </a:r>
            <a:endParaRPr lang="en-US" dirty="0">
              <a:ea typeface="Calibri" panose="020F0502020204030204"/>
              <a:cs typeface="Calibri" panose="020F0502020204030204"/>
            </a:endParaRPr>
          </a:p>
        </p:txBody>
      </p:sp>
      <p:sp>
        <p:nvSpPr>
          <p:cNvPr id="10" name="TextBox 9">
            <a:extLst>
              <a:ext uri="{FF2B5EF4-FFF2-40B4-BE49-F238E27FC236}">
                <a16:creationId xmlns:a16="http://schemas.microsoft.com/office/drawing/2014/main" id="{AF5D9704-D495-ACE5-2A8A-D2A536ADE7BA}"/>
              </a:ext>
            </a:extLst>
          </p:cNvPr>
          <p:cNvSpPr txBox="1"/>
          <p:nvPr/>
        </p:nvSpPr>
        <p:spPr>
          <a:xfrm>
            <a:off x="6335621" y="4143340"/>
            <a:ext cx="488244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#4: </a:t>
            </a:r>
            <a:r>
              <a:rPr lang="en-US" b="1" dirty="0">
                <a:ea typeface="+mn-lt"/>
                <a:cs typeface="+mn-lt"/>
              </a:rPr>
              <a:t>The economic and business environment in which the analysis takes place is dynamic</a:t>
            </a:r>
          </a:p>
          <a:p>
            <a:r>
              <a:rPr lang="en-US" dirty="0">
                <a:ea typeface="+mn-lt"/>
                <a:cs typeface="+mn-lt"/>
              </a:rPr>
              <a:t>The system should support credit and debit card payments.</a:t>
            </a:r>
          </a:p>
          <a:p>
            <a:r>
              <a:rPr lang="en-US" dirty="0">
                <a:ea typeface="+mn-lt"/>
                <a:cs typeface="+mn-lt"/>
              </a:rPr>
              <a:t>Within 6 months, market trends indicate the usage of UPI. Somewhere down the line, cryptocurrency starts becoming prevalent, need to incorporate all these changes</a:t>
            </a:r>
            <a:endParaRPr lang="en-US" dirty="0">
              <a:ea typeface="Calibri"/>
              <a:cs typeface="Calibri"/>
            </a:endParaRPr>
          </a:p>
        </p:txBody>
      </p:sp>
    </p:spTree>
    <p:extLst>
      <p:ext uri="{BB962C8B-B14F-4D97-AF65-F5344CB8AC3E}">
        <p14:creationId xmlns:p14="http://schemas.microsoft.com/office/powerpoint/2010/main" val="285383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EDA5-2F53-D3F9-BE99-58EC9104C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D9EE5-578D-B5DE-A05B-CD15C9F9306F}"/>
              </a:ext>
            </a:extLst>
          </p:cNvPr>
          <p:cNvSpPr>
            <a:spLocks noGrp="1"/>
          </p:cNvSpPr>
          <p:nvPr>
            <p:ph type="title"/>
          </p:nvPr>
        </p:nvSpPr>
        <p:spPr/>
        <p:txBody>
          <a:bodyPr/>
          <a:lstStyle/>
          <a:p>
            <a:r>
              <a:rPr lang="en-GB" dirty="0">
                <a:ea typeface="Calibri Light"/>
                <a:cs typeface="Calibri Light"/>
              </a:rPr>
              <a:t>Requirements Elicitation</a:t>
            </a:r>
            <a:endParaRPr lang="en-US" dirty="0"/>
          </a:p>
        </p:txBody>
      </p:sp>
      <p:pic>
        <p:nvPicPr>
          <p:cNvPr id="6" name="Picture 5" descr="A black and white logo&#10;&#10;Description automatically generated">
            <a:extLst>
              <a:ext uri="{FF2B5EF4-FFF2-40B4-BE49-F238E27FC236}">
                <a16:creationId xmlns:a16="http://schemas.microsoft.com/office/drawing/2014/main" id="{FD5CF1EF-3722-DE5A-4CD5-4BEBB48F5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13F46D8-1E30-9E2C-BA1F-F998E3275067}"/>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C92F96D6-E5D3-8338-1C6B-584C27F8E309}"/>
              </a:ext>
            </a:extLst>
          </p:cNvPr>
          <p:cNvSpPr>
            <a:spLocks noGrp="1"/>
          </p:cNvSpPr>
          <p:nvPr>
            <p:ph type="ftr" sz="quarter" idx="11"/>
          </p:nvPr>
        </p:nvSpPr>
        <p:spPr/>
        <p:txBody>
          <a:bodyPr/>
          <a:lstStyle/>
          <a:p>
            <a:r>
              <a:rPr lang="en-US"/>
              <a:t>Software Engineering</a:t>
            </a:r>
          </a:p>
        </p:txBody>
      </p:sp>
      <p:pic>
        <p:nvPicPr>
          <p:cNvPr id="3" name="Picture 2" descr="A screenshot of a computer&#10;&#10;AI-generated content may be incorrect.">
            <a:extLst>
              <a:ext uri="{FF2B5EF4-FFF2-40B4-BE49-F238E27FC236}">
                <a16:creationId xmlns:a16="http://schemas.microsoft.com/office/drawing/2014/main" id="{68607A7E-F2D7-BD08-4AF9-C92BBC17029A}"/>
              </a:ext>
            </a:extLst>
          </p:cNvPr>
          <p:cNvPicPr>
            <a:picLocks noChangeAspect="1"/>
          </p:cNvPicPr>
          <p:nvPr/>
        </p:nvPicPr>
        <p:blipFill>
          <a:blip r:embed="rId4"/>
          <a:srcRect l="45953" t="37044" r="20297" b="24696"/>
          <a:stretch/>
        </p:blipFill>
        <p:spPr>
          <a:xfrm>
            <a:off x="2970219" y="1691928"/>
            <a:ext cx="6248412" cy="3994136"/>
          </a:xfrm>
          <a:prstGeom prst="rect">
            <a:avLst/>
          </a:prstGeom>
        </p:spPr>
      </p:pic>
    </p:spTree>
    <p:extLst>
      <p:ext uri="{BB962C8B-B14F-4D97-AF65-F5344CB8AC3E}">
        <p14:creationId xmlns:p14="http://schemas.microsoft.com/office/powerpoint/2010/main" val="3995970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2772C-7A24-E6C8-5672-9F84CCF98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8089E-AEDA-D16E-B531-883FC2C06393}"/>
              </a:ext>
            </a:extLst>
          </p:cNvPr>
          <p:cNvSpPr>
            <a:spLocks noGrp="1"/>
          </p:cNvSpPr>
          <p:nvPr>
            <p:ph type="title"/>
          </p:nvPr>
        </p:nvSpPr>
        <p:spPr/>
        <p:txBody>
          <a:bodyPr/>
          <a:lstStyle/>
          <a:p>
            <a:r>
              <a:rPr lang="en-GB" dirty="0">
                <a:ea typeface="Calibri Light"/>
                <a:cs typeface="Calibri Light"/>
              </a:rPr>
              <a:t>Requirements Elicitation</a:t>
            </a:r>
            <a:endParaRPr lang="en-US" dirty="0"/>
          </a:p>
        </p:txBody>
      </p:sp>
      <p:sp>
        <p:nvSpPr>
          <p:cNvPr id="3" name="Content Placeholder 2">
            <a:extLst>
              <a:ext uri="{FF2B5EF4-FFF2-40B4-BE49-F238E27FC236}">
                <a16:creationId xmlns:a16="http://schemas.microsoft.com/office/drawing/2014/main" id="{1428BC14-AC9B-25B4-0748-A2B6FE9AD07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Calibri"/>
                <a:cs typeface="Calibri"/>
              </a:rPr>
              <a:t>Requirements discovery and understanding:</a:t>
            </a:r>
            <a:r>
              <a:rPr lang="en-US" dirty="0">
                <a:ea typeface="Calibri"/>
                <a:cs typeface="Calibri"/>
              </a:rPr>
              <a:t> </a:t>
            </a:r>
            <a:r>
              <a:rPr lang="en-US" dirty="0">
                <a:ea typeface="+mn-lt"/>
                <a:cs typeface="+mn-lt"/>
              </a:rPr>
              <a:t>This is the process of interacting with stakeholders of the system to discover their requirements</a:t>
            </a:r>
          </a:p>
          <a:p>
            <a:endParaRPr lang="en-US" dirty="0">
              <a:ea typeface="Calibri"/>
              <a:cs typeface="Calibri"/>
            </a:endParaRPr>
          </a:p>
          <a:p>
            <a:r>
              <a:rPr lang="en-US" b="1" dirty="0">
                <a:ea typeface="Calibri"/>
                <a:cs typeface="Calibri"/>
              </a:rPr>
              <a:t>Requirements classification and organization:</a:t>
            </a:r>
            <a:r>
              <a:rPr lang="en-US" dirty="0">
                <a:ea typeface="Calibri"/>
                <a:cs typeface="Calibri"/>
              </a:rPr>
              <a:t> </a:t>
            </a:r>
            <a:r>
              <a:rPr lang="en-US" dirty="0">
                <a:ea typeface="+mn-lt"/>
                <a:cs typeface="+mn-lt"/>
              </a:rPr>
              <a:t>This activity takes the unstructured collection of requirements; groups related requirements and organizes them into coherent clusters.</a:t>
            </a:r>
            <a:endParaRPr lang="en-US">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5ABBA6B-9B15-1269-DAD5-4C404797F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558F2F1-24AB-B387-6901-6764C0E8FC1C}"/>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D2594E08-73BD-8B12-35A9-1911C88CA1F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82390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1A722-606B-27B3-3BC8-E5B6F58AB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8FB54-514C-39DA-FA63-379488322931}"/>
              </a:ext>
            </a:extLst>
          </p:cNvPr>
          <p:cNvSpPr>
            <a:spLocks noGrp="1"/>
          </p:cNvSpPr>
          <p:nvPr>
            <p:ph type="title"/>
          </p:nvPr>
        </p:nvSpPr>
        <p:spPr/>
        <p:txBody>
          <a:bodyPr/>
          <a:lstStyle/>
          <a:p>
            <a:r>
              <a:rPr lang="en-GB" dirty="0">
                <a:ea typeface="Calibri Light"/>
                <a:cs typeface="Calibri Light"/>
              </a:rPr>
              <a:t>Requirements Elicitation</a:t>
            </a:r>
            <a:endParaRPr lang="en-US" dirty="0"/>
          </a:p>
        </p:txBody>
      </p:sp>
      <p:sp>
        <p:nvSpPr>
          <p:cNvPr id="3" name="Content Placeholder 2">
            <a:extLst>
              <a:ext uri="{FF2B5EF4-FFF2-40B4-BE49-F238E27FC236}">
                <a16:creationId xmlns:a16="http://schemas.microsoft.com/office/drawing/2014/main" id="{09B2303B-68AE-C740-B002-969DE684664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Calibri"/>
                <a:cs typeface="Calibri"/>
              </a:rPr>
              <a:t>Requirements prioritization and negotiation:</a:t>
            </a:r>
            <a:r>
              <a:rPr lang="en-US" dirty="0">
                <a:ea typeface="Calibri"/>
                <a:cs typeface="Calibri"/>
              </a:rPr>
              <a:t> </a:t>
            </a:r>
            <a:r>
              <a:rPr lang="en-US" dirty="0">
                <a:ea typeface="+mn-lt"/>
                <a:cs typeface="+mn-lt"/>
              </a:rPr>
              <a:t>Inevitably, when multiple stakeholders are involved, requirements will conflict. This activity is concerned with prioritizing requirements and finding and resolving requirements conflicts</a:t>
            </a:r>
            <a:endParaRPr lang="en-US" dirty="0">
              <a:ea typeface="Calibri"/>
              <a:cs typeface="Calibri"/>
            </a:endParaRPr>
          </a:p>
          <a:p>
            <a:endParaRPr lang="en-US" dirty="0">
              <a:ea typeface="Calibri"/>
              <a:cs typeface="Calibri"/>
            </a:endParaRPr>
          </a:p>
          <a:p>
            <a:r>
              <a:rPr lang="en-US" b="1" dirty="0">
                <a:ea typeface="Calibri"/>
                <a:cs typeface="Calibri"/>
              </a:rPr>
              <a:t>Requirements documentation:</a:t>
            </a:r>
            <a:r>
              <a:rPr lang="en-US" dirty="0">
                <a:ea typeface="Calibri"/>
                <a:cs typeface="Calibri"/>
              </a:rPr>
              <a:t> </a:t>
            </a:r>
            <a:r>
              <a:rPr lang="en-US" dirty="0">
                <a:ea typeface="+mn-lt"/>
                <a:cs typeface="+mn-lt"/>
              </a:rPr>
              <a:t>The requirements are documented and input into the next round of the spiral. An early draft of the software requirements documents may be produced</a:t>
            </a:r>
            <a:endParaRPr lang="en-US">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7B2D291A-D537-9147-855F-AFB6A4CE0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DC55453-DA67-10B7-3AB0-BB49B14DF3E6}"/>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A8FFD429-023F-36BA-546E-8AED19FC232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10131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07DD-09D0-3E74-D9EC-9704FD912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C9323-D59E-B794-522A-676D6F55DC48}"/>
              </a:ext>
            </a:extLst>
          </p:cNvPr>
          <p:cNvSpPr>
            <a:spLocks noGrp="1"/>
          </p:cNvSpPr>
          <p:nvPr>
            <p:ph type="title"/>
          </p:nvPr>
        </p:nvSpPr>
        <p:spPr/>
        <p:txBody>
          <a:bodyPr/>
          <a:lstStyle/>
          <a:p>
            <a:r>
              <a:rPr lang="en-GB" dirty="0">
                <a:ea typeface="Calibri Light"/>
                <a:cs typeface="Calibri Light"/>
              </a:rPr>
              <a:t>Requirements Elicitation Techniques</a:t>
            </a:r>
            <a:endParaRPr lang="en-US" dirty="0"/>
          </a:p>
        </p:txBody>
      </p:sp>
      <p:sp>
        <p:nvSpPr>
          <p:cNvPr id="3" name="Content Placeholder 2">
            <a:extLst>
              <a:ext uri="{FF2B5EF4-FFF2-40B4-BE49-F238E27FC236}">
                <a16:creationId xmlns:a16="http://schemas.microsoft.com/office/drawing/2014/main" id="{89A86F13-EC69-FA7C-1D01-E0349F2CE034}"/>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Requirements elicitation involves meeting stakeholders (of different kinds) to discover information about the proposed system</a:t>
            </a:r>
          </a:p>
          <a:p>
            <a:r>
              <a:rPr lang="en-US" dirty="0">
                <a:ea typeface="+mn-lt"/>
                <a:cs typeface="+mn-lt"/>
              </a:rPr>
              <a:t>This can be supplanted with knowledge of existing systems and information from documents</a:t>
            </a:r>
          </a:p>
          <a:p>
            <a:endParaRPr lang="en-US" dirty="0">
              <a:ea typeface="+mn-lt"/>
              <a:cs typeface="+mn-lt"/>
            </a:endParaRPr>
          </a:p>
          <a:p>
            <a:r>
              <a:rPr lang="en-US" dirty="0">
                <a:ea typeface="+mn-lt"/>
                <a:cs typeface="+mn-lt"/>
              </a:rPr>
              <a:t>Two fundamental approaches to elicit requirements:</a:t>
            </a:r>
          </a:p>
          <a:p>
            <a:pPr lvl="1">
              <a:buFont typeface="Courier New" panose="020B0604020202020204" pitchFamily="34" charset="0"/>
              <a:buChar char="o"/>
            </a:pPr>
            <a:r>
              <a:rPr lang="en-US" b="1" dirty="0">
                <a:ea typeface="+mn-lt"/>
                <a:cs typeface="+mn-lt"/>
              </a:rPr>
              <a:t>Interviewing</a:t>
            </a:r>
            <a:r>
              <a:rPr lang="en-US" dirty="0">
                <a:ea typeface="+mn-lt"/>
                <a:cs typeface="+mn-lt"/>
              </a:rPr>
              <a:t> – talk to people about what they do</a:t>
            </a:r>
          </a:p>
          <a:p>
            <a:pPr lvl="1">
              <a:buFont typeface="Courier New" panose="020B0604020202020204" pitchFamily="34" charset="0"/>
              <a:buChar char="o"/>
            </a:pPr>
            <a:r>
              <a:rPr lang="en-US" b="1" dirty="0">
                <a:ea typeface="+mn-lt"/>
                <a:cs typeface="+mn-lt"/>
              </a:rPr>
              <a:t>Observation or Ethnography</a:t>
            </a:r>
            <a:r>
              <a:rPr lang="en-US" dirty="0">
                <a:ea typeface="+mn-lt"/>
                <a:cs typeface="+mn-lt"/>
              </a:rPr>
              <a:t> – watch people at their job</a:t>
            </a:r>
          </a:p>
          <a:p>
            <a:r>
              <a:rPr lang="en-US" dirty="0">
                <a:ea typeface="+mn-lt"/>
                <a:cs typeface="+mn-lt"/>
              </a:rPr>
              <a:t>You should use a mix of interviewing and observation – thereby derive requirements – which is then the basis for further discussion / work</a:t>
            </a:r>
          </a:p>
        </p:txBody>
      </p:sp>
      <p:pic>
        <p:nvPicPr>
          <p:cNvPr id="6" name="Picture 5" descr="A black and white logo&#10;&#10;Description automatically generated">
            <a:extLst>
              <a:ext uri="{FF2B5EF4-FFF2-40B4-BE49-F238E27FC236}">
                <a16:creationId xmlns:a16="http://schemas.microsoft.com/office/drawing/2014/main" id="{F35D3FF5-C607-E3EB-30F7-0B2269F03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3EF53C8-2DEE-FEE8-95A3-53FCE440E0B2}"/>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E89B65BF-A870-E7F1-6469-D90C2F872AC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95737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E5297-3FE7-BDAB-00F0-FC69E331C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F4F97-22A6-06C3-F348-928247C48856}"/>
              </a:ext>
            </a:extLst>
          </p:cNvPr>
          <p:cNvSpPr>
            <a:spLocks noGrp="1"/>
          </p:cNvSpPr>
          <p:nvPr>
            <p:ph type="title"/>
          </p:nvPr>
        </p:nvSpPr>
        <p:spPr/>
        <p:txBody>
          <a:bodyPr/>
          <a:lstStyle/>
          <a:p>
            <a:r>
              <a:rPr lang="en-GB" dirty="0">
                <a:ea typeface="Calibri Light"/>
                <a:cs typeface="Calibri Light"/>
              </a:rPr>
              <a:t>Interviewing</a:t>
            </a:r>
            <a:endParaRPr lang="en-US" dirty="0"/>
          </a:p>
        </p:txBody>
      </p:sp>
      <p:sp>
        <p:nvSpPr>
          <p:cNvPr id="3" name="Content Placeholder 2">
            <a:extLst>
              <a:ext uri="{FF2B5EF4-FFF2-40B4-BE49-F238E27FC236}">
                <a16:creationId xmlns:a16="http://schemas.microsoft.com/office/drawing/2014/main" id="{7FC51406-65B3-68FE-6D70-43DA9674C8DF}"/>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Formal</a:t>
            </a:r>
            <a:r>
              <a:rPr lang="en-US" dirty="0">
                <a:ea typeface="+mn-lt"/>
                <a:cs typeface="+mn-lt"/>
              </a:rPr>
              <a:t> and/or </a:t>
            </a:r>
            <a:r>
              <a:rPr lang="en-US" b="1" dirty="0">
                <a:ea typeface="+mn-lt"/>
                <a:cs typeface="+mn-lt"/>
              </a:rPr>
              <a:t>informal</a:t>
            </a:r>
            <a:r>
              <a:rPr lang="en-US" dirty="0">
                <a:ea typeface="+mn-lt"/>
                <a:cs typeface="+mn-lt"/>
              </a:rPr>
              <a:t> interviews with system stakeholders</a:t>
            </a:r>
          </a:p>
          <a:p>
            <a:r>
              <a:rPr lang="en-US" dirty="0">
                <a:ea typeface="Calibri"/>
                <a:cs typeface="Calibri"/>
              </a:rPr>
              <a:t>Puts questions to stakeholders about the system they currently use and the system to be developed</a:t>
            </a:r>
          </a:p>
          <a:p>
            <a:r>
              <a:rPr lang="en-US" dirty="0">
                <a:ea typeface="Calibri"/>
                <a:cs typeface="Calibri"/>
              </a:rPr>
              <a:t>Interviews are of two types:</a:t>
            </a:r>
          </a:p>
          <a:p>
            <a:pPr lvl="1">
              <a:buFont typeface="Courier New" panose="020B0604020202020204" pitchFamily="34" charset="0"/>
              <a:buChar char="o"/>
            </a:pPr>
            <a:r>
              <a:rPr lang="en-US" b="1" dirty="0">
                <a:ea typeface="Calibri"/>
                <a:cs typeface="Calibri"/>
              </a:rPr>
              <a:t>Closed</a:t>
            </a:r>
            <a:r>
              <a:rPr lang="en-US" dirty="0">
                <a:ea typeface="Calibri"/>
                <a:cs typeface="Calibri"/>
              </a:rPr>
              <a:t>: Stakeholders answer a predefined set of questions</a:t>
            </a:r>
          </a:p>
          <a:p>
            <a:pPr lvl="1">
              <a:buFont typeface="Courier New" panose="020B0604020202020204" pitchFamily="34" charset="0"/>
              <a:buChar char="o"/>
            </a:pPr>
            <a:r>
              <a:rPr lang="en-US" b="1" dirty="0">
                <a:ea typeface="Calibri"/>
                <a:cs typeface="Calibri"/>
              </a:rPr>
              <a:t>Open</a:t>
            </a:r>
            <a:r>
              <a:rPr lang="en-US" dirty="0">
                <a:ea typeface="Calibri"/>
                <a:cs typeface="Calibri"/>
              </a:rPr>
              <a:t>: No predefined agenda. Requirements engineering team explore a range of issues with stakeholders to understand the needs</a:t>
            </a:r>
          </a:p>
          <a:p>
            <a:r>
              <a:rPr lang="en-US" dirty="0">
                <a:ea typeface="Calibri"/>
                <a:cs typeface="Calibri"/>
              </a:rPr>
              <a:t>Interviews with stakeholders are normally a mixture of both</a:t>
            </a:r>
          </a:p>
          <a:p>
            <a:r>
              <a:rPr lang="en-US" dirty="0">
                <a:ea typeface="Calibri"/>
                <a:cs typeface="Calibri"/>
              </a:rPr>
              <a:t>Completely open ended usually do not work well, ask some questions to get started and keep the focus</a:t>
            </a:r>
          </a:p>
        </p:txBody>
      </p:sp>
      <p:pic>
        <p:nvPicPr>
          <p:cNvPr id="6" name="Picture 5" descr="A black and white logo&#10;&#10;Description automatically generated">
            <a:extLst>
              <a:ext uri="{FF2B5EF4-FFF2-40B4-BE49-F238E27FC236}">
                <a16:creationId xmlns:a16="http://schemas.microsoft.com/office/drawing/2014/main" id="{6BB1A7A5-C9BC-C65A-66DF-2B5C48400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CFD854-1CB8-0EED-F339-CA5D1EBEDFB1}"/>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7CCBD4E9-FC80-249B-80D0-819FA64A68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73740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A594-8E57-2E15-D2CC-70BDF5808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69EAA-9B56-7C49-1746-E81B3A2396C0}"/>
              </a:ext>
            </a:extLst>
          </p:cNvPr>
          <p:cNvSpPr>
            <a:spLocks noGrp="1"/>
          </p:cNvSpPr>
          <p:nvPr>
            <p:ph type="title"/>
          </p:nvPr>
        </p:nvSpPr>
        <p:spPr/>
        <p:txBody>
          <a:bodyPr/>
          <a:lstStyle/>
          <a:p>
            <a:r>
              <a:rPr lang="en-GB" dirty="0">
                <a:ea typeface="Calibri Light"/>
                <a:cs typeface="Calibri Light"/>
              </a:rPr>
              <a:t>Interviewing</a:t>
            </a:r>
            <a:endParaRPr lang="en-US" dirty="0"/>
          </a:p>
        </p:txBody>
      </p:sp>
      <p:sp>
        <p:nvSpPr>
          <p:cNvPr id="3" name="Content Placeholder 2">
            <a:extLst>
              <a:ext uri="{FF2B5EF4-FFF2-40B4-BE49-F238E27FC236}">
                <a16:creationId xmlns:a16="http://schemas.microsoft.com/office/drawing/2014/main" id="{0F257667-E069-4F98-4BB2-12514DD6D16E}"/>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Calibri"/>
                <a:cs typeface="Calibri"/>
              </a:rPr>
              <a:t>Interviews are useful, however, unless you have a prototype, it is hard to expect stakeholders to provide specific and detailed requirements</a:t>
            </a:r>
          </a:p>
          <a:p>
            <a:r>
              <a:rPr lang="en-US" dirty="0">
                <a:ea typeface="Calibri"/>
                <a:cs typeface="Calibri"/>
              </a:rPr>
              <a:t>Eliciting domain knowledge can be difficult:</a:t>
            </a:r>
          </a:p>
          <a:p>
            <a:pPr lvl="1">
              <a:buFont typeface="Courier New" panose="020B0604020202020204" pitchFamily="34" charset="0"/>
              <a:buChar char="o"/>
            </a:pPr>
            <a:r>
              <a:rPr lang="en-US" dirty="0">
                <a:ea typeface="Calibri"/>
                <a:cs typeface="Calibri"/>
              </a:rPr>
              <a:t>Application specialists use jargon specific to their work</a:t>
            </a:r>
          </a:p>
          <a:p>
            <a:pPr lvl="1">
              <a:buFont typeface="Courier New" panose="020B0604020202020204" pitchFamily="34" charset="0"/>
              <a:buChar char="o"/>
            </a:pPr>
            <a:r>
              <a:rPr lang="en-US" dirty="0">
                <a:ea typeface="Calibri"/>
                <a:cs typeface="Calibri"/>
              </a:rPr>
              <a:t>Some domain can be so familiar that stakeholders find it either difficult to explain or think of it as so fundamental or commonsense that they do not mention it</a:t>
            </a:r>
          </a:p>
          <a:p>
            <a:r>
              <a:rPr lang="en-US" dirty="0">
                <a:ea typeface="Calibri"/>
                <a:cs typeface="Calibri"/>
              </a:rPr>
              <a:t>Interviews are also not effective when trying to elicit knowledge about organizational requirements and constraints (subtle power relationships might exist, people might follow processes that are not explicitly mentioned on paper)</a:t>
            </a:r>
          </a:p>
          <a:p>
            <a:r>
              <a:rPr lang="en-US" dirty="0">
                <a:ea typeface="Calibri"/>
                <a:cs typeface="Calibri"/>
              </a:rPr>
              <a:t>People are generally reluctant to discuss political and organizational issues</a:t>
            </a:r>
          </a:p>
        </p:txBody>
      </p:sp>
      <p:pic>
        <p:nvPicPr>
          <p:cNvPr id="6" name="Picture 5" descr="A black and white logo&#10;&#10;Description automatically generated">
            <a:extLst>
              <a:ext uri="{FF2B5EF4-FFF2-40B4-BE49-F238E27FC236}">
                <a16:creationId xmlns:a16="http://schemas.microsoft.com/office/drawing/2014/main" id="{C81697E5-1B65-9C51-7575-485192198B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39E8762-315E-1EC9-440B-D8788259B7BA}"/>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3F005618-BEE7-F6BF-39E6-74D2A7633AF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23255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6FAE-C810-E680-21B8-5CDE86655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576ED-7267-ACC4-5794-1C29CED812C6}"/>
              </a:ext>
            </a:extLst>
          </p:cNvPr>
          <p:cNvSpPr>
            <a:spLocks noGrp="1"/>
          </p:cNvSpPr>
          <p:nvPr>
            <p:ph type="title"/>
          </p:nvPr>
        </p:nvSpPr>
        <p:spPr/>
        <p:txBody>
          <a:bodyPr/>
          <a:lstStyle/>
          <a:p>
            <a:r>
              <a:rPr lang="en-GB" dirty="0">
                <a:ea typeface="Calibri Light"/>
                <a:cs typeface="Calibri Light"/>
              </a:rPr>
              <a:t>Interviewing</a:t>
            </a:r>
            <a:endParaRPr lang="en-US" dirty="0"/>
          </a:p>
        </p:txBody>
      </p:sp>
      <p:sp>
        <p:nvSpPr>
          <p:cNvPr id="3" name="Content Placeholder 2">
            <a:extLst>
              <a:ext uri="{FF2B5EF4-FFF2-40B4-BE49-F238E27FC236}">
                <a16:creationId xmlns:a16="http://schemas.microsoft.com/office/drawing/2014/main" id="{127A5B15-E472-15EF-377E-89C7D795216F}"/>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a:cs typeface="Calibri"/>
              </a:rPr>
              <a:t>To be an effective interviewer:</a:t>
            </a:r>
          </a:p>
          <a:p>
            <a:pPr lvl="1">
              <a:buFont typeface="Courier New" panose="020B0604020202020204" pitchFamily="34" charset="0"/>
              <a:buChar char="o"/>
            </a:pPr>
            <a:r>
              <a:rPr lang="en-US" dirty="0">
                <a:ea typeface="Calibri"/>
                <a:cs typeface="Calibri"/>
              </a:rPr>
              <a:t>You should be open-minded, avoid preconceived ideas about the requirements</a:t>
            </a:r>
          </a:p>
          <a:p>
            <a:pPr lvl="1">
              <a:buFont typeface="Courier New" panose="020B0604020202020204" pitchFamily="34" charset="0"/>
              <a:buChar char="o"/>
            </a:pPr>
            <a:r>
              <a:rPr lang="en-US" dirty="0">
                <a:ea typeface="Calibri"/>
                <a:cs typeface="Calibri"/>
              </a:rPr>
              <a:t>Prompt the interviewee by using spring-board questions (open ended </a:t>
            </a:r>
            <a:r>
              <a:rPr lang="en-US">
                <a:ea typeface="Calibri"/>
                <a:cs typeface="Calibri"/>
              </a:rPr>
              <a:t>questions that stimulate thinking), or by using </a:t>
            </a:r>
            <a:r>
              <a:rPr lang="en-US" dirty="0">
                <a:ea typeface="Calibri"/>
                <a:cs typeface="Calibri"/>
              </a:rPr>
              <a:t>something akin to a prototype ("tell me what you want" does not usually work)</a:t>
            </a:r>
          </a:p>
          <a:p>
            <a:pPr lvl="1">
              <a:buFont typeface="Courier New" panose="020B0604020202020204" pitchFamily="34" charset="0"/>
              <a:buChar char="o"/>
            </a:pPr>
            <a:endParaRPr lang="en-US" dirty="0">
              <a:ea typeface="Calibri"/>
              <a:cs typeface="Calibri"/>
            </a:endParaRPr>
          </a:p>
          <a:p>
            <a:r>
              <a:rPr lang="en-US" dirty="0">
                <a:ea typeface="Calibri"/>
                <a:cs typeface="Calibri"/>
              </a:rPr>
              <a:t>Therefore, information from interviews is </a:t>
            </a:r>
            <a:r>
              <a:rPr lang="en-US" u="sng" dirty="0">
                <a:ea typeface="Calibri"/>
                <a:cs typeface="Calibri"/>
              </a:rPr>
              <a:t>used along with other information</a:t>
            </a:r>
            <a:r>
              <a:rPr lang="en-US" dirty="0">
                <a:ea typeface="Calibri"/>
                <a:cs typeface="Calibri"/>
              </a:rPr>
              <a:t> from documentation describing business processes, user observations and developer experience.</a:t>
            </a:r>
          </a:p>
        </p:txBody>
      </p:sp>
      <p:pic>
        <p:nvPicPr>
          <p:cNvPr id="6" name="Picture 5" descr="A black and white logo&#10;&#10;Description automatically generated">
            <a:extLst>
              <a:ext uri="{FF2B5EF4-FFF2-40B4-BE49-F238E27FC236}">
                <a16:creationId xmlns:a16="http://schemas.microsoft.com/office/drawing/2014/main" id="{04DF553C-5D75-CBE1-F5CF-5542756C7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7CCA217-CFE1-1E21-02AB-CBCE06245989}"/>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281EBE9B-1BA1-637A-3273-ADEEA91ECDE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573909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8D0A-0BCC-EDFE-5BFC-A4F718BF7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CF693-81AD-8FAB-2786-EC69824110EC}"/>
              </a:ext>
            </a:extLst>
          </p:cNvPr>
          <p:cNvSpPr>
            <a:spLocks noGrp="1"/>
          </p:cNvSpPr>
          <p:nvPr>
            <p:ph type="title"/>
          </p:nvPr>
        </p:nvSpPr>
        <p:spPr/>
        <p:txBody>
          <a:bodyPr/>
          <a:lstStyle/>
          <a:p>
            <a:r>
              <a:rPr lang="en-GB" dirty="0">
                <a:ea typeface="Calibri Light"/>
                <a:cs typeface="Calibri Light"/>
              </a:rPr>
              <a:t>Spring-board</a:t>
            </a:r>
            <a:r>
              <a:rPr lang="en-GB">
                <a:ea typeface="Calibri Light"/>
                <a:cs typeface="Calibri Light"/>
              </a:rPr>
              <a:t> questions: examples</a:t>
            </a:r>
            <a:endParaRPr lang="en-US" dirty="0"/>
          </a:p>
        </p:txBody>
      </p:sp>
      <p:sp>
        <p:nvSpPr>
          <p:cNvPr id="3" name="Content Placeholder 2">
            <a:extLst>
              <a:ext uri="{FF2B5EF4-FFF2-40B4-BE49-F238E27FC236}">
                <a16:creationId xmlns:a16="http://schemas.microsoft.com/office/drawing/2014/main" id="{9C2D0D2A-2B34-E3FB-1D84-540A74774014}"/>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What problems do you currently face with the existing system?</a:t>
            </a:r>
            <a:endParaRPr lang="en-US" dirty="0">
              <a:ea typeface="Calibri"/>
              <a:cs typeface="Calibri"/>
            </a:endParaRPr>
          </a:p>
          <a:p>
            <a:r>
              <a:rPr lang="en-US">
                <a:ea typeface="+mn-lt"/>
                <a:cs typeface="+mn-lt"/>
              </a:rPr>
              <a:t>Can you walk me through a typical day using the current process?</a:t>
            </a:r>
            <a:endParaRPr lang="en-US"/>
          </a:p>
          <a:p>
            <a:r>
              <a:rPr lang="en-US">
                <a:ea typeface="+mn-lt"/>
                <a:cs typeface="+mn-lt"/>
              </a:rPr>
              <a:t>What frustrates you the most?</a:t>
            </a:r>
            <a:endParaRPr lang="en-US"/>
          </a:p>
          <a:p>
            <a:r>
              <a:rPr lang="en-US">
                <a:ea typeface="+mn-lt"/>
                <a:cs typeface="+mn-lt"/>
              </a:rPr>
              <a:t>What happens when something goes wrong?</a:t>
            </a:r>
            <a:endParaRPr lang="en-US"/>
          </a:p>
          <a:p>
            <a:r>
              <a:rPr lang="en-US">
                <a:ea typeface="+mn-lt"/>
                <a:cs typeface="+mn-lt"/>
              </a:rPr>
              <a:t>If this system failed, what would be the biggest impact?</a:t>
            </a:r>
            <a:endParaRPr lang="en-US"/>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283F1453-71FF-C836-3A5A-94DD7344B3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4E5F053-C519-C656-9E3D-148862A84A13}"/>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43B0018C-9CA3-55A6-E30B-C7DFE2551CD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23245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86710-BE2C-FF85-4F52-5B741C150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3A9BE-7770-4717-E43A-C6ADEA792856}"/>
              </a:ext>
            </a:extLst>
          </p:cNvPr>
          <p:cNvSpPr>
            <a:spLocks noGrp="1"/>
          </p:cNvSpPr>
          <p:nvPr>
            <p:ph type="title"/>
          </p:nvPr>
        </p:nvSpPr>
        <p:spPr/>
        <p:txBody>
          <a:bodyPr/>
          <a:lstStyle/>
          <a:p>
            <a:r>
              <a:rPr lang="en-GB" dirty="0">
                <a:ea typeface="Calibri Light"/>
                <a:cs typeface="Calibri Light"/>
              </a:rPr>
              <a:t>Ethnography</a:t>
            </a:r>
          </a:p>
        </p:txBody>
      </p:sp>
      <p:sp>
        <p:nvSpPr>
          <p:cNvPr id="3" name="Content Placeholder 2">
            <a:extLst>
              <a:ext uri="{FF2B5EF4-FFF2-40B4-BE49-F238E27FC236}">
                <a16:creationId xmlns:a16="http://schemas.microsoft.com/office/drawing/2014/main" id="{004B2EEE-B8FC-E8E7-4F1E-AC37F8B26423}"/>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a:cs typeface="Calibri"/>
              </a:rPr>
              <a:t>Software systems do not exist in isolation</a:t>
            </a:r>
          </a:p>
          <a:p>
            <a:r>
              <a:rPr lang="en-US" dirty="0">
                <a:ea typeface="Calibri"/>
                <a:cs typeface="Calibri"/>
              </a:rPr>
              <a:t>Used in a social and organizational setting, and therefore, requirements maybe generated or constrained by the environment</a:t>
            </a:r>
          </a:p>
          <a:p>
            <a:r>
              <a:rPr lang="en-US" dirty="0">
                <a:ea typeface="+mn-lt"/>
                <a:cs typeface="+mn-lt"/>
              </a:rPr>
              <a:t>"Ethnography is an observational technique that can be used to understand operational processes and help derive requirements for software to support these processes"</a:t>
            </a:r>
          </a:p>
          <a:p>
            <a:r>
              <a:rPr lang="en-US" dirty="0">
                <a:ea typeface="Calibri"/>
                <a:cs typeface="Calibri"/>
              </a:rPr>
              <a:t>A requirements engineer will immerse their selves in the working environment to observe and understand</a:t>
            </a:r>
          </a:p>
          <a:p>
            <a:r>
              <a:rPr lang="en-US" dirty="0">
                <a:ea typeface="Calibri"/>
                <a:cs typeface="Calibri"/>
              </a:rPr>
              <a:t>Ethnography therefore helps discover implicit system requirements (your organizational non-functional requirements) - reflecting the way the people work in reality, rather than the formal process on paper</a:t>
            </a: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755B2632-C1CC-1FEC-D460-92E88634AC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9B5C0AC-042A-693D-C3B9-D69BF0ECB3EC}"/>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076424DD-46BD-7027-9BF1-7227F869DF2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591931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9734E-2094-A538-D70D-96A929BDB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A4614-8DC9-17DE-63F9-54AC0EEE1AB8}"/>
              </a:ext>
            </a:extLst>
          </p:cNvPr>
          <p:cNvSpPr>
            <a:spLocks noGrp="1"/>
          </p:cNvSpPr>
          <p:nvPr>
            <p:ph type="title"/>
          </p:nvPr>
        </p:nvSpPr>
        <p:spPr/>
        <p:txBody>
          <a:bodyPr/>
          <a:lstStyle/>
          <a:p>
            <a:r>
              <a:rPr lang="en-GB" dirty="0">
                <a:ea typeface="Calibri Light"/>
                <a:cs typeface="Calibri Light"/>
              </a:rPr>
              <a:t>Okay, let us use an example to understand the previous slide better</a:t>
            </a:r>
          </a:p>
        </p:txBody>
      </p:sp>
      <p:pic>
        <p:nvPicPr>
          <p:cNvPr id="6" name="Picture 5" descr="A black and white logo&#10;&#10;Description automatically generated">
            <a:extLst>
              <a:ext uri="{FF2B5EF4-FFF2-40B4-BE49-F238E27FC236}">
                <a16:creationId xmlns:a16="http://schemas.microsoft.com/office/drawing/2014/main" id="{39A8FB8B-A7D2-779E-25B1-EE1D0B922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F6AF8D6-9CAA-CB0B-9C77-C62254FFD7B4}"/>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15D47DB9-7619-612D-036D-C567B59D241B}"/>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43A05D10-BDEB-09AD-ADB8-0EDA14B5A310}"/>
              </a:ext>
            </a:extLst>
          </p:cNvPr>
          <p:cNvSpPr txBox="1"/>
          <p:nvPr/>
        </p:nvSpPr>
        <p:spPr>
          <a:xfrm>
            <a:off x="531395" y="1694446"/>
            <a:ext cx="428123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Systems do not exist in isolation:</a:t>
            </a:r>
            <a:br>
              <a:rPr lang="en-US" dirty="0">
                <a:ea typeface="Calibri"/>
                <a:cs typeface="Calibri"/>
              </a:rPr>
            </a:br>
            <a:r>
              <a:rPr lang="en-US">
                <a:ea typeface="Calibri"/>
                <a:cs typeface="Calibri"/>
              </a:rPr>
              <a:t>The system is not just a barcode scanner</a:t>
            </a:r>
          </a:p>
          <a:p>
            <a:r>
              <a:rPr lang="en-US" dirty="0">
                <a:ea typeface="Calibri"/>
                <a:cs typeface="Calibri"/>
              </a:rPr>
              <a:t>It is used in supermarkets who might have policy for phone usage, and with sometimes limited connectivity. Therefore, it has to deal with store policy, and work gracefully in poor internet connection.</a:t>
            </a:r>
          </a:p>
        </p:txBody>
      </p:sp>
      <p:sp>
        <p:nvSpPr>
          <p:cNvPr id="5" name="TextBox 4">
            <a:extLst>
              <a:ext uri="{FF2B5EF4-FFF2-40B4-BE49-F238E27FC236}">
                <a16:creationId xmlns:a16="http://schemas.microsoft.com/office/drawing/2014/main" id="{67985F99-ED5A-73EC-8B1E-D1B11F394A13}"/>
              </a:ext>
            </a:extLst>
          </p:cNvPr>
          <p:cNvSpPr txBox="1"/>
          <p:nvPr/>
        </p:nvSpPr>
        <p:spPr>
          <a:xfrm>
            <a:off x="531394" y="4099795"/>
            <a:ext cx="428123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Used in a social and organizational setting:</a:t>
            </a:r>
          </a:p>
          <a:p>
            <a:r>
              <a:rPr lang="en-US" dirty="0">
                <a:ea typeface="Calibri"/>
                <a:cs typeface="Calibri"/>
              </a:rPr>
              <a:t>Crowded stores, cashier in a hurry, </a:t>
            </a:r>
            <a:r>
              <a:rPr lang="en-US">
                <a:ea typeface="Calibri"/>
                <a:cs typeface="Calibri"/>
              </a:rPr>
              <a:t>response time should be fast.</a:t>
            </a:r>
            <a:endParaRPr lang="en-US" dirty="0">
              <a:ea typeface="Calibri"/>
              <a:cs typeface="Calibri"/>
            </a:endParaRPr>
          </a:p>
        </p:txBody>
      </p:sp>
      <p:sp>
        <p:nvSpPr>
          <p:cNvPr id="9" name="TextBox 8">
            <a:extLst>
              <a:ext uri="{FF2B5EF4-FFF2-40B4-BE49-F238E27FC236}">
                <a16:creationId xmlns:a16="http://schemas.microsoft.com/office/drawing/2014/main" id="{8250FA1D-0EF6-0A34-AEA8-D8410CE22688}"/>
              </a:ext>
            </a:extLst>
          </p:cNvPr>
          <p:cNvSpPr txBox="1"/>
          <p:nvPr/>
        </p:nvSpPr>
        <p:spPr>
          <a:xfrm>
            <a:off x="6654936" y="1694445"/>
            <a:ext cx="428123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Role of Ethno</a:t>
            </a:r>
            <a:r>
              <a:rPr lang="en-US"/>
              <a:t>graphy:</a:t>
            </a:r>
          </a:p>
          <a:p>
            <a:r>
              <a:rPr lang="en-US">
                <a:ea typeface="Calibri"/>
                <a:cs typeface="Calibri"/>
              </a:rPr>
              <a:t>Instead of asking "would you use sustainability ratings?"</a:t>
            </a:r>
          </a:p>
          <a:p>
            <a:r>
              <a:rPr lang="en-US" dirty="0">
                <a:ea typeface="Calibri"/>
                <a:cs typeface="Calibri"/>
              </a:rPr>
              <a:t>Observe users in the supermarket (in a non-creepy way) to understand how they behave. You visit a supermarket and observe shoppers, how they pick products, whether they even read labels, do they spend time comparing products?</a:t>
            </a:r>
          </a:p>
        </p:txBody>
      </p:sp>
      <p:sp>
        <p:nvSpPr>
          <p:cNvPr id="11" name="TextBox 10">
            <a:extLst>
              <a:ext uri="{FF2B5EF4-FFF2-40B4-BE49-F238E27FC236}">
                <a16:creationId xmlns:a16="http://schemas.microsoft.com/office/drawing/2014/main" id="{854FCDEE-23EC-547B-DE30-AAEED721D73D}"/>
              </a:ext>
            </a:extLst>
          </p:cNvPr>
          <p:cNvSpPr txBox="1"/>
          <p:nvPr/>
        </p:nvSpPr>
        <p:spPr>
          <a:xfrm>
            <a:off x="6654936" y="4439482"/>
            <a:ext cx="428123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Immersing in the work environment – check customers, maybe speak to a couple of them, speak to the cashier, </a:t>
            </a:r>
            <a:r>
              <a:rPr lang="en-US" dirty="0" err="1">
                <a:ea typeface="Calibri"/>
                <a:cs typeface="Calibri"/>
              </a:rPr>
              <a:t>etc</a:t>
            </a:r>
            <a:r>
              <a:rPr lang="en-US" dirty="0">
                <a:ea typeface="Calibri"/>
                <a:cs typeface="Calibri"/>
              </a:rPr>
              <a:t>.</a:t>
            </a:r>
          </a:p>
        </p:txBody>
      </p:sp>
    </p:spTree>
    <p:extLst>
      <p:ext uri="{BB962C8B-B14F-4D97-AF65-F5344CB8AC3E}">
        <p14:creationId xmlns:p14="http://schemas.microsoft.com/office/powerpoint/2010/main" val="1206372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74713-D756-6AF7-5114-B51F01E89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85B19-E14B-0452-D6A9-B2D5E3228CAA}"/>
              </a:ext>
            </a:extLst>
          </p:cNvPr>
          <p:cNvSpPr>
            <a:spLocks noGrp="1"/>
          </p:cNvSpPr>
          <p:nvPr>
            <p:ph type="title"/>
          </p:nvPr>
        </p:nvSpPr>
        <p:spPr/>
        <p:txBody>
          <a:bodyPr/>
          <a:lstStyle/>
          <a:p>
            <a:r>
              <a:rPr lang="en-GB" dirty="0">
                <a:ea typeface="Calibri Light"/>
                <a:cs typeface="Calibri Light"/>
              </a:rPr>
              <a:t>Ethnography</a:t>
            </a:r>
          </a:p>
        </p:txBody>
      </p:sp>
      <p:sp>
        <p:nvSpPr>
          <p:cNvPr id="3" name="Content Placeholder 2">
            <a:extLst>
              <a:ext uri="{FF2B5EF4-FFF2-40B4-BE49-F238E27FC236}">
                <a16:creationId xmlns:a16="http://schemas.microsoft.com/office/drawing/2014/main" id="{A25BB368-9615-09A2-C1EC-877985F1BC86}"/>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Ethnography is particularly effective for discovering two types of requirements:</a:t>
            </a:r>
            <a:endParaRPr lang="en-US" dirty="0"/>
          </a:p>
          <a:p>
            <a:pPr lvl="1">
              <a:buFont typeface="Courier New" panose="020B0604020202020204" pitchFamily="34" charset="0"/>
              <a:buChar char="o"/>
            </a:pPr>
            <a:r>
              <a:rPr lang="en-US" dirty="0">
                <a:ea typeface="+mn-lt"/>
                <a:cs typeface="+mn-lt"/>
              </a:rPr>
              <a:t>Requirements </a:t>
            </a:r>
            <a:r>
              <a:rPr lang="en-US" dirty="0">
                <a:highlight>
                  <a:srgbClr val="FFFF00"/>
                </a:highlight>
                <a:ea typeface="+mn-lt"/>
                <a:cs typeface="+mn-lt"/>
              </a:rPr>
              <a:t>derived from the way in which people actually work</a:t>
            </a:r>
            <a:endParaRPr lang="en-US">
              <a:highlight>
                <a:srgbClr val="FFFF00"/>
              </a:highlight>
              <a:ea typeface="Calibri"/>
              <a:cs typeface="Calibri"/>
            </a:endParaRPr>
          </a:p>
          <a:p>
            <a:pPr lvl="1">
              <a:buFont typeface="Courier New" panose="020B0604020202020204" pitchFamily="34" charset="0"/>
              <a:buChar char="o"/>
            </a:pPr>
            <a:r>
              <a:rPr lang="en-US" dirty="0">
                <a:ea typeface="+mn-lt"/>
                <a:cs typeface="+mn-lt"/>
              </a:rPr>
              <a:t>Requirements </a:t>
            </a:r>
            <a:r>
              <a:rPr lang="en-US" dirty="0">
                <a:highlight>
                  <a:srgbClr val="FFFF00"/>
                </a:highlight>
                <a:ea typeface="+mn-lt"/>
                <a:cs typeface="+mn-lt"/>
              </a:rPr>
              <a:t>derived from cooperation and awareness of other people’s activities</a:t>
            </a:r>
            <a:endParaRPr lang="en-US">
              <a:highlight>
                <a:srgbClr val="FFFF00"/>
              </a:highlight>
              <a:ea typeface="Calibri"/>
              <a:cs typeface="Calibri"/>
            </a:endParaRPr>
          </a:p>
          <a:p>
            <a:r>
              <a:rPr lang="en-US" dirty="0">
                <a:ea typeface="+mn-lt"/>
                <a:cs typeface="+mn-lt"/>
              </a:rPr>
              <a:t>Ethnography can be combined with the development of a system prototype (ethnography informs development of prototype so fewer prototype cycles are needed)</a:t>
            </a:r>
          </a:p>
          <a:p>
            <a:r>
              <a:rPr lang="en-US" dirty="0">
                <a:ea typeface="+mn-lt"/>
                <a:cs typeface="+mn-lt"/>
              </a:rPr>
              <a:t>Ethnography is helpful to understand existing systems, but this understanding does not always help with innovation. Innovation is particularly relevant for new product development (Nokia vs. Apple)</a:t>
            </a:r>
            <a:endParaRPr lang="en-US" dirty="0"/>
          </a:p>
        </p:txBody>
      </p:sp>
      <p:pic>
        <p:nvPicPr>
          <p:cNvPr id="6" name="Picture 5" descr="A black and white logo&#10;&#10;Description automatically generated">
            <a:extLst>
              <a:ext uri="{FF2B5EF4-FFF2-40B4-BE49-F238E27FC236}">
                <a16:creationId xmlns:a16="http://schemas.microsoft.com/office/drawing/2014/main" id="{16554786-8604-12AE-DCCB-239DD82FB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A6A8975-2DCB-47FA-A6CB-97A3DAE8553F}"/>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41252ED0-69B5-73D6-3645-0E90822D66B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54286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48A38-BC83-5BE3-0EDB-41777CDEE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4B6B9-4112-ADA0-8240-039A8FEE0770}"/>
              </a:ext>
            </a:extLst>
          </p:cNvPr>
          <p:cNvSpPr>
            <a:spLocks noGrp="1"/>
          </p:cNvSpPr>
          <p:nvPr>
            <p:ph type="title"/>
          </p:nvPr>
        </p:nvSpPr>
        <p:spPr/>
        <p:txBody>
          <a:bodyPr/>
          <a:lstStyle/>
          <a:p>
            <a:r>
              <a:rPr lang="en-GB" dirty="0">
                <a:ea typeface="Calibri Light"/>
                <a:cs typeface="Calibri Light"/>
              </a:rPr>
              <a:t>Ethnography, Stories and Scenarios</a:t>
            </a:r>
          </a:p>
        </p:txBody>
      </p:sp>
      <p:sp>
        <p:nvSpPr>
          <p:cNvPr id="3" name="Content Placeholder 2">
            <a:extLst>
              <a:ext uri="{FF2B5EF4-FFF2-40B4-BE49-F238E27FC236}">
                <a16:creationId xmlns:a16="http://schemas.microsoft.com/office/drawing/2014/main" id="{A965E702-4D25-90FE-0D27-E55DF436744A}"/>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Ethnography is a research method</a:t>
            </a:r>
            <a:r>
              <a:rPr lang="en-US" dirty="0">
                <a:ea typeface="+mn-lt"/>
                <a:cs typeface="+mn-lt"/>
              </a:rPr>
              <a:t>, while </a:t>
            </a:r>
            <a:r>
              <a:rPr lang="en-US" b="1" dirty="0">
                <a:ea typeface="+mn-lt"/>
                <a:cs typeface="+mn-lt"/>
              </a:rPr>
              <a:t>stories and scenarios are tools</a:t>
            </a:r>
            <a:r>
              <a:rPr lang="en-US" dirty="0">
                <a:ea typeface="+mn-lt"/>
                <a:cs typeface="+mn-lt"/>
              </a:rPr>
              <a:t> used to describe findings from ethnographic studies</a:t>
            </a:r>
          </a:p>
          <a:p>
            <a:r>
              <a:rPr lang="en-US" dirty="0">
                <a:ea typeface="Calibri"/>
                <a:cs typeface="Calibri"/>
              </a:rPr>
              <a:t>Comparison:</a:t>
            </a:r>
          </a:p>
          <a:p>
            <a:pPr lvl="1" indent="-457200">
              <a:buFont typeface="Courier New" panose="020B0604020202020204" pitchFamily="34" charset="0"/>
              <a:buChar char="o"/>
            </a:pPr>
            <a:r>
              <a:rPr lang="en-US" dirty="0">
                <a:ea typeface="Calibri"/>
                <a:cs typeface="Calibri"/>
              </a:rPr>
              <a:t>Ethnographic research: </a:t>
            </a:r>
            <a:r>
              <a:rPr lang="en-US" dirty="0">
                <a:ea typeface="+mn-lt"/>
                <a:cs typeface="+mn-lt"/>
              </a:rPr>
              <a:t>Observing real users in their actual environment to understand their behaviors, culture, and workflows (provides rich information of how people interact with systems)</a:t>
            </a:r>
          </a:p>
          <a:p>
            <a:pPr lvl="1" indent="-457200">
              <a:buFont typeface="Courier New" panose="020B0604020202020204" pitchFamily="34" charset="0"/>
              <a:buChar char="o"/>
            </a:pPr>
            <a:r>
              <a:rPr lang="en-US" dirty="0">
                <a:ea typeface="Calibri"/>
                <a:cs typeface="Calibri"/>
              </a:rPr>
              <a:t>Story: </a:t>
            </a:r>
            <a:r>
              <a:rPr lang="en-US" dirty="0">
                <a:ea typeface="+mn-lt"/>
                <a:cs typeface="+mn-lt"/>
              </a:rPr>
              <a:t>Narratives that describe real or hypothetical user experiences (helps makes ethnographic finding more relatable and easier to communicate)</a:t>
            </a:r>
          </a:p>
          <a:p>
            <a:pPr lvl="1" indent="-457200">
              <a:buFont typeface="Courier New" panose="020B0604020202020204" pitchFamily="34" charset="0"/>
              <a:buChar char="o"/>
            </a:pPr>
            <a:r>
              <a:rPr lang="en-US" dirty="0">
                <a:ea typeface="Calibri"/>
                <a:cs typeface="Calibri"/>
              </a:rPr>
              <a:t>Scenario: </a:t>
            </a:r>
            <a:r>
              <a:rPr lang="en-US" dirty="0">
                <a:ea typeface="+mn-lt"/>
                <a:cs typeface="+mn-lt"/>
              </a:rPr>
              <a:t>Hypothetical situations that describe how a system will be used in real life (this ensures system meets user needs)</a:t>
            </a:r>
          </a:p>
        </p:txBody>
      </p:sp>
      <p:pic>
        <p:nvPicPr>
          <p:cNvPr id="6" name="Picture 5" descr="A black and white logo&#10;&#10;Description automatically generated">
            <a:extLst>
              <a:ext uri="{FF2B5EF4-FFF2-40B4-BE49-F238E27FC236}">
                <a16:creationId xmlns:a16="http://schemas.microsoft.com/office/drawing/2014/main" id="{B7AE6F05-1812-5A75-4899-4ED4AC379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3F1DDE5-1FBA-56D7-5EC7-52B59C3BF1B8}"/>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F0A37506-AFF3-A69E-1307-9BD1AFC548C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11111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829B0-94FD-620D-C693-1D900F8CE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9500B-7E98-6DFE-1D2F-A89DE8DAB1BC}"/>
              </a:ext>
            </a:extLst>
          </p:cNvPr>
          <p:cNvSpPr>
            <a:spLocks noGrp="1"/>
          </p:cNvSpPr>
          <p:nvPr>
            <p:ph type="title"/>
          </p:nvPr>
        </p:nvSpPr>
        <p:spPr/>
        <p:txBody>
          <a:bodyPr/>
          <a:lstStyle/>
          <a:p>
            <a:r>
              <a:rPr lang="en-GB" dirty="0">
                <a:ea typeface="Calibri Light"/>
                <a:cs typeface="Calibri Light"/>
              </a:rPr>
              <a:t>Ethnography, Stories and Scenarios</a:t>
            </a:r>
          </a:p>
        </p:txBody>
      </p:sp>
      <p:sp>
        <p:nvSpPr>
          <p:cNvPr id="3" name="Content Placeholder 2">
            <a:extLst>
              <a:ext uri="{FF2B5EF4-FFF2-40B4-BE49-F238E27FC236}">
                <a16:creationId xmlns:a16="http://schemas.microsoft.com/office/drawing/2014/main" id="{D292A6DE-3CE6-3178-E2C4-EC70EB74E65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Ethnography is a research method</a:t>
            </a:r>
            <a:r>
              <a:rPr lang="en-US" dirty="0">
                <a:ea typeface="+mn-lt"/>
                <a:cs typeface="+mn-lt"/>
              </a:rPr>
              <a:t>, while </a:t>
            </a:r>
            <a:r>
              <a:rPr lang="en-US" b="1" dirty="0">
                <a:ea typeface="+mn-lt"/>
                <a:cs typeface="+mn-lt"/>
              </a:rPr>
              <a:t>stories and scenarios are tools</a:t>
            </a:r>
            <a:r>
              <a:rPr lang="en-US" dirty="0">
                <a:ea typeface="+mn-lt"/>
                <a:cs typeface="+mn-lt"/>
              </a:rPr>
              <a:t> used to describe findings from ethnographic studies</a:t>
            </a:r>
          </a:p>
          <a:p>
            <a:r>
              <a:rPr lang="en-US" dirty="0">
                <a:ea typeface="Calibri"/>
                <a:cs typeface="Calibri"/>
              </a:rPr>
              <a:t>Student portal example:</a:t>
            </a:r>
          </a:p>
          <a:p>
            <a:pPr lvl="1" indent="-457200">
              <a:buFont typeface="Courier New" panose="020B0604020202020204" pitchFamily="34" charset="0"/>
              <a:buChar char="o"/>
            </a:pPr>
            <a:r>
              <a:rPr lang="en-US" dirty="0">
                <a:ea typeface="Calibri"/>
                <a:cs typeface="Calibri"/>
              </a:rPr>
              <a:t>Ethnographic research: </a:t>
            </a:r>
            <a:r>
              <a:rPr lang="en-US" dirty="0">
                <a:ea typeface="+mn-lt"/>
                <a:cs typeface="+mn-lt"/>
              </a:rPr>
              <a:t>A researcher </a:t>
            </a:r>
            <a:r>
              <a:rPr lang="en-US" b="1" dirty="0">
                <a:ea typeface="+mn-lt"/>
                <a:cs typeface="+mn-lt"/>
              </a:rPr>
              <a:t>observes</a:t>
            </a:r>
            <a:r>
              <a:rPr lang="en-US" dirty="0">
                <a:ea typeface="+mn-lt"/>
                <a:cs typeface="+mn-lt"/>
              </a:rPr>
              <a:t> how students currently register for courses, take notes on the difficulties they face, and interviews them about their frustrations</a:t>
            </a:r>
          </a:p>
          <a:p>
            <a:pPr lvl="1" indent="-457200">
              <a:buFont typeface="Courier New" panose="020B0604020202020204" pitchFamily="34" charset="0"/>
              <a:buChar char="o"/>
            </a:pPr>
            <a:r>
              <a:rPr lang="en-US" dirty="0">
                <a:ea typeface="Calibri"/>
                <a:cs typeface="Calibri"/>
              </a:rPr>
              <a:t>Story: </a:t>
            </a:r>
            <a:r>
              <a:rPr lang="en-US" dirty="0">
                <a:ea typeface="+mn-lt"/>
                <a:cs typeface="+mn-lt"/>
              </a:rPr>
              <a:t>"XYZ, a third-year student, logs into the student portal to register for courses. The system crashes just as he selects his final course, and he must start over. Frustrated, he tries again late at night when fewer students are online."</a:t>
            </a:r>
          </a:p>
          <a:p>
            <a:pPr lvl="1" indent="-457200">
              <a:buFont typeface="Courier New" panose="020B0604020202020204" pitchFamily="34" charset="0"/>
              <a:buChar char="o"/>
            </a:pPr>
            <a:r>
              <a:rPr lang="en-US">
                <a:ea typeface="Calibri"/>
                <a:cs typeface="Calibri"/>
              </a:rPr>
              <a:t>Scenario: See next slide</a:t>
            </a:r>
            <a:endParaRPr lang="en-US">
              <a:ea typeface="+mn-lt"/>
              <a:cs typeface="+mn-lt"/>
            </a:endParaRPr>
          </a:p>
        </p:txBody>
      </p:sp>
      <p:pic>
        <p:nvPicPr>
          <p:cNvPr id="6" name="Picture 5" descr="A black and white logo&#10;&#10;Description automatically generated">
            <a:extLst>
              <a:ext uri="{FF2B5EF4-FFF2-40B4-BE49-F238E27FC236}">
                <a16:creationId xmlns:a16="http://schemas.microsoft.com/office/drawing/2014/main" id="{CA7AA3F8-6FBD-2E09-F077-0E3C4E968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52EBA35-CBB4-E94B-C4FC-CE33A276CD15}"/>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29CDE728-3225-2EE4-B2F4-C82DA1B475C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797309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0DF5-0A42-C201-1C3C-41AE1BB738A2}"/>
            </a:ext>
          </a:extLst>
        </p:cNvPr>
        <p:cNvGrpSpPr/>
        <p:nvPr/>
      </p:nvGrpSpPr>
      <p:grpSpPr>
        <a:xfrm>
          <a:off x="0" y="0"/>
          <a:ext cx="0" cy="0"/>
          <a:chOff x="0" y="0"/>
          <a:chExt cx="0" cy="0"/>
        </a:xfrm>
      </p:grpSpPr>
      <p:pic>
        <p:nvPicPr>
          <p:cNvPr id="6" name="Picture 5" descr="A black and white logo&#10;&#10;Description automatically generated">
            <a:extLst>
              <a:ext uri="{FF2B5EF4-FFF2-40B4-BE49-F238E27FC236}">
                <a16:creationId xmlns:a16="http://schemas.microsoft.com/office/drawing/2014/main" id="{576DE081-9B9E-B060-374E-38515DC74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7E67FD7-DE07-3D4D-8AF3-A8B3A30F009B}"/>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FD1B16CD-78BE-8BDB-58F4-0739363A4919}"/>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B17AD876-7AA1-607A-B303-0E3476D18920}"/>
              </a:ext>
            </a:extLst>
          </p:cNvPr>
          <p:cNvSpPr txBox="1"/>
          <p:nvPr/>
        </p:nvSpPr>
        <p:spPr>
          <a:xfrm>
            <a:off x="403952" y="197385"/>
            <a:ext cx="9575493"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Scenario Name: Peak-Time Course Enrollment</a:t>
            </a:r>
          </a:p>
          <a:p>
            <a:r>
              <a:rPr lang="en-US" b="1"/>
              <a:t>Primary Actor: Student</a:t>
            </a:r>
          </a:p>
          <a:p>
            <a:r>
              <a:rPr lang="en-US" b="1"/>
              <a:t>Precondition:</a:t>
            </a:r>
          </a:p>
          <a:p>
            <a:pPr marL="228600" indent="-228600">
              <a:buFont typeface=""/>
              <a:buChar char="•"/>
            </a:pPr>
            <a:r>
              <a:rPr lang="en-US"/>
              <a:t>Registration portal is open.</a:t>
            </a:r>
          </a:p>
          <a:p>
            <a:pPr marL="228600" indent="-228600">
              <a:buFont typeface=""/>
              <a:buChar char="•"/>
            </a:pPr>
            <a:r>
              <a:rPr lang="en-US"/>
              <a:t>Thousands of students are logged in simultaneously.</a:t>
            </a:r>
          </a:p>
          <a:p>
            <a:r>
              <a:rPr lang="en-US" b="1"/>
              <a:t>Main Flow of Events:</a:t>
            </a:r>
          </a:p>
          <a:p>
            <a:pPr marL="228600" indent="-228600">
              <a:buFont typeface=""/>
              <a:buAutoNum type="arabicPeriod"/>
            </a:pPr>
            <a:r>
              <a:rPr lang="en-US"/>
              <a:t>Student logs into the Student Portal.</a:t>
            </a:r>
          </a:p>
          <a:p>
            <a:pPr marL="228600" indent="-228600">
              <a:buFont typeface=""/>
              <a:buAutoNum type="arabicPeriod"/>
            </a:pPr>
            <a:r>
              <a:rPr lang="en-US"/>
              <a:t>Student navigates to the Course Registration page.</a:t>
            </a:r>
          </a:p>
          <a:p>
            <a:pPr marL="228600" indent="-228600">
              <a:buFont typeface=""/>
              <a:buAutoNum type="arabicPeriod"/>
            </a:pPr>
            <a:r>
              <a:rPr lang="en-US"/>
              <a:t>Student selects desired elective courses.</a:t>
            </a:r>
          </a:p>
          <a:p>
            <a:pPr marL="228600" indent="-228600">
              <a:buFont typeface=""/>
              <a:buAutoNum type="arabicPeriod"/>
            </a:pPr>
            <a:r>
              <a:rPr lang="en-US"/>
              <a:t>Student clicks “Enroll.”</a:t>
            </a:r>
          </a:p>
          <a:p>
            <a:pPr marL="228600" indent="-228600">
              <a:buFont typeface=""/>
              <a:buAutoNum type="arabicPeriod"/>
            </a:pPr>
            <a:r>
              <a:rPr lang="en-US"/>
              <a:t>The system processes the enrollment request.</a:t>
            </a:r>
          </a:p>
          <a:p>
            <a:pPr marL="228600" indent="-228600">
              <a:buFont typeface=""/>
              <a:buAutoNum type="arabicPeriod"/>
            </a:pPr>
            <a:r>
              <a:rPr lang="en-US"/>
              <a:t>The system confirms successful registration within 2 seconds.</a:t>
            </a:r>
          </a:p>
          <a:p>
            <a:pPr marL="228600" indent="-228600">
              <a:buFont typeface=""/>
              <a:buAutoNum type="arabicPeriod"/>
            </a:pPr>
            <a:r>
              <a:rPr lang="en-US"/>
              <a:t>The updated course list is displayed to the student.</a:t>
            </a:r>
          </a:p>
          <a:p>
            <a:r>
              <a:rPr lang="en-US" b="1"/>
              <a:t>System Behavior Requirements (Implicit in Scenario):</a:t>
            </a:r>
          </a:p>
          <a:p>
            <a:pPr marL="228600" indent="-228600">
              <a:buFont typeface=""/>
              <a:buChar char="•"/>
            </a:pPr>
            <a:r>
              <a:rPr lang="en-US"/>
              <a:t>The system must support high concurrent users (e.g., 5000+).</a:t>
            </a:r>
          </a:p>
          <a:p>
            <a:pPr marL="228600" indent="-228600">
              <a:buFont typeface=""/>
              <a:buChar char="•"/>
            </a:pPr>
            <a:r>
              <a:rPr lang="en-US"/>
              <a:t>The system response time must remain under acceptable limits (e.g., ≤ 2 seconds).</a:t>
            </a:r>
          </a:p>
          <a:p>
            <a:pPr marL="228600" indent="-228600">
              <a:buFont typeface=""/>
              <a:buChar char="•"/>
            </a:pPr>
            <a:r>
              <a:rPr lang="en-US"/>
              <a:t>The system must not crash or freeze.</a:t>
            </a:r>
          </a:p>
          <a:p>
            <a:pPr marL="228600" indent="-228600">
              <a:buFont typeface=""/>
              <a:buChar char="•"/>
            </a:pPr>
            <a:r>
              <a:rPr lang="en-US"/>
              <a:t>No data inconsistency should occur.</a:t>
            </a:r>
          </a:p>
          <a:p>
            <a:r>
              <a:rPr lang="en-US" b="1"/>
              <a:t>Postcondition:</a:t>
            </a:r>
          </a:p>
          <a:p>
            <a:pPr marL="228600" indent="-228600">
              <a:buFont typeface=""/>
              <a:buChar char="•"/>
            </a:pPr>
            <a:r>
              <a:rPr lang="en-US"/>
              <a:t>Student is successfully enrolled in selected courses.</a:t>
            </a:r>
          </a:p>
          <a:p>
            <a:pPr marL="228600" indent="-228600">
              <a:buFont typeface=""/>
              <a:buChar char="•"/>
            </a:pPr>
            <a:r>
              <a:rPr lang="en-US"/>
              <a:t>Database records are updated correctly.</a:t>
            </a:r>
          </a:p>
          <a:p>
            <a:pPr marL="228600" indent="-228600">
              <a:buFont typeface=""/>
              <a:buChar char="•"/>
            </a:pPr>
            <a:r>
              <a:rPr lang="en-US" dirty="0"/>
              <a:t>System remains operational for other users.</a:t>
            </a:r>
            <a:endParaRPr lang="en-US" dirty="0">
              <a:ea typeface="Calibri"/>
              <a:cs typeface="Calibri"/>
            </a:endParaRPr>
          </a:p>
          <a:p>
            <a:pPr algn="ctr"/>
            <a:endParaRPr lang="en-US"/>
          </a:p>
        </p:txBody>
      </p:sp>
    </p:spTree>
    <p:extLst>
      <p:ext uri="{BB962C8B-B14F-4D97-AF65-F5344CB8AC3E}">
        <p14:creationId xmlns:p14="http://schemas.microsoft.com/office/powerpoint/2010/main" val="1576928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0E36-6DD6-7E5D-B711-C6D443E89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3137B-F0FC-0F2D-0DB8-E2172596E62A}"/>
              </a:ext>
            </a:extLst>
          </p:cNvPr>
          <p:cNvSpPr>
            <a:spLocks noGrp="1"/>
          </p:cNvSpPr>
          <p:nvPr>
            <p:ph type="title"/>
          </p:nvPr>
        </p:nvSpPr>
        <p:spPr/>
        <p:txBody>
          <a:bodyPr/>
          <a:lstStyle/>
          <a:p>
            <a:r>
              <a:rPr lang="en-GB" dirty="0">
                <a:ea typeface="Calibri Light"/>
                <a:cs typeface="Calibri Light"/>
              </a:rPr>
              <a:t>Stories and Scenarios</a:t>
            </a:r>
            <a:endParaRPr lang="en-US" dirty="0"/>
          </a:p>
        </p:txBody>
      </p:sp>
      <p:sp>
        <p:nvSpPr>
          <p:cNvPr id="3" name="Content Placeholder 2">
            <a:extLst>
              <a:ext uri="{FF2B5EF4-FFF2-40B4-BE49-F238E27FC236}">
                <a16:creationId xmlns:a16="http://schemas.microsoft.com/office/drawing/2014/main" id="{0D7DA1F3-F5B3-90A6-9823-DB3E33B816BB}"/>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Calibri"/>
                <a:cs typeface="Calibri"/>
              </a:rPr>
              <a:t>Real-life examples are easier to relate than abstract descriptions</a:t>
            </a:r>
          </a:p>
          <a:p>
            <a:r>
              <a:rPr lang="en-US" dirty="0">
                <a:ea typeface="Calibri"/>
                <a:cs typeface="Calibri"/>
              </a:rPr>
              <a:t>People </a:t>
            </a:r>
            <a:r>
              <a:rPr lang="en-US" u="sng" dirty="0">
                <a:ea typeface="Calibri"/>
                <a:cs typeface="Calibri"/>
              </a:rPr>
              <a:t>might not be able to tell you system requirements</a:t>
            </a:r>
            <a:r>
              <a:rPr lang="en-US" dirty="0">
                <a:ea typeface="Calibri"/>
                <a:cs typeface="Calibri"/>
              </a:rPr>
              <a:t>, however, they might </a:t>
            </a:r>
            <a:r>
              <a:rPr lang="en-US" u="sng" dirty="0">
                <a:ea typeface="Calibri"/>
                <a:cs typeface="Calibri"/>
              </a:rPr>
              <a:t>find it easier to describe</a:t>
            </a:r>
            <a:r>
              <a:rPr lang="en-US" dirty="0">
                <a:ea typeface="Calibri"/>
                <a:cs typeface="Calibri"/>
              </a:rPr>
              <a:t> how they handle a particular situation or imagine things they might do on a new system</a:t>
            </a:r>
          </a:p>
          <a:p>
            <a:r>
              <a:rPr lang="en-US" dirty="0">
                <a:ea typeface="Calibri"/>
                <a:cs typeface="Calibri"/>
              </a:rPr>
              <a:t>Stories and scenarios capture this kind of information</a:t>
            </a:r>
          </a:p>
          <a:p>
            <a:r>
              <a:rPr lang="en-US" dirty="0">
                <a:ea typeface="Calibri"/>
                <a:cs typeface="Calibri"/>
              </a:rPr>
              <a:t>"Stories and scenarios are essentially the same" (</a:t>
            </a:r>
            <a:r>
              <a:rPr lang="en-US" u="sng" dirty="0">
                <a:ea typeface="Calibri"/>
                <a:cs typeface="Calibri"/>
              </a:rPr>
              <a:t>description of how the system can be used for a particular task</a:t>
            </a:r>
            <a:r>
              <a:rPr lang="en-US" dirty="0">
                <a:ea typeface="Calibri"/>
                <a:cs typeface="Calibri"/>
              </a:rPr>
              <a:t>) – what people do, what information they use and produce, what systems they use in this process</a:t>
            </a:r>
          </a:p>
          <a:p>
            <a:r>
              <a:rPr lang="en-US" dirty="0">
                <a:ea typeface="Calibri"/>
                <a:cs typeface="Calibri"/>
              </a:rPr>
              <a:t>Difference – Stories are written as narrative text (high-level description), Scenarios are usually structured with specific information</a:t>
            </a: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F1D7E6A9-FB4C-7649-89A6-B0463439F5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997DB50-7C28-720A-7895-C669C1F1EC29}"/>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9AB1F15A-A9D0-A9C8-1830-AEFBD8EFFD6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194272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7D62D-E495-5043-1C2B-BB1B237C3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C3210-1957-F3D8-7168-55440DAB7BC6}"/>
              </a:ext>
            </a:extLst>
          </p:cNvPr>
          <p:cNvSpPr>
            <a:spLocks noGrp="1"/>
          </p:cNvSpPr>
          <p:nvPr>
            <p:ph type="title"/>
          </p:nvPr>
        </p:nvSpPr>
        <p:spPr/>
        <p:txBody>
          <a:bodyPr/>
          <a:lstStyle/>
          <a:p>
            <a:r>
              <a:rPr lang="en-GB" dirty="0">
                <a:ea typeface="Calibri Light"/>
                <a:cs typeface="Calibri Light"/>
              </a:rPr>
              <a:t>Stories and Scenarios</a:t>
            </a:r>
            <a:endParaRPr lang="en-US" dirty="0"/>
          </a:p>
        </p:txBody>
      </p:sp>
      <p:sp>
        <p:nvSpPr>
          <p:cNvPr id="3" name="Content Placeholder 2">
            <a:extLst>
              <a:ext uri="{FF2B5EF4-FFF2-40B4-BE49-F238E27FC236}">
                <a16:creationId xmlns:a16="http://schemas.microsoft.com/office/drawing/2014/main" id="{3EA90BAB-39C3-6260-5963-DFAD37ECD7FE}"/>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a:cs typeface="Calibri"/>
              </a:rPr>
              <a:t>Stories can be thought of as setting out the "big picture", and then parts of stories can then be developed in more detail and represented as scenarios</a:t>
            </a:r>
            <a:endParaRPr lang="en-US" dirty="0"/>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5C89165D-270E-D9D4-9A9E-0F22886EBF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362063E-C7C9-8034-C158-DF295BAD7C39}"/>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AEB15096-7C68-1A40-13AC-2E5FD2AF1E7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84314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1F16D-0999-F248-4761-6452F0146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74464-01D7-17E3-4AE7-26EF2FF34CD4}"/>
              </a:ext>
            </a:extLst>
          </p:cNvPr>
          <p:cNvSpPr>
            <a:spLocks noGrp="1"/>
          </p:cNvSpPr>
          <p:nvPr>
            <p:ph type="title"/>
          </p:nvPr>
        </p:nvSpPr>
        <p:spPr/>
        <p:txBody>
          <a:bodyPr/>
          <a:lstStyle/>
          <a:p>
            <a:r>
              <a:rPr lang="en-GB" dirty="0">
                <a:ea typeface="Calibri Light"/>
                <a:cs typeface="Calibri Light"/>
              </a:rPr>
              <a:t>Story</a:t>
            </a:r>
            <a:endParaRPr lang="en-US" dirty="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87F64AFB-12D2-CE32-8255-52C5E6C16B7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a:cs typeface="Calibri"/>
              </a:rPr>
              <a:t>These stories can then be shared as a wiki or something to get feedback from a wider range of stakeholders</a:t>
            </a:r>
          </a:p>
          <a:p>
            <a:r>
              <a:rPr lang="en-US" dirty="0">
                <a:ea typeface="+mn-lt"/>
                <a:cs typeface="+mn-lt"/>
              </a:rPr>
              <a:t>Useful to get information from a wider community than we could realistically interview</a:t>
            </a:r>
            <a:endParaRPr lang="en-US" dirty="0">
              <a:ea typeface="Calibri" panose="020F0502020204030204"/>
              <a:cs typeface="Calibri" panose="020F0502020204030204"/>
            </a:endParaRPr>
          </a:p>
          <a:p>
            <a:r>
              <a:rPr lang="en-US" dirty="0">
                <a:ea typeface="+mn-lt"/>
                <a:cs typeface="+mn-lt"/>
              </a:rPr>
              <a:t>These </a:t>
            </a:r>
            <a:r>
              <a:rPr lang="en-US" dirty="0">
                <a:highlight>
                  <a:srgbClr val="FFFF00"/>
                </a:highlight>
                <a:ea typeface="+mn-lt"/>
                <a:cs typeface="+mn-lt"/>
              </a:rPr>
              <a:t>high-level stories do not go into detail about a system</a:t>
            </a:r>
            <a:r>
              <a:rPr lang="en-US" dirty="0">
                <a:ea typeface="+mn-lt"/>
                <a:cs typeface="+mn-lt"/>
              </a:rPr>
              <a:t>, but they can be developed into more specific scenarios. Scenarios are descriptions of example user interaction sessions</a:t>
            </a: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4A0BC0EA-4F72-FBE8-508E-4C959C587A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5E7F2D7-8B59-5BCB-BBFF-384DA1432CE7}"/>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FDFEF293-5A01-124B-92BC-511BACE0C22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61248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6BBC-76E6-361A-6D3F-4718C0D5F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D4B4E-6010-C518-3BB4-D94B3F2C8F61}"/>
              </a:ext>
            </a:extLst>
          </p:cNvPr>
          <p:cNvSpPr>
            <a:spLocks noGrp="1"/>
          </p:cNvSpPr>
          <p:nvPr>
            <p:ph type="title"/>
          </p:nvPr>
        </p:nvSpPr>
        <p:spPr/>
        <p:txBody>
          <a:bodyPr/>
          <a:lstStyle/>
          <a:p>
            <a:r>
              <a:rPr lang="en-GB" dirty="0">
                <a:ea typeface="Calibri Light"/>
                <a:cs typeface="Calibri Light"/>
              </a:rPr>
              <a:t>Scenario</a:t>
            </a:r>
            <a:endParaRPr lang="en-US" dirty="0"/>
          </a:p>
        </p:txBody>
      </p:sp>
      <p:sp>
        <p:nvSpPr>
          <p:cNvPr id="3" name="Content Placeholder 2">
            <a:extLst>
              <a:ext uri="{FF2B5EF4-FFF2-40B4-BE49-F238E27FC236}">
                <a16:creationId xmlns:a16="http://schemas.microsoft.com/office/drawing/2014/main" id="{8116D0A0-9292-7712-5C60-A8907079CB2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A scenario starts with an outline of the interaction</a:t>
            </a:r>
          </a:p>
          <a:p>
            <a:pPr marL="0" indent="0">
              <a:buNone/>
            </a:pPr>
            <a:endParaRPr lang="en-US" dirty="0">
              <a:ea typeface="+mn-lt"/>
              <a:cs typeface="+mn-lt"/>
            </a:endParaRPr>
          </a:p>
          <a:p>
            <a:r>
              <a:rPr lang="en-US" dirty="0">
                <a:ea typeface="+mn-lt"/>
                <a:cs typeface="+mn-lt"/>
              </a:rPr>
              <a:t>A scenario may include:</a:t>
            </a:r>
          </a:p>
          <a:p>
            <a:pPr lvl="1">
              <a:buFont typeface="Courier New" panose="020B0604020202020204" pitchFamily="34" charset="0"/>
              <a:buChar char="o"/>
            </a:pPr>
            <a:r>
              <a:rPr lang="en-US" dirty="0">
                <a:ea typeface="+mn-lt"/>
                <a:cs typeface="+mn-lt"/>
              </a:rPr>
              <a:t>A description of what the system and users expect when the scenario starts</a:t>
            </a:r>
          </a:p>
          <a:p>
            <a:pPr lvl="1">
              <a:buFont typeface="Courier New" panose="020B0604020202020204" pitchFamily="34" charset="0"/>
              <a:buChar char="o"/>
            </a:pPr>
            <a:r>
              <a:rPr lang="en-US" dirty="0">
                <a:ea typeface="+mn-lt"/>
                <a:cs typeface="+mn-lt"/>
              </a:rPr>
              <a:t>A description of the normal flow of events in the scenario</a:t>
            </a:r>
          </a:p>
          <a:p>
            <a:pPr lvl="1">
              <a:buFont typeface="Courier New" panose="020B0604020202020204" pitchFamily="34" charset="0"/>
              <a:buChar char="o"/>
            </a:pPr>
            <a:r>
              <a:rPr lang="en-US" dirty="0">
                <a:ea typeface="+mn-lt"/>
                <a:cs typeface="+mn-lt"/>
              </a:rPr>
              <a:t>A description of what can go wrong and how resulting problems can be handled</a:t>
            </a:r>
          </a:p>
          <a:p>
            <a:pPr lvl="1">
              <a:buFont typeface="Courier New" panose="020B0604020202020204" pitchFamily="34" charset="0"/>
              <a:buChar char="o"/>
            </a:pPr>
            <a:r>
              <a:rPr lang="en-US" dirty="0">
                <a:ea typeface="+mn-lt"/>
                <a:cs typeface="+mn-lt"/>
              </a:rPr>
              <a:t>Information about other activities that might be going on at the same time</a:t>
            </a:r>
          </a:p>
          <a:p>
            <a:pPr lvl="1">
              <a:buFont typeface="Courier New" panose="020B0604020202020204" pitchFamily="34" charset="0"/>
              <a:buChar char="o"/>
            </a:pPr>
            <a:r>
              <a:rPr lang="en-US" dirty="0">
                <a:ea typeface="+mn-lt"/>
                <a:cs typeface="+mn-lt"/>
              </a:rPr>
              <a:t>A description of the system state when the scenario ends</a:t>
            </a:r>
            <a:endParaRPr lang="en-US">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F55EFA7-AE72-FBB8-3280-05A7DD2BB3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73A33BB-996D-F3E5-E957-1EC789956B56}"/>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C7E4374C-9C8F-4E2F-6A7F-0B2173DB543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43326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1DE8B-1204-5526-6941-F76899389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98922-ADAF-8179-3D83-16DE977A4B06}"/>
              </a:ext>
            </a:extLst>
          </p:cNvPr>
          <p:cNvSpPr>
            <a:spLocks noGrp="1"/>
          </p:cNvSpPr>
          <p:nvPr>
            <p:ph type="title"/>
          </p:nvPr>
        </p:nvSpPr>
        <p:spPr/>
        <p:txBody>
          <a:bodyPr/>
          <a:lstStyle/>
          <a:p>
            <a:r>
              <a:rPr lang="en-GB" dirty="0">
                <a:ea typeface="Calibri Light"/>
                <a:cs typeface="Calibri Light"/>
              </a:rPr>
              <a:t>Scenario: Example (Textbook)</a:t>
            </a:r>
            <a:endParaRPr lang="en-US" dirty="0"/>
          </a:p>
        </p:txBody>
      </p:sp>
      <p:sp>
        <p:nvSpPr>
          <p:cNvPr id="3" name="Content Placeholder 2">
            <a:extLst>
              <a:ext uri="{FF2B5EF4-FFF2-40B4-BE49-F238E27FC236}">
                <a16:creationId xmlns:a16="http://schemas.microsoft.com/office/drawing/2014/main" id="{ED474097-FEF6-020D-0544-BDCB61F74017}"/>
              </a:ext>
            </a:extLst>
          </p:cNvPr>
          <p:cNvSpPr>
            <a:spLocks noGrp="1"/>
          </p:cNvSpPr>
          <p:nvPr>
            <p:ph idx="1"/>
          </p:nvPr>
        </p:nvSpPr>
        <p:spPr>
          <a:xfrm>
            <a:off x="838200" y="1690328"/>
            <a:ext cx="10515600" cy="5031147"/>
          </a:xfrm>
        </p:spPr>
        <p:txBody>
          <a:bodyPr vert="horz" lIns="91440" tIns="45720" rIns="91440" bIns="45720" rtlCol="0" anchor="t">
            <a:normAutofit/>
          </a:bodyPr>
          <a:lstStyle/>
          <a:p>
            <a:pPr marL="0" indent="0">
              <a:buNone/>
            </a:pPr>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C0F96799-62DC-0CBF-22DA-CD1A5822DB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D8AB23C-BED5-518A-9B5B-BE83D57D1B37}"/>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B1054742-22E6-5E90-EA09-BF8638174B4E}"/>
              </a:ext>
            </a:extLst>
          </p:cNvPr>
          <p:cNvSpPr>
            <a:spLocks noGrp="1"/>
          </p:cNvSpPr>
          <p:nvPr>
            <p:ph type="ftr" sz="quarter" idx="11"/>
          </p:nvPr>
        </p:nvSpPr>
        <p:spPr/>
        <p:txBody>
          <a:bodyPr/>
          <a:lstStyle/>
          <a:p>
            <a:r>
              <a:rPr lang="en-US"/>
              <a:t>Software Engineering</a:t>
            </a:r>
          </a:p>
        </p:txBody>
      </p:sp>
      <p:pic>
        <p:nvPicPr>
          <p:cNvPr id="5" name="Picture 4" descr="A blue and white text&#10;&#10;AI-generated content may be incorrect.">
            <a:extLst>
              <a:ext uri="{FF2B5EF4-FFF2-40B4-BE49-F238E27FC236}">
                <a16:creationId xmlns:a16="http://schemas.microsoft.com/office/drawing/2014/main" id="{8EC9C3C5-8390-093C-404F-AC695AEFDBF2}"/>
              </a:ext>
            </a:extLst>
          </p:cNvPr>
          <p:cNvPicPr>
            <a:picLocks noChangeAspect="1"/>
          </p:cNvPicPr>
          <p:nvPr/>
        </p:nvPicPr>
        <p:blipFill>
          <a:blip r:embed="rId4"/>
          <a:stretch>
            <a:fillRect/>
          </a:stretch>
        </p:blipFill>
        <p:spPr>
          <a:xfrm>
            <a:off x="1682555" y="1357195"/>
            <a:ext cx="8836182" cy="5500339"/>
          </a:xfrm>
          <a:prstGeom prst="rect">
            <a:avLst/>
          </a:prstGeom>
        </p:spPr>
      </p:pic>
    </p:spTree>
    <p:extLst>
      <p:ext uri="{BB962C8B-B14F-4D97-AF65-F5344CB8AC3E}">
        <p14:creationId xmlns:p14="http://schemas.microsoft.com/office/powerpoint/2010/main" val="3230780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812D-EAB8-CD95-B31F-050F1A673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A769B-43E6-712C-003E-6D8E71A8506A}"/>
              </a:ext>
            </a:extLst>
          </p:cNvPr>
          <p:cNvSpPr>
            <a:spLocks noGrp="1"/>
          </p:cNvSpPr>
          <p:nvPr>
            <p:ph type="title"/>
          </p:nvPr>
        </p:nvSpPr>
        <p:spPr/>
        <p:txBody>
          <a:bodyPr/>
          <a:lstStyle/>
          <a:p>
            <a:r>
              <a:rPr lang="en-GB" dirty="0">
                <a:ea typeface="Calibri Light"/>
                <a:cs typeface="Calibri Light"/>
              </a:rPr>
              <a:t>Scenario: Example</a:t>
            </a:r>
            <a:endParaRPr lang="en-US" dirty="0"/>
          </a:p>
        </p:txBody>
      </p:sp>
      <p:sp>
        <p:nvSpPr>
          <p:cNvPr id="3" name="Content Placeholder 2">
            <a:extLst>
              <a:ext uri="{FF2B5EF4-FFF2-40B4-BE49-F238E27FC236}">
                <a16:creationId xmlns:a16="http://schemas.microsoft.com/office/drawing/2014/main" id="{852FB649-6BF5-FB20-1246-5DB120B396C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a:cs typeface="Calibri"/>
              </a:rPr>
              <a:t>Check the Additional handout that goes along with this week's lecture</a:t>
            </a:r>
          </a:p>
          <a:p>
            <a:r>
              <a:rPr lang="en-US" dirty="0">
                <a:ea typeface="+mn-lt"/>
                <a:cs typeface="+mn-lt"/>
                <a:hlinkClick r:id="rId3"/>
              </a:rPr>
              <a:t>Scenario Example.docx</a:t>
            </a:r>
            <a:endParaRPr lang="en-US" dirty="0">
              <a:ea typeface="Calibri"/>
              <a:cs typeface="Calibri"/>
              <a:hlinkClick r:id="rId3"/>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FBC51CF-DA81-82A1-9040-EFE8A16C39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5807410-75E0-2DC5-6C83-408250B9C759}"/>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2F3904AE-A9D3-E651-FEC0-751DE45A333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41686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6C64-9443-BBB7-A330-93C447F3A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24645-1CF4-AC0E-C929-30140C081AF9}"/>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0FCECC4F-13CA-96EB-92DD-D934E7AE0FC9}"/>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a:cs typeface="Calibri"/>
              </a:rPr>
              <a:t>Requirements Specification </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437C13D-8A82-FC05-771E-AA97199C1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7932324-A1BA-7FF8-561C-3FD8521256D1}"/>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40DB03DB-3BB5-0DD1-1701-D126E54760A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56610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88E45-F588-E589-2CC5-3D7E7ECA8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79946-9355-9127-BD6E-9CFA03B2C969}"/>
              </a:ext>
            </a:extLst>
          </p:cNvPr>
          <p:cNvSpPr>
            <a:spLocks noGrp="1"/>
          </p:cNvSpPr>
          <p:nvPr>
            <p:ph type="title"/>
          </p:nvPr>
        </p:nvSpPr>
        <p:spPr/>
        <p:txBody>
          <a:bodyPr/>
          <a:lstStyle/>
          <a:p>
            <a:r>
              <a:rPr lang="en-GB" dirty="0">
                <a:ea typeface="Calibri Light"/>
                <a:cs typeface="Calibri Light"/>
              </a:rPr>
              <a:t>Recap</a:t>
            </a:r>
            <a:endParaRPr lang="en-US" dirty="0"/>
          </a:p>
        </p:txBody>
      </p:sp>
      <p:sp>
        <p:nvSpPr>
          <p:cNvPr id="3" name="Content Placeholder 2">
            <a:extLst>
              <a:ext uri="{FF2B5EF4-FFF2-40B4-BE49-F238E27FC236}">
                <a16:creationId xmlns:a16="http://schemas.microsoft.com/office/drawing/2014/main" id="{F15CBDE3-FFFF-DCD2-B356-7F49A2DD8D2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We covered the various ways in which Requirements can be specified in the previous Lecture (refer Lecture 5)</a:t>
            </a:r>
            <a:endParaRPr lang="en-US"/>
          </a:p>
          <a:p>
            <a:r>
              <a:rPr lang="en-US" dirty="0">
                <a:ea typeface="Calibri"/>
                <a:cs typeface="Calibri"/>
              </a:rPr>
              <a:t>In the following couple of slides, we present, in brief, candidate structure for the SRS</a:t>
            </a:r>
          </a:p>
          <a:p>
            <a:r>
              <a:rPr lang="en-US" dirty="0">
                <a:ea typeface="Calibri"/>
                <a:cs typeface="Calibri"/>
              </a:rPr>
              <a:t>Note that the IEEE 830 – 1998 standard for the SRS allows room for customization (in certain sections of the document), and merely proposes an outline (which you will see in the following slides)</a:t>
            </a: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09DCB67-1048-9CAB-36A9-7C5F129E7D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0EF9E7D-6195-44F5-3EC0-50E0B01C9DB2}"/>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80EBA434-7237-9C38-A268-0861DA530FC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41423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26B6-6DB0-A2B2-E498-88803CEDE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EA37B-39D7-CF81-4610-52E45102338A}"/>
              </a:ext>
            </a:extLst>
          </p:cNvPr>
          <p:cNvSpPr>
            <a:spLocks noGrp="1"/>
          </p:cNvSpPr>
          <p:nvPr>
            <p:ph type="title"/>
          </p:nvPr>
        </p:nvSpPr>
        <p:spPr>
          <a:xfrm>
            <a:off x="0" y="34925"/>
            <a:ext cx="10515600" cy="1325563"/>
          </a:xfrm>
        </p:spPr>
        <p:txBody>
          <a:bodyPr/>
          <a:lstStyle/>
          <a:p>
            <a:r>
              <a:rPr lang="en-GB" dirty="0">
                <a:ea typeface="Calibri Light"/>
                <a:cs typeface="Calibri Light"/>
              </a:rPr>
              <a:t>Software Requirements Specification (PRE., pg. 136)</a:t>
            </a:r>
            <a:endParaRPr lang="en-US" dirty="0"/>
          </a:p>
        </p:txBody>
      </p:sp>
      <p:pic>
        <p:nvPicPr>
          <p:cNvPr id="6" name="Picture 5" descr="A black and white logo&#10;&#10;Description automatically generated">
            <a:extLst>
              <a:ext uri="{FF2B5EF4-FFF2-40B4-BE49-F238E27FC236}">
                <a16:creationId xmlns:a16="http://schemas.microsoft.com/office/drawing/2014/main" id="{D76FC882-875B-817D-C3B1-E501D231B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8A3010E-DA3C-D9E7-5DCF-F56D24B4EB6B}"/>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2C95556E-A1C8-84CA-4AF6-328F607169E5}"/>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4E9E0425-AF95-0A5A-089E-E010F0F39BEF}"/>
              </a:ext>
            </a:extLst>
          </p:cNvPr>
          <p:cNvPicPr>
            <a:picLocks noChangeAspect="1"/>
          </p:cNvPicPr>
          <p:nvPr/>
        </p:nvPicPr>
        <p:blipFill>
          <a:blip r:embed="rId4"/>
          <a:srcRect l="29792" t="14459" r="13750" b="2439"/>
          <a:stretch/>
        </p:blipFill>
        <p:spPr>
          <a:xfrm>
            <a:off x="3835400" y="987425"/>
            <a:ext cx="7086608" cy="5864229"/>
          </a:xfrm>
          <a:prstGeom prst="rect">
            <a:avLst/>
          </a:prstGeom>
        </p:spPr>
      </p:pic>
    </p:spTree>
    <p:extLst>
      <p:ext uri="{BB962C8B-B14F-4D97-AF65-F5344CB8AC3E}">
        <p14:creationId xmlns:p14="http://schemas.microsoft.com/office/powerpoint/2010/main" val="315123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1FB6-26A1-6751-F2EF-3C331D4B0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06605-B8E8-890C-2663-723F492CD8C4}"/>
              </a:ext>
            </a:extLst>
          </p:cNvPr>
          <p:cNvSpPr>
            <a:spLocks noGrp="1"/>
          </p:cNvSpPr>
          <p:nvPr>
            <p:ph type="title"/>
          </p:nvPr>
        </p:nvSpPr>
        <p:spPr>
          <a:xfrm>
            <a:off x="0" y="-92075"/>
            <a:ext cx="10515600" cy="1325563"/>
          </a:xfrm>
        </p:spPr>
        <p:txBody>
          <a:bodyPr>
            <a:normAutofit fontScale="90000"/>
          </a:bodyPr>
          <a:lstStyle/>
          <a:p>
            <a:r>
              <a:rPr lang="en-GB" dirty="0">
                <a:ea typeface="Calibri Light"/>
                <a:cs typeface="Calibri Light"/>
              </a:rPr>
              <a:t>Software Requirements Specification – IEEE 830</a:t>
            </a:r>
            <a:br>
              <a:rPr lang="en-GB" dirty="0">
                <a:ea typeface="Calibri Light"/>
                <a:cs typeface="Calibri Light"/>
              </a:rPr>
            </a:br>
            <a:r>
              <a:rPr lang="en-GB" dirty="0">
                <a:ea typeface="Calibri Light"/>
                <a:cs typeface="Calibri Light"/>
              </a:rPr>
              <a:t>(Hans Van Vliet, pg. 231)</a:t>
            </a:r>
          </a:p>
        </p:txBody>
      </p:sp>
      <p:pic>
        <p:nvPicPr>
          <p:cNvPr id="6" name="Picture 5" descr="A black and white logo&#10;&#10;Description automatically generated">
            <a:extLst>
              <a:ext uri="{FF2B5EF4-FFF2-40B4-BE49-F238E27FC236}">
                <a16:creationId xmlns:a16="http://schemas.microsoft.com/office/drawing/2014/main" id="{945C54FA-6DEC-3A50-2FC8-4B5A704BE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5133FC8-894A-44E0-42D0-6CD85ECB1C96}"/>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DEE09C5E-DC64-776E-6CA4-B86EA82A3C57}"/>
              </a:ext>
            </a:extLst>
          </p:cNvPr>
          <p:cNvSpPr>
            <a:spLocks noGrp="1"/>
          </p:cNvSpPr>
          <p:nvPr>
            <p:ph type="ftr" sz="quarter" idx="11"/>
          </p:nvPr>
        </p:nvSpPr>
        <p:spPr/>
        <p:txBody>
          <a:bodyPr/>
          <a:lstStyle/>
          <a:p>
            <a:r>
              <a:rPr lang="en-US"/>
              <a:t>Software Engineering</a:t>
            </a:r>
          </a:p>
        </p:txBody>
      </p:sp>
      <p:pic>
        <p:nvPicPr>
          <p:cNvPr id="3" name="Picture 2" descr="A screenshot of a computer screen&#10;&#10;AI-generated content may be incorrect.">
            <a:extLst>
              <a:ext uri="{FF2B5EF4-FFF2-40B4-BE49-F238E27FC236}">
                <a16:creationId xmlns:a16="http://schemas.microsoft.com/office/drawing/2014/main" id="{266151CF-1CEB-1C52-DA3E-E10AC5E004E1}"/>
              </a:ext>
            </a:extLst>
          </p:cNvPr>
          <p:cNvPicPr>
            <a:picLocks noChangeAspect="1"/>
          </p:cNvPicPr>
          <p:nvPr/>
        </p:nvPicPr>
        <p:blipFill>
          <a:blip r:embed="rId4"/>
          <a:srcRect l="38771" t="44563" r="29375" b="9793"/>
          <a:stretch/>
        </p:blipFill>
        <p:spPr>
          <a:xfrm>
            <a:off x="839492" y="1532109"/>
            <a:ext cx="5252644" cy="4228103"/>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F5E8A258-89B6-AFB1-C183-FE4B22AE82AB}"/>
              </a:ext>
            </a:extLst>
          </p:cNvPr>
          <p:cNvPicPr>
            <a:picLocks noChangeAspect="1"/>
          </p:cNvPicPr>
          <p:nvPr/>
        </p:nvPicPr>
        <p:blipFill>
          <a:blip r:embed="rId5"/>
          <a:srcRect l="44915" t="25000" r="20297" b="18832"/>
          <a:stretch/>
        </p:blipFill>
        <p:spPr>
          <a:xfrm>
            <a:off x="6328476" y="1482026"/>
            <a:ext cx="4745024" cy="4329845"/>
          </a:xfrm>
          <a:prstGeom prst="rect">
            <a:avLst/>
          </a:prstGeom>
        </p:spPr>
      </p:pic>
    </p:spTree>
    <p:extLst>
      <p:ext uri="{BB962C8B-B14F-4D97-AF65-F5344CB8AC3E}">
        <p14:creationId xmlns:p14="http://schemas.microsoft.com/office/powerpoint/2010/main" val="3425558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5BB17-D56D-CEE3-49AB-6879D6C66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D71B6-57E8-8EC9-9B5B-813B1C93DA1D}"/>
              </a:ext>
            </a:extLst>
          </p:cNvPr>
          <p:cNvSpPr>
            <a:spLocks noGrp="1"/>
          </p:cNvSpPr>
          <p:nvPr>
            <p:ph type="title"/>
          </p:nvPr>
        </p:nvSpPr>
        <p:spPr/>
        <p:txBody>
          <a:bodyPr/>
          <a:lstStyle/>
          <a:p>
            <a:r>
              <a:rPr lang="en-GB" sz="4000" dirty="0">
                <a:ea typeface="Calibri Light"/>
                <a:cs typeface="Calibri Light"/>
              </a:rPr>
              <a:t>Software Requirements Specification – IEEE 830</a:t>
            </a:r>
            <a:br>
              <a:rPr lang="en-GB" sz="4000" dirty="0">
                <a:ea typeface="Calibri Light"/>
                <a:cs typeface="Calibri Light"/>
              </a:rPr>
            </a:br>
            <a:r>
              <a:rPr lang="en-GB" sz="4000" dirty="0">
                <a:ea typeface="Calibri Light"/>
                <a:cs typeface="Calibri Light"/>
              </a:rPr>
              <a:t>(Hans Van Vliet)</a:t>
            </a:r>
          </a:p>
        </p:txBody>
      </p:sp>
      <p:sp>
        <p:nvSpPr>
          <p:cNvPr id="3" name="Content Placeholder 2">
            <a:extLst>
              <a:ext uri="{FF2B5EF4-FFF2-40B4-BE49-F238E27FC236}">
                <a16:creationId xmlns:a16="http://schemas.microsoft.com/office/drawing/2014/main" id="{2481A2D2-B869-5A1F-4195-8943D8F6250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Refer</a:t>
            </a:r>
            <a:r>
              <a:rPr lang="en-US" dirty="0">
                <a:ea typeface="Calibri" panose="020F0502020204030204"/>
                <a:cs typeface="Calibri" panose="020F0502020204030204"/>
              </a:rPr>
              <a:t> pg. 232 to pg.234 for a brief example of the fields of the SRS (using a library system)</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63974350-5422-18AD-3963-2FFE7FCE14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16DE0D9-FD66-123E-AA7C-3C2D0A7074C4}"/>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0D2ECD2E-5ED4-D12A-5DFC-2E8A199CD34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62649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06E84-8724-24C7-3E3A-91D7123CC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EBABE-2134-CEA7-6DED-8B99789F64F0}"/>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A4907B4F-8FAD-98D3-B18C-E19BA85A48C4}"/>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a:cs typeface="Calibri"/>
              </a:rPr>
              <a:t>Requirements Validation</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2938A1A9-1960-F7C5-1783-B3448800C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2081B9C-6F8F-04F8-17A4-EA81E9710F1A}"/>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9D530930-886C-1EAE-3849-F516226323A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76900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B6E9D-F2C8-9F6E-C73D-26C55350B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5BB3B-E9DD-435F-60C1-3E7851792089}"/>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1970E5E1-4B9F-C2CD-04E5-0C3D7718A049}"/>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"Process of checking that requirements define [capture the essence of] the system that the customer really wants"</a:t>
            </a:r>
            <a:endParaRPr lang="en-US" dirty="0">
              <a:ea typeface="Calibri"/>
              <a:cs typeface="Calibri"/>
            </a:endParaRPr>
          </a:p>
          <a:p>
            <a:r>
              <a:rPr lang="en-US" dirty="0">
                <a:ea typeface="Calibri"/>
                <a:cs typeface="Calibri"/>
              </a:rPr>
              <a:t>Essence – meets customer expectations and goals, apart from being clear and feasible</a:t>
            </a:r>
          </a:p>
          <a:p>
            <a:r>
              <a:rPr lang="en-US" dirty="0">
                <a:ea typeface="Calibri"/>
                <a:cs typeface="Calibri"/>
              </a:rPr>
              <a:t>Can overlap</a:t>
            </a:r>
            <a:r>
              <a:rPr lang="en-US" dirty="0">
                <a:ea typeface="+mn-lt"/>
                <a:cs typeface="+mn-lt"/>
              </a:rPr>
              <a:t> with elicitation and analysis, as it is concerned with finding problems with the requirements</a:t>
            </a:r>
            <a:endParaRPr lang="en-US" dirty="0">
              <a:ea typeface="Calibri" panose="020F0502020204030204"/>
              <a:cs typeface="Calibri" panose="020F0502020204030204"/>
            </a:endParaRPr>
          </a:p>
          <a:p>
            <a:r>
              <a:rPr lang="en-US" dirty="0">
                <a:ea typeface="Calibri" panose="020F0502020204030204"/>
                <a:cs typeface="Calibri" panose="020F0502020204030204"/>
              </a:rPr>
              <a:t>Critically important since errors in requirements document can lead to extensive rework</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EF285E21-755C-A290-2BD1-E788380BB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2863D48-DAD0-49FD-16DD-FEDB56AE917D}"/>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BE5BC590-4E2B-F070-46BB-1A2D2F7EECB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71602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A110B-9C50-4AA6-0E6E-B573A9CC0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D24A9-A36B-C897-B42D-BB1D2322BD76}"/>
              </a:ext>
            </a:extLst>
          </p:cNvPr>
          <p:cNvSpPr>
            <a:spLocks noGrp="1"/>
          </p:cNvSpPr>
          <p:nvPr>
            <p:ph type="title"/>
          </p:nvPr>
        </p:nvSpPr>
        <p:spPr/>
        <p:txBody>
          <a:bodyPr/>
          <a:lstStyle/>
          <a:p>
            <a:r>
              <a:rPr lang="en-GB" dirty="0">
                <a:ea typeface="Calibri Light"/>
                <a:cs typeface="Calibri Light"/>
              </a:rPr>
              <a:t>Checks in Requirements validation</a:t>
            </a:r>
            <a:endParaRPr lang="en-US" dirty="0"/>
          </a:p>
        </p:txBody>
      </p:sp>
      <p:sp>
        <p:nvSpPr>
          <p:cNvPr id="3" name="Content Placeholder 2">
            <a:extLst>
              <a:ext uri="{FF2B5EF4-FFF2-40B4-BE49-F238E27FC236}">
                <a16:creationId xmlns:a16="http://schemas.microsoft.com/office/drawing/2014/main" id="{F7100F6C-DF56-4EEC-5FA0-6E681179E3FB}"/>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Validity checks:</a:t>
            </a:r>
            <a:r>
              <a:rPr lang="en-US" dirty="0">
                <a:ea typeface="+mn-lt"/>
                <a:cs typeface="+mn-lt"/>
              </a:rPr>
              <a:t> These check that the requirements reflect the real needs of system users</a:t>
            </a:r>
            <a:endParaRPr lang="en-US">
              <a:ea typeface="Calibri"/>
              <a:cs typeface="Calibri"/>
            </a:endParaRPr>
          </a:p>
          <a:p>
            <a:r>
              <a:rPr lang="en-US" b="1" dirty="0">
                <a:ea typeface="+mn-lt"/>
                <a:cs typeface="+mn-lt"/>
              </a:rPr>
              <a:t>Consistency checks:</a:t>
            </a:r>
            <a:r>
              <a:rPr lang="en-US" dirty="0">
                <a:ea typeface="+mn-lt"/>
                <a:cs typeface="+mn-lt"/>
              </a:rPr>
              <a:t> Requirements in the document should not conflict</a:t>
            </a:r>
            <a:endParaRPr lang="en-US" dirty="0">
              <a:ea typeface="Calibri"/>
              <a:cs typeface="Calibri"/>
            </a:endParaRPr>
          </a:p>
          <a:p>
            <a:r>
              <a:rPr lang="en-US" b="1" dirty="0">
                <a:ea typeface="+mn-lt"/>
                <a:cs typeface="+mn-lt"/>
              </a:rPr>
              <a:t>Completeness checks:</a:t>
            </a:r>
            <a:r>
              <a:rPr lang="en-US" dirty="0">
                <a:ea typeface="+mn-lt"/>
                <a:cs typeface="+mn-lt"/>
              </a:rPr>
              <a:t> The requirements document should include requirements that define all functions and the constraints</a:t>
            </a:r>
            <a:endParaRPr lang="en-US" dirty="0">
              <a:ea typeface="Calibri" panose="020F0502020204030204"/>
              <a:cs typeface="Calibri" panose="020F0502020204030204"/>
            </a:endParaRPr>
          </a:p>
          <a:p>
            <a:r>
              <a:rPr lang="en-US" b="1" dirty="0">
                <a:ea typeface="+mn-lt"/>
                <a:cs typeface="+mn-lt"/>
              </a:rPr>
              <a:t>Realism checks:</a:t>
            </a:r>
            <a:r>
              <a:rPr lang="en-US" dirty="0">
                <a:ea typeface="+mn-lt"/>
                <a:cs typeface="+mn-lt"/>
              </a:rPr>
              <a:t> (by using knowledge of existing tech.,) ensure that system can be implemented in time and budget constraints</a:t>
            </a:r>
            <a:endParaRPr lang="en-US" dirty="0">
              <a:ea typeface="Calibri"/>
              <a:cs typeface="Calibri"/>
            </a:endParaRPr>
          </a:p>
          <a:p>
            <a:r>
              <a:rPr lang="en-US" b="1" dirty="0">
                <a:ea typeface="Calibri"/>
                <a:cs typeface="Calibri"/>
              </a:rPr>
              <a:t>Verifiability:</a:t>
            </a:r>
            <a:r>
              <a:rPr lang="en-US" dirty="0">
                <a:ea typeface="Calibri"/>
                <a:cs typeface="Calibri"/>
              </a:rPr>
              <a:t> </a:t>
            </a:r>
            <a:r>
              <a:rPr lang="en-US" dirty="0">
                <a:ea typeface="+mn-lt"/>
                <a:cs typeface="+mn-lt"/>
              </a:rPr>
              <a:t>System requirements should always be written so that they are verifiable</a:t>
            </a:r>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607EE1D7-2293-4EA2-7768-029985B362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82615DF-5872-D3F7-C330-CDEBF5AAC161}"/>
              </a:ext>
            </a:extLst>
          </p:cNvPr>
          <p:cNvSpPr>
            <a:spLocks noGrp="1"/>
          </p:cNvSpPr>
          <p:nvPr>
            <p:ph type="sldNum" sz="quarter" idx="12"/>
          </p:nvPr>
        </p:nvSpPr>
        <p:spPr/>
        <p:txBody>
          <a:bodyPr/>
          <a:lstStyle/>
          <a:p>
            <a:fld id="{008559AE-1842-40A5-A2A9-0518F39FD1A9}" type="slidenum">
              <a:rPr lang="en-US" smtClean="0"/>
              <a:t>41</a:t>
            </a:fld>
            <a:endParaRPr lang="en-GB"/>
          </a:p>
        </p:txBody>
      </p:sp>
      <p:sp>
        <p:nvSpPr>
          <p:cNvPr id="7" name="Footer Placeholder 6">
            <a:extLst>
              <a:ext uri="{FF2B5EF4-FFF2-40B4-BE49-F238E27FC236}">
                <a16:creationId xmlns:a16="http://schemas.microsoft.com/office/drawing/2014/main" id="{E26B1668-E04A-3B81-8743-889C63B1F48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34908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198D4-CA9B-C08E-D16F-5C40B3F44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17463-49CE-E56B-BB99-6485786A9EF8}"/>
              </a:ext>
            </a:extLst>
          </p:cNvPr>
          <p:cNvSpPr>
            <a:spLocks noGrp="1"/>
          </p:cNvSpPr>
          <p:nvPr>
            <p:ph type="title"/>
          </p:nvPr>
        </p:nvSpPr>
        <p:spPr/>
        <p:txBody>
          <a:bodyPr/>
          <a:lstStyle/>
          <a:p>
            <a:r>
              <a:rPr lang="en-GB" dirty="0">
                <a:ea typeface="Calibri Light"/>
                <a:cs typeface="Calibri Light"/>
              </a:rPr>
              <a:t>Checks in Requirements validation - Example</a:t>
            </a:r>
            <a:endParaRPr lang="en-US" dirty="0"/>
          </a:p>
        </p:txBody>
      </p:sp>
      <p:sp>
        <p:nvSpPr>
          <p:cNvPr id="3" name="Content Placeholder 2">
            <a:extLst>
              <a:ext uri="{FF2B5EF4-FFF2-40B4-BE49-F238E27FC236}">
                <a16:creationId xmlns:a16="http://schemas.microsoft.com/office/drawing/2014/main" id="{8E631F88-E0C8-A9B0-4D94-35FEA3EB3D04}"/>
              </a:ext>
            </a:extLst>
          </p:cNvPr>
          <p:cNvSpPr>
            <a:spLocks noGrp="1"/>
          </p:cNvSpPr>
          <p:nvPr>
            <p:ph idx="1"/>
          </p:nvPr>
        </p:nvSpPr>
        <p:spPr>
          <a:xfrm>
            <a:off x="838200" y="1690328"/>
            <a:ext cx="10515600" cy="5031147"/>
          </a:xfrm>
        </p:spPr>
        <p:txBody>
          <a:bodyPr vert="horz" lIns="91440" tIns="45720" rIns="91440" bIns="45720" rtlCol="0" anchor="t">
            <a:normAutofit fontScale="85000" lnSpcReduction="10000"/>
          </a:bodyPr>
          <a:lstStyle/>
          <a:p>
            <a:r>
              <a:rPr lang="en-US" b="1" dirty="0">
                <a:ea typeface="+mn-lt"/>
                <a:cs typeface="+mn-lt"/>
              </a:rPr>
              <a:t>Validity Check:</a:t>
            </a:r>
            <a:endParaRPr lang="en-US" dirty="0">
              <a:ea typeface="+mn-lt"/>
              <a:cs typeface="+mn-lt"/>
            </a:endParaRPr>
          </a:p>
          <a:p>
            <a:pPr lvl="1" indent="-457200"/>
            <a:r>
              <a:rPr lang="en-US" i="1" dirty="0">
                <a:ea typeface="+mn-lt"/>
                <a:cs typeface="+mn-lt"/>
              </a:rPr>
              <a:t>Does the student portal actually help students register for courses in a way that matches their real needs and expectations? (simply: does it do what it is supposed to do)</a:t>
            </a:r>
            <a:endParaRPr lang="en-US" dirty="0">
              <a:ea typeface="Calibri" panose="020F0502020204030204"/>
              <a:cs typeface="Calibri" panose="020F0502020204030204"/>
            </a:endParaRPr>
          </a:p>
          <a:p>
            <a:r>
              <a:rPr lang="en-US" b="1" dirty="0">
                <a:ea typeface="+mn-lt"/>
                <a:cs typeface="+mn-lt"/>
              </a:rPr>
              <a:t>Consistency Check:</a:t>
            </a:r>
            <a:endParaRPr lang="en-US" dirty="0">
              <a:ea typeface="+mn-lt"/>
              <a:cs typeface="+mn-lt"/>
            </a:endParaRPr>
          </a:p>
          <a:p>
            <a:pPr lvl="1" indent="-457200"/>
            <a:r>
              <a:rPr lang="en-US" i="1" dirty="0">
                <a:ea typeface="+mn-lt"/>
                <a:cs typeface="+mn-lt"/>
              </a:rPr>
              <a:t>If one requirement states that students can reset their password via email, another requirement should not say that password resets are only possible through the IT helpdesk</a:t>
            </a:r>
            <a:endParaRPr lang="en-US" dirty="0">
              <a:ea typeface="Calibri" panose="020F0502020204030204"/>
              <a:cs typeface="Calibri" panose="020F0502020204030204"/>
            </a:endParaRPr>
          </a:p>
          <a:p>
            <a:r>
              <a:rPr lang="en-US" b="1" dirty="0">
                <a:ea typeface="+mn-lt"/>
                <a:cs typeface="+mn-lt"/>
              </a:rPr>
              <a:t>Completeness Check:</a:t>
            </a:r>
            <a:endParaRPr lang="en-US" dirty="0">
              <a:ea typeface="+mn-lt"/>
              <a:cs typeface="+mn-lt"/>
            </a:endParaRPr>
          </a:p>
          <a:p>
            <a:pPr lvl="1" indent="-457200"/>
            <a:r>
              <a:rPr lang="en-US" i="1" dirty="0">
                <a:ea typeface="+mn-lt"/>
                <a:cs typeface="+mn-lt"/>
              </a:rPr>
              <a:t>The student portal requirements should include course registration, fee payment, grade viewing, and any necessary constraints (e.g., prerequisite enforcement)</a:t>
            </a:r>
            <a:endParaRPr lang="en-US" dirty="0">
              <a:ea typeface="Calibri" panose="020F0502020204030204"/>
              <a:cs typeface="Calibri" panose="020F0502020204030204"/>
            </a:endParaRPr>
          </a:p>
          <a:p>
            <a:r>
              <a:rPr lang="en-US" b="1" dirty="0">
                <a:ea typeface="+mn-lt"/>
                <a:cs typeface="+mn-lt"/>
              </a:rPr>
              <a:t>Realism Check:</a:t>
            </a:r>
            <a:endParaRPr lang="en-US" dirty="0">
              <a:ea typeface="+mn-lt"/>
              <a:cs typeface="+mn-lt"/>
            </a:endParaRPr>
          </a:p>
          <a:p>
            <a:pPr lvl="1" indent="-457200"/>
            <a:r>
              <a:rPr lang="en-US" i="1" dirty="0">
                <a:ea typeface="+mn-lt"/>
                <a:cs typeface="+mn-lt"/>
              </a:rPr>
              <a:t>A requirement that says "The student portal should process 1 million registrations per second" is unrealistic given the university’s current infrastructure and budget</a:t>
            </a:r>
            <a:endParaRPr lang="en-US" dirty="0">
              <a:ea typeface="Calibri" panose="020F0502020204030204"/>
              <a:cs typeface="Calibri" panose="020F0502020204030204"/>
            </a:endParaRPr>
          </a:p>
          <a:p>
            <a:r>
              <a:rPr lang="en-US" b="1" dirty="0">
                <a:ea typeface="+mn-lt"/>
                <a:cs typeface="+mn-lt"/>
              </a:rPr>
              <a:t>Verifiability Check:</a:t>
            </a:r>
            <a:endParaRPr lang="en-US" dirty="0">
              <a:ea typeface="+mn-lt"/>
              <a:cs typeface="+mn-lt"/>
            </a:endParaRPr>
          </a:p>
          <a:p>
            <a:pPr lvl="1" indent="-457200"/>
            <a:r>
              <a:rPr lang="en-US" i="1" dirty="0">
                <a:ea typeface="+mn-lt"/>
                <a:cs typeface="+mn-lt"/>
              </a:rPr>
              <a:t>The system should allow students to reset their password within 5 minutes of requesting a reset link (this can be tested and measured)</a:t>
            </a:r>
            <a:endParaRPr lang="en-US" dirty="0">
              <a:ea typeface="Calibri"/>
              <a:cs typeface="Calibri"/>
            </a:endParaRPr>
          </a:p>
          <a:p>
            <a:endParaRPr lang="en-US" b="1"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2790A84-AF4C-8837-1618-3C70E4B3D4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478CCD4-1CF7-C0A1-3B0F-9A6107FBACA3}"/>
              </a:ext>
            </a:extLst>
          </p:cNvPr>
          <p:cNvSpPr>
            <a:spLocks noGrp="1"/>
          </p:cNvSpPr>
          <p:nvPr>
            <p:ph type="sldNum" sz="quarter" idx="12"/>
          </p:nvPr>
        </p:nvSpPr>
        <p:spPr/>
        <p:txBody>
          <a:bodyPr/>
          <a:lstStyle/>
          <a:p>
            <a:fld id="{008559AE-1842-40A5-A2A9-0518F39FD1A9}" type="slidenum">
              <a:rPr lang="en-US" smtClean="0"/>
              <a:t>42</a:t>
            </a:fld>
            <a:endParaRPr lang="en-GB"/>
          </a:p>
        </p:txBody>
      </p:sp>
      <p:sp>
        <p:nvSpPr>
          <p:cNvPr id="7" name="Footer Placeholder 6">
            <a:extLst>
              <a:ext uri="{FF2B5EF4-FFF2-40B4-BE49-F238E27FC236}">
                <a16:creationId xmlns:a16="http://schemas.microsoft.com/office/drawing/2014/main" id="{5BC942B5-7F8A-043A-B22B-2BD9DD79823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595328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6C747-3ECF-5BB2-A06A-03B977351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59066-5911-3700-F086-05B60037EF77}"/>
              </a:ext>
            </a:extLst>
          </p:cNvPr>
          <p:cNvSpPr>
            <a:spLocks noGrp="1"/>
          </p:cNvSpPr>
          <p:nvPr>
            <p:ph type="title"/>
          </p:nvPr>
        </p:nvSpPr>
        <p:spPr/>
        <p:txBody>
          <a:bodyPr/>
          <a:lstStyle/>
          <a:p>
            <a:r>
              <a:rPr lang="en-GB" dirty="0">
                <a:ea typeface="Calibri Light"/>
                <a:cs typeface="Calibri Light"/>
              </a:rPr>
              <a:t>Requirements validation techniques</a:t>
            </a:r>
          </a:p>
        </p:txBody>
      </p:sp>
      <p:sp>
        <p:nvSpPr>
          <p:cNvPr id="3" name="Content Placeholder 2">
            <a:extLst>
              <a:ext uri="{FF2B5EF4-FFF2-40B4-BE49-F238E27FC236}">
                <a16:creationId xmlns:a16="http://schemas.microsoft.com/office/drawing/2014/main" id="{6A2D9CE9-4937-29E3-5996-EB10D5B49993}"/>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dirty="0">
                <a:ea typeface="+mn-lt"/>
                <a:cs typeface="+mn-lt"/>
              </a:rPr>
              <a:t>Requirements reviews:</a:t>
            </a:r>
            <a:r>
              <a:rPr lang="en-US" dirty="0">
                <a:ea typeface="+mn-lt"/>
                <a:cs typeface="+mn-lt"/>
              </a:rPr>
              <a:t> The requirements are analyzed systematically by a team of reviewers who check for errors and inconsistencies</a:t>
            </a:r>
            <a:endParaRPr lang="en-US" dirty="0">
              <a:ea typeface="Calibri" panose="020F0502020204030204"/>
              <a:cs typeface="Calibri" panose="020F0502020204030204"/>
            </a:endParaRPr>
          </a:p>
          <a:p>
            <a:r>
              <a:rPr lang="en-US" b="1" dirty="0">
                <a:ea typeface="+mn-lt"/>
                <a:cs typeface="+mn-lt"/>
              </a:rPr>
              <a:t>Prototyping:</a:t>
            </a:r>
            <a:r>
              <a:rPr lang="en-US" dirty="0">
                <a:ea typeface="+mn-lt"/>
                <a:cs typeface="+mn-lt"/>
              </a:rPr>
              <a:t> This involves developing an executable model of a system and using this with end-users and customers to see if it meets their needs and expectations (stakeholders use prototype and feedback changes to requirements, if any)</a:t>
            </a:r>
            <a:endParaRPr lang="en-US" dirty="0"/>
          </a:p>
          <a:p>
            <a:r>
              <a:rPr lang="en-US" b="1" dirty="0">
                <a:ea typeface="+mn-lt"/>
                <a:cs typeface="+mn-lt"/>
              </a:rPr>
              <a:t>Test-case generation:</a:t>
            </a:r>
            <a:r>
              <a:rPr lang="en-US" dirty="0">
                <a:ea typeface="+mn-lt"/>
                <a:cs typeface="+mn-lt"/>
              </a:rPr>
              <a:t> Requirements should be testable. If the tests for the requirements are devised as part of the validation process, this often reveals requirements problems. If a test is difficult or impossible to design, this usually means that the requirements will be difficult to implement and should be reconsidered. Developing tests from the user requirements before any code is written is an integral part of test-driven development.</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D80F0337-6F51-72B1-2594-9645DF5F9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5C35479-A384-6174-F5E7-717638804180}"/>
              </a:ext>
            </a:extLst>
          </p:cNvPr>
          <p:cNvSpPr>
            <a:spLocks noGrp="1"/>
          </p:cNvSpPr>
          <p:nvPr>
            <p:ph type="sldNum" sz="quarter" idx="12"/>
          </p:nvPr>
        </p:nvSpPr>
        <p:spPr/>
        <p:txBody>
          <a:bodyPr/>
          <a:lstStyle/>
          <a:p>
            <a:fld id="{008559AE-1842-40A5-A2A9-0518F39FD1A9}" type="slidenum">
              <a:rPr lang="en-US" smtClean="0"/>
              <a:t>43</a:t>
            </a:fld>
            <a:endParaRPr lang="en-GB"/>
          </a:p>
        </p:txBody>
      </p:sp>
      <p:sp>
        <p:nvSpPr>
          <p:cNvPr id="7" name="Footer Placeholder 6">
            <a:extLst>
              <a:ext uri="{FF2B5EF4-FFF2-40B4-BE49-F238E27FC236}">
                <a16:creationId xmlns:a16="http://schemas.microsoft.com/office/drawing/2014/main" id="{3769E226-0461-9DA4-8D53-BDAF126EFE1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5503816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21ED2-DABF-A8F5-A6AA-AE7CBA26B3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81197-CE1A-D8B2-D357-C45FE2F0A6E2}"/>
              </a:ext>
            </a:extLst>
          </p:cNvPr>
          <p:cNvSpPr>
            <a:spLocks noGrp="1"/>
          </p:cNvSpPr>
          <p:nvPr>
            <p:ph type="title"/>
          </p:nvPr>
        </p:nvSpPr>
        <p:spPr>
          <a:xfrm>
            <a:off x="4313" y="34446"/>
            <a:ext cx="10515600" cy="1325563"/>
          </a:xfrm>
        </p:spPr>
        <p:txBody>
          <a:bodyPr/>
          <a:lstStyle/>
          <a:p>
            <a:r>
              <a:rPr lang="en-GB" dirty="0">
                <a:ea typeface="Calibri Light"/>
                <a:cs typeface="Calibri Light"/>
              </a:rPr>
              <a:t>How does test case generation help with requirements validation?</a:t>
            </a:r>
            <a:endParaRPr lang="en-US" dirty="0"/>
          </a:p>
        </p:txBody>
      </p:sp>
      <p:sp>
        <p:nvSpPr>
          <p:cNvPr id="3" name="Content Placeholder 2">
            <a:extLst>
              <a:ext uri="{FF2B5EF4-FFF2-40B4-BE49-F238E27FC236}">
                <a16:creationId xmlns:a16="http://schemas.microsoft.com/office/drawing/2014/main" id="{8296FA64-11E5-27A9-CAF0-3D0E20381939}"/>
              </a:ext>
            </a:extLst>
          </p:cNvPr>
          <p:cNvSpPr>
            <a:spLocks noGrp="1"/>
          </p:cNvSpPr>
          <p:nvPr>
            <p:ph idx="1"/>
          </p:nvPr>
        </p:nvSpPr>
        <p:spPr>
          <a:xfrm>
            <a:off x="824345" y="1511003"/>
            <a:ext cx="10515600" cy="5031147"/>
          </a:xfrm>
        </p:spPr>
        <p:txBody>
          <a:bodyPr vert="horz" lIns="91440" tIns="45720" rIns="91440" bIns="45720" rtlCol="0" anchor="t">
            <a:noAutofit/>
          </a:bodyPr>
          <a:lstStyle/>
          <a:p>
            <a:r>
              <a:rPr lang="en-US" sz="2000" b="1" dirty="0"/>
              <a:t>Confirms Functional Coverage</a:t>
            </a:r>
            <a:endParaRPr lang="en-US" sz="2000">
              <a:ea typeface="Calibri"/>
              <a:cs typeface="Calibri"/>
            </a:endParaRPr>
          </a:p>
          <a:p>
            <a:pPr lvl="1">
              <a:buFont typeface="Courier New" panose="020B0604020202020204" pitchFamily="34" charset="0"/>
              <a:buChar char="o"/>
            </a:pPr>
            <a:r>
              <a:rPr lang="en-US" sz="1800" dirty="0">
                <a:ea typeface="+mn-lt"/>
                <a:cs typeface="+mn-lt"/>
              </a:rPr>
              <a:t>Each test case is designed based on a </a:t>
            </a:r>
            <a:r>
              <a:rPr lang="en-US" sz="1800" b="1" dirty="0">
                <a:ea typeface="+mn-lt"/>
                <a:cs typeface="+mn-lt"/>
              </a:rPr>
              <a:t>requirement</a:t>
            </a:r>
            <a:r>
              <a:rPr lang="en-US" sz="1800" dirty="0">
                <a:ea typeface="+mn-lt"/>
                <a:cs typeface="+mn-lt"/>
              </a:rPr>
              <a:t>. One to one mapping. If test cases cover all requirements, it confirms that the system meets the intended functionality.</a:t>
            </a:r>
            <a:endParaRPr lang="en-US" sz="1800" dirty="0">
              <a:ea typeface="Calibri" panose="020F0502020204030204"/>
              <a:cs typeface="Calibri" panose="020F0502020204030204"/>
            </a:endParaRPr>
          </a:p>
          <a:p>
            <a:r>
              <a:rPr lang="en-US" sz="2000" b="1" dirty="0"/>
              <a:t>Identifies Missing or Ambiguous Requirements</a:t>
            </a:r>
            <a:endParaRPr lang="en-US" sz="2000">
              <a:ea typeface="Calibri"/>
              <a:cs typeface="Calibri"/>
            </a:endParaRPr>
          </a:p>
          <a:p>
            <a:pPr lvl="1">
              <a:buFont typeface="Courier New" panose="020B0604020202020204" pitchFamily="34" charset="0"/>
              <a:buChar char="o"/>
            </a:pPr>
            <a:r>
              <a:rPr lang="en-US" sz="1800" dirty="0">
                <a:ea typeface="+mn-lt"/>
                <a:cs typeface="+mn-lt"/>
              </a:rPr>
              <a:t>If a test case cannot be created for a requirement, it may indicate </a:t>
            </a:r>
            <a:r>
              <a:rPr lang="en-US" sz="1800" b="1" dirty="0">
                <a:ea typeface="+mn-lt"/>
                <a:cs typeface="+mn-lt"/>
              </a:rPr>
              <a:t>ambiguity or missing details</a:t>
            </a:r>
            <a:r>
              <a:rPr lang="en-US" sz="1800" dirty="0">
                <a:ea typeface="+mn-lt"/>
                <a:cs typeface="+mn-lt"/>
              </a:rPr>
              <a:t>.</a:t>
            </a:r>
            <a:endParaRPr lang="en-US" sz="1800">
              <a:ea typeface="Calibri"/>
              <a:cs typeface="Calibri"/>
            </a:endParaRPr>
          </a:p>
          <a:p>
            <a:pPr lvl="1">
              <a:buFont typeface="Courier New" panose="020B0604020202020204" pitchFamily="34" charset="0"/>
              <a:buChar char="o"/>
            </a:pPr>
            <a:r>
              <a:rPr lang="en-US" sz="1800" dirty="0">
                <a:ea typeface="+mn-lt"/>
                <a:cs typeface="+mn-lt"/>
              </a:rPr>
              <a:t>Example: If a requirement states, </a:t>
            </a:r>
            <a:r>
              <a:rPr lang="en-US" sz="1800" i="1" dirty="0">
                <a:ea typeface="+mn-lt"/>
                <a:cs typeface="+mn-lt"/>
              </a:rPr>
              <a:t>"The system should allow users to reset their password,"</a:t>
            </a:r>
            <a:r>
              <a:rPr lang="en-US" sz="1800" dirty="0">
                <a:ea typeface="+mn-lt"/>
                <a:cs typeface="+mn-lt"/>
              </a:rPr>
              <a:t> but does not specify constraints (e.g., password complexity rules), test case generation will highlight this gap.</a:t>
            </a:r>
            <a:endParaRPr lang="en-US" sz="1800" dirty="0">
              <a:ea typeface="Calibri"/>
              <a:cs typeface="Calibri"/>
            </a:endParaRPr>
          </a:p>
          <a:p>
            <a:r>
              <a:rPr lang="en-US" sz="2000" b="1" dirty="0"/>
              <a:t>Detects Incorrect or Conflicting Requirements</a:t>
            </a:r>
            <a:endParaRPr lang="en-US" sz="2000" dirty="0">
              <a:ea typeface="Calibri"/>
              <a:cs typeface="Calibri"/>
            </a:endParaRPr>
          </a:p>
          <a:p>
            <a:pPr lvl="1">
              <a:buFont typeface="Courier New" panose="020B0604020202020204" pitchFamily="34" charset="0"/>
              <a:buChar char="o"/>
            </a:pPr>
            <a:r>
              <a:rPr lang="en-US" sz="1800" dirty="0">
                <a:ea typeface="+mn-lt"/>
                <a:cs typeface="+mn-lt"/>
              </a:rPr>
              <a:t>If a test case fails, it could mean the requirement is </a:t>
            </a:r>
            <a:r>
              <a:rPr lang="en-US" sz="1800" b="1" dirty="0">
                <a:ea typeface="+mn-lt"/>
                <a:cs typeface="+mn-lt"/>
              </a:rPr>
              <a:t>incorrect, unrealistic, or conflicting</a:t>
            </a:r>
            <a:r>
              <a:rPr lang="en-US" sz="1800" dirty="0">
                <a:ea typeface="+mn-lt"/>
                <a:cs typeface="+mn-lt"/>
              </a:rPr>
              <a:t> with another requirement.</a:t>
            </a:r>
            <a:endParaRPr lang="en-US" sz="1800" dirty="0">
              <a:ea typeface="Calibri"/>
              <a:cs typeface="Calibri"/>
            </a:endParaRPr>
          </a:p>
          <a:p>
            <a:pPr lvl="1">
              <a:buFont typeface="Courier New" panose="020B0604020202020204" pitchFamily="34" charset="0"/>
              <a:buChar char="o"/>
            </a:pPr>
            <a:r>
              <a:rPr lang="en-US" sz="1800" dirty="0">
                <a:ea typeface="+mn-lt"/>
                <a:cs typeface="+mn-lt"/>
              </a:rPr>
              <a:t>Example: One requirement says, </a:t>
            </a:r>
            <a:r>
              <a:rPr lang="en-US" sz="1800" i="1" dirty="0">
                <a:ea typeface="+mn-lt"/>
                <a:cs typeface="+mn-lt"/>
              </a:rPr>
              <a:t>"Users must be logged in to view reports,"</a:t>
            </a:r>
            <a:r>
              <a:rPr lang="en-US" sz="1800" dirty="0">
                <a:ea typeface="+mn-lt"/>
                <a:cs typeface="+mn-lt"/>
              </a:rPr>
              <a:t> but another says, </a:t>
            </a:r>
            <a:r>
              <a:rPr lang="en-US" sz="1800" i="1" dirty="0">
                <a:ea typeface="+mn-lt"/>
                <a:cs typeface="+mn-lt"/>
              </a:rPr>
              <a:t>"Users can access reports without logging in."</a:t>
            </a:r>
            <a:r>
              <a:rPr lang="en-US" sz="1800" dirty="0">
                <a:ea typeface="+mn-lt"/>
                <a:cs typeface="+mn-lt"/>
              </a:rPr>
              <a:t> Test cases will reveal this inconsistency</a:t>
            </a:r>
            <a:endParaRPr lang="en-US" sz="1800" dirty="0">
              <a:ea typeface="Calibri"/>
              <a:cs typeface="Calibri"/>
            </a:endParaRPr>
          </a:p>
          <a:p>
            <a:pPr lvl="1">
              <a:buFont typeface="Courier New" panose="020B0604020202020204" pitchFamily="34" charset="0"/>
              <a:buChar char="o"/>
            </a:pPr>
            <a:r>
              <a:rPr lang="en-US" sz="1800" dirty="0">
                <a:ea typeface="Calibri"/>
                <a:cs typeface="Calibri"/>
              </a:rPr>
              <a:t>Example: One requirement says, "</a:t>
            </a:r>
            <a:r>
              <a:rPr lang="en-US" sz="1800" i="1" dirty="0">
                <a:ea typeface="+mn-lt"/>
                <a:cs typeface="+mn-lt"/>
              </a:rPr>
              <a:t>Students must be able to register for any course at any time, without any restrictions.</a:t>
            </a:r>
            <a:r>
              <a:rPr lang="en-US" sz="1800" dirty="0">
                <a:ea typeface="Calibri" panose="020F0502020204030204"/>
                <a:cs typeface="Calibri" panose="020F0502020204030204"/>
              </a:rPr>
              <a:t>" Here the test case might reveal that the requirement is incorrect since universities allow registration at start of semester</a:t>
            </a:r>
          </a:p>
        </p:txBody>
      </p:sp>
      <p:pic>
        <p:nvPicPr>
          <p:cNvPr id="6" name="Picture 5" descr="A black and white logo&#10;&#10;Description automatically generated">
            <a:extLst>
              <a:ext uri="{FF2B5EF4-FFF2-40B4-BE49-F238E27FC236}">
                <a16:creationId xmlns:a16="http://schemas.microsoft.com/office/drawing/2014/main" id="{1167DD30-302B-709D-6C0B-F879764445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FD74513-2554-C60E-03C4-D31B610449B7}"/>
              </a:ext>
            </a:extLst>
          </p:cNvPr>
          <p:cNvSpPr>
            <a:spLocks noGrp="1"/>
          </p:cNvSpPr>
          <p:nvPr>
            <p:ph type="sldNum" sz="quarter" idx="12"/>
          </p:nvPr>
        </p:nvSpPr>
        <p:spPr/>
        <p:txBody>
          <a:bodyPr/>
          <a:lstStyle/>
          <a:p>
            <a:fld id="{008559AE-1842-40A5-A2A9-0518F39FD1A9}" type="slidenum">
              <a:rPr lang="en-US" smtClean="0"/>
              <a:t>44</a:t>
            </a:fld>
            <a:endParaRPr lang="en-GB"/>
          </a:p>
        </p:txBody>
      </p:sp>
      <p:sp>
        <p:nvSpPr>
          <p:cNvPr id="7" name="Footer Placeholder 6">
            <a:extLst>
              <a:ext uri="{FF2B5EF4-FFF2-40B4-BE49-F238E27FC236}">
                <a16:creationId xmlns:a16="http://schemas.microsoft.com/office/drawing/2014/main" id="{C8BF4629-8902-1D9D-A551-8010BBAF51D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99638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9C6EF-AFE5-61FC-802D-A10EF1E7A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487B0-85E5-054E-35DA-0678DFE969B7}"/>
              </a:ext>
            </a:extLst>
          </p:cNvPr>
          <p:cNvSpPr>
            <a:spLocks noGrp="1"/>
          </p:cNvSpPr>
          <p:nvPr>
            <p:ph type="title"/>
          </p:nvPr>
        </p:nvSpPr>
        <p:spPr>
          <a:xfrm>
            <a:off x="4313" y="34446"/>
            <a:ext cx="10515600" cy="1325563"/>
          </a:xfrm>
        </p:spPr>
        <p:txBody>
          <a:bodyPr/>
          <a:lstStyle/>
          <a:p>
            <a:r>
              <a:rPr lang="en-GB" dirty="0">
                <a:ea typeface="Calibri Light"/>
                <a:cs typeface="Calibri Light"/>
              </a:rPr>
              <a:t>How does test case generation help with requirements validation?</a:t>
            </a:r>
            <a:endParaRPr lang="en-US" dirty="0"/>
          </a:p>
        </p:txBody>
      </p:sp>
      <p:sp>
        <p:nvSpPr>
          <p:cNvPr id="3" name="Content Placeholder 2">
            <a:extLst>
              <a:ext uri="{FF2B5EF4-FFF2-40B4-BE49-F238E27FC236}">
                <a16:creationId xmlns:a16="http://schemas.microsoft.com/office/drawing/2014/main" id="{2387E349-9BAD-78B5-7BA0-65DE7E9A979B}"/>
              </a:ext>
            </a:extLst>
          </p:cNvPr>
          <p:cNvSpPr>
            <a:spLocks noGrp="1"/>
          </p:cNvSpPr>
          <p:nvPr>
            <p:ph idx="1"/>
          </p:nvPr>
        </p:nvSpPr>
        <p:spPr>
          <a:xfrm>
            <a:off x="824345" y="1511003"/>
            <a:ext cx="10515600" cy="5031147"/>
          </a:xfrm>
        </p:spPr>
        <p:txBody>
          <a:bodyPr vert="horz" lIns="91440" tIns="45720" rIns="91440" bIns="45720" rtlCol="0" anchor="t">
            <a:noAutofit/>
          </a:bodyPr>
          <a:lstStyle/>
          <a:p>
            <a:r>
              <a:rPr lang="en-US" sz="2000" b="1" dirty="0"/>
              <a:t>Ensures Testability of Requirements</a:t>
            </a:r>
            <a:endParaRPr lang="en-US" sz="2000" dirty="0">
              <a:ea typeface="Calibri"/>
              <a:cs typeface="Calibri"/>
            </a:endParaRPr>
          </a:p>
          <a:p>
            <a:pPr lvl="1">
              <a:buFont typeface="Courier New" panose="020B0604020202020204" pitchFamily="34" charset="0"/>
              <a:buChar char="o"/>
            </a:pPr>
            <a:r>
              <a:rPr lang="en-US" sz="1800" dirty="0">
                <a:ea typeface="+mn-lt"/>
                <a:cs typeface="+mn-lt"/>
              </a:rPr>
              <a:t>If a requirement </a:t>
            </a:r>
            <a:r>
              <a:rPr lang="en-US" sz="1800" b="1" dirty="0">
                <a:ea typeface="+mn-lt"/>
                <a:cs typeface="+mn-lt"/>
              </a:rPr>
              <a:t>cannot be tested</a:t>
            </a:r>
            <a:r>
              <a:rPr lang="en-US" sz="1800" dirty="0">
                <a:ea typeface="+mn-lt"/>
                <a:cs typeface="+mn-lt"/>
              </a:rPr>
              <a:t>, it may be </a:t>
            </a:r>
            <a:r>
              <a:rPr lang="en-US" sz="1800" b="1" dirty="0">
                <a:ea typeface="+mn-lt"/>
                <a:cs typeface="+mn-lt"/>
              </a:rPr>
              <a:t>too vague or non-measurable</a:t>
            </a:r>
            <a:r>
              <a:rPr lang="en-US" sz="1800" dirty="0">
                <a:ea typeface="+mn-lt"/>
                <a:cs typeface="+mn-lt"/>
              </a:rPr>
              <a:t>.</a:t>
            </a:r>
            <a:endParaRPr lang="en-US" sz="1800">
              <a:ea typeface="Calibri"/>
              <a:cs typeface="Calibri"/>
            </a:endParaRPr>
          </a:p>
          <a:p>
            <a:pPr lvl="1">
              <a:buFont typeface="Courier New" panose="020B0604020202020204" pitchFamily="34" charset="0"/>
              <a:buChar char="o"/>
            </a:pPr>
            <a:r>
              <a:rPr lang="en-US" sz="1800" dirty="0">
                <a:ea typeface="+mn-lt"/>
                <a:cs typeface="+mn-lt"/>
              </a:rPr>
              <a:t>Example: </a:t>
            </a:r>
            <a:r>
              <a:rPr lang="en-US" sz="1800" i="1" dirty="0">
                <a:ea typeface="+mn-lt"/>
                <a:cs typeface="+mn-lt"/>
              </a:rPr>
              <a:t>"The system should be user-friendly."</a:t>
            </a:r>
            <a:r>
              <a:rPr lang="en-US" sz="1800" dirty="0">
                <a:ea typeface="+mn-lt"/>
                <a:cs typeface="+mn-lt"/>
              </a:rPr>
              <a:t> This is subjective and cannot be directly tested, so it needs clearer criteria like </a:t>
            </a:r>
            <a:r>
              <a:rPr lang="en-US" sz="1800" i="1" dirty="0">
                <a:ea typeface="+mn-lt"/>
                <a:cs typeface="+mn-lt"/>
              </a:rPr>
              <a:t>"The system should load within 2 seconds."</a:t>
            </a:r>
            <a:endParaRPr lang="en-US" sz="1800" dirty="0">
              <a:ea typeface="Calibri"/>
              <a:cs typeface="Calibri"/>
            </a:endParaRPr>
          </a:p>
          <a:p>
            <a:r>
              <a:rPr lang="en-US" sz="2000" b="1" dirty="0"/>
              <a:t>Validates Business Logic and User Scenarios</a:t>
            </a:r>
            <a:endParaRPr lang="en-US" sz="2000" dirty="0">
              <a:ea typeface="Calibri"/>
              <a:cs typeface="Calibri"/>
            </a:endParaRPr>
          </a:p>
          <a:p>
            <a:pPr lvl="1">
              <a:buFont typeface="Courier New" panose="020B0604020202020204" pitchFamily="34" charset="0"/>
              <a:buChar char="o"/>
            </a:pPr>
            <a:r>
              <a:rPr lang="en-US" sz="1800" dirty="0">
                <a:ea typeface="+mn-lt"/>
                <a:cs typeface="+mn-lt"/>
              </a:rPr>
              <a:t>Test cases simulate </a:t>
            </a:r>
            <a:r>
              <a:rPr lang="en-US" sz="1800" b="1" dirty="0">
                <a:ea typeface="+mn-lt"/>
                <a:cs typeface="+mn-lt"/>
              </a:rPr>
              <a:t>real-world usage</a:t>
            </a:r>
            <a:r>
              <a:rPr lang="en-US" sz="1800" dirty="0">
                <a:ea typeface="+mn-lt"/>
                <a:cs typeface="+mn-lt"/>
              </a:rPr>
              <a:t> to check if the system aligns with business needs and user expectations</a:t>
            </a:r>
          </a:p>
          <a:p>
            <a:pPr lvl="1">
              <a:buFont typeface="Courier New" panose="020B0604020202020204" pitchFamily="34" charset="0"/>
              <a:buChar char="o"/>
            </a:pPr>
            <a:r>
              <a:rPr lang="en-US" sz="1800" dirty="0">
                <a:ea typeface="Calibri"/>
                <a:cs typeface="Calibri"/>
              </a:rPr>
              <a:t>Example: </a:t>
            </a:r>
            <a:r>
              <a:rPr lang="en-US" sz="1800" i="1" dirty="0">
                <a:ea typeface="Calibri"/>
                <a:cs typeface="Calibri"/>
              </a:rPr>
              <a:t>A test case </a:t>
            </a:r>
            <a:r>
              <a:rPr lang="en-US" sz="1800" i="1" dirty="0">
                <a:ea typeface="+mn-lt"/>
                <a:cs typeface="+mn-lt"/>
              </a:rPr>
              <a:t>simulates students accessing their grades to verify that only authorized students can view them, or only authorized professor(s) can assign and publish grades</a:t>
            </a:r>
            <a:r>
              <a:rPr lang="en-US" sz="1800" dirty="0">
                <a:ea typeface="+mn-lt"/>
                <a:cs typeface="+mn-lt"/>
              </a:rPr>
              <a:t>. This way, the test case ensures that business logic and user scenarios are satisfied</a:t>
            </a:r>
            <a:endParaRPr lang="en-US" sz="1800"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D4E5234C-F58E-2473-CE0C-48F9313056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EB95079-CA65-6ED8-3023-631E2F60034B}"/>
              </a:ext>
            </a:extLst>
          </p:cNvPr>
          <p:cNvSpPr>
            <a:spLocks noGrp="1"/>
          </p:cNvSpPr>
          <p:nvPr>
            <p:ph type="sldNum" sz="quarter" idx="12"/>
          </p:nvPr>
        </p:nvSpPr>
        <p:spPr/>
        <p:txBody>
          <a:bodyPr/>
          <a:lstStyle/>
          <a:p>
            <a:fld id="{008559AE-1842-40A5-A2A9-0518F39FD1A9}" type="slidenum">
              <a:rPr lang="en-US" smtClean="0"/>
              <a:t>45</a:t>
            </a:fld>
            <a:endParaRPr lang="en-GB"/>
          </a:p>
        </p:txBody>
      </p:sp>
      <p:sp>
        <p:nvSpPr>
          <p:cNvPr id="7" name="Footer Placeholder 6">
            <a:extLst>
              <a:ext uri="{FF2B5EF4-FFF2-40B4-BE49-F238E27FC236}">
                <a16:creationId xmlns:a16="http://schemas.microsoft.com/office/drawing/2014/main" id="{0CF2B4C4-4C05-E9E7-2797-BA097CD3BB7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592925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6D57-EE18-EEF2-ADA4-EB3F3716E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2728C-C7D6-DAD9-62B6-DEEFB338EBE9}"/>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A4EBA04A-5FAB-3C85-BEBB-7175D74CD3B9}"/>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a:cs typeface="Calibri"/>
              </a:rPr>
              <a:t>Requirements Management</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95AD5B8-9F03-3071-6470-81B6F50DB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519F4E5-4B37-E7E8-3ADB-7DCA5FDDD7E9}"/>
              </a:ext>
            </a:extLst>
          </p:cNvPr>
          <p:cNvSpPr>
            <a:spLocks noGrp="1"/>
          </p:cNvSpPr>
          <p:nvPr>
            <p:ph type="sldNum" sz="quarter" idx="12"/>
          </p:nvPr>
        </p:nvSpPr>
        <p:spPr/>
        <p:txBody>
          <a:bodyPr/>
          <a:lstStyle/>
          <a:p>
            <a:fld id="{008559AE-1842-40A5-A2A9-0518F39FD1A9}" type="slidenum">
              <a:rPr lang="en-US" smtClean="0"/>
              <a:t>46</a:t>
            </a:fld>
            <a:endParaRPr lang="en-GB"/>
          </a:p>
        </p:txBody>
      </p:sp>
      <p:sp>
        <p:nvSpPr>
          <p:cNvPr id="7" name="Footer Placeholder 6">
            <a:extLst>
              <a:ext uri="{FF2B5EF4-FFF2-40B4-BE49-F238E27FC236}">
                <a16:creationId xmlns:a16="http://schemas.microsoft.com/office/drawing/2014/main" id="{1D23744C-1BD2-37D5-7FD9-4EADEF45C72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532592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FB3EE-459C-F6CB-729E-6053EAE7E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54437-25C6-DE06-F11C-2FF824CED423}"/>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CBD7EC55-E3FE-AC8A-B8AD-8424FBAF0CA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The requirements for large software systems are </a:t>
            </a:r>
            <a:r>
              <a:rPr lang="en-US" dirty="0">
                <a:highlight>
                  <a:srgbClr val="FFFF00"/>
                </a:highlight>
                <a:ea typeface="+mn-lt"/>
                <a:cs typeface="+mn-lt"/>
              </a:rPr>
              <a:t>always changing</a:t>
            </a:r>
            <a:endParaRPr lang="en-US" dirty="0">
              <a:highlight>
                <a:srgbClr val="FFFF00"/>
              </a:highlight>
              <a:ea typeface="Calibri" panose="020F0502020204030204"/>
              <a:cs typeface="Calibri" panose="020F0502020204030204"/>
            </a:endParaRPr>
          </a:p>
          <a:p>
            <a:r>
              <a:rPr lang="en-US" dirty="0">
                <a:ea typeface="Calibri" panose="020F0502020204030204"/>
                <a:cs typeface="Calibri" panose="020F0502020204030204"/>
              </a:rPr>
              <a:t>Due to "wicked" problems - </a:t>
            </a:r>
            <a:r>
              <a:rPr lang="en-US" dirty="0">
                <a:ea typeface="+mn-lt"/>
                <a:cs typeface="+mn-lt"/>
              </a:rPr>
              <a:t>problems that cannot be </a:t>
            </a:r>
            <a:r>
              <a:rPr lang="en-US" dirty="0">
                <a:highlight>
                  <a:srgbClr val="FFFF00"/>
                </a:highlight>
                <a:ea typeface="+mn-lt"/>
                <a:cs typeface="+mn-lt"/>
              </a:rPr>
              <a:t>completely defined</a:t>
            </a:r>
            <a:r>
              <a:rPr lang="en-US" dirty="0">
                <a:ea typeface="+mn-lt"/>
                <a:cs typeface="+mn-lt"/>
              </a:rPr>
              <a:t> (example in next slide)</a:t>
            </a:r>
            <a:endParaRPr lang="en-US" dirty="0">
              <a:ea typeface="Calibri" panose="020F0502020204030204"/>
              <a:cs typeface="Calibri" panose="020F0502020204030204"/>
            </a:endParaRPr>
          </a:p>
          <a:p>
            <a:r>
              <a:rPr lang="en-US" dirty="0">
                <a:ea typeface="+mn-lt"/>
                <a:cs typeface="+mn-lt"/>
              </a:rPr>
              <a:t>During the software development process, the stakeholders’ understanding of the problem is constantly changing</a:t>
            </a:r>
            <a:endParaRPr lang="en-US" dirty="0">
              <a:ea typeface="Calibri" panose="020F0502020204030204"/>
              <a:cs typeface="Calibri" panose="020F0502020204030204"/>
            </a:endParaRPr>
          </a:p>
          <a:p>
            <a:r>
              <a:rPr lang="en-US" dirty="0">
                <a:ea typeface="+mn-lt"/>
                <a:cs typeface="+mn-lt"/>
              </a:rPr>
              <a:t>Once a system has been installed and is regularly used, </a:t>
            </a:r>
            <a:r>
              <a:rPr lang="en-US" dirty="0">
                <a:highlight>
                  <a:srgbClr val="FFFF00"/>
                </a:highlight>
                <a:ea typeface="+mn-lt"/>
                <a:cs typeface="+mn-lt"/>
              </a:rPr>
              <a:t>new requirements inevitably emerge</a:t>
            </a:r>
            <a:r>
              <a:rPr lang="en-US" dirty="0">
                <a:ea typeface="+mn-lt"/>
                <a:cs typeface="+mn-lt"/>
              </a:rPr>
              <a:t> (sometimes this is due to omission in original requirements) - oft stated gaming example in class</a:t>
            </a:r>
            <a:endParaRPr lang="en-US" dirty="0">
              <a:ea typeface="Calibri" panose="020F0502020204030204"/>
              <a:cs typeface="Calibri" panose="020F0502020204030204"/>
            </a:endParaRPr>
          </a:p>
          <a:p>
            <a:r>
              <a:rPr lang="en-US" dirty="0">
                <a:ea typeface="+mn-lt"/>
                <a:cs typeface="+mn-lt"/>
              </a:rPr>
              <a:t>Also, changes to system requirements may also arise because of </a:t>
            </a:r>
            <a:r>
              <a:rPr lang="en-US">
                <a:ea typeface="+mn-lt"/>
                <a:cs typeface="+mn-lt"/>
              </a:rPr>
              <a:t>changes to the business environment (see slide 49)</a:t>
            </a:r>
            <a:endParaRPr lang="en-US">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3E58A018-11A7-B578-0848-2B9660D0C1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F91E8B6-DC7C-36BA-C8EF-6DCC454F4A5F}"/>
              </a:ext>
            </a:extLst>
          </p:cNvPr>
          <p:cNvSpPr>
            <a:spLocks noGrp="1"/>
          </p:cNvSpPr>
          <p:nvPr>
            <p:ph type="sldNum" sz="quarter" idx="12"/>
          </p:nvPr>
        </p:nvSpPr>
        <p:spPr/>
        <p:txBody>
          <a:bodyPr/>
          <a:lstStyle/>
          <a:p>
            <a:fld id="{008559AE-1842-40A5-A2A9-0518F39FD1A9}" type="slidenum">
              <a:rPr lang="en-US" smtClean="0"/>
              <a:t>47</a:t>
            </a:fld>
            <a:endParaRPr lang="en-GB"/>
          </a:p>
        </p:txBody>
      </p:sp>
      <p:sp>
        <p:nvSpPr>
          <p:cNvPr id="7" name="Footer Placeholder 6">
            <a:extLst>
              <a:ext uri="{FF2B5EF4-FFF2-40B4-BE49-F238E27FC236}">
                <a16:creationId xmlns:a16="http://schemas.microsoft.com/office/drawing/2014/main" id="{C592AFB4-FB54-DAD2-5481-7DDD7DD01D2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169139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792D-A6C8-CE56-B685-739805E10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6C0BD-0DC9-2DB6-8996-1092CA3811BA}"/>
              </a:ext>
            </a:extLst>
          </p:cNvPr>
          <p:cNvSpPr>
            <a:spLocks noGrp="1"/>
          </p:cNvSpPr>
          <p:nvPr>
            <p:ph type="title"/>
          </p:nvPr>
        </p:nvSpPr>
        <p:spPr/>
        <p:txBody>
          <a:bodyPr/>
          <a:lstStyle/>
          <a:p>
            <a:r>
              <a:rPr lang="en-GB" dirty="0">
                <a:ea typeface="Calibri Light"/>
                <a:cs typeface="Calibri Light"/>
              </a:rPr>
              <a:t>Feeling a little … wicked</a:t>
            </a:r>
            <a:endParaRPr lang="en-US" dirty="0"/>
          </a:p>
        </p:txBody>
      </p:sp>
      <p:sp>
        <p:nvSpPr>
          <p:cNvPr id="3" name="Content Placeholder 2">
            <a:extLst>
              <a:ext uri="{FF2B5EF4-FFF2-40B4-BE49-F238E27FC236}">
                <a16:creationId xmlns:a16="http://schemas.microsoft.com/office/drawing/2014/main" id="{BE54721A-42D0-0745-8173-D951B822BB63}"/>
              </a:ext>
            </a:extLst>
          </p:cNvPr>
          <p:cNvSpPr>
            <a:spLocks noGrp="1"/>
          </p:cNvSpPr>
          <p:nvPr>
            <p:ph idx="1"/>
          </p:nvPr>
        </p:nvSpPr>
        <p:spPr>
          <a:xfrm>
            <a:off x="838200" y="1510219"/>
            <a:ext cx="10515600" cy="5031147"/>
          </a:xfrm>
        </p:spPr>
        <p:txBody>
          <a:bodyPr vert="horz" lIns="91440" tIns="45720" rIns="91440" bIns="45720" rtlCol="0" anchor="t">
            <a:normAutofit fontScale="92500" lnSpcReduction="10000"/>
          </a:bodyPr>
          <a:lstStyle/>
          <a:p>
            <a:r>
              <a:rPr lang="en-US" dirty="0">
                <a:ea typeface="+mn-lt"/>
                <a:cs typeface="+mn-lt"/>
              </a:rPr>
              <a:t>Requirement: "A university wants to implement a </a:t>
            </a:r>
            <a:r>
              <a:rPr lang="en-US" b="1" dirty="0">
                <a:ea typeface="+mn-lt"/>
                <a:cs typeface="+mn-lt"/>
              </a:rPr>
              <a:t>Dynamic Student Feedback System</a:t>
            </a:r>
            <a:r>
              <a:rPr lang="en-US" dirty="0">
                <a:ea typeface="+mn-lt"/>
                <a:cs typeface="+mn-lt"/>
              </a:rPr>
              <a:t> in a university portal"</a:t>
            </a:r>
            <a:endParaRPr lang="en-US" dirty="0">
              <a:ea typeface="Calibri" panose="020F0502020204030204"/>
              <a:cs typeface="Calibri" panose="020F0502020204030204"/>
            </a:endParaRPr>
          </a:p>
          <a:p>
            <a:r>
              <a:rPr lang="en-US" dirty="0">
                <a:ea typeface="Calibri" panose="020F0502020204030204"/>
                <a:cs typeface="Calibri" panose="020F0502020204030204"/>
              </a:rPr>
              <a:t>Hard to define! Why? Student expectations, faculty preferences, university policies are evolving</a:t>
            </a:r>
          </a:p>
          <a:p>
            <a:pPr lvl="1">
              <a:buFont typeface="Courier New" panose="020B0604020202020204" pitchFamily="34" charset="0"/>
              <a:buChar char="o"/>
            </a:pPr>
            <a:r>
              <a:rPr lang="en-US" dirty="0">
                <a:ea typeface="Calibri" panose="020F0502020204030204"/>
                <a:cs typeface="Calibri" panose="020F0502020204030204"/>
              </a:rPr>
              <a:t>Initially – End of semester feedback</a:t>
            </a:r>
          </a:p>
          <a:p>
            <a:pPr lvl="1">
              <a:buFont typeface="Courier New" panose="020B0604020202020204" pitchFamily="34" charset="0"/>
              <a:buChar char="o"/>
            </a:pPr>
            <a:r>
              <a:rPr lang="en-US" dirty="0">
                <a:ea typeface="Calibri" panose="020F0502020204030204"/>
                <a:cs typeface="Calibri" panose="020F0502020204030204"/>
              </a:rPr>
              <a:t>Then – students request removal of forced feedback (having to provide feedback for profs who do not teach them)</a:t>
            </a:r>
          </a:p>
          <a:p>
            <a:pPr lvl="1">
              <a:buFont typeface="Courier New" panose="020B0604020202020204" pitchFamily="34" charset="0"/>
              <a:buChar char="o"/>
            </a:pPr>
            <a:r>
              <a:rPr lang="en-US" dirty="0">
                <a:ea typeface="Calibri" panose="020F0502020204030204"/>
                <a:cs typeface="Calibri" panose="020F0502020204030204"/>
              </a:rPr>
              <a:t>Then – Some course faculty consider real-time mid semester feedback</a:t>
            </a:r>
          </a:p>
          <a:p>
            <a:pPr lvl="1">
              <a:buFont typeface="Courier New" panose="020B0604020202020204" pitchFamily="34" charset="0"/>
              <a:buChar char="o"/>
            </a:pPr>
            <a:r>
              <a:rPr lang="en-US" dirty="0">
                <a:ea typeface="Calibri" panose="020F0502020204030204"/>
                <a:cs typeface="Calibri" panose="020F0502020204030204"/>
              </a:rPr>
              <a:t>Then – Administration says bias and misuse might happen with dynamic feedback (but then faculty says no problem, we will have moderation)</a:t>
            </a:r>
          </a:p>
          <a:p>
            <a:pPr lvl="1">
              <a:buFont typeface="Courier New" panose="020B0604020202020204" pitchFamily="34" charset="0"/>
              <a:buChar char="o"/>
            </a:pPr>
            <a:r>
              <a:rPr lang="en-US" dirty="0">
                <a:ea typeface="Calibri" panose="020F0502020204030204"/>
                <a:cs typeface="Calibri" panose="020F0502020204030204"/>
              </a:rPr>
              <a:t>Then – Admin says why not have AI based sentiment analysis, but privacy regulations come in the way (can you really take something shared discreetly and in privacy and feed it to a system?)</a:t>
            </a:r>
          </a:p>
          <a:p>
            <a:r>
              <a:rPr lang="en-US" dirty="0">
                <a:ea typeface="+mn-lt"/>
                <a:cs typeface="+mn-lt"/>
              </a:rPr>
              <a:t>These shifting needs make it difficult to finalize a stable set of requirements, leading to continuous modifications in the system</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58EA1453-69C8-CEA1-C835-243F75609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80D7C84-6317-B652-5570-63ABB1F65067}"/>
              </a:ext>
            </a:extLst>
          </p:cNvPr>
          <p:cNvSpPr>
            <a:spLocks noGrp="1"/>
          </p:cNvSpPr>
          <p:nvPr>
            <p:ph type="sldNum" sz="quarter" idx="12"/>
          </p:nvPr>
        </p:nvSpPr>
        <p:spPr/>
        <p:txBody>
          <a:bodyPr/>
          <a:lstStyle/>
          <a:p>
            <a:fld id="{008559AE-1842-40A5-A2A9-0518F39FD1A9}" type="slidenum">
              <a:rPr lang="en-US" smtClean="0"/>
              <a:t>48</a:t>
            </a:fld>
            <a:endParaRPr lang="en-GB"/>
          </a:p>
        </p:txBody>
      </p:sp>
      <p:sp>
        <p:nvSpPr>
          <p:cNvPr id="7" name="Footer Placeholder 6">
            <a:extLst>
              <a:ext uri="{FF2B5EF4-FFF2-40B4-BE49-F238E27FC236}">
                <a16:creationId xmlns:a16="http://schemas.microsoft.com/office/drawing/2014/main" id="{A1097263-78AA-9F7C-F044-689AD2A68AD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7707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B6D65-DE44-DBE7-0AD4-0720365F3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E3BD9-A602-B008-3675-53B37CC2FF8A}"/>
              </a:ext>
            </a:extLst>
          </p:cNvPr>
          <p:cNvSpPr>
            <a:spLocks noGrp="1"/>
          </p:cNvSpPr>
          <p:nvPr>
            <p:ph type="title"/>
          </p:nvPr>
        </p:nvSpPr>
        <p:spPr/>
        <p:txBody>
          <a:bodyPr/>
          <a:lstStyle/>
          <a:p>
            <a:r>
              <a:rPr lang="en-GB" dirty="0">
                <a:ea typeface="Calibri Light"/>
                <a:cs typeface="Calibri Light"/>
              </a:rPr>
              <a:t>Changes in Business Environment</a:t>
            </a:r>
            <a:endParaRPr lang="en-US" dirty="0"/>
          </a:p>
        </p:txBody>
      </p:sp>
      <p:sp>
        <p:nvSpPr>
          <p:cNvPr id="3" name="Content Placeholder 2">
            <a:extLst>
              <a:ext uri="{FF2B5EF4-FFF2-40B4-BE49-F238E27FC236}">
                <a16:creationId xmlns:a16="http://schemas.microsoft.com/office/drawing/2014/main" id="{E36BACC8-17F6-260A-FB79-053A14640DD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The business and technical environment of the system always changes after installation. New hardware may be introduced and existing hardware updated (new OS has packages which are incompatible with software). Business priorities may change (use cisco </a:t>
            </a:r>
            <a:r>
              <a:rPr lang="en-US" dirty="0" err="1">
                <a:ea typeface="+mn-lt"/>
                <a:cs typeface="+mn-lt"/>
              </a:rPr>
              <a:t>webex</a:t>
            </a:r>
            <a:r>
              <a:rPr lang="en-US" dirty="0">
                <a:ea typeface="+mn-lt"/>
                <a:cs typeface="+mn-lt"/>
              </a:rPr>
              <a:t> instead of messenger)</a:t>
            </a:r>
            <a:endParaRPr lang="en-US" dirty="0">
              <a:ea typeface="Calibri" panose="020F0502020204030204"/>
              <a:cs typeface="Calibri" panose="020F0502020204030204"/>
            </a:endParaRPr>
          </a:p>
          <a:p>
            <a:r>
              <a:rPr lang="en-US" dirty="0">
                <a:ea typeface="+mn-lt"/>
                <a:cs typeface="+mn-lt"/>
              </a:rPr>
              <a:t>The people who pay for a system and the users of that system are rarely the same people</a:t>
            </a:r>
            <a:endParaRPr lang="en-US" dirty="0">
              <a:ea typeface="Calibri" panose="020F0502020204030204"/>
              <a:cs typeface="Calibri" panose="020F0502020204030204"/>
            </a:endParaRPr>
          </a:p>
          <a:p>
            <a:r>
              <a:rPr lang="en-US" dirty="0">
                <a:ea typeface="+mn-lt"/>
                <a:cs typeface="+mn-lt"/>
              </a:rPr>
              <a:t>Large systems usually have a diverse stakeholder community, with stakeholders having different requirements</a:t>
            </a:r>
          </a:p>
          <a:p>
            <a:pPr marL="0" indent="0">
              <a:buNone/>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5894EFDB-4F83-A9BC-EABB-4B5704D6A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C52AB87-C233-0304-E91C-5321FF51DBD5}"/>
              </a:ext>
            </a:extLst>
          </p:cNvPr>
          <p:cNvSpPr>
            <a:spLocks noGrp="1"/>
          </p:cNvSpPr>
          <p:nvPr>
            <p:ph type="sldNum" sz="quarter" idx="12"/>
          </p:nvPr>
        </p:nvSpPr>
        <p:spPr/>
        <p:txBody>
          <a:bodyPr/>
          <a:lstStyle/>
          <a:p>
            <a:fld id="{008559AE-1842-40A5-A2A9-0518F39FD1A9}" type="slidenum">
              <a:rPr lang="en-US" smtClean="0"/>
              <a:t>49</a:t>
            </a:fld>
            <a:endParaRPr lang="en-GB"/>
          </a:p>
        </p:txBody>
      </p:sp>
      <p:sp>
        <p:nvSpPr>
          <p:cNvPr id="7" name="Footer Placeholder 6">
            <a:extLst>
              <a:ext uri="{FF2B5EF4-FFF2-40B4-BE49-F238E27FC236}">
                <a16:creationId xmlns:a16="http://schemas.microsoft.com/office/drawing/2014/main" id="{7C38EA7B-E084-5EE7-1DBA-13ACF36D321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71157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32744-3C6B-4B45-3707-F9489919D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128D9-60DF-68C7-0515-4571D25D9AC6}"/>
              </a:ext>
            </a:extLst>
          </p:cNvPr>
          <p:cNvSpPr>
            <a:spLocks noGrp="1"/>
          </p:cNvSpPr>
          <p:nvPr>
            <p:ph type="title"/>
          </p:nvPr>
        </p:nvSpPr>
        <p:spPr/>
        <p:txBody>
          <a:bodyPr/>
          <a:lstStyle/>
          <a:p>
            <a:r>
              <a:rPr lang="en-GB" dirty="0">
                <a:ea typeface="Calibri Light"/>
                <a:cs typeface="Calibri Light"/>
              </a:rPr>
              <a:t>Requirements Management</a:t>
            </a:r>
            <a:endParaRPr lang="en-US" dirty="0"/>
          </a:p>
        </p:txBody>
      </p:sp>
      <p:sp>
        <p:nvSpPr>
          <p:cNvPr id="3" name="Content Placeholder 2">
            <a:extLst>
              <a:ext uri="{FF2B5EF4-FFF2-40B4-BE49-F238E27FC236}">
                <a16:creationId xmlns:a16="http://schemas.microsoft.com/office/drawing/2014/main" id="{26F071AC-B205-492F-726A-E8A97D87FEC8}"/>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mn-lt"/>
                <a:cs typeface="+mn-lt"/>
              </a:rPr>
              <a:t>As requirements are evolving, you need to </a:t>
            </a:r>
            <a:r>
              <a:rPr lang="en-US" u="sng" dirty="0">
                <a:highlight>
                  <a:srgbClr val="FFFF00"/>
                </a:highlight>
                <a:ea typeface="+mn-lt"/>
                <a:cs typeface="+mn-lt"/>
              </a:rPr>
              <a:t>keep track of individual requirements and maintain links between dependent requirements so that you can assess the impact</a:t>
            </a:r>
            <a:r>
              <a:rPr lang="en-US" dirty="0">
                <a:ea typeface="+mn-lt"/>
                <a:cs typeface="+mn-lt"/>
              </a:rPr>
              <a:t> of requirements changes</a:t>
            </a:r>
            <a:endParaRPr lang="en-US" dirty="0">
              <a:ea typeface="Calibri" panose="020F0502020204030204"/>
              <a:cs typeface="Calibri" panose="020F0502020204030204"/>
            </a:endParaRPr>
          </a:p>
          <a:p>
            <a:r>
              <a:rPr lang="en-US" dirty="0">
                <a:ea typeface="Calibri" panose="020F0502020204030204"/>
                <a:cs typeface="Calibri" panose="020F0502020204030204"/>
              </a:rPr>
              <a:t>Requirements management: "Formal</a:t>
            </a:r>
            <a:r>
              <a:rPr lang="en-US" dirty="0">
                <a:ea typeface="+mn-lt"/>
                <a:cs typeface="+mn-lt"/>
              </a:rPr>
              <a:t> process for making change proposals and linking these to system requirements"</a:t>
            </a:r>
            <a:endParaRPr lang="en-US" dirty="0">
              <a:ea typeface="Calibri" panose="020F0502020204030204"/>
              <a:cs typeface="Calibri" panose="020F0502020204030204"/>
            </a:endParaRPr>
          </a:p>
          <a:p>
            <a:r>
              <a:rPr lang="en-US" dirty="0">
                <a:ea typeface="+mn-lt"/>
                <a:cs typeface="+mn-lt"/>
              </a:rPr>
              <a:t>This process of “requirements management” should start as soon as a draft version of the requirements document is available</a:t>
            </a:r>
            <a:endParaRPr lang="en-US" dirty="0">
              <a:ea typeface="Calibri" panose="020F0502020204030204"/>
              <a:cs typeface="Calibri" panose="020F0502020204030204"/>
            </a:endParaRPr>
          </a:p>
          <a:p>
            <a:r>
              <a:rPr lang="en-US" dirty="0">
                <a:ea typeface="Calibri" panose="020F0502020204030204"/>
                <a:cs typeface="Calibri" panose="020F0502020204030204"/>
              </a:rPr>
              <a:t>In many cases, users prioritize change</a:t>
            </a:r>
          </a:p>
          <a:p>
            <a:r>
              <a:rPr lang="en-US" dirty="0">
                <a:ea typeface="Calibri" panose="020F0502020204030204"/>
                <a:cs typeface="Calibri" panose="020F0502020204030204"/>
              </a:rPr>
              <a:t>Users are not necessarily the best people to decide if the change is worth it (cost effective)</a:t>
            </a:r>
          </a:p>
          <a:p>
            <a:r>
              <a:rPr lang="en-US" dirty="0">
                <a:ea typeface="Calibri" panose="020F0502020204030204"/>
                <a:cs typeface="Calibri" panose="020F0502020204030204"/>
              </a:rPr>
              <a:t>Therefore, independent authority, who balances needs of all stakeholders, should decide on which changes need to be accepted</a:t>
            </a:r>
          </a:p>
          <a:p>
            <a:pPr marL="0" indent="0">
              <a:buNone/>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EC38DAF7-21FA-A72C-6CF4-71B6406678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629AC69-34EC-842F-A5CB-E9EF738288DB}"/>
              </a:ext>
            </a:extLst>
          </p:cNvPr>
          <p:cNvSpPr>
            <a:spLocks noGrp="1"/>
          </p:cNvSpPr>
          <p:nvPr>
            <p:ph type="sldNum" sz="quarter" idx="12"/>
          </p:nvPr>
        </p:nvSpPr>
        <p:spPr/>
        <p:txBody>
          <a:bodyPr/>
          <a:lstStyle/>
          <a:p>
            <a:fld id="{008559AE-1842-40A5-A2A9-0518F39FD1A9}" type="slidenum">
              <a:rPr lang="en-US" smtClean="0"/>
              <a:t>50</a:t>
            </a:fld>
            <a:endParaRPr lang="en-GB"/>
          </a:p>
        </p:txBody>
      </p:sp>
      <p:sp>
        <p:nvSpPr>
          <p:cNvPr id="7" name="Footer Placeholder 6">
            <a:extLst>
              <a:ext uri="{FF2B5EF4-FFF2-40B4-BE49-F238E27FC236}">
                <a16:creationId xmlns:a16="http://schemas.microsoft.com/office/drawing/2014/main" id="{5D8B196D-394D-2251-3BC2-91C3AE475F7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407812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83FF-00DA-A31C-F6B0-A63BE2F4A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743F2-1B95-FD83-7F1F-7186C64A12F0}"/>
              </a:ext>
            </a:extLst>
          </p:cNvPr>
          <p:cNvSpPr>
            <a:spLocks noGrp="1"/>
          </p:cNvSpPr>
          <p:nvPr>
            <p:ph type="title"/>
          </p:nvPr>
        </p:nvSpPr>
        <p:spPr/>
        <p:txBody>
          <a:bodyPr/>
          <a:lstStyle/>
          <a:p>
            <a:r>
              <a:rPr lang="en-GB" dirty="0">
                <a:ea typeface="Calibri Light"/>
                <a:cs typeface="Calibri Light"/>
              </a:rPr>
              <a:t>Requirements Management: Example</a:t>
            </a:r>
            <a:endParaRPr lang="en-US" dirty="0"/>
          </a:p>
        </p:txBody>
      </p:sp>
      <p:sp>
        <p:nvSpPr>
          <p:cNvPr id="3" name="Content Placeholder 2">
            <a:extLst>
              <a:ext uri="{FF2B5EF4-FFF2-40B4-BE49-F238E27FC236}">
                <a16:creationId xmlns:a16="http://schemas.microsoft.com/office/drawing/2014/main" id="{FBF20382-5C4B-BFD2-F736-2A111840DFF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In a university portal</a:t>
            </a:r>
          </a:p>
          <a:p>
            <a:pPr lvl="1">
              <a:buFont typeface="Courier New" panose="020B0604020202020204" pitchFamily="34" charset="0"/>
              <a:buChar char="o"/>
            </a:pPr>
            <a:r>
              <a:rPr lang="en-US" dirty="0">
                <a:ea typeface="+mn-lt"/>
                <a:cs typeface="+mn-lt"/>
              </a:rPr>
              <a:t>Initially - </a:t>
            </a:r>
            <a:r>
              <a:rPr lang="en-US" b="1" dirty="0">
                <a:ea typeface="+mn-lt"/>
                <a:cs typeface="+mn-lt"/>
              </a:rPr>
              <a:t>course registration system</a:t>
            </a:r>
            <a:r>
              <a:rPr lang="en-US" dirty="0">
                <a:ea typeface="+mn-lt"/>
                <a:cs typeface="+mn-lt"/>
              </a:rPr>
              <a:t> allows students to enroll in courses based on prerequisites</a:t>
            </a:r>
          </a:p>
          <a:p>
            <a:pPr lvl="1">
              <a:buFont typeface="Courier New" panose="020B0604020202020204" pitchFamily="34" charset="0"/>
              <a:buChar char="o"/>
            </a:pPr>
            <a:r>
              <a:rPr lang="en-US" dirty="0">
                <a:ea typeface="+mn-lt"/>
                <a:cs typeface="+mn-lt"/>
              </a:rPr>
              <a:t>Then - university introduces a </a:t>
            </a:r>
            <a:r>
              <a:rPr lang="en-US" b="1" dirty="0">
                <a:ea typeface="+mn-lt"/>
                <a:cs typeface="+mn-lt"/>
              </a:rPr>
              <a:t>waitlist feature</a:t>
            </a:r>
            <a:r>
              <a:rPr lang="en-US" dirty="0">
                <a:ea typeface="+mn-lt"/>
                <a:cs typeface="+mn-lt"/>
              </a:rPr>
              <a:t>, requiring changes to enrollment logic (wait for a while before finalizing courses)</a:t>
            </a:r>
          </a:p>
          <a:p>
            <a:pPr lvl="1">
              <a:buFont typeface="Courier New" panose="020B0604020202020204" pitchFamily="34" charset="0"/>
              <a:buChar char="o"/>
            </a:pPr>
            <a:r>
              <a:rPr lang="en-US" dirty="0">
                <a:ea typeface="+mn-lt"/>
                <a:cs typeface="+mn-lt"/>
              </a:rPr>
              <a:t>Then - administrators request </a:t>
            </a:r>
            <a:r>
              <a:rPr lang="en-US" b="1" dirty="0">
                <a:ea typeface="+mn-lt"/>
                <a:cs typeface="+mn-lt"/>
              </a:rPr>
              <a:t>automated prerequisite overrides</a:t>
            </a:r>
            <a:r>
              <a:rPr lang="en-US" dirty="0">
                <a:ea typeface="+mn-lt"/>
                <a:cs typeface="+mn-lt"/>
              </a:rPr>
              <a:t> for exceptional cases, impacting both the registration and waitlist modules</a:t>
            </a:r>
          </a:p>
          <a:p>
            <a:r>
              <a:rPr lang="en-US" dirty="0">
                <a:ea typeface="+mn-lt"/>
                <a:cs typeface="+mn-lt"/>
              </a:rPr>
              <a:t>To manage these evolving requirements, developers maintain </a:t>
            </a:r>
            <a:r>
              <a:rPr lang="en-US" u="sng" dirty="0">
                <a:highlight>
                  <a:srgbClr val="FFFF00"/>
                </a:highlight>
                <a:ea typeface="+mn-lt"/>
                <a:cs typeface="+mn-lt"/>
              </a:rPr>
              <a:t>traceability links</a:t>
            </a:r>
            <a:r>
              <a:rPr lang="en-US" dirty="0">
                <a:ea typeface="+mn-lt"/>
                <a:cs typeface="+mn-lt"/>
              </a:rPr>
              <a:t> between related requirements, ensuring that changes in </a:t>
            </a:r>
            <a:r>
              <a:rPr lang="en-US" b="1" dirty="0">
                <a:ea typeface="+mn-lt"/>
                <a:cs typeface="+mn-lt"/>
              </a:rPr>
              <a:t>prerequisite handling</a:t>
            </a:r>
            <a:r>
              <a:rPr lang="en-US" dirty="0">
                <a:ea typeface="+mn-lt"/>
                <a:cs typeface="+mn-lt"/>
              </a:rPr>
              <a:t> do not break </a:t>
            </a:r>
            <a:r>
              <a:rPr lang="en-US" b="1" dirty="0">
                <a:ea typeface="+mn-lt"/>
                <a:cs typeface="+mn-lt"/>
              </a:rPr>
              <a:t>waitlist logic</a:t>
            </a:r>
            <a:r>
              <a:rPr lang="en-US" dirty="0">
                <a:ea typeface="+mn-lt"/>
                <a:cs typeface="+mn-lt"/>
              </a:rPr>
              <a:t> or </a:t>
            </a:r>
            <a:r>
              <a:rPr lang="en-US" b="1" dirty="0">
                <a:ea typeface="+mn-lt"/>
                <a:cs typeface="+mn-lt"/>
              </a:rPr>
              <a:t>grade verification rules</a:t>
            </a:r>
            <a:r>
              <a:rPr lang="en-US" dirty="0">
                <a:ea typeface="+mn-lt"/>
                <a:cs typeface="+mn-lt"/>
              </a:rPr>
              <a:t>. This tracking helps assess the impact of changes, preventing unintended disruptions in the system</a:t>
            </a:r>
            <a:endParaRPr lang="en-US" dirty="0">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F3E56575-D011-88DC-EB6A-AD123DF6E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228D620-B262-3F10-5EC3-92F95F5BA1F3}"/>
              </a:ext>
            </a:extLst>
          </p:cNvPr>
          <p:cNvSpPr>
            <a:spLocks noGrp="1"/>
          </p:cNvSpPr>
          <p:nvPr>
            <p:ph type="sldNum" sz="quarter" idx="12"/>
          </p:nvPr>
        </p:nvSpPr>
        <p:spPr/>
        <p:txBody>
          <a:bodyPr/>
          <a:lstStyle/>
          <a:p>
            <a:fld id="{008559AE-1842-40A5-A2A9-0518F39FD1A9}" type="slidenum">
              <a:rPr lang="en-US" smtClean="0"/>
              <a:t>51</a:t>
            </a:fld>
            <a:endParaRPr lang="en-GB"/>
          </a:p>
        </p:txBody>
      </p:sp>
      <p:sp>
        <p:nvSpPr>
          <p:cNvPr id="7" name="Footer Placeholder 6">
            <a:extLst>
              <a:ext uri="{FF2B5EF4-FFF2-40B4-BE49-F238E27FC236}">
                <a16:creationId xmlns:a16="http://schemas.microsoft.com/office/drawing/2014/main" id="{418A72EC-B7A4-D69C-A980-3F3BD2182B6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8627851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0CD42-95FA-9FE0-8952-106045BCB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44225-372F-92B1-2994-28513E125A4D}"/>
              </a:ext>
            </a:extLst>
          </p:cNvPr>
          <p:cNvSpPr>
            <a:spLocks noGrp="1"/>
          </p:cNvSpPr>
          <p:nvPr>
            <p:ph type="title"/>
          </p:nvPr>
        </p:nvSpPr>
        <p:spPr/>
        <p:txBody>
          <a:bodyPr/>
          <a:lstStyle/>
          <a:p>
            <a:r>
              <a:rPr lang="en-GB" dirty="0">
                <a:ea typeface="Calibri Light"/>
                <a:cs typeface="Calibri Light"/>
              </a:rPr>
              <a:t>Requirements Management Planning</a:t>
            </a:r>
            <a:endParaRPr lang="en-US" dirty="0"/>
          </a:p>
        </p:txBody>
      </p:sp>
      <p:sp>
        <p:nvSpPr>
          <p:cNvPr id="3" name="Content Placeholder 2">
            <a:extLst>
              <a:ext uri="{FF2B5EF4-FFF2-40B4-BE49-F238E27FC236}">
                <a16:creationId xmlns:a16="http://schemas.microsoft.com/office/drawing/2014/main" id="{43BA66E9-48D9-EF0E-DAF5-818626CDEAD4}"/>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Requirements management planning: Answers the question – how will you manage evolving requirements?</a:t>
            </a:r>
          </a:p>
          <a:p>
            <a:r>
              <a:rPr lang="en-US">
                <a:ea typeface="+mn-lt"/>
                <a:cs typeface="+mn-lt"/>
              </a:rPr>
              <a:t>During the planning stage (within RE), decide on:</a:t>
            </a:r>
            <a:endParaRPr lang="en-US">
              <a:ea typeface="Calibri"/>
              <a:cs typeface="Calibri"/>
            </a:endParaRPr>
          </a:p>
          <a:p>
            <a:pPr lvl="1" indent="-457200">
              <a:buFont typeface="Courier New" panose="020B0604020202020204" pitchFamily="34" charset="0"/>
              <a:buChar char="o"/>
            </a:pPr>
            <a:r>
              <a:rPr lang="en-US" b="1" dirty="0">
                <a:ea typeface="+mn-lt"/>
                <a:cs typeface="+mn-lt"/>
              </a:rPr>
              <a:t>Requirements identification</a:t>
            </a:r>
            <a:r>
              <a:rPr lang="en-US" dirty="0">
                <a:ea typeface="+mn-lt"/>
                <a:cs typeface="+mn-lt"/>
              </a:rPr>
              <a:t>: Each requirement should have a unique ID so it can be tracked with respect to other requirements</a:t>
            </a:r>
          </a:p>
          <a:p>
            <a:pPr lvl="1" indent="-457200">
              <a:buFont typeface="Courier New" panose="020B0604020202020204" pitchFamily="34" charset="0"/>
              <a:buChar char="o"/>
            </a:pPr>
            <a:r>
              <a:rPr lang="en-US" b="1" dirty="0">
                <a:ea typeface="+mn-lt"/>
                <a:cs typeface="+mn-lt"/>
              </a:rPr>
              <a:t>Change management process</a:t>
            </a:r>
            <a:r>
              <a:rPr lang="en-US" dirty="0">
                <a:ea typeface="+mn-lt"/>
                <a:cs typeface="+mn-lt"/>
              </a:rPr>
              <a:t>: Set of activities that assess the impact and </a:t>
            </a:r>
            <a:r>
              <a:rPr lang="en-US">
                <a:ea typeface="+mn-lt"/>
                <a:cs typeface="+mn-lt"/>
              </a:rPr>
              <a:t>cost of changes (slide 55)</a:t>
            </a:r>
          </a:p>
          <a:p>
            <a:pPr lvl="1" indent="-457200">
              <a:buFont typeface="Courier New" panose="020B0604020202020204" pitchFamily="34" charset="0"/>
              <a:buChar char="o"/>
            </a:pPr>
            <a:r>
              <a:rPr lang="en-US" b="1" dirty="0">
                <a:ea typeface="+mn-lt"/>
                <a:cs typeface="+mn-lt"/>
              </a:rPr>
              <a:t>Traceability policies</a:t>
            </a:r>
            <a:r>
              <a:rPr lang="en-US" dirty="0">
                <a:ea typeface="+mn-lt"/>
                <a:cs typeface="+mn-lt"/>
              </a:rPr>
              <a:t>: Policies define the relationships between each </a:t>
            </a:r>
            <a:r>
              <a:rPr lang="en-US">
                <a:ea typeface="+mn-lt"/>
                <a:cs typeface="+mn-lt"/>
              </a:rPr>
              <a:t>requirement and between the requirements and the system design (slide 53)</a:t>
            </a:r>
          </a:p>
          <a:p>
            <a:pPr lvl="1" indent="-457200">
              <a:buFont typeface="Courier New" panose="020B0604020202020204" pitchFamily="34" charset="0"/>
              <a:buChar char="o"/>
            </a:pPr>
            <a:r>
              <a:rPr lang="en-US" b="1" dirty="0">
                <a:ea typeface="+mn-lt"/>
                <a:cs typeface="+mn-lt"/>
              </a:rPr>
              <a:t>Tool support</a:t>
            </a:r>
            <a:r>
              <a:rPr lang="en-US" dirty="0">
                <a:ea typeface="+mn-lt"/>
                <a:cs typeface="+mn-lt"/>
              </a:rPr>
              <a:t>: Since this task can get tricky, you can decide on what tools to use for automation support before starting requirements planning</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B06AAA36-34B2-51FE-44BE-C50FC91E5D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49AC7C0-8118-87C3-C07B-96BA5BC48295}"/>
              </a:ext>
            </a:extLst>
          </p:cNvPr>
          <p:cNvSpPr>
            <a:spLocks noGrp="1"/>
          </p:cNvSpPr>
          <p:nvPr>
            <p:ph type="sldNum" sz="quarter" idx="12"/>
          </p:nvPr>
        </p:nvSpPr>
        <p:spPr/>
        <p:txBody>
          <a:bodyPr/>
          <a:lstStyle/>
          <a:p>
            <a:fld id="{008559AE-1842-40A5-A2A9-0518F39FD1A9}" type="slidenum">
              <a:rPr lang="en-US" smtClean="0"/>
              <a:t>52</a:t>
            </a:fld>
            <a:endParaRPr lang="en-GB"/>
          </a:p>
        </p:txBody>
      </p:sp>
      <p:sp>
        <p:nvSpPr>
          <p:cNvPr id="7" name="Footer Placeholder 6">
            <a:extLst>
              <a:ext uri="{FF2B5EF4-FFF2-40B4-BE49-F238E27FC236}">
                <a16:creationId xmlns:a16="http://schemas.microsoft.com/office/drawing/2014/main" id="{FAF1FA1E-E5D5-4010-CCB0-15FD9F8C228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4231765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C5004-E586-78A7-E6A9-26742FDD6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45EC3-C9B9-A358-B2C5-91D4BAC7D5C6}"/>
              </a:ext>
            </a:extLst>
          </p:cNvPr>
          <p:cNvSpPr>
            <a:spLocks noGrp="1"/>
          </p:cNvSpPr>
          <p:nvPr>
            <p:ph type="title"/>
          </p:nvPr>
        </p:nvSpPr>
        <p:spPr/>
        <p:txBody>
          <a:bodyPr/>
          <a:lstStyle/>
          <a:p>
            <a:r>
              <a:rPr lang="en-GB" dirty="0">
                <a:ea typeface="Calibri Light"/>
                <a:cs typeface="Calibri Light"/>
              </a:rPr>
              <a:t>Traceability policies</a:t>
            </a:r>
            <a:endParaRPr lang="en-US" dirty="0"/>
          </a:p>
        </p:txBody>
      </p:sp>
      <p:sp>
        <p:nvSpPr>
          <p:cNvPr id="3" name="Content Placeholder 2">
            <a:extLst>
              <a:ext uri="{FF2B5EF4-FFF2-40B4-BE49-F238E27FC236}">
                <a16:creationId xmlns:a16="http://schemas.microsoft.com/office/drawing/2014/main" id="{C0CB77D6-E847-B4F0-FFF3-EB2CD9791BD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Help manage requirements changes by </a:t>
            </a:r>
            <a:r>
              <a:rPr lang="en-US" dirty="0">
                <a:highlight>
                  <a:srgbClr val="FFFF00"/>
                </a:highlight>
                <a:ea typeface="+mn-lt"/>
                <a:cs typeface="+mn-lt"/>
              </a:rPr>
              <a:t>linking related features to ensure consistency</a:t>
            </a:r>
            <a:endParaRPr lang="en-US" dirty="0">
              <a:highlight>
                <a:srgbClr val="FFFF00"/>
              </a:highlight>
              <a:ea typeface="Calibri" panose="020F0502020204030204"/>
              <a:cs typeface="Calibri" panose="020F0502020204030204"/>
            </a:endParaRPr>
          </a:p>
          <a:p>
            <a:r>
              <a:rPr lang="en-US" dirty="0">
                <a:ea typeface="+mn-lt"/>
                <a:cs typeface="+mn-lt"/>
              </a:rPr>
              <a:t>A well-defined traceability policy </a:t>
            </a:r>
            <a:r>
              <a:rPr lang="en-US" u="sng" dirty="0">
                <a:ea typeface="+mn-lt"/>
                <a:cs typeface="+mn-lt"/>
              </a:rPr>
              <a:t>ensures that any modification in a requirement is tracked and assessed across all dependent requirements</a:t>
            </a:r>
            <a:r>
              <a:rPr lang="en-US" dirty="0">
                <a:ea typeface="+mn-lt"/>
                <a:cs typeface="+mn-lt"/>
              </a:rPr>
              <a:t>, preventing inconsistencies</a:t>
            </a:r>
            <a:endParaRPr lang="en-US" dirty="0">
              <a:ea typeface="Calibri" panose="020F0502020204030204"/>
              <a:cs typeface="Calibri" panose="020F0502020204030204"/>
            </a:endParaRPr>
          </a:p>
          <a:p>
            <a:r>
              <a:rPr lang="en-US" dirty="0">
                <a:ea typeface="+mn-lt"/>
                <a:cs typeface="+mn-lt"/>
              </a:rPr>
              <a:t>Example policy: Use a traceability matrix</a:t>
            </a:r>
          </a:p>
          <a:p>
            <a:r>
              <a:rPr lang="en-US" dirty="0">
                <a:ea typeface="+mn-lt"/>
                <a:cs typeface="+mn-lt"/>
              </a:rPr>
              <a:t>By maintaining traceability matrices, developers can evaluate the impact of the change</a:t>
            </a:r>
            <a:endParaRPr lang="en-US" dirty="0">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C8C5F49F-6048-552F-CE21-ED3A02A4C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8C8590C-5F3A-D86D-E12E-F056295DFE4F}"/>
              </a:ext>
            </a:extLst>
          </p:cNvPr>
          <p:cNvSpPr>
            <a:spLocks noGrp="1"/>
          </p:cNvSpPr>
          <p:nvPr>
            <p:ph type="sldNum" sz="quarter" idx="12"/>
          </p:nvPr>
        </p:nvSpPr>
        <p:spPr/>
        <p:txBody>
          <a:bodyPr/>
          <a:lstStyle/>
          <a:p>
            <a:fld id="{008559AE-1842-40A5-A2A9-0518F39FD1A9}" type="slidenum">
              <a:rPr lang="en-US" smtClean="0"/>
              <a:t>53</a:t>
            </a:fld>
            <a:endParaRPr lang="en-GB"/>
          </a:p>
        </p:txBody>
      </p:sp>
      <p:sp>
        <p:nvSpPr>
          <p:cNvPr id="7" name="Footer Placeholder 6">
            <a:extLst>
              <a:ext uri="{FF2B5EF4-FFF2-40B4-BE49-F238E27FC236}">
                <a16:creationId xmlns:a16="http://schemas.microsoft.com/office/drawing/2014/main" id="{02A79BD2-8B98-CF4D-4F55-052EA9DE549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5539873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15F97-29FC-6725-3D85-AC3C0617E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E9B0E-C10A-0630-9E2C-A39C8BA5B42A}"/>
              </a:ext>
            </a:extLst>
          </p:cNvPr>
          <p:cNvSpPr>
            <a:spLocks noGrp="1"/>
          </p:cNvSpPr>
          <p:nvPr>
            <p:ph type="title"/>
          </p:nvPr>
        </p:nvSpPr>
        <p:spPr>
          <a:xfrm>
            <a:off x="-6927" y="4907"/>
            <a:ext cx="10515600" cy="1325563"/>
          </a:xfrm>
        </p:spPr>
        <p:txBody>
          <a:bodyPr/>
          <a:lstStyle/>
          <a:p>
            <a:r>
              <a:rPr lang="en-GB" dirty="0">
                <a:ea typeface="Calibri Light"/>
                <a:cs typeface="Calibri Light"/>
              </a:rPr>
              <a:t>Example: From Grades to Pass / Fail</a:t>
            </a:r>
            <a:endParaRPr lang="en-US" dirty="0"/>
          </a:p>
        </p:txBody>
      </p:sp>
      <p:sp>
        <p:nvSpPr>
          <p:cNvPr id="3" name="Content Placeholder 2">
            <a:extLst>
              <a:ext uri="{FF2B5EF4-FFF2-40B4-BE49-F238E27FC236}">
                <a16:creationId xmlns:a16="http://schemas.microsoft.com/office/drawing/2014/main" id="{B6705261-B441-95C5-EB65-0774D6F55EF2}"/>
              </a:ext>
            </a:extLst>
          </p:cNvPr>
          <p:cNvSpPr>
            <a:spLocks noGrp="1"/>
          </p:cNvSpPr>
          <p:nvPr>
            <p:ph idx="1"/>
          </p:nvPr>
        </p:nvSpPr>
        <p:spPr>
          <a:xfrm>
            <a:off x="838200" y="1690328"/>
            <a:ext cx="10515600" cy="5031147"/>
          </a:xfrm>
        </p:spPr>
        <p:txBody>
          <a:bodyPr vert="horz" lIns="91440" tIns="45720" rIns="91440" bIns="45720" rtlCol="0" anchor="t">
            <a:normAutofit/>
          </a:bodyPr>
          <a:lstStyle/>
          <a:p>
            <a:pPr marL="0" indent="0">
              <a:buNone/>
            </a:pPr>
            <a:endParaRPr lang="en-US" dirty="0">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C7494CBA-9570-43B9-53CD-37991D878D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F0583F9-B437-A2B1-9C5E-777E6EADB41C}"/>
              </a:ext>
            </a:extLst>
          </p:cNvPr>
          <p:cNvSpPr>
            <a:spLocks noGrp="1"/>
          </p:cNvSpPr>
          <p:nvPr>
            <p:ph type="sldNum" sz="quarter" idx="12"/>
          </p:nvPr>
        </p:nvSpPr>
        <p:spPr/>
        <p:txBody>
          <a:bodyPr/>
          <a:lstStyle/>
          <a:p>
            <a:fld id="{008559AE-1842-40A5-A2A9-0518F39FD1A9}" type="slidenum">
              <a:rPr lang="en-US" smtClean="0"/>
              <a:t>54</a:t>
            </a:fld>
            <a:endParaRPr lang="en-GB"/>
          </a:p>
        </p:txBody>
      </p:sp>
      <p:sp>
        <p:nvSpPr>
          <p:cNvPr id="7" name="Footer Placeholder 6">
            <a:extLst>
              <a:ext uri="{FF2B5EF4-FFF2-40B4-BE49-F238E27FC236}">
                <a16:creationId xmlns:a16="http://schemas.microsoft.com/office/drawing/2014/main" id="{4C79E9CB-64F6-0886-0EC3-A47E1E7B33C6}"/>
              </a:ext>
            </a:extLst>
          </p:cNvPr>
          <p:cNvSpPr>
            <a:spLocks noGrp="1"/>
          </p:cNvSpPr>
          <p:nvPr>
            <p:ph type="ftr" sz="quarter" idx="11"/>
          </p:nvPr>
        </p:nvSpPr>
        <p:spPr/>
        <p:txBody>
          <a:bodyPr/>
          <a:lstStyle/>
          <a:p>
            <a:r>
              <a:rPr lang="en-US"/>
              <a:t>Software Engineering</a:t>
            </a:r>
          </a:p>
        </p:txBody>
      </p:sp>
      <p:graphicFrame>
        <p:nvGraphicFramePr>
          <p:cNvPr id="4" name="Table 3">
            <a:extLst>
              <a:ext uri="{FF2B5EF4-FFF2-40B4-BE49-F238E27FC236}">
                <a16:creationId xmlns:a16="http://schemas.microsoft.com/office/drawing/2014/main" id="{592F7FE2-D83E-9E45-A5DF-E3F8E3D859E8}"/>
              </a:ext>
            </a:extLst>
          </p:cNvPr>
          <p:cNvGraphicFramePr>
            <a:graphicFrameLocks noGrp="1"/>
          </p:cNvGraphicFramePr>
          <p:nvPr>
            <p:extLst>
              <p:ext uri="{D42A27DB-BD31-4B8C-83A1-F6EECF244321}">
                <p14:modId xmlns:p14="http://schemas.microsoft.com/office/powerpoint/2010/main" val="2629962509"/>
              </p:ext>
            </p:extLst>
          </p:nvPr>
        </p:nvGraphicFramePr>
        <p:xfrm>
          <a:off x="0" y="1260763"/>
          <a:ext cx="12158850" cy="5102606"/>
        </p:xfrm>
        <a:graphic>
          <a:graphicData uri="http://schemas.openxmlformats.org/drawingml/2006/table">
            <a:tbl>
              <a:tblPr firstRow="1" bandRow="1">
                <a:tableStyleId>{5C22544A-7EE6-4342-B048-85BDC9FD1C3A}</a:tableStyleId>
              </a:tblPr>
              <a:tblGrid>
                <a:gridCol w="2431770">
                  <a:extLst>
                    <a:ext uri="{9D8B030D-6E8A-4147-A177-3AD203B41FA5}">
                      <a16:colId xmlns:a16="http://schemas.microsoft.com/office/drawing/2014/main" val="3171881317"/>
                    </a:ext>
                  </a:extLst>
                </a:gridCol>
                <a:gridCol w="2431770">
                  <a:extLst>
                    <a:ext uri="{9D8B030D-6E8A-4147-A177-3AD203B41FA5}">
                      <a16:colId xmlns:a16="http://schemas.microsoft.com/office/drawing/2014/main" val="1143258825"/>
                    </a:ext>
                  </a:extLst>
                </a:gridCol>
                <a:gridCol w="2431770">
                  <a:extLst>
                    <a:ext uri="{9D8B030D-6E8A-4147-A177-3AD203B41FA5}">
                      <a16:colId xmlns:a16="http://schemas.microsoft.com/office/drawing/2014/main" val="2319400936"/>
                    </a:ext>
                  </a:extLst>
                </a:gridCol>
                <a:gridCol w="2431770">
                  <a:extLst>
                    <a:ext uri="{9D8B030D-6E8A-4147-A177-3AD203B41FA5}">
                      <a16:colId xmlns:a16="http://schemas.microsoft.com/office/drawing/2014/main" val="185709874"/>
                    </a:ext>
                  </a:extLst>
                </a:gridCol>
                <a:gridCol w="2431770">
                  <a:extLst>
                    <a:ext uri="{9D8B030D-6E8A-4147-A177-3AD203B41FA5}">
                      <a16:colId xmlns:a16="http://schemas.microsoft.com/office/drawing/2014/main" val="4254369572"/>
                    </a:ext>
                  </a:extLst>
                </a:gridCol>
              </a:tblGrid>
              <a:tr h="735655">
                <a:tc>
                  <a:txBody>
                    <a:bodyPr/>
                    <a:lstStyle/>
                    <a:p>
                      <a:r>
                        <a:rPr lang="en-US" sz="1600" dirty="0"/>
                        <a:t>Requirement ID</a:t>
                      </a:r>
                    </a:p>
                  </a:txBody>
                  <a:tcPr/>
                </a:tc>
                <a:tc>
                  <a:txBody>
                    <a:bodyPr/>
                    <a:lstStyle/>
                    <a:p>
                      <a:r>
                        <a:rPr lang="en-US" sz="1600" dirty="0"/>
                        <a:t>Requirement Description</a:t>
                      </a:r>
                    </a:p>
                  </a:txBody>
                  <a:tcPr/>
                </a:tc>
                <a:tc>
                  <a:txBody>
                    <a:bodyPr/>
                    <a:lstStyle/>
                    <a:p>
                      <a:r>
                        <a:rPr lang="en-US" sz="1600" dirty="0"/>
                        <a:t>Related Module(s)</a:t>
                      </a:r>
                    </a:p>
                  </a:txBody>
                  <a:tcPr/>
                </a:tc>
                <a:tc>
                  <a:txBody>
                    <a:bodyPr/>
                    <a:lstStyle/>
                    <a:p>
                      <a:r>
                        <a:rPr lang="en-US" sz="1600" dirty="0"/>
                        <a:t>Dependency</a:t>
                      </a:r>
                    </a:p>
                  </a:txBody>
                  <a:tcPr/>
                </a:tc>
                <a:tc>
                  <a:txBody>
                    <a:bodyPr/>
                    <a:lstStyle/>
                    <a:p>
                      <a:r>
                        <a:rPr lang="en-US" sz="1600" dirty="0"/>
                        <a:t>Status</a:t>
                      </a:r>
                    </a:p>
                  </a:txBody>
                  <a:tcPr/>
                </a:tc>
                <a:extLst>
                  <a:ext uri="{0D108BD9-81ED-4DB2-BD59-A6C34878D82A}">
                    <a16:rowId xmlns:a16="http://schemas.microsoft.com/office/drawing/2014/main" val="691451711"/>
                  </a:ext>
                </a:extLst>
              </a:tr>
              <a:tr h="623454">
                <a:tc>
                  <a:txBody>
                    <a:bodyPr/>
                    <a:lstStyle/>
                    <a:p>
                      <a:r>
                        <a:rPr lang="en-US" sz="1600" dirty="0"/>
                        <a:t>REQ-101</a:t>
                      </a:r>
                    </a:p>
                  </a:txBody>
                  <a:tcPr/>
                </a:tc>
                <a:tc>
                  <a:txBody>
                    <a:bodyPr/>
                    <a:lstStyle/>
                    <a:p>
                      <a:pPr lvl="0">
                        <a:buNone/>
                      </a:pPr>
                      <a:r>
                        <a:rPr lang="en-US" sz="1600" b="0" i="0" u="none" strike="noStrike" noProof="0" dirty="0">
                          <a:latin typeface="Calibri"/>
                        </a:rPr>
                        <a:t>Update grading policy to include Pass/Fail option</a:t>
                      </a:r>
                      <a:endParaRPr lang="en-US" sz="1600" dirty="0"/>
                    </a:p>
                  </a:txBody>
                  <a:tcPr/>
                </a:tc>
                <a:tc>
                  <a:txBody>
                    <a:bodyPr/>
                    <a:lstStyle/>
                    <a:p>
                      <a:r>
                        <a:rPr lang="en-US" sz="1600" dirty="0"/>
                        <a:t>Grading System</a:t>
                      </a:r>
                    </a:p>
                  </a:txBody>
                  <a:tcPr/>
                </a:tc>
                <a:tc>
                  <a:txBody>
                    <a:bodyPr/>
                    <a:lstStyle/>
                    <a:p>
                      <a:pPr lvl="0">
                        <a:buNone/>
                      </a:pPr>
                      <a:r>
                        <a:rPr lang="en-US" sz="1600" b="0" i="0" u="none" strike="noStrike" noProof="0" dirty="0">
                          <a:latin typeface="Calibri"/>
                        </a:rPr>
                        <a:t>Affects GPA calculation, transcript generation</a:t>
                      </a:r>
                      <a:endParaRPr lang="en-US" sz="1600" dirty="0"/>
                    </a:p>
                  </a:txBody>
                  <a:tcPr/>
                </a:tc>
                <a:tc>
                  <a:txBody>
                    <a:bodyPr/>
                    <a:lstStyle/>
                    <a:p>
                      <a:r>
                        <a:rPr lang="en-US" sz="1600" dirty="0"/>
                        <a:t>Approved</a:t>
                      </a:r>
                    </a:p>
                  </a:txBody>
                  <a:tcPr/>
                </a:tc>
                <a:extLst>
                  <a:ext uri="{0D108BD9-81ED-4DB2-BD59-A6C34878D82A}">
                    <a16:rowId xmlns:a16="http://schemas.microsoft.com/office/drawing/2014/main" val="1709956498"/>
                  </a:ext>
                </a:extLst>
              </a:tr>
              <a:tr h="651163">
                <a:tc>
                  <a:txBody>
                    <a:bodyPr/>
                    <a:lstStyle/>
                    <a:p>
                      <a:r>
                        <a:rPr lang="en-US" sz="1600" dirty="0"/>
                        <a:t>REQ-102</a:t>
                      </a:r>
                    </a:p>
                  </a:txBody>
                  <a:tcPr/>
                </a:tc>
                <a:tc>
                  <a:txBody>
                    <a:bodyPr/>
                    <a:lstStyle/>
                    <a:p>
                      <a:pPr lvl="0">
                        <a:buNone/>
                      </a:pPr>
                      <a:r>
                        <a:rPr lang="en-US" sz="1600" b="0" i="0" u="none" strike="noStrike" noProof="0" dirty="0">
                          <a:latin typeface="Calibri"/>
                        </a:rPr>
                        <a:t>Modify GPA calculation logic for Pass/Fail courses</a:t>
                      </a:r>
                      <a:endParaRPr lang="en-US" sz="1600" dirty="0"/>
                    </a:p>
                  </a:txBody>
                  <a:tcPr/>
                </a:tc>
                <a:tc>
                  <a:txBody>
                    <a:bodyPr/>
                    <a:lstStyle/>
                    <a:p>
                      <a:r>
                        <a:rPr lang="en-US" sz="1600" dirty="0"/>
                        <a:t>GPA calculation</a:t>
                      </a:r>
                    </a:p>
                  </a:txBody>
                  <a:tcPr/>
                </a:tc>
                <a:tc>
                  <a:txBody>
                    <a:bodyPr/>
                    <a:lstStyle/>
                    <a:p>
                      <a:pPr lvl="0">
                        <a:buNone/>
                      </a:pPr>
                      <a:r>
                        <a:rPr lang="en-US" sz="1600" b="0" i="0" u="none" strike="noStrike" noProof="0" dirty="0">
                          <a:latin typeface="Calibri"/>
                        </a:rPr>
                        <a:t>Dependent on RQ-101</a:t>
                      </a:r>
                      <a:endParaRPr lang="en-US" sz="1600" dirty="0"/>
                    </a:p>
                  </a:txBody>
                  <a:tcPr/>
                </a:tc>
                <a:tc>
                  <a:txBody>
                    <a:bodyPr/>
                    <a:lstStyle/>
                    <a:p>
                      <a:r>
                        <a:rPr lang="en-US" sz="1600" dirty="0"/>
                        <a:t>In Progress</a:t>
                      </a:r>
                    </a:p>
                  </a:txBody>
                  <a:tcPr/>
                </a:tc>
                <a:extLst>
                  <a:ext uri="{0D108BD9-81ED-4DB2-BD59-A6C34878D82A}">
                    <a16:rowId xmlns:a16="http://schemas.microsoft.com/office/drawing/2014/main" val="3178074779"/>
                  </a:ext>
                </a:extLst>
              </a:tr>
              <a:tr h="623454">
                <a:tc>
                  <a:txBody>
                    <a:bodyPr/>
                    <a:lstStyle/>
                    <a:p>
                      <a:r>
                        <a:rPr lang="en-US" sz="1600" dirty="0"/>
                        <a:t>REQ-103</a:t>
                      </a:r>
                    </a:p>
                  </a:txBody>
                  <a:tcPr/>
                </a:tc>
                <a:tc>
                  <a:txBody>
                    <a:bodyPr/>
                    <a:lstStyle/>
                    <a:p>
                      <a:pPr lvl="0">
                        <a:buNone/>
                      </a:pPr>
                      <a:r>
                        <a:rPr lang="en-US" sz="1600" b="0" i="0" u="none" strike="noStrike" noProof="0" dirty="0">
                          <a:latin typeface="Calibri"/>
                        </a:rPr>
                        <a:t>Update transcript format to reflect Pass/Fail grades</a:t>
                      </a:r>
                      <a:endParaRPr lang="en-US" sz="1600" dirty="0"/>
                    </a:p>
                  </a:txBody>
                  <a:tcPr/>
                </a:tc>
                <a:tc>
                  <a:txBody>
                    <a:bodyPr/>
                    <a:lstStyle/>
                    <a:p>
                      <a:r>
                        <a:rPr lang="en-US" sz="1600" dirty="0"/>
                        <a:t>Transcript Generation</a:t>
                      </a:r>
                    </a:p>
                  </a:txBody>
                  <a:tcPr/>
                </a:tc>
                <a:tc>
                  <a:txBody>
                    <a:bodyPr/>
                    <a:lstStyle/>
                    <a:p>
                      <a:pPr lvl="0">
                        <a:buNone/>
                      </a:pPr>
                      <a:r>
                        <a:rPr lang="en-US" sz="1600" b="0" i="0" u="none" strike="noStrike" noProof="0" dirty="0">
                          <a:latin typeface="Calibri"/>
                        </a:rPr>
                        <a:t>Dependent on RQ-101</a:t>
                      </a:r>
                      <a:endParaRPr lang="en-US" sz="1600" dirty="0"/>
                    </a:p>
                  </a:txBody>
                  <a:tcPr/>
                </a:tc>
                <a:tc>
                  <a:txBody>
                    <a:bodyPr/>
                    <a:lstStyle/>
                    <a:p>
                      <a:r>
                        <a:rPr lang="en-US" sz="1600" dirty="0"/>
                        <a:t>Pending</a:t>
                      </a:r>
                    </a:p>
                  </a:txBody>
                  <a:tcPr/>
                </a:tc>
                <a:extLst>
                  <a:ext uri="{0D108BD9-81ED-4DB2-BD59-A6C34878D82A}">
                    <a16:rowId xmlns:a16="http://schemas.microsoft.com/office/drawing/2014/main" val="2978663373"/>
                  </a:ext>
                </a:extLst>
              </a:tr>
              <a:tr h="735655">
                <a:tc>
                  <a:txBody>
                    <a:bodyPr/>
                    <a:lstStyle/>
                    <a:p>
                      <a:r>
                        <a:rPr lang="en-US" sz="1600" dirty="0"/>
                        <a:t>REQ-104</a:t>
                      </a:r>
                    </a:p>
                  </a:txBody>
                  <a:tcPr/>
                </a:tc>
                <a:tc>
                  <a:txBody>
                    <a:bodyPr/>
                    <a:lstStyle/>
                    <a:p>
                      <a:pPr lvl="0">
                        <a:buNone/>
                      </a:pPr>
                      <a:r>
                        <a:rPr lang="en-US" sz="1600" b="0" i="0" u="none" strike="noStrike" noProof="0" dirty="0">
                          <a:latin typeface="Calibri"/>
                        </a:rPr>
                        <a:t>Ensure academic standing rules account for Pass/Fail courses</a:t>
                      </a:r>
                      <a:endParaRPr lang="en-US" sz="1600" dirty="0"/>
                    </a:p>
                  </a:txBody>
                  <a:tcPr/>
                </a:tc>
                <a:tc>
                  <a:txBody>
                    <a:bodyPr/>
                    <a:lstStyle/>
                    <a:p>
                      <a:r>
                        <a:rPr lang="en-US" sz="1600" dirty="0"/>
                        <a:t>Academic standing module</a:t>
                      </a:r>
                    </a:p>
                  </a:txBody>
                  <a:tcPr/>
                </a:tc>
                <a:tc>
                  <a:txBody>
                    <a:bodyPr/>
                    <a:lstStyle/>
                    <a:p>
                      <a:pPr lvl="0">
                        <a:buNone/>
                      </a:pPr>
                      <a:r>
                        <a:rPr lang="en-US" sz="1600" b="0" i="0" u="none" strike="noStrike" noProof="0" dirty="0">
                          <a:latin typeface="Calibri"/>
                        </a:rPr>
                        <a:t>Dependent on RQ-102</a:t>
                      </a:r>
                      <a:endParaRPr lang="en-US" sz="1600" dirty="0"/>
                    </a:p>
                  </a:txBody>
                  <a:tcPr/>
                </a:tc>
                <a:tc>
                  <a:txBody>
                    <a:bodyPr/>
                    <a:lstStyle/>
                    <a:p>
                      <a:r>
                        <a:rPr lang="en-US" sz="1600" dirty="0"/>
                        <a:t>In Progress</a:t>
                      </a:r>
                    </a:p>
                  </a:txBody>
                  <a:tcPr/>
                </a:tc>
                <a:extLst>
                  <a:ext uri="{0D108BD9-81ED-4DB2-BD59-A6C34878D82A}">
                    <a16:rowId xmlns:a16="http://schemas.microsoft.com/office/drawing/2014/main" val="227302283"/>
                  </a:ext>
                </a:extLst>
              </a:tr>
              <a:tr h="735655">
                <a:tc>
                  <a:txBody>
                    <a:bodyPr/>
                    <a:lstStyle/>
                    <a:p>
                      <a:r>
                        <a:rPr lang="en-US" sz="1600" dirty="0"/>
                        <a:t>REQ-105</a:t>
                      </a:r>
                    </a:p>
                  </a:txBody>
                  <a:tcPr/>
                </a:tc>
                <a:tc>
                  <a:txBody>
                    <a:bodyPr/>
                    <a:lstStyle/>
                    <a:p>
                      <a:pPr lvl="0">
                        <a:buNone/>
                      </a:pPr>
                      <a:r>
                        <a:rPr lang="en-US" sz="1600" b="0" i="0" u="none" strike="noStrike" noProof="0" dirty="0">
                          <a:latin typeface="Calibri"/>
                        </a:rPr>
                        <a:t>Modify course eligibility checks to support Pass/Fail prerequisites</a:t>
                      </a:r>
                      <a:endParaRPr lang="en-US" sz="1600" dirty="0"/>
                    </a:p>
                  </a:txBody>
                  <a:tcPr/>
                </a:tc>
                <a:tc>
                  <a:txBody>
                    <a:bodyPr/>
                    <a:lstStyle/>
                    <a:p>
                      <a:r>
                        <a:rPr lang="en-US" sz="1600" dirty="0"/>
                        <a:t>Course Registration</a:t>
                      </a:r>
                    </a:p>
                  </a:txBody>
                  <a:tcPr/>
                </a:tc>
                <a:tc>
                  <a:txBody>
                    <a:bodyPr/>
                    <a:lstStyle/>
                    <a:p>
                      <a:pPr lvl="0">
                        <a:buNone/>
                      </a:pPr>
                      <a:r>
                        <a:rPr lang="en-US" sz="1600" b="0" i="0" u="none" strike="noStrike" noProof="0" dirty="0">
                          <a:latin typeface="Calibri"/>
                        </a:rPr>
                        <a:t>Dependent on RQ-101</a:t>
                      </a:r>
                      <a:endParaRPr lang="en-US" sz="1600" dirty="0"/>
                    </a:p>
                  </a:txBody>
                  <a:tcPr/>
                </a:tc>
                <a:tc>
                  <a:txBody>
                    <a:bodyPr/>
                    <a:lstStyle/>
                    <a:p>
                      <a:r>
                        <a:rPr lang="en-US" sz="1600" dirty="0"/>
                        <a:t>Approved</a:t>
                      </a:r>
                    </a:p>
                  </a:txBody>
                  <a:tcPr/>
                </a:tc>
                <a:extLst>
                  <a:ext uri="{0D108BD9-81ED-4DB2-BD59-A6C34878D82A}">
                    <a16:rowId xmlns:a16="http://schemas.microsoft.com/office/drawing/2014/main" val="346057804"/>
                  </a:ext>
                </a:extLst>
              </a:tr>
              <a:tr h="735655">
                <a:tc>
                  <a:txBody>
                    <a:bodyPr/>
                    <a:lstStyle/>
                    <a:p>
                      <a:r>
                        <a:rPr lang="en-US" sz="1600" dirty="0"/>
                        <a:t>REQ-106</a:t>
                      </a:r>
                    </a:p>
                  </a:txBody>
                  <a:tcPr/>
                </a:tc>
                <a:tc>
                  <a:txBody>
                    <a:bodyPr/>
                    <a:lstStyle/>
                    <a:p>
                      <a:pPr lvl="0">
                        <a:buNone/>
                      </a:pPr>
                      <a:r>
                        <a:rPr lang="en-US" sz="1600" b="0" i="0" u="none" strike="noStrike" noProof="0" dirty="0">
                          <a:latin typeface="Calibri"/>
                        </a:rPr>
                        <a:t>Update student and faculty portals to display Pass/Fail grades</a:t>
                      </a:r>
                      <a:endParaRPr lang="en-US" sz="1600" dirty="0"/>
                    </a:p>
                  </a:txBody>
                  <a:tcPr/>
                </a:tc>
                <a:tc>
                  <a:txBody>
                    <a:bodyPr/>
                    <a:lstStyle/>
                    <a:p>
                      <a:r>
                        <a:rPr lang="en-US" sz="1600" dirty="0"/>
                        <a:t>Student and Faculty Portal UI</a:t>
                      </a:r>
                    </a:p>
                  </a:txBody>
                  <a:tcPr/>
                </a:tc>
                <a:tc>
                  <a:txBody>
                    <a:bodyPr/>
                    <a:lstStyle/>
                    <a:p>
                      <a:pPr lvl="0">
                        <a:buNone/>
                      </a:pPr>
                      <a:r>
                        <a:rPr lang="en-US" sz="1600" b="0" i="0" u="none" strike="noStrike" noProof="0" dirty="0">
                          <a:latin typeface="Calibri"/>
                        </a:rPr>
                        <a:t>Dependent on RQ-101 &amp; RQ-103</a:t>
                      </a:r>
                      <a:endParaRPr lang="en-US" sz="1600" dirty="0"/>
                    </a:p>
                  </a:txBody>
                  <a:tcPr/>
                </a:tc>
                <a:tc>
                  <a:txBody>
                    <a:bodyPr/>
                    <a:lstStyle/>
                    <a:p>
                      <a:r>
                        <a:rPr lang="en-US" sz="1600" dirty="0"/>
                        <a:t>Pending</a:t>
                      </a:r>
                    </a:p>
                  </a:txBody>
                  <a:tcPr/>
                </a:tc>
                <a:extLst>
                  <a:ext uri="{0D108BD9-81ED-4DB2-BD59-A6C34878D82A}">
                    <a16:rowId xmlns:a16="http://schemas.microsoft.com/office/drawing/2014/main" val="3885125938"/>
                  </a:ext>
                </a:extLst>
              </a:tr>
            </a:tbl>
          </a:graphicData>
        </a:graphic>
      </p:graphicFrame>
    </p:spTree>
    <p:extLst>
      <p:ext uri="{BB962C8B-B14F-4D97-AF65-F5344CB8AC3E}">
        <p14:creationId xmlns:p14="http://schemas.microsoft.com/office/powerpoint/2010/main" val="21197824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93D52-CEBD-A273-ED4F-9B4F930FC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36D5F-821F-9DB6-9B13-6C2F406908DB}"/>
              </a:ext>
            </a:extLst>
          </p:cNvPr>
          <p:cNvSpPr>
            <a:spLocks noGrp="1"/>
          </p:cNvSpPr>
          <p:nvPr>
            <p:ph type="title"/>
          </p:nvPr>
        </p:nvSpPr>
        <p:spPr/>
        <p:txBody>
          <a:bodyPr/>
          <a:lstStyle/>
          <a:p>
            <a:r>
              <a:rPr lang="en-GB" dirty="0">
                <a:ea typeface="Calibri Light"/>
                <a:cs typeface="Calibri Light"/>
              </a:rPr>
              <a:t>Change Management Process</a:t>
            </a:r>
            <a:endParaRPr lang="en-US" dirty="0"/>
          </a:p>
        </p:txBody>
      </p:sp>
      <p:sp>
        <p:nvSpPr>
          <p:cNvPr id="3" name="Content Placeholder 2">
            <a:extLst>
              <a:ext uri="{FF2B5EF4-FFF2-40B4-BE49-F238E27FC236}">
                <a16:creationId xmlns:a16="http://schemas.microsoft.com/office/drawing/2014/main" id="{AFA28BA2-CA5A-9063-4B26-EC6544D9345E}"/>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Ensures that modifications to a system are evaluated, approved, and implemented without disrupting existing functionality</a:t>
            </a:r>
            <a:endParaRPr lang="en-US" dirty="0">
              <a:ea typeface="Calibri" panose="020F0502020204030204"/>
              <a:cs typeface="Calibri" panose="020F0502020204030204"/>
            </a:endParaRPr>
          </a:p>
          <a:p>
            <a:r>
              <a:rPr lang="en-US" dirty="0">
                <a:ea typeface="Calibri" panose="020F0502020204030204"/>
                <a:cs typeface="Calibri" panose="020F0502020204030204"/>
              </a:rPr>
              <a:t>Three stages:</a:t>
            </a:r>
          </a:p>
          <a:p>
            <a:pPr lvl="1" indent="-457200">
              <a:buAutoNum type="arabicPeriod"/>
            </a:pPr>
            <a:r>
              <a:rPr lang="en-US" dirty="0">
                <a:ea typeface="Calibri" panose="020F0502020204030204"/>
                <a:cs typeface="Calibri" panose="020F0502020204030204"/>
              </a:rPr>
              <a:t>Problem Analysis and Change Specification: Problem or change proposal analyzed for validity. Might go back to requestor for more specific change request or dropping change request</a:t>
            </a:r>
          </a:p>
          <a:p>
            <a:pPr lvl="1" indent="-457200">
              <a:buAutoNum type="arabicPeriod"/>
            </a:pPr>
            <a:r>
              <a:rPr lang="en-US" dirty="0">
                <a:ea typeface="Calibri" panose="020F0502020204030204"/>
                <a:cs typeface="Calibri" panose="020F0502020204030204"/>
              </a:rPr>
              <a:t>Change Analysis and Costing: Effect assessed using traceability information. Cost in terms of changes to requirement document, design and implementation (if need be). At end of this phase, final call taken to go ahead with requirement change or not</a:t>
            </a:r>
          </a:p>
          <a:p>
            <a:pPr lvl="1" indent="-457200">
              <a:buAutoNum type="arabicPeriod"/>
            </a:pPr>
            <a:r>
              <a:rPr lang="en-US" dirty="0">
                <a:ea typeface="Calibri" panose="020F0502020204030204"/>
                <a:cs typeface="Calibri" panose="020F0502020204030204"/>
              </a:rPr>
              <a:t>Change implementation: Requirements document, and where necessary, design and implementation are modified (any project artefacts should be so made that changes do not incur extensive rewriting or reorganization)</a:t>
            </a:r>
          </a:p>
          <a:p>
            <a:pPr marL="0" indent="0">
              <a:buNone/>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F3AF7FA1-647C-9116-82D2-6E37B3D311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E8376C0-D284-CD2E-D4DF-7A0F39C91016}"/>
              </a:ext>
            </a:extLst>
          </p:cNvPr>
          <p:cNvSpPr>
            <a:spLocks noGrp="1"/>
          </p:cNvSpPr>
          <p:nvPr>
            <p:ph type="sldNum" sz="quarter" idx="12"/>
          </p:nvPr>
        </p:nvSpPr>
        <p:spPr/>
        <p:txBody>
          <a:bodyPr/>
          <a:lstStyle/>
          <a:p>
            <a:fld id="{008559AE-1842-40A5-A2A9-0518F39FD1A9}" type="slidenum">
              <a:rPr lang="en-US" smtClean="0"/>
              <a:t>55</a:t>
            </a:fld>
            <a:endParaRPr lang="en-GB"/>
          </a:p>
        </p:txBody>
      </p:sp>
      <p:sp>
        <p:nvSpPr>
          <p:cNvPr id="7" name="Footer Placeholder 6">
            <a:extLst>
              <a:ext uri="{FF2B5EF4-FFF2-40B4-BE49-F238E27FC236}">
                <a16:creationId xmlns:a16="http://schemas.microsoft.com/office/drawing/2014/main" id="{1DDEC81B-76C7-553E-737C-05BFDCFD25E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0849176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5A10-266A-4D86-2B59-12ED81DE0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996DC-31A5-122F-B252-1CD44EEDA273}"/>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A99AA19A-7FA1-0C09-15E6-95CEC9A3E3B3}"/>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a:cs typeface="Calibri"/>
              </a:rPr>
              <a:t>Prioritizing Requirements</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07683BA-E6F1-A852-D4DB-A798C9307A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E39EBD9-D6FE-9916-C42A-84210985237A}"/>
              </a:ext>
            </a:extLst>
          </p:cNvPr>
          <p:cNvSpPr>
            <a:spLocks noGrp="1"/>
          </p:cNvSpPr>
          <p:nvPr>
            <p:ph type="sldNum" sz="quarter" idx="12"/>
          </p:nvPr>
        </p:nvSpPr>
        <p:spPr/>
        <p:txBody>
          <a:bodyPr/>
          <a:lstStyle/>
          <a:p>
            <a:fld id="{008559AE-1842-40A5-A2A9-0518F39FD1A9}" type="slidenum">
              <a:rPr lang="en-US" smtClean="0"/>
              <a:t>56</a:t>
            </a:fld>
            <a:endParaRPr lang="en-GB"/>
          </a:p>
        </p:txBody>
      </p:sp>
      <p:sp>
        <p:nvSpPr>
          <p:cNvPr id="7" name="Footer Placeholder 6">
            <a:extLst>
              <a:ext uri="{FF2B5EF4-FFF2-40B4-BE49-F238E27FC236}">
                <a16:creationId xmlns:a16="http://schemas.microsoft.com/office/drawing/2014/main" id="{016C52BD-4B10-8BD3-5BA9-DDEB03BEC64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8771251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9EBA-5D5C-352D-704E-C4826928A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6B770-14E4-BC32-19B6-2253E7EBB4C0}"/>
              </a:ext>
            </a:extLst>
          </p:cNvPr>
          <p:cNvSpPr>
            <a:spLocks noGrp="1"/>
          </p:cNvSpPr>
          <p:nvPr>
            <p:ph type="title"/>
          </p:nvPr>
        </p:nvSpPr>
        <p:spPr/>
        <p:txBody>
          <a:bodyPr/>
          <a:lstStyle/>
          <a:p>
            <a:r>
              <a:rPr lang="en-GB" dirty="0">
                <a:ea typeface="Calibri Light"/>
                <a:cs typeface="Calibri Light"/>
              </a:rPr>
              <a:t>Introduction</a:t>
            </a:r>
          </a:p>
        </p:txBody>
      </p:sp>
      <p:sp>
        <p:nvSpPr>
          <p:cNvPr id="3" name="Content Placeholder 2">
            <a:extLst>
              <a:ext uri="{FF2B5EF4-FFF2-40B4-BE49-F238E27FC236}">
                <a16:creationId xmlns:a16="http://schemas.microsoft.com/office/drawing/2014/main" id="{A791BFBA-1821-A1B1-BD8F-AEFDA82A55D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In most cases, not all requirements can be realized, so we have to make a selection of requirements which need to be realized first / on priority</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28E7746C-E25D-5458-982A-5073EDB3D2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8945725-FCA4-CF2F-A804-7DDD2B117A39}"/>
              </a:ext>
            </a:extLst>
          </p:cNvPr>
          <p:cNvSpPr>
            <a:spLocks noGrp="1"/>
          </p:cNvSpPr>
          <p:nvPr>
            <p:ph type="sldNum" sz="quarter" idx="12"/>
          </p:nvPr>
        </p:nvSpPr>
        <p:spPr/>
        <p:txBody>
          <a:bodyPr/>
          <a:lstStyle/>
          <a:p>
            <a:fld id="{008559AE-1842-40A5-A2A9-0518F39FD1A9}" type="slidenum">
              <a:rPr lang="en-US" smtClean="0"/>
              <a:t>57</a:t>
            </a:fld>
            <a:endParaRPr lang="en-GB"/>
          </a:p>
        </p:txBody>
      </p:sp>
      <p:sp>
        <p:nvSpPr>
          <p:cNvPr id="7" name="Footer Placeholder 6">
            <a:extLst>
              <a:ext uri="{FF2B5EF4-FFF2-40B4-BE49-F238E27FC236}">
                <a16:creationId xmlns:a16="http://schemas.microsoft.com/office/drawing/2014/main" id="{86319336-92CB-0EF2-39E1-669748F9E58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018516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765AE-A2B4-5254-1B0B-EB668F1F2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7FC85-192F-ABDE-31C9-67C5E9F1881C}"/>
              </a:ext>
            </a:extLst>
          </p:cNvPr>
          <p:cNvSpPr>
            <a:spLocks noGrp="1"/>
          </p:cNvSpPr>
          <p:nvPr>
            <p:ph type="title"/>
          </p:nvPr>
        </p:nvSpPr>
        <p:spPr/>
        <p:txBody>
          <a:bodyPr/>
          <a:lstStyle/>
          <a:p>
            <a:r>
              <a:rPr lang="en-GB" dirty="0">
                <a:ea typeface="Calibri Light"/>
                <a:cs typeface="Calibri Light"/>
              </a:rPr>
              <a:t>Triage</a:t>
            </a:r>
            <a:endParaRPr lang="en-US" dirty="0"/>
          </a:p>
        </p:txBody>
      </p:sp>
      <p:sp>
        <p:nvSpPr>
          <p:cNvPr id="3" name="Content Placeholder 2">
            <a:extLst>
              <a:ext uri="{FF2B5EF4-FFF2-40B4-BE49-F238E27FC236}">
                <a16:creationId xmlns:a16="http://schemas.microsoft.com/office/drawing/2014/main" id="{C223E96F-71E0-80EF-C164-C9FBB282CDDF}"/>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Triage in requirements prioritization refers to the process of </a:t>
            </a:r>
            <a:r>
              <a:rPr lang="en-US" b="1" dirty="0">
                <a:ea typeface="+mn-lt"/>
                <a:cs typeface="+mn-lt"/>
              </a:rPr>
              <a:t>evaluating, categorizing, and ranking requirements</a:t>
            </a:r>
            <a:r>
              <a:rPr lang="en-US" dirty="0">
                <a:ea typeface="+mn-lt"/>
                <a:cs typeface="+mn-lt"/>
              </a:rPr>
              <a:t> based on their </a:t>
            </a:r>
            <a:r>
              <a:rPr lang="en-US" b="1" dirty="0">
                <a:highlight>
                  <a:srgbClr val="FFFF00"/>
                </a:highlight>
                <a:ea typeface="+mn-lt"/>
                <a:cs typeface="+mn-lt"/>
              </a:rPr>
              <a:t>importance, urgency, and feasibility</a:t>
            </a:r>
            <a:r>
              <a:rPr lang="en-US" dirty="0">
                <a:ea typeface="+mn-lt"/>
                <a:cs typeface="+mn-lt"/>
              </a:rPr>
              <a:t>—similar to how medical triage prioritizes patients based on the severity of their condition</a:t>
            </a:r>
          </a:p>
          <a:p>
            <a:r>
              <a:rPr lang="en-US" dirty="0">
                <a:ea typeface="Calibri"/>
                <a:cs typeface="Calibri"/>
              </a:rPr>
              <a:t>Why triage?</a:t>
            </a:r>
          </a:p>
          <a:p>
            <a:pPr lvl="1" indent="-457200">
              <a:buFont typeface="Courier New" panose="020B0604020202020204" pitchFamily="34" charset="0"/>
              <a:buChar char="o"/>
            </a:pPr>
            <a:r>
              <a:rPr lang="en-US" dirty="0">
                <a:ea typeface="+mn-lt"/>
                <a:cs typeface="+mn-lt"/>
              </a:rPr>
              <a:t>Projects often have </a:t>
            </a:r>
            <a:r>
              <a:rPr lang="en-US" b="1" dirty="0">
                <a:ea typeface="+mn-lt"/>
                <a:cs typeface="+mn-lt"/>
              </a:rPr>
              <a:t>limited resources, time, and budget</a:t>
            </a:r>
            <a:r>
              <a:rPr lang="en-US" dirty="0">
                <a:ea typeface="+mn-lt"/>
                <a:cs typeface="+mn-lt"/>
              </a:rPr>
              <a:t>, so some requirements need to be fulfilled before others</a:t>
            </a:r>
            <a:endParaRPr lang="en-US" dirty="0">
              <a:ea typeface="Calibri"/>
              <a:cs typeface="Calibri"/>
            </a:endParaRPr>
          </a:p>
          <a:p>
            <a:pPr lvl="1" indent="-457200">
              <a:buFont typeface="Courier New" panose="020B0604020202020204" pitchFamily="34" charset="0"/>
              <a:buChar char="o"/>
            </a:pPr>
            <a:r>
              <a:rPr lang="en-US" dirty="0">
                <a:ea typeface="+mn-lt"/>
                <a:cs typeface="+mn-lt"/>
              </a:rPr>
              <a:t>Triage helps </a:t>
            </a:r>
            <a:r>
              <a:rPr lang="en-US" b="1" dirty="0">
                <a:ea typeface="+mn-lt"/>
                <a:cs typeface="+mn-lt"/>
              </a:rPr>
              <a:t>identify the most critical requirements</a:t>
            </a:r>
            <a:r>
              <a:rPr lang="en-US" dirty="0">
                <a:ea typeface="+mn-lt"/>
                <a:cs typeface="+mn-lt"/>
              </a:rPr>
              <a:t> to work on first</a:t>
            </a:r>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97160FF-4019-2EFE-C1FA-8A2D872806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4C2C129-37EE-110C-1A36-CACFA3AD3D04}"/>
              </a:ext>
            </a:extLst>
          </p:cNvPr>
          <p:cNvSpPr>
            <a:spLocks noGrp="1"/>
          </p:cNvSpPr>
          <p:nvPr>
            <p:ph type="sldNum" sz="quarter" idx="12"/>
          </p:nvPr>
        </p:nvSpPr>
        <p:spPr/>
        <p:txBody>
          <a:bodyPr/>
          <a:lstStyle/>
          <a:p>
            <a:fld id="{008559AE-1842-40A5-A2A9-0518F39FD1A9}" type="slidenum">
              <a:rPr lang="en-US" smtClean="0"/>
              <a:t>58</a:t>
            </a:fld>
            <a:endParaRPr lang="en-GB"/>
          </a:p>
        </p:txBody>
      </p:sp>
      <p:sp>
        <p:nvSpPr>
          <p:cNvPr id="7" name="Footer Placeholder 6">
            <a:extLst>
              <a:ext uri="{FF2B5EF4-FFF2-40B4-BE49-F238E27FC236}">
                <a16:creationId xmlns:a16="http://schemas.microsoft.com/office/drawing/2014/main" id="{1A151E01-2790-AB4A-CB07-898A459A910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931961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8F26A-1407-016B-DC7D-696712ADD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09A39-9AA4-9BC0-54FE-91720F26B2F9}"/>
              </a:ext>
            </a:extLst>
          </p:cNvPr>
          <p:cNvSpPr>
            <a:spLocks noGrp="1"/>
          </p:cNvSpPr>
          <p:nvPr>
            <p:ph type="title"/>
          </p:nvPr>
        </p:nvSpPr>
        <p:spPr/>
        <p:txBody>
          <a:bodyPr/>
          <a:lstStyle/>
          <a:p>
            <a:r>
              <a:rPr lang="en-GB" dirty="0">
                <a:ea typeface="Calibri Light"/>
                <a:cs typeface="Calibri Light"/>
              </a:rPr>
              <a:t>Triage – How it works</a:t>
            </a:r>
            <a:endParaRPr lang="en-US" dirty="0"/>
          </a:p>
        </p:txBody>
      </p:sp>
      <p:sp>
        <p:nvSpPr>
          <p:cNvPr id="3" name="Content Placeholder 2">
            <a:extLst>
              <a:ext uri="{FF2B5EF4-FFF2-40B4-BE49-F238E27FC236}">
                <a16:creationId xmlns:a16="http://schemas.microsoft.com/office/drawing/2014/main" id="{B8EC958A-0A25-3A49-6AC5-5FF825D0E7D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Critical (Must-Have)</a:t>
            </a:r>
            <a:r>
              <a:rPr lang="en-US" dirty="0">
                <a:ea typeface="+mn-lt"/>
                <a:cs typeface="+mn-lt"/>
              </a:rPr>
              <a:t> – These are essential for the system to function. Without them, the project </a:t>
            </a:r>
            <a:r>
              <a:rPr lang="en-US" b="1" dirty="0">
                <a:ea typeface="+mn-lt"/>
                <a:cs typeface="+mn-lt"/>
              </a:rPr>
              <a:t>fails</a:t>
            </a:r>
            <a:r>
              <a:rPr lang="en-US" dirty="0">
                <a:ea typeface="+mn-lt"/>
                <a:cs typeface="+mn-lt"/>
              </a:rPr>
              <a:t> or does not deliver its core value.</a:t>
            </a:r>
            <a:endParaRPr lang="en-US"/>
          </a:p>
          <a:p>
            <a:pPr lvl="1" indent="-457200">
              <a:buFont typeface="Courier New" panose="020B0604020202020204" pitchFamily="34" charset="0"/>
              <a:buChar char="o"/>
            </a:pPr>
            <a:r>
              <a:rPr lang="en-US" dirty="0">
                <a:ea typeface="+mn-lt"/>
                <a:cs typeface="+mn-lt"/>
              </a:rPr>
              <a:t>Example: </a:t>
            </a:r>
            <a:r>
              <a:rPr lang="en-US" i="1" dirty="0">
                <a:ea typeface="+mn-lt"/>
                <a:cs typeface="+mn-lt"/>
              </a:rPr>
              <a:t>A student portal must allow students to register for courses.</a:t>
            </a:r>
            <a:endParaRPr lang="en-US">
              <a:ea typeface="Calibri"/>
              <a:cs typeface="Calibri"/>
            </a:endParaRPr>
          </a:p>
          <a:p>
            <a:r>
              <a:rPr lang="en-US" b="1" dirty="0">
                <a:ea typeface="+mn-lt"/>
                <a:cs typeface="+mn-lt"/>
              </a:rPr>
              <a:t>Important (Should-Have)</a:t>
            </a:r>
            <a:r>
              <a:rPr lang="en-US" dirty="0">
                <a:ea typeface="+mn-lt"/>
                <a:cs typeface="+mn-lt"/>
              </a:rPr>
              <a:t> – Highly desirable but not </a:t>
            </a:r>
            <a:r>
              <a:rPr lang="en-US" b="1" dirty="0">
                <a:ea typeface="+mn-lt"/>
                <a:cs typeface="+mn-lt"/>
              </a:rPr>
              <a:t>immediately essential</a:t>
            </a:r>
            <a:r>
              <a:rPr lang="en-US" dirty="0">
                <a:ea typeface="+mn-lt"/>
                <a:cs typeface="+mn-lt"/>
              </a:rPr>
              <a:t>. These can be added in later phases or releases.</a:t>
            </a:r>
            <a:endParaRPr lang="en-US" dirty="0"/>
          </a:p>
          <a:p>
            <a:pPr lvl="1" indent="-457200">
              <a:buFont typeface="Courier New" panose="020B0604020202020204" pitchFamily="34" charset="0"/>
              <a:buChar char="o"/>
            </a:pPr>
            <a:r>
              <a:rPr lang="en-US" dirty="0">
                <a:ea typeface="+mn-lt"/>
                <a:cs typeface="+mn-lt"/>
              </a:rPr>
              <a:t>Example: </a:t>
            </a:r>
            <a:r>
              <a:rPr lang="en-US" i="1" dirty="0">
                <a:ea typeface="+mn-lt"/>
                <a:cs typeface="+mn-lt"/>
              </a:rPr>
              <a:t>A student portal should allow students to receive notifications when a waitlisted course becomes available.</a:t>
            </a:r>
            <a:endParaRPr lang="en-US">
              <a:ea typeface="Calibri"/>
              <a:cs typeface="Calibri"/>
            </a:endParaRPr>
          </a:p>
          <a:p>
            <a:r>
              <a:rPr lang="en-US" b="1" dirty="0">
                <a:ea typeface="+mn-lt"/>
                <a:cs typeface="+mn-lt"/>
              </a:rPr>
              <a:t>Optional (Nice-to-Have)</a:t>
            </a:r>
            <a:r>
              <a:rPr lang="en-US" dirty="0">
                <a:ea typeface="+mn-lt"/>
                <a:cs typeface="+mn-lt"/>
              </a:rPr>
              <a:t> – Enhancements that </a:t>
            </a:r>
            <a:r>
              <a:rPr lang="en-US" b="1" dirty="0">
                <a:ea typeface="+mn-lt"/>
                <a:cs typeface="+mn-lt"/>
              </a:rPr>
              <a:t>improve user </a:t>
            </a:r>
            <a:r>
              <a:rPr lang="en-US" b="1">
                <a:ea typeface="+mn-lt"/>
                <a:cs typeface="+mn-lt"/>
              </a:rPr>
              <a:t>experience</a:t>
            </a:r>
            <a:r>
              <a:rPr lang="en-US">
                <a:ea typeface="+mn-lt"/>
                <a:cs typeface="+mn-lt"/>
              </a:rPr>
              <a:t>,</a:t>
            </a:r>
            <a:r>
              <a:rPr lang="en-US" b="1">
                <a:ea typeface="+mn-lt"/>
                <a:cs typeface="+mn-lt"/>
              </a:rPr>
              <a:t> </a:t>
            </a:r>
            <a:r>
              <a:rPr lang="en-US">
                <a:ea typeface="+mn-lt"/>
                <a:cs typeface="+mn-lt"/>
              </a:rPr>
              <a:t>not urgent/ critical, can be postponed or removed</a:t>
            </a:r>
            <a:endParaRPr lang="en-US" dirty="0"/>
          </a:p>
          <a:p>
            <a:pPr lvl="1" indent="-457200">
              <a:buFont typeface="Courier New" panose="020B0604020202020204" pitchFamily="34" charset="0"/>
              <a:buChar char="o"/>
            </a:pPr>
            <a:r>
              <a:rPr lang="en-US" dirty="0">
                <a:ea typeface="+mn-lt"/>
                <a:cs typeface="+mn-lt"/>
              </a:rPr>
              <a:t>Example: </a:t>
            </a:r>
            <a:r>
              <a:rPr lang="en-US" i="1" dirty="0">
                <a:ea typeface="+mn-lt"/>
                <a:cs typeface="+mn-lt"/>
              </a:rPr>
              <a:t>A chatbot assistant for answering student FAQs within the portal.</a:t>
            </a:r>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B8814D4-44BA-FCDA-708F-47A77B2E3D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FF08814-3480-77DD-6F69-31757FBAE2C7}"/>
              </a:ext>
            </a:extLst>
          </p:cNvPr>
          <p:cNvSpPr>
            <a:spLocks noGrp="1"/>
          </p:cNvSpPr>
          <p:nvPr>
            <p:ph type="sldNum" sz="quarter" idx="12"/>
          </p:nvPr>
        </p:nvSpPr>
        <p:spPr/>
        <p:txBody>
          <a:bodyPr/>
          <a:lstStyle/>
          <a:p>
            <a:fld id="{008559AE-1842-40A5-A2A9-0518F39FD1A9}" type="slidenum">
              <a:rPr lang="en-US" smtClean="0"/>
              <a:t>59</a:t>
            </a:fld>
            <a:endParaRPr lang="en-GB"/>
          </a:p>
        </p:txBody>
      </p:sp>
      <p:sp>
        <p:nvSpPr>
          <p:cNvPr id="7" name="Footer Placeholder 6">
            <a:extLst>
              <a:ext uri="{FF2B5EF4-FFF2-40B4-BE49-F238E27FC236}">
                <a16:creationId xmlns:a16="http://schemas.microsoft.com/office/drawing/2014/main" id="{4091DE6E-B91B-CFBD-86A2-78FF2EBC497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965027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1CE76-9854-78C1-F260-0A80C9950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E5FA8-205D-646B-4D17-EFADB729CD76}"/>
              </a:ext>
            </a:extLst>
          </p:cNvPr>
          <p:cNvSpPr>
            <a:spLocks noGrp="1"/>
          </p:cNvSpPr>
          <p:nvPr>
            <p:ph type="title"/>
          </p:nvPr>
        </p:nvSpPr>
        <p:spPr/>
        <p:txBody>
          <a:bodyPr/>
          <a:lstStyle/>
          <a:p>
            <a:r>
              <a:rPr lang="en-GB" dirty="0">
                <a:ea typeface="Calibri Light"/>
                <a:cs typeface="Calibri Light"/>
              </a:rPr>
              <a:t>Triage – </a:t>
            </a:r>
            <a:r>
              <a:rPr lang="en-GB">
                <a:ea typeface="Calibri Light"/>
                <a:cs typeface="Calibri Light"/>
              </a:rPr>
              <a:t>Example using student portal</a:t>
            </a:r>
            <a:endParaRPr lang="en-US" dirty="0"/>
          </a:p>
        </p:txBody>
      </p:sp>
      <p:sp>
        <p:nvSpPr>
          <p:cNvPr id="3" name="Content Placeholder 2">
            <a:extLst>
              <a:ext uri="{FF2B5EF4-FFF2-40B4-BE49-F238E27FC236}">
                <a16:creationId xmlns:a16="http://schemas.microsoft.com/office/drawing/2014/main" id="{E3225240-30EF-3724-AB07-3124ED5F1519}"/>
              </a:ext>
            </a:extLst>
          </p:cNvPr>
          <p:cNvSpPr>
            <a:spLocks noGrp="1"/>
          </p:cNvSpPr>
          <p:nvPr>
            <p:ph idx="1"/>
          </p:nvPr>
        </p:nvSpPr>
        <p:spPr>
          <a:xfrm>
            <a:off x="838200" y="1690328"/>
            <a:ext cx="10515600" cy="5031147"/>
          </a:xfrm>
        </p:spPr>
        <p:txBody>
          <a:bodyPr vert="horz" lIns="91440" tIns="45720" rIns="91440" bIns="45720" rtlCol="0" anchor="t">
            <a:normAutofit/>
          </a:bodyPr>
          <a:lstStyle/>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2F6857AF-1335-FE3F-A638-B5DF0FB4AC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B939AEA-8093-778B-87A7-0AE71B59F112}"/>
              </a:ext>
            </a:extLst>
          </p:cNvPr>
          <p:cNvSpPr>
            <a:spLocks noGrp="1"/>
          </p:cNvSpPr>
          <p:nvPr>
            <p:ph type="sldNum" sz="quarter" idx="12"/>
          </p:nvPr>
        </p:nvSpPr>
        <p:spPr/>
        <p:txBody>
          <a:bodyPr/>
          <a:lstStyle/>
          <a:p>
            <a:fld id="{008559AE-1842-40A5-A2A9-0518F39FD1A9}" type="slidenum">
              <a:rPr lang="en-US" smtClean="0"/>
              <a:t>60</a:t>
            </a:fld>
            <a:endParaRPr lang="en-GB"/>
          </a:p>
        </p:txBody>
      </p:sp>
      <p:sp>
        <p:nvSpPr>
          <p:cNvPr id="7" name="Footer Placeholder 6">
            <a:extLst>
              <a:ext uri="{FF2B5EF4-FFF2-40B4-BE49-F238E27FC236}">
                <a16:creationId xmlns:a16="http://schemas.microsoft.com/office/drawing/2014/main" id="{C5CCCD43-3903-F693-989E-767D84E72AF3}"/>
              </a:ext>
            </a:extLst>
          </p:cNvPr>
          <p:cNvSpPr>
            <a:spLocks noGrp="1"/>
          </p:cNvSpPr>
          <p:nvPr>
            <p:ph type="ftr" sz="quarter" idx="11"/>
          </p:nvPr>
        </p:nvSpPr>
        <p:spPr/>
        <p:txBody>
          <a:bodyPr/>
          <a:lstStyle/>
          <a:p>
            <a:r>
              <a:rPr lang="en-US"/>
              <a:t>Software Engineering</a:t>
            </a:r>
          </a:p>
        </p:txBody>
      </p:sp>
      <p:graphicFrame>
        <p:nvGraphicFramePr>
          <p:cNvPr id="5" name="Table 4">
            <a:extLst>
              <a:ext uri="{FF2B5EF4-FFF2-40B4-BE49-F238E27FC236}">
                <a16:creationId xmlns:a16="http://schemas.microsoft.com/office/drawing/2014/main" id="{582B6D08-6CD5-2E79-F538-ECC9D1E589DE}"/>
              </a:ext>
            </a:extLst>
          </p:cNvPr>
          <p:cNvGraphicFramePr>
            <a:graphicFrameLocks noGrp="1"/>
          </p:cNvGraphicFramePr>
          <p:nvPr>
            <p:extLst>
              <p:ext uri="{D42A27DB-BD31-4B8C-83A1-F6EECF244321}">
                <p14:modId xmlns:p14="http://schemas.microsoft.com/office/powerpoint/2010/main" val="356451111"/>
              </p:ext>
            </p:extLst>
          </p:nvPr>
        </p:nvGraphicFramePr>
        <p:xfrm>
          <a:off x="1322716" y="2487283"/>
          <a:ext cx="10029422" cy="2308260"/>
        </p:xfrm>
        <a:graphic>
          <a:graphicData uri="http://schemas.openxmlformats.org/drawingml/2006/table">
            <a:tbl>
              <a:tblPr bandRow="1">
                <a:tableStyleId>{5C22544A-7EE6-4342-B048-85BDC9FD1C3A}</a:tableStyleId>
              </a:tblPr>
              <a:tblGrid>
                <a:gridCol w="5014711">
                  <a:extLst>
                    <a:ext uri="{9D8B030D-6E8A-4147-A177-3AD203B41FA5}">
                      <a16:colId xmlns:a16="http://schemas.microsoft.com/office/drawing/2014/main" val="814226471"/>
                    </a:ext>
                  </a:extLst>
                </a:gridCol>
                <a:gridCol w="5014711">
                  <a:extLst>
                    <a:ext uri="{9D8B030D-6E8A-4147-A177-3AD203B41FA5}">
                      <a16:colId xmlns:a16="http://schemas.microsoft.com/office/drawing/2014/main" val="2134456880"/>
                    </a:ext>
                  </a:extLst>
                </a:gridCol>
              </a:tblGrid>
              <a:tr h="461652">
                <a:tc>
                  <a:txBody>
                    <a:bodyPr/>
                    <a:lstStyle/>
                    <a:p>
                      <a:pPr>
                        <a:buNone/>
                      </a:pPr>
                      <a:r>
                        <a:rPr lang="en-US" sz="2400"/>
                        <a:t>Requirement</a:t>
                      </a:r>
                    </a:p>
                  </a:txBody>
                  <a:tcPr anchor="ctr">
                    <a:lnL>
                      <a:noFill/>
                    </a:lnL>
                    <a:lnR>
                      <a:noFill/>
                    </a:lnR>
                    <a:lnT>
                      <a:noFill/>
                    </a:lnT>
                    <a:lnB>
                      <a:noFill/>
                    </a:lnB>
                    <a:noFill/>
                  </a:tcPr>
                </a:tc>
                <a:tc>
                  <a:txBody>
                    <a:bodyPr/>
                    <a:lstStyle/>
                    <a:p>
                      <a:pPr>
                        <a:buNone/>
                      </a:pPr>
                      <a:r>
                        <a:rPr lang="en-US" sz="2400"/>
                        <a:t>Priority</a:t>
                      </a:r>
                    </a:p>
                  </a:txBody>
                  <a:tcPr anchor="ctr">
                    <a:lnL>
                      <a:noFill/>
                    </a:lnL>
                    <a:lnR>
                      <a:noFill/>
                    </a:lnR>
                    <a:lnT>
                      <a:noFill/>
                    </a:lnT>
                    <a:lnB>
                      <a:noFill/>
                    </a:lnB>
                    <a:noFill/>
                  </a:tcPr>
                </a:tc>
                <a:extLst>
                  <a:ext uri="{0D108BD9-81ED-4DB2-BD59-A6C34878D82A}">
                    <a16:rowId xmlns:a16="http://schemas.microsoft.com/office/drawing/2014/main" val="2457045704"/>
                  </a:ext>
                </a:extLst>
              </a:tr>
              <a:tr h="461652">
                <a:tc>
                  <a:txBody>
                    <a:bodyPr/>
                    <a:lstStyle/>
                    <a:p>
                      <a:pPr>
                        <a:buNone/>
                      </a:pPr>
                      <a:r>
                        <a:rPr lang="en-US" sz="2400"/>
                        <a:t>Student login</a:t>
                      </a:r>
                    </a:p>
                  </a:txBody>
                  <a:tcPr anchor="ctr">
                    <a:lnL>
                      <a:noFill/>
                    </a:lnL>
                    <a:lnR>
                      <a:noFill/>
                    </a:lnR>
                    <a:lnT>
                      <a:noFill/>
                    </a:lnT>
                    <a:lnB>
                      <a:noFill/>
                    </a:lnB>
                    <a:noFill/>
                  </a:tcPr>
                </a:tc>
                <a:tc>
                  <a:txBody>
                    <a:bodyPr/>
                    <a:lstStyle/>
                    <a:p>
                      <a:pPr>
                        <a:buNone/>
                      </a:pPr>
                      <a:r>
                        <a:rPr lang="en-US" sz="2400"/>
                        <a:t>Critical</a:t>
                      </a:r>
                    </a:p>
                  </a:txBody>
                  <a:tcPr anchor="ctr">
                    <a:lnL>
                      <a:noFill/>
                    </a:lnL>
                    <a:lnR>
                      <a:noFill/>
                    </a:lnR>
                    <a:lnT>
                      <a:noFill/>
                    </a:lnT>
                    <a:lnB>
                      <a:noFill/>
                    </a:lnB>
                    <a:noFill/>
                  </a:tcPr>
                </a:tc>
                <a:extLst>
                  <a:ext uri="{0D108BD9-81ED-4DB2-BD59-A6C34878D82A}">
                    <a16:rowId xmlns:a16="http://schemas.microsoft.com/office/drawing/2014/main" val="781365608"/>
                  </a:ext>
                </a:extLst>
              </a:tr>
              <a:tr h="461652">
                <a:tc>
                  <a:txBody>
                    <a:bodyPr/>
                    <a:lstStyle/>
                    <a:p>
                      <a:pPr>
                        <a:buNone/>
                      </a:pPr>
                      <a:r>
                        <a:rPr lang="en-US" sz="2400"/>
                        <a:t>View grades</a:t>
                      </a:r>
                    </a:p>
                  </a:txBody>
                  <a:tcPr anchor="ctr">
                    <a:lnL>
                      <a:noFill/>
                    </a:lnL>
                    <a:lnR>
                      <a:noFill/>
                    </a:lnR>
                    <a:lnT>
                      <a:noFill/>
                    </a:lnT>
                    <a:lnB>
                      <a:noFill/>
                    </a:lnB>
                    <a:noFill/>
                  </a:tcPr>
                </a:tc>
                <a:tc>
                  <a:txBody>
                    <a:bodyPr/>
                    <a:lstStyle/>
                    <a:p>
                      <a:pPr>
                        <a:buNone/>
                      </a:pPr>
                      <a:r>
                        <a:rPr lang="en-US" sz="2400"/>
                        <a:t>Critical</a:t>
                      </a:r>
                    </a:p>
                  </a:txBody>
                  <a:tcPr anchor="ctr">
                    <a:lnL>
                      <a:noFill/>
                    </a:lnL>
                    <a:lnR>
                      <a:noFill/>
                    </a:lnR>
                    <a:lnT>
                      <a:noFill/>
                    </a:lnT>
                    <a:lnB>
                      <a:noFill/>
                    </a:lnB>
                    <a:noFill/>
                  </a:tcPr>
                </a:tc>
                <a:extLst>
                  <a:ext uri="{0D108BD9-81ED-4DB2-BD59-A6C34878D82A}">
                    <a16:rowId xmlns:a16="http://schemas.microsoft.com/office/drawing/2014/main" val="3700032194"/>
                  </a:ext>
                </a:extLst>
              </a:tr>
              <a:tr h="461652">
                <a:tc>
                  <a:txBody>
                    <a:bodyPr/>
                    <a:lstStyle/>
                    <a:p>
                      <a:pPr>
                        <a:buNone/>
                      </a:pPr>
                      <a:r>
                        <a:rPr lang="en-US" sz="2400"/>
                        <a:t>Course discussion forum</a:t>
                      </a:r>
                    </a:p>
                  </a:txBody>
                  <a:tcPr anchor="ctr">
                    <a:lnL>
                      <a:noFill/>
                    </a:lnL>
                    <a:lnR>
                      <a:noFill/>
                    </a:lnR>
                    <a:lnT>
                      <a:noFill/>
                    </a:lnT>
                    <a:lnB>
                      <a:noFill/>
                    </a:lnB>
                    <a:noFill/>
                  </a:tcPr>
                </a:tc>
                <a:tc>
                  <a:txBody>
                    <a:bodyPr/>
                    <a:lstStyle/>
                    <a:p>
                      <a:pPr>
                        <a:buNone/>
                      </a:pPr>
                      <a:r>
                        <a:rPr lang="en-US" sz="2400"/>
                        <a:t>Important</a:t>
                      </a:r>
                    </a:p>
                  </a:txBody>
                  <a:tcPr anchor="ctr">
                    <a:lnL>
                      <a:noFill/>
                    </a:lnL>
                    <a:lnR>
                      <a:noFill/>
                    </a:lnR>
                    <a:lnT>
                      <a:noFill/>
                    </a:lnT>
                    <a:lnB>
                      <a:noFill/>
                    </a:lnB>
                    <a:noFill/>
                  </a:tcPr>
                </a:tc>
                <a:extLst>
                  <a:ext uri="{0D108BD9-81ED-4DB2-BD59-A6C34878D82A}">
                    <a16:rowId xmlns:a16="http://schemas.microsoft.com/office/drawing/2014/main" val="3741231084"/>
                  </a:ext>
                </a:extLst>
              </a:tr>
              <a:tr h="461652">
                <a:tc>
                  <a:txBody>
                    <a:bodyPr/>
                    <a:lstStyle/>
                    <a:p>
                      <a:pPr>
                        <a:buNone/>
                      </a:pPr>
                      <a:r>
                        <a:rPr lang="en-US" sz="2400"/>
                        <a:t>Dark mode interface</a:t>
                      </a:r>
                    </a:p>
                  </a:txBody>
                  <a:tcPr anchor="ctr">
                    <a:lnL>
                      <a:noFill/>
                    </a:lnL>
                    <a:lnR>
                      <a:noFill/>
                    </a:lnR>
                    <a:lnT>
                      <a:noFill/>
                    </a:lnT>
                    <a:lnB>
                      <a:noFill/>
                    </a:lnB>
                    <a:noFill/>
                  </a:tcPr>
                </a:tc>
                <a:tc>
                  <a:txBody>
                    <a:bodyPr/>
                    <a:lstStyle/>
                    <a:p>
                      <a:pPr>
                        <a:buNone/>
                      </a:pPr>
                      <a:r>
                        <a:rPr lang="en-US" sz="2400"/>
                        <a:t>Low</a:t>
                      </a:r>
                    </a:p>
                  </a:txBody>
                  <a:tcPr anchor="ctr">
                    <a:lnL>
                      <a:noFill/>
                    </a:lnL>
                    <a:lnR>
                      <a:noFill/>
                    </a:lnR>
                    <a:lnT>
                      <a:noFill/>
                    </a:lnT>
                    <a:lnB>
                      <a:noFill/>
                    </a:lnB>
                    <a:noFill/>
                  </a:tcPr>
                </a:tc>
                <a:extLst>
                  <a:ext uri="{0D108BD9-81ED-4DB2-BD59-A6C34878D82A}">
                    <a16:rowId xmlns:a16="http://schemas.microsoft.com/office/drawing/2014/main" val="3741066888"/>
                  </a:ext>
                </a:extLst>
              </a:tr>
            </a:tbl>
          </a:graphicData>
        </a:graphic>
      </p:graphicFrame>
    </p:spTree>
    <p:extLst>
      <p:ext uri="{BB962C8B-B14F-4D97-AF65-F5344CB8AC3E}">
        <p14:creationId xmlns:p14="http://schemas.microsoft.com/office/powerpoint/2010/main" val="14935751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E1191-C188-6E00-3936-E07057B69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D6F9-C78A-6EF4-D1D7-0C618267103D}"/>
              </a:ext>
            </a:extLst>
          </p:cNvPr>
          <p:cNvSpPr>
            <a:spLocks noGrp="1"/>
          </p:cNvSpPr>
          <p:nvPr>
            <p:ph type="title"/>
          </p:nvPr>
        </p:nvSpPr>
        <p:spPr/>
        <p:txBody>
          <a:bodyPr/>
          <a:lstStyle/>
          <a:p>
            <a:r>
              <a:rPr lang="en-GB" dirty="0" err="1">
                <a:ea typeface="Calibri Light"/>
                <a:cs typeface="Calibri Light"/>
              </a:rPr>
              <a:t>MoSCoW</a:t>
            </a:r>
            <a:r>
              <a:rPr lang="en-GB" dirty="0">
                <a:ea typeface="Calibri Light"/>
                <a:cs typeface="Calibri Light"/>
              </a:rPr>
              <a:t> (Hans Van Vliet, pg. 226)</a:t>
            </a:r>
            <a:endParaRPr lang="en-US" dirty="0" err="1"/>
          </a:p>
        </p:txBody>
      </p:sp>
      <p:sp>
        <p:nvSpPr>
          <p:cNvPr id="3" name="Content Placeholder 2">
            <a:extLst>
              <a:ext uri="{FF2B5EF4-FFF2-40B4-BE49-F238E27FC236}">
                <a16:creationId xmlns:a16="http://schemas.microsoft.com/office/drawing/2014/main" id="{993994D3-81D1-082B-C635-DEA69D46E23E}"/>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mn-lt"/>
                <a:cs typeface="+mn-lt"/>
              </a:rPr>
              <a:t>Distinguishes four types of requirements:</a:t>
            </a:r>
            <a:endParaRPr lang="en-US" dirty="0"/>
          </a:p>
          <a:p>
            <a:pPr lvl="1">
              <a:buFont typeface="Courier New" panose="020B0604020202020204" pitchFamily="34" charset="0"/>
              <a:buChar char="o"/>
            </a:pPr>
            <a:r>
              <a:rPr lang="en-US" dirty="0">
                <a:ea typeface="Calibri"/>
                <a:cs typeface="Calibri"/>
              </a:rPr>
              <a:t>Must haves: These are top priority requirements (ones that definitely need to be realized in order to make system acceptable to customer)</a:t>
            </a:r>
          </a:p>
          <a:p>
            <a:pPr lvl="1">
              <a:buFont typeface="Courier New" panose="020B0604020202020204" pitchFamily="34" charset="0"/>
              <a:buChar char="o"/>
            </a:pPr>
            <a:r>
              <a:rPr lang="en-US" dirty="0">
                <a:ea typeface="Calibri"/>
                <a:cs typeface="Calibri"/>
              </a:rPr>
              <a:t>Should haves: Not strictly mandatory (but highly desirable) - important but not show stoppers</a:t>
            </a:r>
          </a:p>
          <a:p>
            <a:pPr lvl="1">
              <a:buFont typeface="Courier New" panose="020B0604020202020204" pitchFamily="34" charset="0"/>
              <a:buChar char="o"/>
            </a:pPr>
            <a:r>
              <a:rPr lang="en-US" dirty="0">
                <a:ea typeface="Calibri"/>
                <a:cs typeface="Calibri"/>
              </a:rPr>
              <a:t>Could haves: If time allows, these requirements will be realized (in practice, they usually won't) - desirable but low priority</a:t>
            </a:r>
          </a:p>
          <a:p>
            <a:pPr lvl="1">
              <a:buFont typeface="Courier New" panose="020B0604020202020204" pitchFamily="34" charset="0"/>
              <a:buChar char="o"/>
            </a:pPr>
            <a:r>
              <a:rPr lang="en-US" dirty="0">
                <a:ea typeface="Calibri"/>
                <a:cs typeface="Calibri"/>
              </a:rPr>
              <a:t>Won't haves: These requirements will not be realized in the present version (they are recorded though. They will/ might be considered again for a next version of the system) - low value, high cost (in terms or time or budget)</a:t>
            </a:r>
          </a:p>
          <a:p>
            <a:endParaRPr lang="en-US" dirty="0">
              <a:ea typeface="+mn-lt"/>
              <a:cs typeface="+mn-lt"/>
            </a:endParaRPr>
          </a:p>
          <a:p>
            <a:r>
              <a:rPr lang="en-US" dirty="0">
                <a:ea typeface="+mn-lt"/>
                <a:cs typeface="+mn-lt"/>
              </a:rPr>
              <a:t>"</a:t>
            </a:r>
            <a:r>
              <a:rPr lang="en-US" dirty="0" err="1">
                <a:ea typeface="+mn-lt"/>
                <a:cs typeface="+mn-lt"/>
              </a:rPr>
              <a:t>MoSCoW</a:t>
            </a:r>
            <a:r>
              <a:rPr lang="en-US" dirty="0">
                <a:ea typeface="+mn-lt"/>
                <a:cs typeface="+mn-lt"/>
              </a:rPr>
              <a:t> assumes that requirements can be ordered along a single axis, and that realizing more requirements yields more satisfied customers (reality is more complex)" - this is where Kano comes</a:t>
            </a:r>
            <a:endParaRPr lang="en-US" dirty="0"/>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5811F1A5-EEFF-7283-DACB-F6CD2AE8DA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DEAC1A-E60E-2C16-8357-D28A3868474E}"/>
              </a:ext>
            </a:extLst>
          </p:cNvPr>
          <p:cNvSpPr>
            <a:spLocks noGrp="1"/>
          </p:cNvSpPr>
          <p:nvPr>
            <p:ph type="sldNum" sz="quarter" idx="12"/>
          </p:nvPr>
        </p:nvSpPr>
        <p:spPr/>
        <p:txBody>
          <a:bodyPr/>
          <a:lstStyle/>
          <a:p>
            <a:fld id="{008559AE-1842-40A5-A2A9-0518F39FD1A9}" type="slidenum">
              <a:rPr lang="en-US" smtClean="0"/>
              <a:t>61</a:t>
            </a:fld>
            <a:endParaRPr lang="en-GB"/>
          </a:p>
        </p:txBody>
      </p:sp>
      <p:sp>
        <p:nvSpPr>
          <p:cNvPr id="7" name="Footer Placeholder 6">
            <a:extLst>
              <a:ext uri="{FF2B5EF4-FFF2-40B4-BE49-F238E27FC236}">
                <a16:creationId xmlns:a16="http://schemas.microsoft.com/office/drawing/2014/main" id="{6A82EBBD-7C30-7235-81E4-E53F7A9019D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440584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E078-0A54-B222-0B95-B0C52DFA4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726D1-19E7-6215-FD9B-30359B114DAD}"/>
              </a:ext>
            </a:extLst>
          </p:cNvPr>
          <p:cNvSpPr>
            <a:spLocks noGrp="1"/>
          </p:cNvSpPr>
          <p:nvPr>
            <p:ph type="title"/>
          </p:nvPr>
        </p:nvSpPr>
        <p:spPr/>
        <p:txBody>
          <a:bodyPr/>
          <a:lstStyle/>
          <a:p>
            <a:r>
              <a:rPr lang="en-GB" dirty="0" err="1">
                <a:ea typeface="Calibri Light"/>
                <a:cs typeface="Calibri Light"/>
              </a:rPr>
              <a:t>MoSCoW</a:t>
            </a:r>
            <a:r>
              <a:rPr lang="en-GB" dirty="0">
                <a:ea typeface="Calibri Light"/>
                <a:cs typeface="Calibri Light"/>
              </a:rPr>
              <a:t>: In simpler terms</a:t>
            </a:r>
          </a:p>
        </p:txBody>
      </p:sp>
      <p:sp>
        <p:nvSpPr>
          <p:cNvPr id="3" name="Content Placeholder 2">
            <a:extLst>
              <a:ext uri="{FF2B5EF4-FFF2-40B4-BE49-F238E27FC236}">
                <a16:creationId xmlns:a16="http://schemas.microsoft.com/office/drawing/2014/main" id="{DA59A2D4-12D9-5C3C-BB2A-14805844766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Distinguishes four types of requirements:</a:t>
            </a:r>
            <a:endParaRPr lang="en-US" dirty="0"/>
          </a:p>
          <a:p>
            <a:pPr lvl="1">
              <a:buFont typeface="Courier New" panose="020B0604020202020204" pitchFamily="34" charset="0"/>
              <a:buChar char="o"/>
            </a:pPr>
            <a:r>
              <a:rPr lang="en-US" dirty="0">
                <a:ea typeface="Calibri"/>
                <a:cs typeface="Calibri"/>
              </a:rPr>
              <a:t>Must </a:t>
            </a:r>
            <a:r>
              <a:rPr lang="en-US">
                <a:ea typeface="Calibri"/>
                <a:cs typeface="Calibri"/>
              </a:rPr>
              <a:t>haves: </a:t>
            </a:r>
            <a:r>
              <a:rPr lang="en-US">
                <a:ea typeface="+mn-lt"/>
                <a:cs typeface="+mn-lt"/>
              </a:rPr>
              <a:t>Essential requirements; system will fail without them</a:t>
            </a:r>
            <a:endParaRPr lang="en-US" dirty="0">
              <a:ea typeface="Calibri"/>
              <a:cs typeface="Calibri"/>
            </a:endParaRPr>
          </a:p>
          <a:p>
            <a:pPr lvl="1">
              <a:buFont typeface="Courier New" panose="020B0604020202020204" pitchFamily="34" charset="0"/>
              <a:buChar char="o"/>
            </a:pPr>
            <a:r>
              <a:rPr lang="en-US">
                <a:ea typeface="Calibri"/>
                <a:cs typeface="Calibri"/>
              </a:rPr>
              <a:t>Should haves: </a:t>
            </a:r>
            <a:r>
              <a:rPr lang="en-US">
                <a:ea typeface="+mn-lt"/>
                <a:cs typeface="+mn-lt"/>
              </a:rPr>
              <a:t>Important but not critical; workaround may exist</a:t>
            </a:r>
          </a:p>
          <a:p>
            <a:pPr lvl="1">
              <a:buFont typeface="Courier New" panose="020B0604020202020204" pitchFamily="34" charset="0"/>
              <a:buChar char="o"/>
            </a:pPr>
            <a:r>
              <a:rPr lang="en-US" dirty="0">
                <a:ea typeface="Calibri"/>
                <a:cs typeface="Calibri"/>
              </a:rPr>
              <a:t>Could haves: </a:t>
            </a:r>
            <a:r>
              <a:rPr lang="en-US" dirty="0">
                <a:ea typeface="+mn-lt"/>
                <a:cs typeface="+mn-lt"/>
              </a:rPr>
              <a:t>Desirable features if time </a:t>
            </a:r>
            <a:r>
              <a:rPr lang="en-US">
                <a:ea typeface="+mn-lt"/>
                <a:cs typeface="+mn-lt"/>
              </a:rPr>
              <a:t>permits</a:t>
            </a:r>
            <a:endParaRPr lang="en-US" dirty="0">
              <a:ea typeface="+mn-lt"/>
              <a:cs typeface="+mn-lt"/>
            </a:endParaRPr>
          </a:p>
          <a:p>
            <a:pPr lvl="1">
              <a:buFont typeface="Courier New" panose="020B0604020202020204" pitchFamily="34" charset="0"/>
              <a:buChar char="o"/>
            </a:pPr>
            <a:r>
              <a:rPr lang="en-US" dirty="0">
                <a:ea typeface="Calibri"/>
                <a:cs typeface="Calibri"/>
              </a:rPr>
              <a:t>Won't haves: </a:t>
            </a:r>
            <a:r>
              <a:rPr lang="en-US" dirty="0">
                <a:ea typeface="+mn-lt"/>
                <a:cs typeface="+mn-lt"/>
              </a:rPr>
              <a:t>Not included in the current version</a:t>
            </a:r>
          </a:p>
          <a:p>
            <a:r>
              <a:rPr lang="en-US">
                <a:ea typeface="+mn-lt"/>
                <a:cs typeface="+mn-lt"/>
              </a:rPr>
              <a:t>Example:</a:t>
            </a:r>
            <a:endParaRPr lang="en-US" dirty="0">
              <a:ea typeface="+mn-lt"/>
              <a:cs typeface="+mn-lt"/>
            </a:endParaRPr>
          </a:p>
          <a:p>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69E7BA8-95FC-9590-B210-FB94952F3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9CBB34A-9994-82AB-321A-E051AFBD7836}"/>
              </a:ext>
            </a:extLst>
          </p:cNvPr>
          <p:cNvSpPr>
            <a:spLocks noGrp="1"/>
          </p:cNvSpPr>
          <p:nvPr>
            <p:ph type="sldNum" sz="quarter" idx="12"/>
          </p:nvPr>
        </p:nvSpPr>
        <p:spPr/>
        <p:txBody>
          <a:bodyPr/>
          <a:lstStyle/>
          <a:p>
            <a:fld id="{008559AE-1842-40A5-A2A9-0518F39FD1A9}" type="slidenum">
              <a:rPr lang="en-US" smtClean="0"/>
              <a:t>62</a:t>
            </a:fld>
            <a:endParaRPr lang="en-GB"/>
          </a:p>
        </p:txBody>
      </p:sp>
      <p:sp>
        <p:nvSpPr>
          <p:cNvPr id="7" name="Footer Placeholder 6">
            <a:extLst>
              <a:ext uri="{FF2B5EF4-FFF2-40B4-BE49-F238E27FC236}">
                <a16:creationId xmlns:a16="http://schemas.microsoft.com/office/drawing/2014/main" id="{C66BC73D-AE83-E86D-BF22-E3B304D3D857}"/>
              </a:ext>
            </a:extLst>
          </p:cNvPr>
          <p:cNvSpPr>
            <a:spLocks noGrp="1"/>
          </p:cNvSpPr>
          <p:nvPr>
            <p:ph type="ftr" sz="quarter" idx="11"/>
          </p:nvPr>
        </p:nvSpPr>
        <p:spPr/>
        <p:txBody>
          <a:bodyPr/>
          <a:lstStyle/>
          <a:p>
            <a:r>
              <a:rPr lang="en-US"/>
              <a:t>Software Engineering</a:t>
            </a:r>
          </a:p>
        </p:txBody>
      </p:sp>
      <p:graphicFrame>
        <p:nvGraphicFramePr>
          <p:cNvPr id="5" name="Table 4">
            <a:extLst>
              <a:ext uri="{FF2B5EF4-FFF2-40B4-BE49-F238E27FC236}">
                <a16:creationId xmlns:a16="http://schemas.microsoft.com/office/drawing/2014/main" id="{8AE9EF02-8C1D-A63F-E0F3-394A1D196E1F}"/>
              </a:ext>
            </a:extLst>
          </p:cNvPr>
          <p:cNvGraphicFramePr>
            <a:graphicFrameLocks noGrp="1"/>
          </p:cNvGraphicFramePr>
          <p:nvPr>
            <p:extLst>
              <p:ext uri="{D42A27DB-BD31-4B8C-83A1-F6EECF244321}">
                <p14:modId xmlns:p14="http://schemas.microsoft.com/office/powerpoint/2010/main" val="3324388629"/>
              </p:ext>
            </p:extLst>
          </p:nvPr>
        </p:nvGraphicFramePr>
        <p:xfrm>
          <a:off x="1035170" y="4200777"/>
          <a:ext cx="10130334" cy="2194560"/>
        </p:xfrm>
        <a:graphic>
          <a:graphicData uri="http://schemas.openxmlformats.org/drawingml/2006/table">
            <a:tbl>
              <a:tblPr bandRow="1">
                <a:tableStyleId>{5C22544A-7EE6-4342-B048-85BDC9FD1C3A}</a:tableStyleId>
              </a:tblPr>
              <a:tblGrid>
                <a:gridCol w="5065167">
                  <a:extLst>
                    <a:ext uri="{9D8B030D-6E8A-4147-A177-3AD203B41FA5}">
                      <a16:colId xmlns:a16="http://schemas.microsoft.com/office/drawing/2014/main" val="652602959"/>
                    </a:ext>
                  </a:extLst>
                </a:gridCol>
                <a:gridCol w="5065167">
                  <a:extLst>
                    <a:ext uri="{9D8B030D-6E8A-4147-A177-3AD203B41FA5}">
                      <a16:colId xmlns:a16="http://schemas.microsoft.com/office/drawing/2014/main" val="1919284111"/>
                    </a:ext>
                  </a:extLst>
                </a:gridCol>
              </a:tblGrid>
              <a:tr h="0">
                <a:tc>
                  <a:txBody>
                    <a:bodyPr/>
                    <a:lstStyle/>
                    <a:p>
                      <a:pPr>
                        <a:buNone/>
                      </a:pPr>
                      <a:r>
                        <a:rPr lang="en-US"/>
                        <a:t>Requirement</a:t>
                      </a:r>
                    </a:p>
                  </a:txBody>
                  <a:tcPr anchor="ctr">
                    <a:lnL>
                      <a:noFill/>
                    </a:lnL>
                    <a:lnR>
                      <a:noFill/>
                    </a:lnR>
                    <a:lnT>
                      <a:noFill/>
                    </a:lnT>
                    <a:lnB>
                      <a:noFill/>
                    </a:lnB>
                    <a:noFill/>
                  </a:tcPr>
                </a:tc>
                <a:tc>
                  <a:txBody>
                    <a:bodyPr/>
                    <a:lstStyle/>
                    <a:p>
                      <a:pPr>
                        <a:buNone/>
                      </a:pPr>
                      <a:r>
                        <a:rPr lang="en-US"/>
                        <a:t>Priority</a:t>
                      </a:r>
                    </a:p>
                  </a:txBody>
                  <a:tcPr anchor="ctr">
                    <a:lnL>
                      <a:noFill/>
                    </a:lnL>
                    <a:lnR>
                      <a:noFill/>
                    </a:lnR>
                    <a:lnT>
                      <a:noFill/>
                    </a:lnT>
                    <a:lnB>
                      <a:noFill/>
                    </a:lnB>
                    <a:noFill/>
                  </a:tcPr>
                </a:tc>
                <a:extLst>
                  <a:ext uri="{0D108BD9-81ED-4DB2-BD59-A6C34878D82A}">
                    <a16:rowId xmlns:a16="http://schemas.microsoft.com/office/drawing/2014/main" val="159949058"/>
                  </a:ext>
                </a:extLst>
              </a:tr>
              <a:tr h="0">
                <a:tc>
                  <a:txBody>
                    <a:bodyPr/>
                    <a:lstStyle/>
                    <a:p>
                      <a:pPr>
                        <a:buNone/>
                      </a:pPr>
                      <a:r>
                        <a:rPr lang="en-US"/>
                        <a:t>Student login</a:t>
                      </a:r>
                    </a:p>
                  </a:txBody>
                  <a:tcPr anchor="ctr">
                    <a:lnL>
                      <a:noFill/>
                    </a:lnL>
                    <a:lnR>
                      <a:noFill/>
                    </a:lnR>
                    <a:lnT>
                      <a:noFill/>
                    </a:lnT>
                    <a:lnB>
                      <a:noFill/>
                    </a:lnB>
                    <a:noFill/>
                  </a:tcPr>
                </a:tc>
                <a:tc>
                  <a:txBody>
                    <a:bodyPr/>
                    <a:lstStyle/>
                    <a:p>
                      <a:pPr>
                        <a:buNone/>
                      </a:pPr>
                      <a:r>
                        <a:rPr lang="en-US"/>
                        <a:t>Must Have</a:t>
                      </a:r>
                    </a:p>
                  </a:txBody>
                  <a:tcPr anchor="ctr">
                    <a:lnL>
                      <a:noFill/>
                    </a:lnL>
                    <a:lnR>
                      <a:noFill/>
                    </a:lnR>
                    <a:lnT>
                      <a:noFill/>
                    </a:lnT>
                    <a:lnB>
                      <a:noFill/>
                    </a:lnB>
                    <a:noFill/>
                  </a:tcPr>
                </a:tc>
                <a:extLst>
                  <a:ext uri="{0D108BD9-81ED-4DB2-BD59-A6C34878D82A}">
                    <a16:rowId xmlns:a16="http://schemas.microsoft.com/office/drawing/2014/main" val="2142205302"/>
                  </a:ext>
                </a:extLst>
              </a:tr>
              <a:tr h="0">
                <a:tc>
                  <a:txBody>
                    <a:bodyPr/>
                    <a:lstStyle/>
                    <a:p>
                      <a:pPr>
                        <a:buNone/>
                      </a:pPr>
                      <a:r>
                        <a:rPr lang="en-US"/>
                        <a:t>View grades</a:t>
                      </a:r>
                    </a:p>
                  </a:txBody>
                  <a:tcPr anchor="ctr">
                    <a:lnL>
                      <a:noFill/>
                    </a:lnL>
                    <a:lnR>
                      <a:noFill/>
                    </a:lnR>
                    <a:lnT>
                      <a:noFill/>
                    </a:lnT>
                    <a:lnB>
                      <a:noFill/>
                    </a:lnB>
                    <a:noFill/>
                  </a:tcPr>
                </a:tc>
                <a:tc>
                  <a:txBody>
                    <a:bodyPr/>
                    <a:lstStyle/>
                    <a:p>
                      <a:pPr>
                        <a:buNone/>
                      </a:pPr>
                      <a:r>
                        <a:rPr lang="en-US"/>
                        <a:t>Must Have</a:t>
                      </a:r>
                    </a:p>
                  </a:txBody>
                  <a:tcPr anchor="ctr">
                    <a:lnL>
                      <a:noFill/>
                    </a:lnL>
                    <a:lnR>
                      <a:noFill/>
                    </a:lnR>
                    <a:lnT>
                      <a:noFill/>
                    </a:lnT>
                    <a:lnB>
                      <a:noFill/>
                    </a:lnB>
                    <a:noFill/>
                  </a:tcPr>
                </a:tc>
                <a:extLst>
                  <a:ext uri="{0D108BD9-81ED-4DB2-BD59-A6C34878D82A}">
                    <a16:rowId xmlns:a16="http://schemas.microsoft.com/office/drawing/2014/main" val="3650030909"/>
                  </a:ext>
                </a:extLst>
              </a:tr>
              <a:tr h="0">
                <a:tc>
                  <a:txBody>
                    <a:bodyPr/>
                    <a:lstStyle/>
                    <a:p>
                      <a:pPr>
                        <a:buNone/>
                      </a:pPr>
                      <a:r>
                        <a:rPr lang="en-US"/>
                        <a:t>Attendance viewing</a:t>
                      </a:r>
                    </a:p>
                  </a:txBody>
                  <a:tcPr anchor="ctr">
                    <a:lnL>
                      <a:noFill/>
                    </a:lnL>
                    <a:lnR>
                      <a:noFill/>
                    </a:lnR>
                    <a:lnT>
                      <a:noFill/>
                    </a:lnT>
                    <a:lnB>
                      <a:noFill/>
                    </a:lnB>
                    <a:noFill/>
                  </a:tcPr>
                </a:tc>
                <a:tc>
                  <a:txBody>
                    <a:bodyPr/>
                    <a:lstStyle/>
                    <a:p>
                      <a:pPr>
                        <a:buNone/>
                      </a:pPr>
                      <a:r>
                        <a:rPr lang="en-US"/>
                        <a:t>Should Have</a:t>
                      </a:r>
                    </a:p>
                  </a:txBody>
                  <a:tcPr anchor="ctr">
                    <a:lnL>
                      <a:noFill/>
                    </a:lnL>
                    <a:lnR>
                      <a:noFill/>
                    </a:lnR>
                    <a:lnT>
                      <a:noFill/>
                    </a:lnT>
                    <a:lnB>
                      <a:noFill/>
                    </a:lnB>
                    <a:noFill/>
                  </a:tcPr>
                </a:tc>
                <a:extLst>
                  <a:ext uri="{0D108BD9-81ED-4DB2-BD59-A6C34878D82A}">
                    <a16:rowId xmlns:a16="http://schemas.microsoft.com/office/drawing/2014/main" val="3474966777"/>
                  </a:ext>
                </a:extLst>
              </a:tr>
              <a:tr h="0">
                <a:tc>
                  <a:txBody>
                    <a:bodyPr/>
                    <a:lstStyle/>
                    <a:p>
                      <a:pPr>
                        <a:buNone/>
                      </a:pPr>
                      <a:r>
                        <a:rPr lang="en-US"/>
                        <a:t>Profile picture upload</a:t>
                      </a:r>
                    </a:p>
                  </a:txBody>
                  <a:tcPr anchor="ctr">
                    <a:lnL>
                      <a:noFill/>
                    </a:lnL>
                    <a:lnR>
                      <a:noFill/>
                    </a:lnR>
                    <a:lnT>
                      <a:noFill/>
                    </a:lnT>
                    <a:lnB>
                      <a:noFill/>
                    </a:lnB>
                    <a:noFill/>
                  </a:tcPr>
                </a:tc>
                <a:tc>
                  <a:txBody>
                    <a:bodyPr/>
                    <a:lstStyle/>
                    <a:p>
                      <a:pPr>
                        <a:buNone/>
                      </a:pPr>
                      <a:r>
                        <a:rPr lang="en-US"/>
                        <a:t>Could Have</a:t>
                      </a:r>
                    </a:p>
                  </a:txBody>
                  <a:tcPr anchor="ctr">
                    <a:lnL>
                      <a:noFill/>
                    </a:lnL>
                    <a:lnR>
                      <a:noFill/>
                    </a:lnR>
                    <a:lnT>
                      <a:noFill/>
                    </a:lnT>
                    <a:lnB>
                      <a:noFill/>
                    </a:lnB>
                    <a:noFill/>
                  </a:tcPr>
                </a:tc>
                <a:extLst>
                  <a:ext uri="{0D108BD9-81ED-4DB2-BD59-A6C34878D82A}">
                    <a16:rowId xmlns:a16="http://schemas.microsoft.com/office/drawing/2014/main" val="152984148"/>
                  </a:ext>
                </a:extLst>
              </a:tr>
              <a:tr h="0">
                <a:tc>
                  <a:txBody>
                    <a:bodyPr/>
                    <a:lstStyle/>
                    <a:p>
                      <a:pPr>
                        <a:buNone/>
                      </a:pPr>
                      <a:r>
                        <a:rPr lang="en-US"/>
                        <a:t>AI course recommendation</a:t>
                      </a:r>
                    </a:p>
                  </a:txBody>
                  <a:tcPr anchor="ctr">
                    <a:lnL>
                      <a:noFill/>
                    </a:lnL>
                    <a:lnR>
                      <a:noFill/>
                    </a:lnR>
                    <a:lnT>
                      <a:noFill/>
                    </a:lnT>
                    <a:lnB>
                      <a:noFill/>
                    </a:lnB>
                    <a:noFill/>
                  </a:tcPr>
                </a:tc>
                <a:tc>
                  <a:txBody>
                    <a:bodyPr/>
                    <a:lstStyle/>
                    <a:p>
                      <a:pPr>
                        <a:buNone/>
                      </a:pPr>
                      <a:r>
                        <a:rPr lang="en-US"/>
                        <a:t>Won’t Have (for now)</a:t>
                      </a:r>
                    </a:p>
                  </a:txBody>
                  <a:tcPr anchor="ctr">
                    <a:lnL>
                      <a:noFill/>
                    </a:lnL>
                    <a:lnR>
                      <a:noFill/>
                    </a:lnR>
                    <a:lnT>
                      <a:noFill/>
                    </a:lnT>
                    <a:lnB>
                      <a:noFill/>
                    </a:lnB>
                    <a:noFill/>
                  </a:tcPr>
                </a:tc>
                <a:extLst>
                  <a:ext uri="{0D108BD9-81ED-4DB2-BD59-A6C34878D82A}">
                    <a16:rowId xmlns:a16="http://schemas.microsoft.com/office/drawing/2014/main" val="3298301404"/>
                  </a:ext>
                </a:extLst>
              </a:tr>
            </a:tbl>
          </a:graphicData>
        </a:graphic>
      </p:graphicFrame>
    </p:spTree>
    <p:extLst>
      <p:ext uri="{BB962C8B-B14F-4D97-AF65-F5344CB8AC3E}">
        <p14:creationId xmlns:p14="http://schemas.microsoft.com/office/powerpoint/2010/main" val="16510095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96448-B38A-DB52-368E-38FB5D1C7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8DBBF-21F4-B226-F2A3-A8A9C2B37E4F}"/>
              </a:ext>
            </a:extLst>
          </p:cNvPr>
          <p:cNvSpPr>
            <a:spLocks noGrp="1"/>
          </p:cNvSpPr>
          <p:nvPr>
            <p:ph type="title"/>
          </p:nvPr>
        </p:nvSpPr>
        <p:spPr/>
        <p:txBody>
          <a:bodyPr/>
          <a:lstStyle/>
          <a:p>
            <a:r>
              <a:rPr lang="en-GB" dirty="0">
                <a:ea typeface="Calibri Light"/>
                <a:cs typeface="Calibri Light"/>
              </a:rPr>
              <a:t>How to prioritize using </a:t>
            </a:r>
            <a:r>
              <a:rPr lang="en-GB" dirty="0" err="1">
                <a:ea typeface="Calibri Light"/>
                <a:cs typeface="Calibri Light"/>
              </a:rPr>
              <a:t>MoSCoW</a:t>
            </a:r>
            <a:r>
              <a:rPr lang="en-GB" dirty="0">
                <a:ea typeface="Calibri Light"/>
                <a:cs typeface="Calibri Light"/>
              </a:rPr>
              <a:t>?</a:t>
            </a:r>
            <a:endParaRPr lang="en-US" dirty="0"/>
          </a:p>
        </p:txBody>
      </p:sp>
      <p:sp>
        <p:nvSpPr>
          <p:cNvPr id="3" name="Content Placeholder 2">
            <a:extLst>
              <a:ext uri="{FF2B5EF4-FFF2-40B4-BE49-F238E27FC236}">
                <a16:creationId xmlns:a16="http://schemas.microsoft.com/office/drawing/2014/main" id="{C5B15251-B99E-6B28-2907-4EAE0460CB21}"/>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List all requirements</a:t>
            </a:r>
            <a:endParaRPr lang="en-US" dirty="0">
              <a:ea typeface="+mn-lt"/>
              <a:cs typeface="+mn-lt"/>
            </a:endParaRPr>
          </a:p>
          <a:p>
            <a:pPr lvl="1">
              <a:buFont typeface="Courier New" panose="020B0604020202020204" pitchFamily="34" charset="0"/>
              <a:buChar char="o"/>
            </a:pPr>
            <a:r>
              <a:rPr lang="en-US" dirty="0">
                <a:ea typeface="+mn-lt"/>
                <a:cs typeface="+mn-lt"/>
              </a:rPr>
              <a:t>Identify key features &amp; functions</a:t>
            </a:r>
            <a:endParaRPr lang="en-US" dirty="0">
              <a:ea typeface="Calibri"/>
              <a:cs typeface="Calibri"/>
            </a:endParaRPr>
          </a:p>
          <a:p>
            <a:r>
              <a:rPr lang="en-US" b="1" dirty="0">
                <a:ea typeface="+mn-lt"/>
                <a:cs typeface="+mn-lt"/>
              </a:rPr>
              <a:t>Assess impact &amp; dependencies</a:t>
            </a:r>
            <a:endParaRPr lang="en-US" dirty="0">
              <a:ea typeface="+mn-lt"/>
              <a:cs typeface="+mn-lt"/>
            </a:endParaRPr>
          </a:p>
          <a:p>
            <a:pPr lvl="1">
              <a:buFont typeface="Courier New" panose="020B0604020202020204" pitchFamily="34" charset="0"/>
              <a:buChar char="o"/>
            </a:pPr>
            <a:r>
              <a:rPr lang="en-US" dirty="0">
                <a:ea typeface="+mn-lt"/>
                <a:cs typeface="+mn-lt"/>
              </a:rPr>
              <a:t>Can the system work without it?</a:t>
            </a:r>
            <a:endParaRPr lang="en-US" dirty="0">
              <a:ea typeface="Calibri" panose="020F0502020204030204"/>
              <a:cs typeface="Calibri" panose="020F0502020204030204"/>
            </a:endParaRPr>
          </a:p>
          <a:p>
            <a:r>
              <a:rPr lang="en-US" b="1" dirty="0">
                <a:ea typeface="+mn-lt"/>
                <a:cs typeface="+mn-lt"/>
              </a:rPr>
              <a:t>Categorize each requirement</a:t>
            </a:r>
            <a:endParaRPr lang="en-US" dirty="0">
              <a:ea typeface="+mn-lt"/>
              <a:cs typeface="+mn-lt"/>
            </a:endParaRPr>
          </a:p>
          <a:p>
            <a:pPr lvl="1">
              <a:buFont typeface="Courier New" panose="020B0604020202020204" pitchFamily="34" charset="0"/>
              <a:buChar char="o"/>
            </a:pPr>
            <a:r>
              <a:rPr lang="en-US" dirty="0">
                <a:ea typeface="+mn-lt"/>
                <a:cs typeface="+mn-lt"/>
              </a:rPr>
              <a:t>Based on business needs &amp; feasibility</a:t>
            </a:r>
            <a:endParaRPr lang="en-US" dirty="0">
              <a:ea typeface="Calibri" panose="020F0502020204030204"/>
              <a:cs typeface="Calibri" panose="020F0502020204030204"/>
            </a:endParaRPr>
          </a:p>
          <a:p>
            <a:r>
              <a:rPr lang="en-US" b="1" dirty="0">
                <a:ea typeface="+mn-lt"/>
                <a:cs typeface="+mn-lt"/>
              </a:rPr>
              <a:t>Get stakeholder agreement</a:t>
            </a:r>
            <a:endParaRPr lang="en-US" dirty="0">
              <a:ea typeface="+mn-lt"/>
              <a:cs typeface="+mn-lt"/>
            </a:endParaRPr>
          </a:p>
          <a:p>
            <a:pPr lvl="1">
              <a:buFont typeface="Courier New" panose="020B0604020202020204" pitchFamily="34" charset="0"/>
              <a:buChar char="o"/>
            </a:pPr>
            <a:r>
              <a:rPr lang="en-US" dirty="0">
                <a:ea typeface="+mn-lt"/>
                <a:cs typeface="+mn-lt"/>
              </a:rPr>
              <a:t>Ensure alignment with all (most) stakeholders</a:t>
            </a:r>
            <a:endParaRPr lang="en-US" dirty="0">
              <a:ea typeface="Calibri"/>
              <a:cs typeface="Calibri"/>
            </a:endParaRPr>
          </a:p>
          <a:p>
            <a:r>
              <a:rPr lang="en-US" b="1" dirty="0">
                <a:ea typeface="+mn-lt"/>
                <a:cs typeface="+mn-lt"/>
              </a:rPr>
              <a:t>Adjust based on project constraints</a:t>
            </a:r>
            <a:endParaRPr lang="en-US" dirty="0">
              <a:ea typeface="+mn-lt"/>
              <a:cs typeface="+mn-lt"/>
            </a:endParaRPr>
          </a:p>
          <a:p>
            <a:pPr lvl="1">
              <a:buFont typeface="Courier New" panose="020B0604020202020204" pitchFamily="34" charset="0"/>
              <a:buChar char="o"/>
            </a:pPr>
            <a:r>
              <a:rPr lang="en-US" dirty="0">
                <a:ea typeface="+mn-lt"/>
                <a:cs typeface="+mn-lt"/>
              </a:rPr>
              <a:t>Budget, time, and resources.</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FE8CBB76-E2C8-89F2-5D68-F028248354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287D1CB-D931-F107-8E01-324A68FB67BD}"/>
              </a:ext>
            </a:extLst>
          </p:cNvPr>
          <p:cNvSpPr>
            <a:spLocks noGrp="1"/>
          </p:cNvSpPr>
          <p:nvPr>
            <p:ph type="sldNum" sz="quarter" idx="12"/>
          </p:nvPr>
        </p:nvSpPr>
        <p:spPr/>
        <p:txBody>
          <a:bodyPr/>
          <a:lstStyle/>
          <a:p>
            <a:fld id="{008559AE-1842-40A5-A2A9-0518F39FD1A9}" type="slidenum">
              <a:rPr lang="en-US" smtClean="0"/>
              <a:t>63</a:t>
            </a:fld>
            <a:endParaRPr lang="en-GB"/>
          </a:p>
        </p:txBody>
      </p:sp>
      <p:sp>
        <p:nvSpPr>
          <p:cNvPr id="7" name="Footer Placeholder 6">
            <a:extLst>
              <a:ext uri="{FF2B5EF4-FFF2-40B4-BE49-F238E27FC236}">
                <a16:creationId xmlns:a16="http://schemas.microsoft.com/office/drawing/2014/main" id="{32D8EE57-94BB-7528-BA54-9E65CD8CE29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2917770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23462-2F45-26AC-A87B-C466541F6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E656C-39FE-B4EB-07FA-C953342682DC}"/>
              </a:ext>
            </a:extLst>
          </p:cNvPr>
          <p:cNvSpPr>
            <a:spLocks noGrp="1"/>
          </p:cNvSpPr>
          <p:nvPr>
            <p:ph type="title"/>
          </p:nvPr>
        </p:nvSpPr>
        <p:spPr/>
        <p:txBody>
          <a:bodyPr/>
          <a:lstStyle/>
          <a:p>
            <a:r>
              <a:rPr lang="en-GB" dirty="0">
                <a:ea typeface="Calibri Light"/>
                <a:cs typeface="Calibri Light"/>
              </a:rPr>
              <a:t>Kano model (Hans Van Vliet, pg. 226)</a:t>
            </a:r>
            <a:endParaRPr lang="en-US" dirty="0"/>
          </a:p>
        </p:txBody>
      </p:sp>
      <p:sp>
        <p:nvSpPr>
          <p:cNvPr id="3" name="Content Placeholder 2">
            <a:extLst>
              <a:ext uri="{FF2B5EF4-FFF2-40B4-BE49-F238E27FC236}">
                <a16:creationId xmlns:a16="http://schemas.microsoft.com/office/drawing/2014/main" id="{ECDC5453-E833-DD77-5E6B-BBFE58FEBF1C}"/>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Preferences classified into five categories:</a:t>
            </a:r>
            <a:endParaRPr lang="en-US" dirty="0"/>
          </a:p>
          <a:p>
            <a:pPr lvl="1">
              <a:buFont typeface="Courier New" panose="020B0604020202020204" pitchFamily="34" charset="0"/>
              <a:buChar char="o"/>
            </a:pPr>
            <a:r>
              <a:rPr lang="en-US" dirty="0">
                <a:ea typeface="Calibri"/>
                <a:cs typeface="Calibri"/>
              </a:rPr>
              <a:t>Attractive: More satisfied if these requirements are met, but not less satisfied if they are not</a:t>
            </a:r>
          </a:p>
          <a:p>
            <a:pPr lvl="1">
              <a:buFont typeface="Courier New" panose="020B0604020202020204" pitchFamily="34" charset="0"/>
              <a:buChar char="o"/>
            </a:pPr>
            <a:r>
              <a:rPr lang="en-US" dirty="0">
                <a:ea typeface="Calibri"/>
                <a:cs typeface="Calibri"/>
              </a:rPr>
              <a:t>Must-be: Will be dissatisfied if these requirements are not met (but will not be overly happy if they are met)</a:t>
            </a:r>
          </a:p>
          <a:p>
            <a:pPr lvl="1">
              <a:buFont typeface="Courier New" panose="020B0604020202020204" pitchFamily="34" charset="0"/>
              <a:buChar char="o"/>
            </a:pPr>
            <a:r>
              <a:rPr lang="en-US" dirty="0">
                <a:ea typeface="Calibri"/>
                <a:cs typeface="Calibri"/>
              </a:rPr>
              <a:t>One-dimensional: Satisfaction is proportional to how many of these requirements are being met</a:t>
            </a:r>
          </a:p>
          <a:p>
            <a:pPr lvl="1">
              <a:buFont typeface="Courier New" panose="020B0604020202020204" pitchFamily="34" charset="0"/>
              <a:buChar char="o"/>
            </a:pPr>
            <a:r>
              <a:rPr lang="en-US" dirty="0">
                <a:ea typeface="Calibri"/>
                <a:cs typeface="Calibri"/>
              </a:rPr>
              <a:t>Indifferent: Customer does not really care about these requirements</a:t>
            </a:r>
          </a:p>
          <a:p>
            <a:pPr lvl="1">
              <a:buFont typeface="Courier New" panose="020B0604020202020204" pitchFamily="34" charset="0"/>
              <a:buChar char="o"/>
            </a:pPr>
            <a:r>
              <a:rPr lang="en-US" dirty="0">
                <a:ea typeface="Calibri"/>
                <a:cs typeface="Calibri"/>
              </a:rPr>
              <a:t>Reverse: Customer's judgement of the requirements is the opposite of what the analyst thought a priori</a:t>
            </a:r>
          </a:p>
          <a:p>
            <a:pPr lvl="1">
              <a:buFont typeface="Courier New" panose="020B0604020202020204" pitchFamily="34" charset="0"/>
              <a:buChar char="o"/>
            </a:pPr>
            <a:r>
              <a:rPr lang="en-US" dirty="0">
                <a:ea typeface="Calibri"/>
                <a:cs typeface="Calibri"/>
              </a:rPr>
              <a:t>Questionable: Customer's preferences are not clear</a:t>
            </a:r>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801164E-58E8-FED7-BC3A-30CA438193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BD87E0B-BFA3-001B-B076-4D059C806DEA}"/>
              </a:ext>
            </a:extLst>
          </p:cNvPr>
          <p:cNvSpPr>
            <a:spLocks noGrp="1"/>
          </p:cNvSpPr>
          <p:nvPr>
            <p:ph type="sldNum" sz="quarter" idx="12"/>
          </p:nvPr>
        </p:nvSpPr>
        <p:spPr/>
        <p:txBody>
          <a:bodyPr/>
          <a:lstStyle/>
          <a:p>
            <a:fld id="{008559AE-1842-40A5-A2A9-0518F39FD1A9}" type="slidenum">
              <a:rPr lang="en-US" smtClean="0"/>
              <a:t>64</a:t>
            </a:fld>
            <a:endParaRPr lang="en-GB"/>
          </a:p>
        </p:txBody>
      </p:sp>
      <p:sp>
        <p:nvSpPr>
          <p:cNvPr id="7" name="Footer Placeholder 6">
            <a:extLst>
              <a:ext uri="{FF2B5EF4-FFF2-40B4-BE49-F238E27FC236}">
                <a16:creationId xmlns:a16="http://schemas.microsoft.com/office/drawing/2014/main" id="{5E276ECF-6C6F-8807-CA67-177E79A9FBB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10386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FDB20-9C34-03F2-6C46-018C3D408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F7261-2D05-A2F3-4888-B31645F52D95}"/>
              </a:ext>
            </a:extLst>
          </p:cNvPr>
          <p:cNvSpPr>
            <a:spLocks noGrp="1"/>
          </p:cNvSpPr>
          <p:nvPr>
            <p:ph type="title"/>
          </p:nvPr>
        </p:nvSpPr>
        <p:spPr/>
        <p:txBody>
          <a:bodyPr/>
          <a:lstStyle/>
          <a:p>
            <a:r>
              <a:rPr lang="en-GB" dirty="0">
                <a:ea typeface="Calibri Light"/>
                <a:cs typeface="Calibri Light"/>
              </a:rPr>
              <a:t>Kano model (Hans Van Vliet, pg. 226)</a:t>
            </a:r>
            <a:endParaRPr lang="en-US" dirty="0"/>
          </a:p>
        </p:txBody>
      </p:sp>
      <p:pic>
        <p:nvPicPr>
          <p:cNvPr id="6" name="Picture 5" descr="A black and white logo&#10;&#10;Description automatically generated">
            <a:extLst>
              <a:ext uri="{FF2B5EF4-FFF2-40B4-BE49-F238E27FC236}">
                <a16:creationId xmlns:a16="http://schemas.microsoft.com/office/drawing/2014/main" id="{0F7B09CE-BBA3-A30B-A526-872651512B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07B1279-FB2C-4867-E481-F09F10F67B1E}"/>
              </a:ext>
            </a:extLst>
          </p:cNvPr>
          <p:cNvSpPr>
            <a:spLocks noGrp="1"/>
          </p:cNvSpPr>
          <p:nvPr>
            <p:ph type="sldNum" sz="quarter" idx="12"/>
          </p:nvPr>
        </p:nvSpPr>
        <p:spPr/>
        <p:txBody>
          <a:bodyPr/>
          <a:lstStyle/>
          <a:p>
            <a:fld id="{008559AE-1842-40A5-A2A9-0518F39FD1A9}" type="slidenum">
              <a:rPr lang="en-US" smtClean="0"/>
              <a:t>65</a:t>
            </a:fld>
            <a:endParaRPr lang="en-GB"/>
          </a:p>
        </p:txBody>
      </p:sp>
      <p:sp>
        <p:nvSpPr>
          <p:cNvPr id="7" name="Footer Placeholder 6">
            <a:extLst>
              <a:ext uri="{FF2B5EF4-FFF2-40B4-BE49-F238E27FC236}">
                <a16:creationId xmlns:a16="http://schemas.microsoft.com/office/drawing/2014/main" id="{D3C15258-3AEF-9483-8649-0338CFA04FA8}"/>
              </a:ext>
            </a:extLst>
          </p:cNvPr>
          <p:cNvSpPr>
            <a:spLocks noGrp="1"/>
          </p:cNvSpPr>
          <p:nvPr>
            <p:ph type="ftr" sz="quarter" idx="11"/>
          </p:nvPr>
        </p:nvSpPr>
        <p:spPr/>
        <p:txBody>
          <a:bodyPr/>
          <a:lstStyle/>
          <a:p>
            <a:r>
              <a:rPr lang="en-US"/>
              <a:t>Software Engineering</a:t>
            </a:r>
          </a:p>
        </p:txBody>
      </p:sp>
      <p:pic>
        <p:nvPicPr>
          <p:cNvPr id="9" name="Content Placeholder 8" descr="A diagram of a person&amp;#39;s relationship&#10;&#10;AI-generated content may be incorrect.">
            <a:extLst>
              <a:ext uri="{FF2B5EF4-FFF2-40B4-BE49-F238E27FC236}">
                <a16:creationId xmlns:a16="http://schemas.microsoft.com/office/drawing/2014/main" id="{1AF78297-45C1-2B22-F501-47A44B257293}"/>
              </a:ext>
            </a:extLst>
          </p:cNvPr>
          <p:cNvPicPr>
            <a:picLocks noGrp="1" noChangeAspect="1"/>
          </p:cNvPicPr>
          <p:nvPr>
            <p:ph idx="1"/>
          </p:nvPr>
        </p:nvPicPr>
        <p:blipFill>
          <a:blip r:embed="rId4"/>
          <a:srcRect l="3811" r="181" b="250"/>
          <a:stretch/>
        </p:blipFill>
        <p:spPr>
          <a:xfrm>
            <a:off x="5589853" y="1825625"/>
            <a:ext cx="5758478" cy="4340464"/>
          </a:xfrm>
        </p:spPr>
      </p:pic>
      <p:sp>
        <p:nvSpPr>
          <p:cNvPr id="10" name="TextBox 9">
            <a:extLst>
              <a:ext uri="{FF2B5EF4-FFF2-40B4-BE49-F238E27FC236}">
                <a16:creationId xmlns:a16="http://schemas.microsoft.com/office/drawing/2014/main" id="{FAF96C0B-9CBB-C528-7099-CFAB1247625C}"/>
              </a:ext>
            </a:extLst>
          </p:cNvPr>
          <p:cNvSpPr txBox="1"/>
          <p:nvPr/>
        </p:nvSpPr>
        <p:spPr>
          <a:xfrm>
            <a:off x="367393" y="2313214"/>
            <a:ext cx="4789714"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The way customers value the Attractive,</a:t>
            </a:r>
            <a:endParaRPr lang="en-US" sz="2000" dirty="0">
              <a:ea typeface="Calibri"/>
              <a:cs typeface="Calibri"/>
            </a:endParaRPr>
          </a:p>
          <a:p>
            <a:r>
              <a:rPr lang="en-US" sz="2000" dirty="0">
                <a:ea typeface="+mn-lt"/>
                <a:cs typeface="+mn-lt"/>
              </a:rPr>
              <a:t>Must-be and One-dimensional categories of requirements is depicted in figure.</a:t>
            </a:r>
          </a:p>
          <a:p>
            <a:endParaRPr lang="en-US" sz="2000" dirty="0">
              <a:ea typeface="+mn-lt"/>
              <a:cs typeface="+mn-lt"/>
            </a:endParaRPr>
          </a:p>
          <a:p>
            <a:r>
              <a:rPr lang="en-US" sz="2000" dirty="0">
                <a:ea typeface="+mn-lt"/>
                <a:cs typeface="+mn-lt"/>
              </a:rPr>
              <a:t>This figure shows that offering attractive, so called killer features, is what will really excite your customers.</a:t>
            </a:r>
            <a:endParaRPr lang="en-US"/>
          </a:p>
          <a:p>
            <a:endParaRPr lang="en-US" sz="2000" dirty="0">
              <a:ea typeface="Calibri" panose="020F0502020204030204"/>
              <a:cs typeface="Calibri" panose="020F0502020204030204"/>
            </a:endParaRPr>
          </a:p>
          <a:p>
            <a:r>
              <a:rPr lang="en-US" sz="2000" dirty="0">
                <a:ea typeface="Calibri" panose="020F0502020204030204"/>
                <a:cs typeface="Calibri" panose="020F0502020204030204"/>
              </a:rPr>
              <a:t>"</a:t>
            </a:r>
            <a:r>
              <a:rPr lang="en-US" sz="2000" dirty="0">
                <a:ea typeface="+mn-lt"/>
                <a:cs typeface="+mn-lt"/>
              </a:rPr>
              <a:t>Our task is not to provide every button and pull-down menu enhancement that our</a:t>
            </a:r>
            <a:endParaRPr lang="en-US" sz="2000" dirty="0">
              <a:ea typeface="Calibri" panose="020F0502020204030204"/>
              <a:cs typeface="Calibri" panose="020F0502020204030204"/>
            </a:endParaRPr>
          </a:p>
          <a:p>
            <a:r>
              <a:rPr lang="en-US" sz="2000" dirty="0">
                <a:ea typeface="+mn-lt"/>
                <a:cs typeface="+mn-lt"/>
              </a:rPr>
              <a:t>customers ask for, but to invent a completely new way of working -- one that will thrill</a:t>
            </a:r>
            <a:r>
              <a:rPr lang="en-US" sz="2000" dirty="0">
                <a:ea typeface="Calibri" panose="020F0502020204030204"/>
                <a:cs typeface="Calibri" panose="020F0502020204030204"/>
              </a:rPr>
              <a:t> </a:t>
            </a:r>
            <a:r>
              <a:rPr lang="en-US" sz="2000" dirty="0">
                <a:ea typeface="+mn-lt"/>
                <a:cs typeface="+mn-lt"/>
              </a:rPr>
              <a:t>and amaze them." - (Robertson, 2002)</a:t>
            </a:r>
            <a:endParaRPr lang="en-US" sz="2000" dirty="0">
              <a:ea typeface="Calibri"/>
              <a:cs typeface="Calibri"/>
            </a:endParaRPr>
          </a:p>
        </p:txBody>
      </p:sp>
    </p:spTree>
    <p:extLst>
      <p:ext uri="{BB962C8B-B14F-4D97-AF65-F5344CB8AC3E}">
        <p14:creationId xmlns:p14="http://schemas.microsoft.com/office/powerpoint/2010/main" val="214929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0B4BA-C891-49C4-E05F-700CAB1A5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30475-0606-33D0-4728-B0E1313A6455}"/>
              </a:ext>
            </a:extLst>
          </p:cNvPr>
          <p:cNvSpPr>
            <a:spLocks noGrp="1"/>
          </p:cNvSpPr>
          <p:nvPr>
            <p:ph type="title"/>
          </p:nvPr>
        </p:nvSpPr>
        <p:spPr/>
        <p:txBody>
          <a:bodyPr/>
          <a:lstStyle/>
          <a:p>
            <a:r>
              <a:rPr lang="en-GB">
                <a:ea typeface="Calibri Light"/>
                <a:cs typeface="Calibri Light"/>
              </a:rPr>
              <a:t>Kano (put another way)</a:t>
            </a:r>
          </a:p>
        </p:txBody>
      </p:sp>
      <p:sp>
        <p:nvSpPr>
          <p:cNvPr id="3" name="Content Placeholder 2">
            <a:extLst>
              <a:ext uri="{FF2B5EF4-FFF2-40B4-BE49-F238E27FC236}">
                <a16:creationId xmlns:a16="http://schemas.microsoft.com/office/drawing/2014/main" id="{6345B73F-924E-55E7-931D-58965D9B494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Focuses on customer satisfaction rather than just importance</a:t>
            </a:r>
            <a:endParaRPr lang="en-US" dirty="0">
              <a:ea typeface="Calibri"/>
              <a:cs typeface="Calibri"/>
            </a:endParaRPr>
          </a:p>
          <a:p>
            <a:r>
              <a:rPr lang="en-US">
                <a:ea typeface="Calibri"/>
                <a:cs typeface="Calibri"/>
              </a:rPr>
              <a:t>Think of it this way:</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r>
              <a:rPr lang="en-US">
                <a:ea typeface="Calibri"/>
                <a:cs typeface="Calibri"/>
              </a:rPr>
              <a:t>Satisfaction behavior:</a:t>
            </a:r>
            <a:endParaRPr lang="en-US" dirty="0">
              <a:ea typeface="Calibri"/>
              <a:cs typeface="Calibri"/>
            </a:endParaRPr>
          </a:p>
          <a:p>
            <a:endParaRPr lang="en-US" dirty="0">
              <a:ea typeface="Calibri"/>
              <a:cs typeface="Calibri"/>
            </a:endParaRPr>
          </a:p>
          <a:p>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D433D48A-7F93-DDA9-8E24-E42FA875DA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0AF030F-B477-5465-54E1-9956D0CC72ED}"/>
              </a:ext>
            </a:extLst>
          </p:cNvPr>
          <p:cNvSpPr>
            <a:spLocks noGrp="1"/>
          </p:cNvSpPr>
          <p:nvPr>
            <p:ph type="sldNum" sz="quarter" idx="12"/>
          </p:nvPr>
        </p:nvSpPr>
        <p:spPr/>
        <p:txBody>
          <a:bodyPr/>
          <a:lstStyle/>
          <a:p>
            <a:fld id="{008559AE-1842-40A5-A2A9-0518F39FD1A9}" type="slidenum">
              <a:rPr lang="en-US" smtClean="0"/>
              <a:t>66</a:t>
            </a:fld>
            <a:endParaRPr lang="en-GB"/>
          </a:p>
        </p:txBody>
      </p:sp>
      <p:sp>
        <p:nvSpPr>
          <p:cNvPr id="7" name="Footer Placeholder 6">
            <a:extLst>
              <a:ext uri="{FF2B5EF4-FFF2-40B4-BE49-F238E27FC236}">
                <a16:creationId xmlns:a16="http://schemas.microsoft.com/office/drawing/2014/main" id="{D2A74EF3-302D-3BFC-7892-FBD846435D81}"/>
              </a:ext>
            </a:extLst>
          </p:cNvPr>
          <p:cNvSpPr>
            <a:spLocks noGrp="1"/>
          </p:cNvSpPr>
          <p:nvPr>
            <p:ph type="ftr" sz="quarter" idx="11"/>
          </p:nvPr>
        </p:nvSpPr>
        <p:spPr/>
        <p:txBody>
          <a:bodyPr/>
          <a:lstStyle/>
          <a:p>
            <a:r>
              <a:rPr lang="en-US"/>
              <a:t>Software Engineering</a:t>
            </a:r>
          </a:p>
        </p:txBody>
      </p:sp>
      <p:graphicFrame>
        <p:nvGraphicFramePr>
          <p:cNvPr id="5" name="Table 4">
            <a:extLst>
              <a:ext uri="{FF2B5EF4-FFF2-40B4-BE49-F238E27FC236}">
                <a16:creationId xmlns:a16="http://schemas.microsoft.com/office/drawing/2014/main" id="{8A96799C-C95F-4460-CF90-614C2337DB04}"/>
              </a:ext>
            </a:extLst>
          </p:cNvPr>
          <p:cNvGraphicFramePr>
            <a:graphicFrameLocks noGrp="1"/>
          </p:cNvGraphicFramePr>
          <p:nvPr>
            <p:extLst>
              <p:ext uri="{D42A27DB-BD31-4B8C-83A1-F6EECF244321}">
                <p14:modId xmlns:p14="http://schemas.microsoft.com/office/powerpoint/2010/main" val="935307936"/>
              </p:ext>
            </p:extLst>
          </p:nvPr>
        </p:nvGraphicFramePr>
        <p:xfrm>
          <a:off x="1437735" y="2740612"/>
          <a:ext cx="10753284" cy="1463040"/>
        </p:xfrm>
        <a:graphic>
          <a:graphicData uri="http://schemas.openxmlformats.org/drawingml/2006/table">
            <a:tbl>
              <a:tblPr bandRow="1">
                <a:tableStyleId>{5C22544A-7EE6-4342-B048-85BDC9FD1C3A}</a:tableStyleId>
              </a:tblPr>
              <a:tblGrid>
                <a:gridCol w="5376642">
                  <a:extLst>
                    <a:ext uri="{9D8B030D-6E8A-4147-A177-3AD203B41FA5}">
                      <a16:colId xmlns:a16="http://schemas.microsoft.com/office/drawing/2014/main" val="4068337740"/>
                    </a:ext>
                  </a:extLst>
                </a:gridCol>
                <a:gridCol w="5376642">
                  <a:extLst>
                    <a:ext uri="{9D8B030D-6E8A-4147-A177-3AD203B41FA5}">
                      <a16:colId xmlns:a16="http://schemas.microsoft.com/office/drawing/2014/main" val="3686492125"/>
                    </a:ext>
                  </a:extLst>
                </a:gridCol>
              </a:tblGrid>
              <a:tr h="0">
                <a:tc>
                  <a:txBody>
                    <a:bodyPr/>
                    <a:lstStyle/>
                    <a:p>
                      <a:pPr>
                        <a:buNone/>
                      </a:pPr>
                      <a:r>
                        <a:rPr lang="en-US"/>
                        <a:t>Category</a:t>
                      </a:r>
                    </a:p>
                  </a:txBody>
                  <a:tcPr anchor="ctr">
                    <a:lnL>
                      <a:noFill/>
                    </a:lnL>
                    <a:lnR>
                      <a:noFill/>
                    </a:lnR>
                    <a:lnT>
                      <a:noFill/>
                    </a:lnT>
                    <a:lnB>
                      <a:noFill/>
                    </a:lnB>
                    <a:noFill/>
                  </a:tcPr>
                </a:tc>
                <a:tc>
                  <a:txBody>
                    <a:bodyPr/>
                    <a:lstStyle/>
                    <a:p>
                      <a:pPr>
                        <a:buNone/>
                      </a:pPr>
                      <a:r>
                        <a:rPr lang="en-US"/>
                        <a:t>Meaning</a:t>
                      </a:r>
                    </a:p>
                  </a:txBody>
                  <a:tcPr anchor="ctr">
                    <a:lnL>
                      <a:noFill/>
                    </a:lnL>
                    <a:lnR>
                      <a:noFill/>
                    </a:lnR>
                    <a:lnT>
                      <a:noFill/>
                    </a:lnT>
                    <a:lnB>
                      <a:noFill/>
                    </a:lnB>
                    <a:noFill/>
                  </a:tcPr>
                </a:tc>
                <a:extLst>
                  <a:ext uri="{0D108BD9-81ED-4DB2-BD59-A6C34878D82A}">
                    <a16:rowId xmlns:a16="http://schemas.microsoft.com/office/drawing/2014/main" val="444559907"/>
                  </a:ext>
                </a:extLst>
              </a:tr>
              <a:tr h="0">
                <a:tc>
                  <a:txBody>
                    <a:bodyPr/>
                    <a:lstStyle/>
                    <a:p>
                      <a:pPr>
                        <a:buNone/>
                      </a:pPr>
                      <a:r>
                        <a:rPr lang="en-US" b="1"/>
                        <a:t>Basic Needs (Must-be)</a:t>
                      </a:r>
                      <a:endParaRPr lang="en-US"/>
                    </a:p>
                  </a:txBody>
                  <a:tcPr anchor="ctr">
                    <a:lnL>
                      <a:noFill/>
                    </a:lnL>
                    <a:lnR>
                      <a:noFill/>
                    </a:lnR>
                    <a:lnT>
                      <a:noFill/>
                    </a:lnT>
                    <a:lnB>
                      <a:noFill/>
                    </a:lnB>
                    <a:noFill/>
                  </a:tcPr>
                </a:tc>
                <a:tc>
                  <a:txBody>
                    <a:bodyPr/>
                    <a:lstStyle/>
                    <a:p>
                      <a:pPr>
                        <a:buNone/>
                      </a:pPr>
                      <a:r>
                        <a:rPr lang="en-US"/>
                        <a:t>Expected features; if missing, users are dissatisfied.</a:t>
                      </a:r>
                    </a:p>
                  </a:txBody>
                  <a:tcPr anchor="ctr">
                    <a:lnL>
                      <a:noFill/>
                    </a:lnL>
                    <a:lnR>
                      <a:noFill/>
                    </a:lnR>
                    <a:lnT>
                      <a:noFill/>
                    </a:lnT>
                    <a:lnB>
                      <a:noFill/>
                    </a:lnB>
                    <a:noFill/>
                  </a:tcPr>
                </a:tc>
                <a:extLst>
                  <a:ext uri="{0D108BD9-81ED-4DB2-BD59-A6C34878D82A}">
                    <a16:rowId xmlns:a16="http://schemas.microsoft.com/office/drawing/2014/main" val="3085541590"/>
                  </a:ext>
                </a:extLst>
              </a:tr>
              <a:tr h="0">
                <a:tc>
                  <a:txBody>
                    <a:bodyPr/>
                    <a:lstStyle/>
                    <a:p>
                      <a:pPr>
                        <a:buNone/>
                      </a:pPr>
                      <a:r>
                        <a:rPr lang="en-US" b="1"/>
                        <a:t>Performance Needs (1-dimensional)</a:t>
                      </a:r>
                      <a:endParaRPr lang="en-US"/>
                    </a:p>
                  </a:txBody>
                  <a:tcPr anchor="ctr">
                    <a:lnL>
                      <a:noFill/>
                    </a:lnL>
                    <a:lnR>
                      <a:noFill/>
                    </a:lnR>
                    <a:lnT>
                      <a:noFill/>
                    </a:lnT>
                    <a:lnB>
                      <a:noFill/>
                    </a:lnB>
                    <a:noFill/>
                  </a:tcPr>
                </a:tc>
                <a:tc>
                  <a:txBody>
                    <a:bodyPr/>
                    <a:lstStyle/>
                    <a:p>
                      <a:pPr>
                        <a:buNone/>
                      </a:pPr>
                      <a:r>
                        <a:rPr lang="en-US"/>
                        <a:t>More of the feature increases satisfaction.</a:t>
                      </a:r>
                    </a:p>
                  </a:txBody>
                  <a:tcPr anchor="ctr">
                    <a:lnL>
                      <a:noFill/>
                    </a:lnL>
                    <a:lnR>
                      <a:noFill/>
                    </a:lnR>
                    <a:lnT>
                      <a:noFill/>
                    </a:lnT>
                    <a:lnB>
                      <a:noFill/>
                    </a:lnB>
                    <a:noFill/>
                  </a:tcPr>
                </a:tc>
                <a:extLst>
                  <a:ext uri="{0D108BD9-81ED-4DB2-BD59-A6C34878D82A}">
                    <a16:rowId xmlns:a16="http://schemas.microsoft.com/office/drawing/2014/main" val="1417786420"/>
                  </a:ext>
                </a:extLst>
              </a:tr>
              <a:tr h="0">
                <a:tc>
                  <a:txBody>
                    <a:bodyPr/>
                    <a:lstStyle/>
                    <a:p>
                      <a:pPr>
                        <a:buNone/>
                      </a:pPr>
                      <a:r>
                        <a:rPr lang="en-US" b="1"/>
                        <a:t>Excitement Needs (Delighters)</a:t>
                      </a:r>
                      <a:endParaRPr lang="en-US"/>
                    </a:p>
                  </a:txBody>
                  <a:tcPr anchor="ctr">
                    <a:lnL>
                      <a:noFill/>
                    </a:lnL>
                    <a:lnR>
                      <a:noFill/>
                    </a:lnR>
                    <a:lnT>
                      <a:noFill/>
                    </a:lnT>
                    <a:lnB>
                      <a:noFill/>
                    </a:lnB>
                    <a:noFill/>
                  </a:tcPr>
                </a:tc>
                <a:tc>
                  <a:txBody>
                    <a:bodyPr/>
                    <a:lstStyle/>
                    <a:p>
                      <a:pPr>
                        <a:buNone/>
                      </a:pPr>
                      <a:r>
                        <a:rPr lang="en-US"/>
                        <a:t>Unexpected features that delight users.</a:t>
                      </a:r>
                    </a:p>
                  </a:txBody>
                  <a:tcPr anchor="ctr">
                    <a:lnL>
                      <a:noFill/>
                    </a:lnL>
                    <a:lnR>
                      <a:noFill/>
                    </a:lnR>
                    <a:lnT>
                      <a:noFill/>
                    </a:lnT>
                    <a:lnB>
                      <a:noFill/>
                    </a:lnB>
                    <a:noFill/>
                  </a:tcPr>
                </a:tc>
                <a:extLst>
                  <a:ext uri="{0D108BD9-81ED-4DB2-BD59-A6C34878D82A}">
                    <a16:rowId xmlns:a16="http://schemas.microsoft.com/office/drawing/2014/main" val="2729135017"/>
                  </a:ext>
                </a:extLst>
              </a:tr>
            </a:tbl>
          </a:graphicData>
        </a:graphic>
      </p:graphicFrame>
      <p:graphicFrame>
        <p:nvGraphicFramePr>
          <p:cNvPr id="10" name="Table 9">
            <a:extLst>
              <a:ext uri="{FF2B5EF4-FFF2-40B4-BE49-F238E27FC236}">
                <a16:creationId xmlns:a16="http://schemas.microsoft.com/office/drawing/2014/main" id="{B787C96D-92AD-E5D9-2ADF-AE37E2A2F4BB}"/>
              </a:ext>
            </a:extLst>
          </p:cNvPr>
          <p:cNvGraphicFramePr>
            <a:graphicFrameLocks noGrp="1"/>
          </p:cNvGraphicFramePr>
          <p:nvPr>
            <p:extLst>
              <p:ext uri="{D42A27DB-BD31-4B8C-83A1-F6EECF244321}">
                <p14:modId xmlns:p14="http://schemas.microsoft.com/office/powerpoint/2010/main" val="734500692"/>
              </p:ext>
            </p:extLst>
          </p:nvPr>
        </p:nvGraphicFramePr>
        <p:xfrm>
          <a:off x="833887" y="4767820"/>
          <a:ext cx="11414151" cy="1463040"/>
        </p:xfrm>
        <a:graphic>
          <a:graphicData uri="http://schemas.openxmlformats.org/drawingml/2006/table">
            <a:tbl>
              <a:tblPr bandRow="1">
                <a:tableStyleId>{5C22544A-7EE6-4342-B048-85BDC9FD1C3A}</a:tableStyleId>
              </a:tblPr>
              <a:tblGrid>
                <a:gridCol w="3804717">
                  <a:extLst>
                    <a:ext uri="{9D8B030D-6E8A-4147-A177-3AD203B41FA5}">
                      <a16:colId xmlns:a16="http://schemas.microsoft.com/office/drawing/2014/main" val="2889010081"/>
                    </a:ext>
                  </a:extLst>
                </a:gridCol>
                <a:gridCol w="3804717">
                  <a:extLst>
                    <a:ext uri="{9D8B030D-6E8A-4147-A177-3AD203B41FA5}">
                      <a16:colId xmlns:a16="http://schemas.microsoft.com/office/drawing/2014/main" val="2562768828"/>
                    </a:ext>
                  </a:extLst>
                </a:gridCol>
                <a:gridCol w="3804717">
                  <a:extLst>
                    <a:ext uri="{9D8B030D-6E8A-4147-A177-3AD203B41FA5}">
                      <a16:colId xmlns:a16="http://schemas.microsoft.com/office/drawing/2014/main" val="1303398145"/>
                    </a:ext>
                  </a:extLst>
                </a:gridCol>
              </a:tblGrid>
              <a:tr h="0">
                <a:tc>
                  <a:txBody>
                    <a:bodyPr/>
                    <a:lstStyle/>
                    <a:p>
                      <a:pPr>
                        <a:buNone/>
                      </a:pPr>
                      <a:r>
                        <a:rPr lang="en-US" b="1"/>
                        <a:t>Feature Type</a:t>
                      </a:r>
                    </a:p>
                  </a:txBody>
                  <a:tcPr anchor="ctr">
                    <a:lnL>
                      <a:noFill/>
                    </a:lnL>
                    <a:lnR>
                      <a:noFill/>
                    </a:lnR>
                    <a:lnT>
                      <a:noFill/>
                    </a:lnT>
                    <a:lnB>
                      <a:noFill/>
                    </a:lnB>
                    <a:noFill/>
                  </a:tcPr>
                </a:tc>
                <a:tc>
                  <a:txBody>
                    <a:bodyPr/>
                    <a:lstStyle/>
                    <a:p>
                      <a:pPr>
                        <a:buNone/>
                      </a:pPr>
                      <a:r>
                        <a:rPr lang="en-US" b="1"/>
                        <a:t>If Missing</a:t>
                      </a:r>
                    </a:p>
                  </a:txBody>
                  <a:tcPr anchor="ctr">
                    <a:lnL>
                      <a:noFill/>
                    </a:lnL>
                    <a:lnR>
                      <a:noFill/>
                    </a:lnR>
                    <a:lnT>
                      <a:noFill/>
                    </a:lnT>
                    <a:lnB>
                      <a:noFill/>
                    </a:lnB>
                    <a:noFill/>
                  </a:tcPr>
                </a:tc>
                <a:tc>
                  <a:txBody>
                    <a:bodyPr/>
                    <a:lstStyle/>
                    <a:p>
                      <a:pPr>
                        <a:buNone/>
                      </a:pPr>
                      <a:r>
                        <a:rPr lang="en-US" b="1"/>
                        <a:t>If Present</a:t>
                      </a:r>
                    </a:p>
                  </a:txBody>
                  <a:tcPr anchor="ctr">
                    <a:lnL>
                      <a:noFill/>
                    </a:lnL>
                    <a:lnR>
                      <a:noFill/>
                    </a:lnR>
                    <a:lnT>
                      <a:noFill/>
                    </a:lnT>
                    <a:lnB>
                      <a:noFill/>
                    </a:lnB>
                    <a:noFill/>
                  </a:tcPr>
                </a:tc>
                <a:extLst>
                  <a:ext uri="{0D108BD9-81ED-4DB2-BD59-A6C34878D82A}">
                    <a16:rowId xmlns:a16="http://schemas.microsoft.com/office/drawing/2014/main" val="3209917316"/>
                  </a:ext>
                </a:extLst>
              </a:tr>
              <a:tr h="0">
                <a:tc>
                  <a:txBody>
                    <a:bodyPr/>
                    <a:lstStyle/>
                    <a:p>
                      <a:pPr>
                        <a:buNone/>
                      </a:pPr>
                      <a:r>
                        <a:rPr lang="en-US"/>
                        <a:t>Basic</a:t>
                      </a:r>
                    </a:p>
                  </a:txBody>
                  <a:tcPr anchor="ctr">
                    <a:lnL>
                      <a:noFill/>
                    </a:lnL>
                    <a:lnR>
                      <a:noFill/>
                    </a:lnR>
                    <a:lnT>
                      <a:noFill/>
                    </a:lnT>
                    <a:lnB>
                      <a:noFill/>
                    </a:lnB>
                    <a:noFill/>
                  </a:tcPr>
                </a:tc>
                <a:tc>
                  <a:txBody>
                    <a:bodyPr/>
                    <a:lstStyle/>
                    <a:p>
                      <a:pPr>
                        <a:buNone/>
                      </a:pPr>
                      <a:r>
                        <a:rPr lang="en-US"/>
                        <a:t>Very dissatisfied</a:t>
                      </a:r>
                    </a:p>
                  </a:txBody>
                  <a:tcPr anchor="ctr">
                    <a:lnL>
                      <a:noFill/>
                    </a:lnL>
                    <a:lnR>
                      <a:noFill/>
                    </a:lnR>
                    <a:lnT>
                      <a:noFill/>
                    </a:lnT>
                    <a:lnB>
                      <a:noFill/>
                    </a:lnB>
                    <a:noFill/>
                  </a:tcPr>
                </a:tc>
                <a:tc>
                  <a:txBody>
                    <a:bodyPr/>
                    <a:lstStyle/>
                    <a:p>
                      <a:pPr>
                        <a:buNone/>
                      </a:pPr>
                      <a:r>
                        <a:rPr lang="en-US"/>
                        <a:t>Neutral</a:t>
                      </a:r>
                    </a:p>
                  </a:txBody>
                  <a:tcPr anchor="ctr">
                    <a:lnL>
                      <a:noFill/>
                    </a:lnL>
                    <a:lnR>
                      <a:noFill/>
                    </a:lnR>
                    <a:lnT>
                      <a:noFill/>
                    </a:lnT>
                    <a:lnB>
                      <a:noFill/>
                    </a:lnB>
                    <a:noFill/>
                  </a:tcPr>
                </a:tc>
                <a:extLst>
                  <a:ext uri="{0D108BD9-81ED-4DB2-BD59-A6C34878D82A}">
                    <a16:rowId xmlns:a16="http://schemas.microsoft.com/office/drawing/2014/main" val="4186563717"/>
                  </a:ext>
                </a:extLst>
              </a:tr>
              <a:tr h="0">
                <a:tc>
                  <a:txBody>
                    <a:bodyPr/>
                    <a:lstStyle/>
                    <a:p>
                      <a:pPr>
                        <a:buNone/>
                      </a:pPr>
                      <a:r>
                        <a:rPr lang="en-US"/>
                        <a:t>Performance</a:t>
                      </a:r>
                    </a:p>
                  </a:txBody>
                  <a:tcPr anchor="ctr">
                    <a:lnL>
                      <a:noFill/>
                    </a:lnL>
                    <a:lnR>
                      <a:noFill/>
                    </a:lnR>
                    <a:lnT>
                      <a:noFill/>
                    </a:lnT>
                    <a:lnB>
                      <a:noFill/>
                    </a:lnB>
                    <a:noFill/>
                  </a:tcPr>
                </a:tc>
                <a:tc>
                  <a:txBody>
                    <a:bodyPr/>
                    <a:lstStyle/>
                    <a:p>
                      <a:pPr>
                        <a:buNone/>
                      </a:pPr>
                      <a:r>
                        <a:rPr lang="en-US"/>
                        <a:t>Dissatisfied</a:t>
                      </a:r>
                    </a:p>
                  </a:txBody>
                  <a:tcPr anchor="ctr">
                    <a:lnL>
                      <a:noFill/>
                    </a:lnL>
                    <a:lnR>
                      <a:noFill/>
                    </a:lnR>
                    <a:lnT>
                      <a:noFill/>
                    </a:lnT>
                    <a:lnB>
                      <a:noFill/>
                    </a:lnB>
                    <a:noFill/>
                  </a:tcPr>
                </a:tc>
                <a:tc>
                  <a:txBody>
                    <a:bodyPr/>
                    <a:lstStyle/>
                    <a:p>
                      <a:pPr>
                        <a:buNone/>
                      </a:pPr>
                      <a:r>
                        <a:rPr lang="en-US"/>
                        <a:t>More satisfied</a:t>
                      </a:r>
                    </a:p>
                  </a:txBody>
                  <a:tcPr anchor="ctr">
                    <a:lnL>
                      <a:noFill/>
                    </a:lnL>
                    <a:lnR>
                      <a:noFill/>
                    </a:lnR>
                    <a:lnT>
                      <a:noFill/>
                    </a:lnT>
                    <a:lnB>
                      <a:noFill/>
                    </a:lnB>
                    <a:noFill/>
                  </a:tcPr>
                </a:tc>
                <a:extLst>
                  <a:ext uri="{0D108BD9-81ED-4DB2-BD59-A6C34878D82A}">
                    <a16:rowId xmlns:a16="http://schemas.microsoft.com/office/drawing/2014/main" val="1373781804"/>
                  </a:ext>
                </a:extLst>
              </a:tr>
              <a:tr h="0">
                <a:tc>
                  <a:txBody>
                    <a:bodyPr/>
                    <a:lstStyle/>
                    <a:p>
                      <a:pPr>
                        <a:buNone/>
                      </a:pPr>
                      <a:r>
                        <a:rPr lang="en-US"/>
                        <a:t>Excitement</a:t>
                      </a:r>
                    </a:p>
                  </a:txBody>
                  <a:tcPr anchor="ctr">
                    <a:lnL>
                      <a:noFill/>
                    </a:lnL>
                    <a:lnR>
                      <a:noFill/>
                    </a:lnR>
                    <a:lnT>
                      <a:noFill/>
                    </a:lnT>
                    <a:lnB>
                      <a:noFill/>
                    </a:lnB>
                    <a:noFill/>
                  </a:tcPr>
                </a:tc>
                <a:tc>
                  <a:txBody>
                    <a:bodyPr/>
                    <a:lstStyle/>
                    <a:p>
                      <a:pPr>
                        <a:buNone/>
                      </a:pPr>
                      <a:r>
                        <a:rPr lang="en-US"/>
                        <a:t>Neutral</a:t>
                      </a:r>
                    </a:p>
                  </a:txBody>
                  <a:tcPr anchor="ctr">
                    <a:lnL>
                      <a:noFill/>
                    </a:lnL>
                    <a:lnR>
                      <a:noFill/>
                    </a:lnR>
                    <a:lnT>
                      <a:noFill/>
                    </a:lnT>
                    <a:lnB>
                      <a:noFill/>
                    </a:lnB>
                    <a:noFill/>
                  </a:tcPr>
                </a:tc>
                <a:tc>
                  <a:txBody>
                    <a:bodyPr/>
                    <a:lstStyle/>
                    <a:p>
                      <a:pPr>
                        <a:buNone/>
                      </a:pPr>
                      <a:r>
                        <a:rPr lang="en-US"/>
                        <a:t>Highly satisfied</a:t>
                      </a:r>
                    </a:p>
                  </a:txBody>
                  <a:tcPr anchor="ctr">
                    <a:lnL>
                      <a:noFill/>
                    </a:lnL>
                    <a:lnR>
                      <a:noFill/>
                    </a:lnR>
                    <a:lnT>
                      <a:noFill/>
                    </a:lnT>
                    <a:lnB>
                      <a:noFill/>
                    </a:lnB>
                    <a:noFill/>
                  </a:tcPr>
                </a:tc>
                <a:extLst>
                  <a:ext uri="{0D108BD9-81ED-4DB2-BD59-A6C34878D82A}">
                    <a16:rowId xmlns:a16="http://schemas.microsoft.com/office/drawing/2014/main" val="1803597546"/>
                  </a:ext>
                </a:extLst>
              </a:tr>
            </a:tbl>
          </a:graphicData>
        </a:graphic>
      </p:graphicFrame>
    </p:spTree>
    <p:extLst>
      <p:ext uri="{BB962C8B-B14F-4D97-AF65-F5344CB8AC3E}">
        <p14:creationId xmlns:p14="http://schemas.microsoft.com/office/powerpoint/2010/main" val="16679484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340D4-5CF1-0FBC-BCAC-59D277A3A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D7278-4DC4-0ED6-4123-0CD1A4D69BF5}"/>
              </a:ext>
            </a:extLst>
          </p:cNvPr>
          <p:cNvSpPr>
            <a:spLocks noGrp="1"/>
          </p:cNvSpPr>
          <p:nvPr>
            <p:ph type="title"/>
          </p:nvPr>
        </p:nvSpPr>
        <p:spPr/>
        <p:txBody>
          <a:bodyPr/>
          <a:lstStyle/>
          <a:p>
            <a:r>
              <a:rPr lang="en-GB">
                <a:ea typeface="Calibri Light"/>
                <a:cs typeface="Calibri Light"/>
              </a:rPr>
              <a:t>Kano (example – student portal)</a:t>
            </a:r>
          </a:p>
        </p:txBody>
      </p:sp>
      <p:sp>
        <p:nvSpPr>
          <p:cNvPr id="3" name="Content Placeholder 2">
            <a:extLst>
              <a:ext uri="{FF2B5EF4-FFF2-40B4-BE49-F238E27FC236}">
                <a16:creationId xmlns:a16="http://schemas.microsoft.com/office/drawing/2014/main" id="{6A29D057-8501-1BDC-0D73-A434C994F7B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a:ea typeface="+mn-lt"/>
                <a:cs typeface="+mn-lt"/>
              </a:rPr>
              <a:t>Basic Requirement</a:t>
            </a:r>
            <a:endParaRPr lang="en-US" dirty="0">
              <a:ea typeface="+mn-lt"/>
              <a:cs typeface="+mn-lt"/>
            </a:endParaRPr>
          </a:p>
          <a:p>
            <a:pPr lvl="1">
              <a:buFont typeface="Courier New" panose="020B0604020202020204" pitchFamily="34" charset="0"/>
              <a:buChar char="o"/>
            </a:pPr>
            <a:r>
              <a:rPr lang="en-US">
                <a:ea typeface="+mn-lt"/>
                <a:cs typeface="+mn-lt"/>
              </a:rPr>
              <a:t>Student must be able to login</a:t>
            </a:r>
            <a:endParaRPr lang="en-US">
              <a:ea typeface="Calibri"/>
              <a:cs typeface="Calibri"/>
            </a:endParaRPr>
          </a:p>
          <a:p>
            <a:r>
              <a:rPr lang="en-US" b="1">
                <a:ea typeface="+mn-lt"/>
                <a:cs typeface="+mn-lt"/>
              </a:rPr>
              <a:t>Performance Requirement</a:t>
            </a:r>
            <a:endParaRPr lang="en-US"/>
          </a:p>
          <a:p>
            <a:pPr lvl="1">
              <a:buFont typeface="Courier New" panose="020B0604020202020204" pitchFamily="34" charset="0"/>
              <a:buChar char="o"/>
            </a:pPr>
            <a:r>
              <a:rPr lang="en-US">
                <a:ea typeface="+mn-lt"/>
                <a:cs typeface="+mn-lt"/>
              </a:rPr>
              <a:t>Faster login response time</a:t>
            </a:r>
            <a:endParaRPr lang="en-US">
              <a:ea typeface="Calibri"/>
              <a:cs typeface="Calibri"/>
            </a:endParaRPr>
          </a:p>
          <a:p>
            <a:r>
              <a:rPr lang="en-US" b="1">
                <a:ea typeface="+mn-lt"/>
                <a:cs typeface="+mn-lt"/>
              </a:rPr>
              <a:t>Excitement Requirement</a:t>
            </a:r>
            <a:endParaRPr lang="en-US"/>
          </a:p>
          <a:p>
            <a:pPr lvl="1">
              <a:buFont typeface="Courier New" panose="020B0604020202020204" pitchFamily="34" charset="0"/>
              <a:buChar char="o"/>
            </a:pPr>
            <a:r>
              <a:rPr lang="en-US">
                <a:ea typeface="+mn-lt"/>
                <a:cs typeface="+mn-lt"/>
              </a:rPr>
              <a:t>AI assistant suggesting courses</a:t>
            </a:r>
            <a:endParaRPr lang="en-US">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AFD9B34-5DB6-6F8B-049D-05F73E860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B232431-3275-22FD-A75E-7ADA9CB2C38F}"/>
              </a:ext>
            </a:extLst>
          </p:cNvPr>
          <p:cNvSpPr>
            <a:spLocks noGrp="1"/>
          </p:cNvSpPr>
          <p:nvPr>
            <p:ph type="sldNum" sz="quarter" idx="12"/>
          </p:nvPr>
        </p:nvSpPr>
        <p:spPr/>
        <p:txBody>
          <a:bodyPr/>
          <a:lstStyle/>
          <a:p>
            <a:fld id="{008559AE-1842-40A5-A2A9-0518F39FD1A9}" type="slidenum">
              <a:rPr lang="en-US" smtClean="0"/>
              <a:t>67</a:t>
            </a:fld>
            <a:endParaRPr lang="en-GB"/>
          </a:p>
        </p:txBody>
      </p:sp>
      <p:sp>
        <p:nvSpPr>
          <p:cNvPr id="7" name="Footer Placeholder 6">
            <a:extLst>
              <a:ext uri="{FF2B5EF4-FFF2-40B4-BE49-F238E27FC236}">
                <a16:creationId xmlns:a16="http://schemas.microsoft.com/office/drawing/2014/main" id="{D1435B2A-0EEE-123A-7BE8-F324FAC02EB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128187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ED25E-3259-9FD4-B1D8-8E446894A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7F21B-6F33-501C-AB55-0A971AF167DF}"/>
              </a:ext>
            </a:extLst>
          </p:cNvPr>
          <p:cNvSpPr>
            <a:spLocks noGrp="1"/>
          </p:cNvSpPr>
          <p:nvPr>
            <p:ph type="title"/>
          </p:nvPr>
        </p:nvSpPr>
        <p:spPr/>
        <p:txBody>
          <a:bodyPr/>
          <a:lstStyle/>
          <a:p>
            <a:r>
              <a:rPr lang="en-GB">
                <a:ea typeface="Calibri Light"/>
                <a:cs typeface="Calibri Light"/>
              </a:rPr>
              <a:t>Comparison of the three models</a:t>
            </a:r>
            <a:endParaRPr lang="en-US"/>
          </a:p>
        </p:txBody>
      </p:sp>
      <p:sp>
        <p:nvSpPr>
          <p:cNvPr id="3" name="Content Placeholder 2">
            <a:extLst>
              <a:ext uri="{FF2B5EF4-FFF2-40B4-BE49-F238E27FC236}">
                <a16:creationId xmlns:a16="http://schemas.microsoft.com/office/drawing/2014/main" id="{09402990-F479-7365-07EB-44473E3305A1}"/>
              </a:ext>
            </a:extLst>
          </p:cNvPr>
          <p:cNvSpPr>
            <a:spLocks noGrp="1"/>
          </p:cNvSpPr>
          <p:nvPr>
            <p:ph idx="1"/>
          </p:nvPr>
        </p:nvSpPr>
        <p:spPr>
          <a:xfrm>
            <a:off x="838200" y="1690328"/>
            <a:ext cx="10515600" cy="5031147"/>
          </a:xfrm>
        </p:spPr>
        <p:txBody>
          <a:bodyPr vert="horz" lIns="91440" tIns="45720" rIns="91440" bIns="45720" rtlCol="0" anchor="t">
            <a:normAutofit/>
          </a:bodyPr>
          <a:lstStyle/>
          <a:p>
            <a:pPr marL="0" indent="0">
              <a:buNone/>
            </a:pPr>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B7EB1E7-0A41-5DCE-5C4A-82233BB25E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C6A6827-A00C-63D9-6DC0-14D55744DFF3}"/>
              </a:ext>
            </a:extLst>
          </p:cNvPr>
          <p:cNvSpPr>
            <a:spLocks noGrp="1"/>
          </p:cNvSpPr>
          <p:nvPr>
            <p:ph type="sldNum" sz="quarter" idx="12"/>
          </p:nvPr>
        </p:nvSpPr>
        <p:spPr/>
        <p:txBody>
          <a:bodyPr/>
          <a:lstStyle/>
          <a:p>
            <a:fld id="{008559AE-1842-40A5-A2A9-0518F39FD1A9}" type="slidenum">
              <a:rPr lang="en-US" smtClean="0"/>
              <a:t>68</a:t>
            </a:fld>
            <a:endParaRPr lang="en-GB"/>
          </a:p>
        </p:txBody>
      </p:sp>
      <p:sp>
        <p:nvSpPr>
          <p:cNvPr id="7" name="Footer Placeholder 6">
            <a:extLst>
              <a:ext uri="{FF2B5EF4-FFF2-40B4-BE49-F238E27FC236}">
                <a16:creationId xmlns:a16="http://schemas.microsoft.com/office/drawing/2014/main" id="{B1AA80EF-55CE-4AB2-696F-9BF5606F2902}"/>
              </a:ext>
            </a:extLst>
          </p:cNvPr>
          <p:cNvSpPr>
            <a:spLocks noGrp="1"/>
          </p:cNvSpPr>
          <p:nvPr>
            <p:ph type="ftr" sz="quarter" idx="11"/>
          </p:nvPr>
        </p:nvSpPr>
        <p:spPr/>
        <p:txBody>
          <a:bodyPr/>
          <a:lstStyle/>
          <a:p>
            <a:r>
              <a:rPr lang="en-US"/>
              <a:t>Software Engineering</a:t>
            </a:r>
          </a:p>
        </p:txBody>
      </p:sp>
      <p:graphicFrame>
        <p:nvGraphicFramePr>
          <p:cNvPr id="5" name="Table 4">
            <a:extLst>
              <a:ext uri="{FF2B5EF4-FFF2-40B4-BE49-F238E27FC236}">
                <a16:creationId xmlns:a16="http://schemas.microsoft.com/office/drawing/2014/main" id="{017349E0-EBF3-114A-5D15-DA0035D91A1C}"/>
              </a:ext>
            </a:extLst>
          </p:cNvPr>
          <p:cNvGraphicFramePr>
            <a:graphicFrameLocks noGrp="1"/>
          </p:cNvGraphicFramePr>
          <p:nvPr>
            <p:extLst>
              <p:ext uri="{D42A27DB-BD31-4B8C-83A1-F6EECF244321}">
                <p14:modId xmlns:p14="http://schemas.microsoft.com/office/powerpoint/2010/main" val="2613294672"/>
              </p:ext>
            </p:extLst>
          </p:nvPr>
        </p:nvGraphicFramePr>
        <p:xfrm>
          <a:off x="388189" y="2697480"/>
          <a:ext cx="11405880" cy="2194560"/>
        </p:xfrm>
        <a:graphic>
          <a:graphicData uri="http://schemas.openxmlformats.org/drawingml/2006/table">
            <a:tbl>
              <a:tblPr bandRow="1">
                <a:tableStyleId>{5C22544A-7EE6-4342-B048-85BDC9FD1C3A}</a:tableStyleId>
              </a:tblPr>
              <a:tblGrid>
                <a:gridCol w="3801960">
                  <a:extLst>
                    <a:ext uri="{9D8B030D-6E8A-4147-A177-3AD203B41FA5}">
                      <a16:colId xmlns:a16="http://schemas.microsoft.com/office/drawing/2014/main" val="1707418796"/>
                    </a:ext>
                  </a:extLst>
                </a:gridCol>
                <a:gridCol w="3801960">
                  <a:extLst>
                    <a:ext uri="{9D8B030D-6E8A-4147-A177-3AD203B41FA5}">
                      <a16:colId xmlns:a16="http://schemas.microsoft.com/office/drawing/2014/main" val="199297650"/>
                    </a:ext>
                  </a:extLst>
                </a:gridCol>
                <a:gridCol w="3801960">
                  <a:extLst>
                    <a:ext uri="{9D8B030D-6E8A-4147-A177-3AD203B41FA5}">
                      <a16:colId xmlns:a16="http://schemas.microsoft.com/office/drawing/2014/main" val="3697874194"/>
                    </a:ext>
                  </a:extLst>
                </a:gridCol>
              </a:tblGrid>
              <a:tr h="0">
                <a:tc>
                  <a:txBody>
                    <a:bodyPr/>
                    <a:lstStyle/>
                    <a:p>
                      <a:pPr>
                        <a:buNone/>
                      </a:pPr>
                      <a:r>
                        <a:rPr lang="en-US" sz="2400"/>
                        <a:t>Model</a:t>
                      </a:r>
                    </a:p>
                  </a:txBody>
                  <a:tcPr anchor="ctr">
                    <a:lnL>
                      <a:noFill/>
                    </a:lnL>
                    <a:lnR>
                      <a:noFill/>
                    </a:lnR>
                    <a:lnT>
                      <a:noFill/>
                    </a:lnT>
                    <a:lnB>
                      <a:noFill/>
                    </a:lnB>
                    <a:noFill/>
                  </a:tcPr>
                </a:tc>
                <a:tc>
                  <a:txBody>
                    <a:bodyPr/>
                    <a:lstStyle/>
                    <a:p>
                      <a:pPr>
                        <a:buNone/>
                      </a:pPr>
                      <a:r>
                        <a:rPr lang="en-US" sz="2400"/>
                        <a:t>Focus</a:t>
                      </a:r>
                    </a:p>
                  </a:txBody>
                  <a:tcPr anchor="ctr">
                    <a:lnL>
                      <a:noFill/>
                    </a:lnL>
                    <a:lnR>
                      <a:noFill/>
                    </a:lnR>
                    <a:lnT>
                      <a:noFill/>
                    </a:lnT>
                    <a:lnB>
                      <a:noFill/>
                    </a:lnB>
                    <a:noFill/>
                  </a:tcPr>
                </a:tc>
                <a:tc>
                  <a:txBody>
                    <a:bodyPr/>
                    <a:lstStyle/>
                    <a:p>
                      <a:pPr>
                        <a:buNone/>
                      </a:pPr>
                      <a:r>
                        <a:rPr lang="en-US" sz="2400"/>
                        <a:t>Typical Use</a:t>
                      </a:r>
                    </a:p>
                  </a:txBody>
                  <a:tcPr anchor="ctr">
                    <a:lnL>
                      <a:noFill/>
                    </a:lnL>
                    <a:lnR>
                      <a:noFill/>
                    </a:lnR>
                    <a:lnT>
                      <a:noFill/>
                    </a:lnT>
                    <a:lnB>
                      <a:noFill/>
                    </a:lnB>
                    <a:noFill/>
                  </a:tcPr>
                </a:tc>
                <a:extLst>
                  <a:ext uri="{0D108BD9-81ED-4DB2-BD59-A6C34878D82A}">
                    <a16:rowId xmlns:a16="http://schemas.microsoft.com/office/drawing/2014/main" val="219060548"/>
                  </a:ext>
                </a:extLst>
              </a:tr>
              <a:tr h="0">
                <a:tc>
                  <a:txBody>
                    <a:bodyPr/>
                    <a:lstStyle/>
                    <a:p>
                      <a:pPr>
                        <a:buNone/>
                      </a:pPr>
                      <a:r>
                        <a:rPr lang="en-US" sz="2400" b="1"/>
                        <a:t>Triage</a:t>
                      </a:r>
                      <a:endParaRPr lang="en-US" sz="2400"/>
                    </a:p>
                  </a:txBody>
                  <a:tcPr anchor="ctr">
                    <a:lnL>
                      <a:noFill/>
                    </a:lnL>
                    <a:lnR>
                      <a:noFill/>
                    </a:lnR>
                    <a:lnT>
                      <a:noFill/>
                    </a:lnT>
                    <a:lnB>
                      <a:noFill/>
                    </a:lnB>
                    <a:noFill/>
                  </a:tcPr>
                </a:tc>
                <a:tc>
                  <a:txBody>
                    <a:bodyPr/>
                    <a:lstStyle/>
                    <a:p>
                      <a:pPr>
                        <a:buNone/>
                      </a:pPr>
                      <a:r>
                        <a:rPr lang="en-US" sz="2400"/>
                        <a:t>Urgency and impact</a:t>
                      </a:r>
                    </a:p>
                  </a:txBody>
                  <a:tcPr anchor="ctr">
                    <a:lnL>
                      <a:noFill/>
                    </a:lnL>
                    <a:lnR>
                      <a:noFill/>
                    </a:lnR>
                    <a:lnT>
                      <a:noFill/>
                    </a:lnT>
                    <a:lnB>
                      <a:noFill/>
                    </a:lnB>
                    <a:noFill/>
                  </a:tcPr>
                </a:tc>
                <a:tc>
                  <a:txBody>
                    <a:bodyPr/>
                    <a:lstStyle/>
                    <a:p>
                      <a:pPr>
                        <a:buNone/>
                      </a:pPr>
                      <a:r>
                        <a:rPr lang="en-US" sz="2400"/>
                        <a:t>Bug fixing, crisis management</a:t>
                      </a:r>
                    </a:p>
                  </a:txBody>
                  <a:tcPr anchor="ctr">
                    <a:lnL>
                      <a:noFill/>
                    </a:lnL>
                    <a:lnR>
                      <a:noFill/>
                    </a:lnR>
                    <a:lnT>
                      <a:noFill/>
                    </a:lnT>
                    <a:lnB>
                      <a:noFill/>
                    </a:lnB>
                    <a:noFill/>
                  </a:tcPr>
                </a:tc>
                <a:extLst>
                  <a:ext uri="{0D108BD9-81ED-4DB2-BD59-A6C34878D82A}">
                    <a16:rowId xmlns:a16="http://schemas.microsoft.com/office/drawing/2014/main" val="1035796514"/>
                  </a:ext>
                </a:extLst>
              </a:tr>
              <a:tr h="0">
                <a:tc>
                  <a:txBody>
                    <a:bodyPr/>
                    <a:lstStyle/>
                    <a:p>
                      <a:pPr>
                        <a:buNone/>
                      </a:pPr>
                      <a:r>
                        <a:rPr lang="en-US" sz="2400" b="1" dirty="0" err="1"/>
                        <a:t>MoSCoW</a:t>
                      </a:r>
                      <a:endParaRPr lang="en-US" sz="2400" dirty="0" err="1"/>
                    </a:p>
                  </a:txBody>
                  <a:tcPr anchor="ctr">
                    <a:lnL>
                      <a:noFill/>
                    </a:lnL>
                    <a:lnR>
                      <a:noFill/>
                    </a:lnR>
                    <a:lnT>
                      <a:noFill/>
                    </a:lnT>
                    <a:lnB>
                      <a:noFill/>
                    </a:lnB>
                    <a:noFill/>
                  </a:tcPr>
                </a:tc>
                <a:tc>
                  <a:txBody>
                    <a:bodyPr/>
                    <a:lstStyle/>
                    <a:p>
                      <a:pPr>
                        <a:buNone/>
                      </a:pPr>
                      <a:r>
                        <a:rPr lang="en-US" sz="2400"/>
                        <a:t>Release planning</a:t>
                      </a:r>
                    </a:p>
                  </a:txBody>
                  <a:tcPr anchor="ctr">
                    <a:lnL>
                      <a:noFill/>
                    </a:lnL>
                    <a:lnR>
                      <a:noFill/>
                    </a:lnR>
                    <a:lnT>
                      <a:noFill/>
                    </a:lnT>
                    <a:lnB>
                      <a:noFill/>
                    </a:lnB>
                    <a:noFill/>
                  </a:tcPr>
                </a:tc>
                <a:tc>
                  <a:txBody>
                    <a:bodyPr/>
                    <a:lstStyle/>
                    <a:p>
                      <a:pPr>
                        <a:buNone/>
                      </a:pPr>
                      <a:r>
                        <a:rPr lang="en-US" sz="2400"/>
                        <a:t>Agile projects</a:t>
                      </a:r>
                    </a:p>
                  </a:txBody>
                  <a:tcPr anchor="ctr">
                    <a:lnL>
                      <a:noFill/>
                    </a:lnL>
                    <a:lnR>
                      <a:noFill/>
                    </a:lnR>
                    <a:lnT>
                      <a:noFill/>
                    </a:lnT>
                    <a:lnB>
                      <a:noFill/>
                    </a:lnB>
                    <a:noFill/>
                  </a:tcPr>
                </a:tc>
                <a:extLst>
                  <a:ext uri="{0D108BD9-81ED-4DB2-BD59-A6C34878D82A}">
                    <a16:rowId xmlns:a16="http://schemas.microsoft.com/office/drawing/2014/main" val="3581256892"/>
                  </a:ext>
                </a:extLst>
              </a:tr>
              <a:tr h="0">
                <a:tc>
                  <a:txBody>
                    <a:bodyPr/>
                    <a:lstStyle/>
                    <a:p>
                      <a:pPr>
                        <a:buNone/>
                      </a:pPr>
                      <a:r>
                        <a:rPr lang="en-US" sz="2400" b="1"/>
                        <a:t>Kano</a:t>
                      </a:r>
                      <a:endParaRPr lang="en-US" sz="2400"/>
                    </a:p>
                  </a:txBody>
                  <a:tcPr anchor="ctr">
                    <a:lnL>
                      <a:noFill/>
                    </a:lnL>
                    <a:lnR>
                      <a:noFill/>
                    </a:lnR>
                    <a:lnT>
                      <a:noFill/>
                    </a:lnT>
                    <a:lnB>
                      <a:noFill/>
                    </a:lnB>
                    <a:noFill/>
                  </a:tcPr>
                </a:tc>
                <a:tc>
                  <a:txBody>
                    <a:bodyPr/>
                    <a:lstStyle/>
                    <a:p>
                      <a:pPr>
                        <a:buNone/>
                      </a:pPr>
                      <a:r>
                        <a:rPr lang="en-US" sz="2400"/>
                        <a:t>Customer satisfaction</a:t>
                      </a:r>
                    </a:p>
                  </a:txBody>
                  <a:tcPr anchor="ctr">
                    <a:lnL>
                      <a:noFill/>
                    </a:lnL>
                    <a:lnR>
                      <a:noFill/>
                    </a:lnR>
                    <a:lnT>
                      <a:noFill/>
                    </a:lnT>
                    <a:lnB>
                      <a:noFill/>
                    </a:lnB>
                    <a:noFill/>
                  </a:tcPr>
                </a:tc>
                <a:tc>
                  <a:txBody>
                    <a:bodyPr/>
                    <a:lstStyle/>
                    <a:p>
                      <a:pPr>
                        <a:buNone/>
                      </a:pPr>
                      <a:r>
                        <a:rPr lang="en-US" sz="2400"/>
                        <a:t>Product design and UX</a:t>
                      </a:r>
                    </a:p>
                  </a:txBody>
                  <a:tcPr anchor="ctr">
                    <a:lnL>
                      <a:noFill/>
                    </a:lnL>
                    <a:lnR>
                      <a:noFill/>
                    </a:lnR>
                    <a:lnT>
                      <a:noFill/>
                    </a:lnT>
                    <a:lnB>
                      <a:noFill/>
                    </a:lnB>
                    <a:noFill/>
                  </a:tcPr>
                </a:tc>
                <a:extLst>
                  <a:ext uri="{0D108BD9-81ED-4DB2-BD59-A6C34878D82A}">
                    <a16:rowId xmlns:a16="http://schemas.microsoft.com/office/drawing/2014/main" val="1862487828"/>
                  </a:ext>
                </a:extLst>
              </a:tr>
            </a:tbl>
          </a:graphicData>
        </a:graphic>
      </p:graphicFrame>
    </p:spTree>
    <p:extLst>
      <p:ext uri="{BB962C8B-B14F-4D97-AF65-F5344CB8AC3E}">
        <p14:creationId xmlns:p14="http://schemas.microsoft.com/office/powerpoint/2010/main" val="4156043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D227-FD0F-597A-3277-2D03A5917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1DD56E-F208-25D9-9065-4346F33D76E6}"/>
              </a:ext>
            </a:extLst>
          </p:cNvPr>
          <p:cNvSpPr>
            <a:spLocks noGrp="1"/>
          </p:cNvSpPr>
          <p:nvPr>
            <p:ph type="title"/>
          </p:nvPr>
        </p:nvSpPr>
        <p:spPr>
          <a:xfrm>
            <a:off x="4313" y="34446"/>
            <a:ext cx="10515600" cy="1325563"/>
          </a:xfrm>
        </p:spPr>
        <p:txBody>
          <a:bodyPr/>
          <a:lstStyle/>
          <a:p>
            <a:r>
              <a:rPr lang="en-GB">
                <a:ea typeface="Calibri Light"/>
                <a:cs typeface="Calibri Light"/>
              </a:rPr>
              <a:t>Which model to choose?</a:t>
            </a:r>
            <a:endParaRPr lang="en-US"/>
          </a:p>
        </p:txBody>
      </p:sp>
      <p:sp>
        <p:nvSpPr>
          <p:cNvPr id="3" name="Content Placeholder 2">
            <a:extLst>
              <a:ext uri="{FF2B5EF4-FFF2-40B4-BE49-F238E27FC236}">
                <a16:creationId xmlns:a16="http://schemas.microsoft.com/office/drawing/2014/main" id="{22F8D589-3DCF-AAEA-4F55-C0B0BEF1F8A6}"/>
              </a:ext>
            </a:extLst>
          </p:cNvPr>
          <p:cNvSpPr>
            <a:spLocks noGrp="1"/>
          </p:cNvSpPr>
          <p:nvPr>
            <p:ph idx="1"/>
          </p:nvPr>
        </p:nvSpPr>
        <p:spPr>
          <a:xfrm>
            <a:off x="838200" y="1690328"/>
            <a:ext cx="10515600" cy="5031147"/>
          </a:xfrm>
        </p:spPr>
        <p:txBody>
          <a:bodyPr vert="horz" lIns="91440" tIns="45720" rIns="91440" bIns="45720" rtlCol="0" anchor="t">
            <a:normAutofit/>
          </a:bodyPr>
          <a:lstStyle/>
          <a:p>
            <a:pPr marL="0" indent="0">
              <a:buNone/>
            </a:pPr>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E5F755E0-2E4D-965B-9F14-5356AE226B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46E91E5-0E34-6A22-55C5-2061ECD5D7A2}"/>
              </a:ext>
            </a:extLst>
          </p:cNvPr>
          <p:cNvSpPr>
            <a:spLocks noGrp="1"/>
          </p:cNvSpPr>
          <p:nvPr>
            <p:ph type="sldNum" sz="quarter" idx="12"/>
          </p:nvPr>
        </p:nvSpPr>
        <p:spPr/>
        <p:txBody>
          <a:bodyPr/>
          <a:lstStyle/>
          <a:p>
            <a:fld id="{008559AE-1842-40A5-A2A9-0518F39FD1A9}" type="slidenum">
              <a:rPr lang="en-US" smtClean="0"/>
              <a:t>69</a:t>
            </a:fld>
            <a:endParaRPr lang="en-GB"/>
          </a:p>
        </p:txBody>
      </p:sp>
      <p:sp>
        <p:nvSpPr>
          <p:cNvPr id="7" name="Footer Placeholder 6">
            <a:extLst>
              <a:ext uri="{FF2B5EF4-FFF2-40B4-BE49-F238E27FC236}">
                <a16:creationId xmlns:a16="http://schemas.microsoft.com/office/drawing/2014/main" id="{2A006BC4-F8C6-9DEE-A062-8C9E1D6CDC0B}"/>
              </a:ext>
            </a:extLst>
          </p:cNvPr>
          <p:cNvSpPr>
            <a:spLocks noGrp="1"/>
          </p:cNvSpPr>
          <p:nvPr>
            <p:ph type="ftr" sz="quarter" idx="11"/>
          </p:nvPr>
        </p:nvSpPr>
        <p:spPr/>
        <p:txBody>
          <a:bodyPr/>
          <a:lstStyle/>
          <a:p>
            <a:r>
              <a:rPr lang="en-US"/>
              <a:t>Software Engineering</a:t>
            </a:r>
          </a:p>
        </p:txBody>
      </p:sp>
      <p:graphicFrame>
        <p:nvGraphicFramePr>
          <p:cNvPr id="33" name="Table 32">
            <a:extLst>
              <a:ext uri="{FF2B5EF4-FFF2-40B4-BE49-F238E27FC236}">
                <a16:creationId xmlns:a16="http://schemas.microsoft.com/office/drawing/2014/main" id="{D362F25A-85BB-C62B-4C86-51A20B29CC84}"/>
              </a:ext>
            </a:extLst>
          </p:cNvPr>
          <p:cNvGraphicFramePr>
            <a:graphicFrameLocks noGrp="1"/>
          </p:cNvGraphicFramePr>
          <p:nvPr>
            <p:extLst>
              <p:ext uri="{D42A27DB-BD31-4B8C-83A1-F6EECF244321}">
                <p14:modId xmlns:p14="http://schemas.microsoft.com/office/powerpoint/2010/main" val="4208521371"/>
              </p:ext>
            </p:extLst>
          </p:nvPr>
        </p:nvGraphicFramePr>
        <p:xfrm>
          <a:off x="57509" y="1374763"/>
          <a:ext cx="5992154" cy="1463040"/>
        </p:xfrm>
        <a:graphic>
          <a:graphicData uri="http://schemas.openxmlformats.org/drawingml/2006/table">
            <a:tbl>
              <a:tblPr bandRow="1">
                <a:tableStyleId>{5C22544A-7EE6-4342-B048-85BDC9FD1C3A}</a:tableStyleId>
              </a:tblPr>
              <a:tblGrid>
                <a:gridCol w="3455496">
                  <a:extLst>
                    <a:ext uri="{9D8B030D-6E8A-4147-A177-3AD203B41FA5}">
                      <a16:colId xmlns:a16="http://schemas.microsoft.com/office/drawing/2014/main" val="833523103"/>
                    </a:ext>
                  </a:extLst>
                </a:gridCol>
                <a:gridCol w="2536658">
                  <a:extLst>
                    <a:ext uri="{9D8B030D-6E8A-4147-A177-3AD203B41FA5}">
                      <a16:colId xmlns:a16="http://schemas.microsoft.com/office/drawing/2014/main" val="4204299774"/>
                    </a:ext>
                  </a:extLst>
                </a:gridCol>
              </a:tblGrid>
              <a:tr h="0">
                <a:tc>
                  <a:txBody>
                    <a:bodyPr/>
                    <a:lstStyle/>
                    <a:p>
                      <a:pPr>
                        <a:buNone/>
                      </a:pPr>
                      <a:r>
                        <a:rPr lang="en-US"/>
                        <a:t>If you want to </a:t>
                      </a:r>
                      <a:r>
                        <a:rPr lang="en-US" err="1"/>
                        <a:t>prioritise</a:t>
                      </a:r>
                      <a:r>
                        <a:rPr lang="en-US"/>
                        <a:t> based on…</a:t>
                      </a:r>
                    </a:p>
                  </a:txBody>
                  <a:tcPr anchor="ctr">
                    <a:lnL>
                      <a:noFill/>
                    </a:lnL>
                    <a:lnR>
                      <a:noFill/>
                    </a:lnR>
                    <a:lnT>
                      <a:noFill/>
                    </a:lnT>
                    <a:lnB>
                      <a:noFill/>
                    </a:lnB>
                    <a:noFill/>
                  </a:tcPr>
                </a:tc>
                <a:tc>
                  <a:txBody>
                    <a:bodyPr/>
                    <a:lstStyle/>
                    <a:p>
                      <a:pPr>
                        <a:buNone/>
                      </a:pPr>
                      <a:r>
                        <a:rPr lang="en-US"/>
                        <a:t>Use</a:t>
                      </a:r>
                    </a:p>
                  </a:txBody>
                  <a:tcPr anchor="ctr">
                    <a:lnL>
                      <a:noFill/>
                    </a:lnL>
                    <a:lnR>
                      <a:noFill/>
                    </a:lnR>
                    <a:lnT>
                      <a:noFill/>
                    </a:lnT>
                    <a:lnB>
                      <a:noFill/>
                    </a:lnB>
                    <a:noFill/>
                  </a:tcPr>
                </a:tc>
                <a:extLst>
                  <a:ext uri="{0D108BD9-81ED-4DB2-BD59-A6C34878D82A}">
                    <a16:rowId xmlns:a16="http://schemas.microsoft.com/office/drawing/2014/main" val="1807509258"/>
                  </a:ext>
                </a:extLst>
              </a:tr>
              <a:tr h="0">
                <a:tc>
                  <a:txBody>
                    <a:bodyPr/>
                    <a:lstStyle/>
                    <a:p>
                      <a:pPr>
                        <a:buNone/>
                      </a:pPr>
                      <a:r>
                        <a:rPr lang="en-US" b="0"/>
                        <a:t>Urgency</a:t>
                      </a:r>
                    </a:p>
                  </a:txBody>
                  <a:tcPr anchor="ctr">
                    <a:lnL>
                      <a:noFill/>
                    </a:lnL>
                    <a:lnR>
                      <a:noFill/>
                    </a:lnR>
                    <a:lnT>
                      <a:noFill/>
                    </a:lnT>
                    <a:lnB>
                      <a:noFill/>
                    </a:lnB>
                    <a:noFill/>
                  </a:tcPr>
                </a:tc>
                <a:tc>
                  <a:txBody>
                    <a:bodyPr/>
                    <a:lstStyle/>
                    <a:p>
                      <a:pPr>
                        <a:buNone/>
                      </a:pPr>
                      <a:r>
                        <a:rPr lang="en-US"/>
                        <a:t>Triage</a:t>
                      </a:r>
                    </a:p>
                  </a:txBody>
                  <a:tcPr anchor="ctr">
                    <a:lnL>
                      <a:noFill/>
                    </a:lnL>
                    <a:lnR>
                      <a:noFill/>
                    </a:lnR>
                    <a:lnT>
                      <a:noFill/>
                    </a:lnT>
                    <a:lnB>
                      <a:noFill/>
                    </a:lnB>
                    <a:noFill/>
                  </a:tcPr>
                </a:tc>
                <a:extLst>
                  <a:ext uri="{0D108BD9-81ED-4DB2-BD59-A6C34878D82A}">
                    <a16:rowId xmlns:a16="http://schemas.microsoft.com/office/drawing/2014/main" val="3444700404"/>
                  </a:ext>
                </a:extLst>
              </a:tr>
              <a:tr h="0">
                <a:tc>
                  <a:txBody>
                    <a:bodyPr/>
                    <a:lstStyle/>
                    <a:p>
                      <a:pPr>
                        <a:buNone/>
                      </a:pPr>
                      <a:r>
                        <a:rPr lang="en-US" b="0"/>
                        <a:t>Release importance</a:t>
                      </a:r>
                    </a:p>
                  </a:txBody>
                  <a:tcPr anchor="ctr">
                    <a:lnL>
                      <a:noFill/>
                    </a:lnL>
                    <a:lnR>
                      <a:noFill/>
                    </a:lnR>
                    <a:lnT>
                      <a:noFill/>
                    </a:lnT>
                    <a:lnB>
                      <a:noFill/>
                    </a:lnB>
                    <a:noFill/>
                  </a:tcPr>
                </a:tc>
                <a:tc>
                  <a:txBody>
                    <a:bodyPr/>
                    <a:lstStyle/>
                    <a:p>
                      <a:pPr>
                        <a:buNone/>
                      </a:pPr>
                      <a:r>
                        <a:rPr lang="en-US" dirty="0" err="1"/>
                        <a:t>MoSCoW</a:t>
                      </a:r>
                    </a:p>
                  </a:txBody>
                  <a:tcPr anchor="ctr">
                    <a:lnL>
                      <a:noFill/>
                    </a:lnL>
                    <a:lnR>
                      <a:noFill/>
                    </a:lnR>
                    <a:lnT>
                      <a:noFill/>
                    </a:lnT>
                    <a:lnB>
                      <a:noFill/>
                    </a:lnB>
                    <a:noFill/>
                  </a:tcPr>
                </a:tc>
                <a:extLst>
                  <a:ext uri="{0D108BD9-81ED-4DB2-BD59-A6C34878D82A}">
                    <a16:rowId xmlns:a16="http://schemas.microsoft.com/office/drawing/2014/main" val="147617357"/>
                  </a:ext>
                </a:extLst>
              </a:tr>
              <a:tr h="0">
                <a:tc>
                  <a:txBody>
                    <a:bodyPr/>
                    <a:lstStyle/>
                    <a:p>
                      <a:pPr>
                        <a:buNone/>
                      </a:pPr>
                      <a:r>
                        <a:rPr lang="en-US" b="0"/>
                        <a:t>User delight</a:t>
                      </a:r>
                    </a:p>
                  </a:txBody>
                  <a:tcPr anchor="ctr">
                    <a:lnL>
                      <a:noFill/>
                    </a:lnL>
                    <a:lnR>
                      <a:noFill/>
                    </a:lnR>
                    <a:lnT>
                      <a:noFill/>
                    </a:lnT>
                    <a:lnB>
                      <a:noFill/>
                    </a:lnB>
                    <a:noFill/>
                  </a:tcPr>
                </a:tc>
                <a:tc>
                  <a:txBody>
                    <a:bodyPr/>
                    <a:lstStyle/>
                    <a:p>
                      <a:pPr>
                        <a:buNone/>
                      </a:pPr>
                      <a:r>
                        <a:rPr lang="en-US"/>
                        <a:t>Kano</a:t>
                      </a:r>
                    </a:p>
                  </a:txBody>
                  <a:tcPr anchor="ctr">
                    <a:lnL>
                      <a:noFill/>
                    </a:lnL>
                    <a:lnR>
                      <a:noFill/>
                    </a:lnR>
                    <a:lnT>
                      <a:noFill/>
                    </a:lnT>
                    <a:lnB>
                      <a:noFill/>
                    </a:lnB>
                    <a:noFill/>
                  </a:tcPr>
                </a:tc>
                <a:extLst>
                  <a:ext uri="{0D108BD9-81ED-4DB2-BD59-A6C34878D82A}">
                    <a16:rowId xmlns:a16="http://schemas.microsoft.com/office/drawing/2014/main" val="2865646546"/>
                  </a:ext>
                </a:extLst>
              </a:tr>
            </a:tbl>
          </a:graphicData>
        </a:graphic>
      </p:graphicFrame>
      <p:graphicFrame>
        <p:nvGraphicFramePr>
          <p:cNvPr id="35" name="Table 34">
            <a:extLst>
              <a:ext uri="{FF2B5EF4-FFF2-40B4-BE49-F238E27FC236}">
                <a16:creationId xmlns:a16="http://schemas.microsoft.com/office/drawing/2014/main" id="{9CD194E9-77D1-744C-001A-D5A32953E83E}"/>
              </a:ext>
            </a:extLst>
          </p:cNvPr>
          <p:cNvGraphicFramePr>
            <a:graphicFrameLocks noGrp="1"/>
          </p:cNvGraphicFramePr>
          <p:nvPr>
            <p:extLst>
              <p:ext uri="{D42A27DB-BD31-4B8C-83A1-F6EECF244321}">
                <p14:modId xmlns:p14="http://schemas.microsoft.com/office/powerpoint/2010/main" val="1017852843"/>
              </p:ext>
            </p:extLst>
          </p:nvPr>
        </p:nvGraphicFramePr>
        <p:xfrm>
          <a:off x="57509" y="3213914"/>
          <a:ext cx="9942304" cy="1463040"/>
        </p:xfrm>
        <a:graphic>
          <a:graphicData uri="http://schemas.openxmlformats.org/drawingml/2006/table">
            <a:tbl>
              <a:tblPr bandRow="1">
                <a:tableStyleId>{5C22544A-7EE6-4342-B048-85BDC9FD1C3A}</a:tableStyleId>
              </a:tblPr>
              <a:tblGrid>
                <a:gridCol w="3194155">
                  <a:extLst>
                    <a:ext uri="{9D8B030D-6E8A-4147-A177-3AD203B41FA5}">
                      <a16:colId xmlns:a16="http://schemas.microsoft.com/office/drawing/2014/main" val="1095862795"/>
                    </a:ext>
                  </a:extLst>
                </a:gridCol>
                <a:gridCol w="1611597">
                  <a:extLst>
                    <a:ext uri="{9D8B030D-6E8A-4147-A177-3AD203B41FA5}">
                      <a16:colId xmlns:a16="http://schemas.microsoft.com/office/drawing/2014/main" val="3661690303"/>
                    </a:ext>
                  </a:extLst>
                </a:gridCol>
                <a:gridCol w="5136552">
                  <a:extLst>
                    <a:ext uri="{9D8B030D-6E8A-4147-A177-3AD203B41FA5}">
                      <a16:colId xmlns:a16="http://schemas.microsoft.com/office/drawing/2014/main" val="2499657577"/>
                    </a:ext>
                  </a:extLst>
                </a:gridCol>
              </a:tblGrid>
              <a:tr h="0">
                <a:tc>
                  <a:txBody>
                    <a:bodyPr/>
                    <a:lstStyle/>
                    <a:p>
                      <a:pPr>
                        <a:buNone/>
                      </a:pPr>
                      <a:r>
                        <a:rPr lang="en-US"/>
                        <a:t>Goal</a:t>
                      </a:r>
                    </a:p>
                  </a:txBody>
                  <a:tcPr anchor="ctr">
                    <a:lnL>
                      <a:noFill/>
                    </a:lnL>
                    <a:lnR>
                      <a:noFill/>
                    </a:lnR>
                    <a:lnT>
                      <a:noFill/>
                    </a:lnT>
                    <a:lnB>
                      <a:noFill/>
                    </a:lnB>
                    <a:noFill/>
                  </a:tcPr>
                </a:tc>
                <a:tc>
                  <a:txBody>
                    <a:bodyPr/>
                    <a:lstStyle/>
                    <a:p>
                      <a:pPr>
                        <a:buNone/>
                      </a:pPr>
                      <a:r>
                        <a:rPr lang="en-US"/>
                        <a:t>Suitable Model</a:t>
                      </a:r>
                    </a:p>
                  </a:txBody>
                  <a:tcPr anchor="ctr">
                    <a:lnL>
                      <a:noFill/>
                    </a:lnL>
                    <a:lnR>
                      <a:noFill/>
                    </a:lnR>
                    <a:lnT>
                      <a:noFill/>
                    </a:lnT>
                    <a:lnB>
                      <a:noFill/>
                    </a:lnB>
                    <a:noFill/>
                  </a:tcPr>
                </a:tc>
                <a:tc>
                  <a:txBody>
                    <a:bodyPr/>
                    <a:lstStyle/>
                    <a:p>
                      <a:pPr>
                        <a:buNone/>
                      </a:pPr>
                      <a:r>
                        <a:rPr lang="en-US"/>
                        <a:t>Reason</a:t>
                      </a:r>
                    </a:p>
                  </a:txBody>
                  <a:tcPr anchor="ctr">
                    <a:lnL>
                      <a:noFill/>
                    </a:lnL>
                    <a:lnR>
                      <a:noFill/>
                    </a:lnR>
                    <a:lnT>
                      <a:noFill/>
                    </a:lnT>
                    <a:lnB>
                      <a:noFill/>
                    </a:lnB>
                    <a:noFill/>
                  </a:tcPr>
                </a:tc>
                <a:extLst>
                  <a:ext uri="{0D108BD9-81ED-4DB2-BD59-A6C34878D82A}">
                    <a16:rowId xmlns:a16="http://schemas.microsoft.com/office/drawing/2014/main" val="53351105"/>
                  </a:ext>
                </a:extLst>
              </a:tr>
              <a:tr h="0">
                <a:tc>
                  <a:txBody>
                    <a:bodyPr/>
                    <a:lstStyle/>
                    <a:p>
                      <a:pPr>
                        <a:buNone/>
                      </a:pPr>
                      <a:r>
                        <a:rPr lang="en-US"/>
                        <a:t>Handle urgent issues or bugs</a:t>
                      </a:r>
                    </a:p>
                  </a:txBody>
                  <a:tcPr anchor="ctr">
                    <a:lnL>
                      <a:noFill/>
                    </a:lnL>
                    <a:lnR>
                      <a:noFill/>
                    </a:lnR>
                    <a:lnT>
                      <a:noFill/>
                    </a:lnT>
                    <a:lnB>
                      <a:noFill/>
                    </a:lnB>
                    <a:noFill/>
                  </a:tcPr>
                </a:tc>
                <a:tc>
                  <a:txBody>
                    <a:bodyPr/>
                    <a:lstStyle/>
                    <a:p>
                      <a:pPr>
                        <a:buNone/>
                      </a:pPr>
                      <a:r>
                        <a:rPr lang="en-US" b="1"/>
                        <a:t>Triage</a:t>
                      </a:r>
                      <a:endParaRPr lang="en-US"/>
                    </a:p>
                  </a:txBody>
                  <a:tcPr anchor="ctr">
                    <a:lnL>
                      <a:noFill/>
                    </a:lnL>
                    <a:lnR>
                      <a:noFill/>
                    </a:lnR>
                    <a:lnT>
                      <a:noFill/>
                    </a:lnT>
                    <a:lnB>
                      <a:noFill/>
                    </a:lnB>
                    <a:noFill/>
                  </a:tcPr>
                </a:tc>
                <a:tc>
                  <a:txBody>
                    <a:bodyPr/>
                    <a:lstStyle/>
                    <a:p>
                      <a:pPr>
                        <a:buNone/>
                      </a:pPr>
                      <a:r>
                        <a:rPr lang="en-US"/>
                        <a:t>Focuses on urgency and severity</a:t>
                      </a:r>
                    </a:p>
                  </a:txBody>
                  <a:tcPr anchor="ctr">
                    <a:lnL>
                      <a:noFill/>
                    </a:lnL>
                    <a:lnR>
                      <a:noFill/>
                    </a:lnR>
                    <a:lnT>
                      <a:noFill/>
                    </a:lnT>
                    <a:lnB>
                      <a:noFill/>
                    </a:lnB>
                    <a:noFill/>
                  </a:tcPr>
                </a:tc>
                <a:extLst>
                  <a:ext uri="{0D108BD9-81ED-4DB2-BD59-A6C34878D82A}">
                    <a16:rowId xmlns:a16="http://schemas.microsoft.com/office/drawing/2014/main" val="1830498938"/>
                  </a:ext>
                </a:extLst>
              </a:tr>
              <a:tr h="0">
                <a:tc>
                  <a:txBody>
                    <a:bodyPr/>
                    <a:lstStyle/>
                    <a:p>
                      <a:pPr>
                        <a:buNone/>
                      </a:pPr>
                      <a:r>
                        <a:rPr lang="en-US"/>
                        <a:t>Plan features for a release</a:t>
                      </a:r>
                    </a:p>
                  </a:txBody>
                  <a:tcPr anchor="ctr">
                    <a:lnL>
                      <a:noFill/>
                    </a:lnL>
                    <a:lnR>
                      <a:noFill/>
                    </a:lnR>
                    <a:lnT>
                      <a:noFill/>
                    </a:lnT>
                    <a:lnB>
                      <a:noFill/>
                    </a:lnB>
                    <a:noFill/>
                  </a:tcPr>
                </a:tc>
                <a:tc>
                  <a:txBody>
                    <a:bodyPr/>
                    <a:lstStyle/>
                    <a:p>
                      <a:pPr>
                        <a:buNone/>
                      </a:pPr>
                      <a:r>
                        <a:rPr lang="en-US" b="1" dirty="0" err="1"/>
                        <a:t>MoSCoW</a:t>
                      </a:r>
                      <a:endParaRPr lang="en-US" dirty="0" err="1"/>
                    </a:p>
                  </a:txBody>
                  <a:tcPr anchor="ctr">
                    <a:lnL>
                      <a:noFill/>
                    </a:lnL>
                    <a:lnR>
                      <a:noFill/>
                    </a:lnR>
                    <a:lnT>
                      <a:noFill/>
                    </a:lnT>
                    <a:lnB>
                      <a:noFill/>
                    </a:lnB>
                    <a:noFill/>
                  </a:tcPr>
                </a:tc>
                <a:tc>
                  <a:txBody>
                    <a:bodyPr/>
                    <a:lstStyle/>
                    <a:p>
                      <a:pPr>
                        <a:buNone/>
                      </a:pPr>
                      <a:r>
                        <a:rPr lang="en-US"/>
                        <a:t>Helps decide what goes into the current version</a:t>
                      </a:r>
                    </a:p>
                  </a:txBody>
                  <a:tcPr anchor="ctr">
                    <a:lnL>
                      <a:noFill/>
                    </a:lnL>
                    <a:lnR>
                      <a:noFill/>
                    </a:lnR>
                    <a:lnT>
                      <a:noFill/>
                    </a:lnT>
                    <a:lnB>
                      <a:noFill/>
                    </a:lnB>
                    <a:noFill/>
                  </a:tcPr>
                </a:tc>
                <a:extLst>
                  <a:ext uri="{0D108BD9-81ED-4DB2-BD59-A6C34878D82A}">
                    <a16:rowId xmlns:a16="http://schemas.microsoft.com/office/drawing/2014/main" val="2967660362"/>
                  </a:ext>
                </a:extLst>
              </a:tr>
              <a:tr h="0">
                <a:tc>
                  <a:txBody>
                    <a:bodyPr/>
                    <a:lstStyle/>
                    <a:p>
                      <a:pPr>
                        <a:buNone/>
                      </a:pPr>
                      <a:r>
                        <a:rPr lang="en-US"/>
                        <a:t>Improve customer satisfaction</a:t>
                      </a:r>
                    </a:p>
                  </a:txBody>
                  <a:tcPr anchor="ctr">
                    <a:lnL>
                      <a:noFill/>
                    </a:lnL>
                    <a:lnR>
                      <a:noFill/>
                    </a:lnR>
                    <a:lnT>
                      <a:noFill/>
                    </a:lnT>
                    <a:lnB>
                      <a:noFill/>
                    </a:lnB>
                    <a:noFill/>
                  </a:tcPr>
                </a:tc>
                <a:tc>
                  <a:txBody>
                    <a:bodyPr/>
                    <a:lstStyle/>
                    <a:p>
                      <a:pPr>
                        <a:buNone/>
                      </a:pPr>
                      <a:r>
                        <a:rPr lang="en-US" b="1"/>
                        <a:t>Kano</a:t>
                      </a:r>
                      <a:endParaRPr lang="en-US"/>
                    </a:p>
                  </a:txBody>
                  <a:tcPr anchor="ctr">
                    <a:lnL>
                      <a:noFill/>
                    </a:lnL>
                    <a:lnR>
                      <a:noFill/>
                    </a:lnR>
                    <a:lnT>
                      <a:noFill/>
                    </a:lnT>
                    <a:lnB>
                      <a:noFill/>
                    </a:lnB>
                    <a:noFill/>
                  </a:tcPr>
                </a:tc>
                <a:tc>
                  <a:txBody>
                    <a:bodyPr/>
                    <a:lstStyle/>
                    <a:p>
                      <a:pPr>
                        <a:buNone/>
                      </a:pPr>
                      <a:r>
                        <a:rPr lang="en-US"/>
                        <a:t>Focuses on how features affect user happiness</a:t>
                      </a:r>
                    </a:p>
                  </a:txBody>
                  <a:tcPr anchor="ctr">
                    <a:lnL>
                      <a:noFill/>
                    </a:lnL>
                    <a:lnR>
                      <a:noFill/>
                    </a:lnR>
                    <a:lnT>
                      <a:noFill/>
                    </a:lnT>
                    <a:lnB>
                      <a:noFill/>
                    </a:lnB>
                    <a:noFill/>
                  </a:tcPr>
                </a:tc>
                <a:extLst>
                  <a:ext uri="{0D108BD9-81ED-4DB2-BD59-A6C34878D82A}">
                    <a16:rowId xmlns:a16="http://schemas.microsoft.com/office/drawing/2014/main" val="1211702967"/>
                  </a:ext>
                </a:extLst>
              </a:tr>
            </a:tbl>
          </a:graphicData>
        </a:graphic>
      </p:graphicFrame>
      <p:graphicFrame>
        <p:nvGraphicFramePr>
          <p:cNvPr id="37" name="Table 36">
            <a:extLst>
              <a:ext uri="{FF2B5EF4-FFF2-40B4-BE49-F238E27FC236}">
                <a16:creationId xmlns:a16="http://schemas.microsoft.com/office/drawing/2014/main" id="{42D397CD-EF2F-C69A-E6B2-CA8803BDDE63}"/>
              </a:ext>
            </a:extLst>
          </p:cNvPr>
          <p:cNvGraphicFramePr>
            <a:graphicFrameLocks noGrp="1"/>
          </p:cNvGraphicFramePr>
          <p:nvPr>
            <p:extLst>
              <p:ext uri="{D42A27DB-BD31-4B8C-83A1-F6EECF244321}">
                <p14:modId xmlns:p14="http://schemas.microsoft.com/office/powerpoint/2010/main" val="3484000255"/>
              </p:ext>
            </p:extLst>
          </p:nvPr>
        </p:nvGraphicFramePr>
        <p:xfrm>
          <a:off x="5262113" y="1374763"/>
          <a:ext cx="6850713" cy="1463040"/>
        </p:xfrm>
        <a:graphic>
          <a:graphicData uri="http://schemas.openxmlformats.org/drawingml/2006/table">
            <a:tbl>
              <a:tblPr bandRow="1">
                <a:tableStyleId>{5C22544A-7EE6-4342-B048-85BDC9FD1C3A}</a:tableStyleId>
              </a:tblPr>
              <a:tblGrid>
                <a:gridCol w="3789431">
                  <a:extLst>
                    <a:ext uri="{9D8B030D-6E8A-4147-A177-3AD203B41FA5}">
                      <a16:colId xmlns:a16="http://schemas.microsoft.com/office/drawing/2014/main" val="3075858183"/>
                    </a:ext>
                  </a:extLst>
                </a:gridCol>
                <a:gridCol w="3061282">
                  <a:extLst>
                    <a:ext uri="{9D8B030D-6E8A-4147-A177-3AD203B41FA5}">
                      <a16:colId xmlns:a16="http://schemas.microsoft.com/office/drawing/2014/main" val="1045829172"/>
                    </a:ext>
                  </a:extLst>
                </a:gridCol>
              </a:tblGrid>
              <a:tr h="0">
                <a:tc>
                  <a:txBody>
                    <a:bodyPr/>
                    <a:lstStyle/>
                    <a:p>
                      <a:pPr>
                        <a:buNone/>
                      </a:pPr>
                      <a:r>
                        <a:rPr lang="en-US"/>
                        <a:t>Project Type</a:t>
                      </a:r>
                    </a:p>
                  </a:txBody>
                  <a:tcPr anchor="ctr">
                    <a:lnL>
                      <a:noFill/>
                    </a:lnL>
                    <a:lnR>
                      <a:noFill/>
                    </a:lnR>
                    <a:lnT>
                      <a:noFill/>
                    </a:lnT>
                    <a:lnB>
                      <a:noFill/>
                    </a:lnB>
                    <a:noFill/>
                  </a:tcPr>
                </a:tc>
                <a:tc>
                  <a:txBody>
                    <a:bodyPr/>
                    <a:lstStyle/>
                    <a:p>
                      <a:pPr>
                        <a:buNone/>
                      </a:pPr>
                      <a:r>
                        <a:rPr lang="en-US"/>
                        <a:t>Recommended Model</a:t>
                      </a:r>
                    </a:p>
                  </a:txBody>
                  <a:tcPr anchor="ctr">
                    <a:lnL>
                      <a:noFill/>
                    </a:lnL>
                    <a:lnR>
                      <a:noFill/>
                    </a:lnR>
                    <a:lnT>
                      <a:noFill/>
                    </a:lnT>
                    <a:lnB>
                      <a:noFill/>
                    </a:lnB>
                    <a:noFill/>
                  </a:tcPr>
                </a:tc>
                <a:extLst>
                  <a:ext uri="{0D108BD9-81ED-4DB2-BD59-A6C34878D82A}">
                    <a16:rowId xmlns:a16="http://schemas.microsoft.com/office/drawing/2014/main" val="1606510299"/>
                  </a:ext>
                </a:extLst>
              </a:tr>
              <a:tr h="0">
                <a:tc>
                  <a:txBody>
                    <a:bodyPr/>
                    <a:lstStyle/>
                    <a:p>
                      <a:pPr>
                        <a:buNone/>
                      </a:pPr>
                      <a:r>
                        <a:rPr lang="en-US"/>
                        <a:t>Agile software development</a:t>
                      </a:r>
                    </a:p>
                  </a:txBody>
                  <a:tcPr anchor="ctr">
                    <a:lnL>
                      <a:noFill/>
                    </a:lnL>
                    <a:lnR>
                      <a:noFill/>
                    </a:lnR>
                    <a:lnT>
                      <a:noFill/>
                    </a:lnT>
                    <a:lnB>
                      <a:noFill/>
                    </a:lnB>
                    <a:noFill/>
                  </a:tcPr>
                </a:tc>
                <a:tc>
                  <a:txBody>
                    <a:bodyPr/>
                    <a:lstStyle/>
                    <a:p>
                      <a:pPr>
                        <a:buNone/>
                      </a:pPr>
                      <a:r>
                        <a:rPr lang="en-US"/>
                        <a:t>MoSCoW</a:t>
                      </a:r>
                    </a:p>
                  </a:txBody>
                  <a:tcPr anchor="ctr">
                    <a:lnL>
                      <a:noFill/>
                    </a:lnL>
                    <a:lnR>
                      <a:noFill/>
                    </a:lnR>
                    <a:lnT>
                      <a:noFill/>
                    </a:lnT>
                    <a:lnB>
                      <a:noFill/>
                    </a:lnB>
                    <a:noFill/>
                  </a:tcPr>
                </a:tc>
                <a:extLst>
                  <a:ext uri="{0D108BD9-81ED-4DB2-BD59-A6C34878D82A}">
                    <a16:rowId xmlns:a16="http://schemas.microsoft.com/office/drawing/2014/main" val="3184701122"/>
                  </a:ext>
                </a:extLst>
              </a:tr>
              <a:tr h="0">
                <a:tc>
                  <a:txBody>
                    <a:bodyPr/>
                    <a:lstStyle/>
                    <a:p>
                      <a:pPr>
                        <a:buNone/>
                      </a:pPr>
                      <a:r>
                        <a:rPr lang="en-US"/>
                        <a:t>Product design / UX-heavy systems</a:t>
                      </a:r>
                    </a:p>
                  </a:txBody>
                  <a:tcPr anchor="ctr">
                    <a:lnL>
                      <a:noFill/>
                    </a:lnL>
                    <a:lnR>
                      <a:noFill/>
                    </a:lnR>
                    <a:lnT>
                      <a:noFill/>
                    </a:lnT>
                    <a:lnB>
                      <a:noFill/>
                    </a:lnB>
                    <a:noFill/>
                  </a:tcPr>
                </a:tc>
                <a:tc>
                  <a:txBody>
                    <a:bodyPr/>
                    <a:lstStyle/>
                    <a:p>
                      <a:pPr>
                        <a:buNone/>
                      </a:pPr>
                      <a:r>
                        <a:rPr lang="en-US"/>
                        <a:t>Kano</a:t>
                      </a:r>
                    </a:p>
                  </a:txBody>
                  <a:tcPr anchor="ctr">
                    <a:lnL>
                      <a:noFill/>
                    </a:lnL>
                    <a:lnR>
                      <a:noFill/>
                    </a:lnR>
                    <a:lnT>
                      <a:noFill/>
                    </a:lnT>
                    <a:lnB>
                      <a:noFill/>
                    </a:lnB>
                    <a:noFill/>
                  </a:tcPr>
                </a:tc>
                <a:extLst>
                  <a:ext uri="{0D108BD9-81ED-4DB2-BD59-A6C34878D82A}">
                    <a16:rowId xmlns:a16="http://schemas.microsoft.com/office/drawing/2014/main" val="3087704720"/>
                  </a:ext>
                </a:extLst>
              </a:tr>
              <a:tr h="0">
                <a:tc>
                  <a:txBody>
                    <a:bodyPr/>
                    <a:lstStyle/>
                    <a:p>
                      <a:pPr>
                        <a:buNone/>
                      </a:pPr>
                      <a:r>
                        <a:rPr lang="en-US"/>
                        <a:t>Maintenance and bug management</a:t>
                      </a:r>
                    </a:p>
                  </a:txBody>
                  <a:tcPr anchor="ctr">
                    <a:lnL>
                      <a:noFill/>
                    </a:lnL>
                    <a:lnR>
                      <a:noFill/>
                    </a:lnR>
                    <a:lnT>
                      <a:noFill/>
                    </a:lnT>
                    <a:lnB>
                      <a:noFill/>
                    </a:lnB>
                    <a:noFill/>
                  </a:tcPr>
                </a:tc>
                <a:tc>
                  <a:txBody>
                    <a:bodyPr/>
                    <a:lstStyle/>
                    <a:p>
                      <a:pPr>
                        <a:buNone/>
                      </a:pPr>
                      <a:r>
                        <a:rPr lang="en-US"/>
                        <a:t>Triage</a:t>
                      </a:r>
                    </a:p>
                  </a:txBody>
                  <a:tcPr anchor="ctr">
                    <a:lnL>
                      <a:noFill/>
                    </a:lnL>
                    <a:lnR>
                      <a:noFill/>
                    </a:lnR>
                    <a:lnT>
                      <a:noFill/>
                    </a:lnT>
                    <a:lnB>
                      <a:noFill/>
                    </a:lnB>
                    <a:noFill/>
                  </a:tcPr>
                </a:tc>
                <a:extLst>
                  <a:ext uri="{0D108BD9-81ED-4DB2-BD59-A6C34878D82A}">
                    <a16:rowId xmlns:a16="http://schemas.microsoft.com/office/drawing/2014/main" val="514124510"/>
                  </a:ext>
                </a:extLst>
              </a:tr>
            </a:tbl>
          </a:graphicData>
        </a:graphic>
      </p:graphicFrame>
      <p:graphicFrame>
        <p:nvGraphicFramePr>
          <p:cNvPr id="39" name="Table 38">
            <a:extLst>
              <a:ext uri="{FF2B5EF4-FFF2-40B4-BE49-F238E27FC236}">
                <a16:creationId xmlns:a16="http://schemas.microsoft.com/office/drawing/2014/main" id="{B46FD0AD-E85D-6302-E1C6-4A28B4D22080}"/>
              </a:ext>
            </a:extLst>
          </p:cNvPr>
          <p:cNvGraphicFramePr>
            <a:graphicFrameLocks noGrp="1"/>
          </p:cNvGraphicFramePr>
          <p:nvPr>
            <p:extLst>
              <p:ext uri="{D42A27DB-BD31-4B8C-83A1-F6EECF244321}">
                <p14:modId xmlns:p14="http://schemas.microsoft.com/office/powerpoint/2010/main" val="1525479979"/>
              </p:ext>
            </p:extLst>
          </p:nvPr>
        </p:nvGraphicFramePr>
        <p:xfrm>
          <a:off x="57509" y="5069744"/>
          <a:ext cx="9826170" cy="1463040"/>
        </p:xfrm>
        <a:graphic>
          <a:graphicData uri="http://schemas.openxmlformats.org/drawingml/2006/table">
            <a:tbl>
              <a:tblPr bandRow="1">
                <a:tableStyleId>{5C22544A-7EE6-4342-B048-85BDC9FD1C3A}</a:tableStyleId>
              </a:tblPr>
              <a:tblGrid>
                <a:gridCol w="4913085">
                  <a:extLst>
                    <a:ext uri="{9D8B030D-6E8A-4147-A177-3AD203B41FA5}">
                      <a16:colId xmlns:a16="http://schemas.microsoft.com/office/drawing/2014/main" val="3423116399"/>
                    </a:ext>
                  </a:extLst>
                </a:gridCol>
                <a:gridCol w="4913085">
                  <a:extLst>
                    <a:ext uri="{9D8B030D-6E8A-4147-A177-3AD203B41FA5}">
                      <a16:colId xmlns:a16="http://schemas.microsoft.com/office/drawing/2014/main" val="41519001"/>
                    </a:ext>
                  </a:extLst>
                </a:gridCol>
              </a:tblGrid>
              <a:tr h="0">
                <a:tc>
                  <a:txBody>
                    <a:bodyPr/>
                    <a:lstStyle/>
                    <a:p>
                      <a:pPr>
                        <a:buNone/>
                      </a:pPr>
                      <a:r>
                        <a:rPr lang="en-US"/>
                        <a:t>Situation</a:t>
                      </a:r>
                    </a:p>
                  </a:txBody>
                  <a:tcPr anchor="ctr">
                    <a:lnL>
                      <a:noFill/>
                    </a:lnL>
                    <a:lnR>
                      <a:noFill/>
                    </a:lnR>
                    <a:lnT>
                      <a:noFill/>
                    </a:lnT>
                    <a:lnB>
                      <a:noFill/>
                    </a:lnB>
                    <a:noFill/>
                  </a:tcPr>
                </a:tc>
                <a:tc>
                  <a:txBody>
                    <a:bodyPr/>
                    <a:lstStyle/>
                    <a:p>
                      <a:pPr>
                        <a:buNone/>
                      </a:pPr>
                      <a:r>
                        <a:rPr lang="en-US"/>
                        <a:t>Model</a:t>
                      </a:r>
                    </a:p>
                  </a:txBody>
                  <a:tcPr anchor="ctr">
                    <a:lnL>
                      <a:noFill/>
                    </a:lnL>
                    <a:lnR>
                      <a:noFill/>
                    </a:lnR>
                    <a:lnT>
                      <a:noFill/>
                    </a:lnT>
                    <a:lnB>
                      <a:noFill/>
                    </a:lnB>
                    <a:noFill/>
                  </a:tcPr>
                </a:tc>
                <a:extLst>
                  <a:ext uri="{0D108BD9-81ED-4DB2-BD59-A6C34878D82A}">
                    <a16:rowId xmlns:a16="http://schemas.microsoft.com/office/drawing/2014/main" val="386718204"/>
                  </a:ext>
                </a:extLst>
              </a:tr>
              <a:tr h="0">
                <a:tc>
                  <a:txBody>
                    <a:bodyPr/>
                    <a:lstStyle/>
                    <a:p>
                      <a:pPr>
                        <a:buNone/>
                      </a:pPr>
                      <a:r>
                        <a:rPr lang="en-US"/>
                        <a:t>Many stakeholders with conflicting demands</a:t>
                      </a:r>
                    </a:p>
                  </a:txBody>
                  <a:tcPr anchor="ctr">
                    <a:lnL>
                      <a:noFill/>
                    </a:lnL>
                    <a:lnR>
                      <a:noFill/>
                    </a:lnR>
                    <a:lnT>
                      <a:noFill/>
                    </a:lnT>
                    <a:lnB>
                      <a:noFill/>
                    </a:lnB>
                    <a:noFill/>
                  </a:tcPr>
                </a:tc>
                <a:tc>
                  <a:txBody>
                    <a:bodyPr/>
                    <a:lstStyle/>
                    <a:p>
                      <a:pPr>
                        <a:buNone/>
                      </a:pPr>
                      <a:r>
                        <a:rPr lang="en-US"/>
                        <a:t>MoSCoW</a:t>
                      </a:r>
                    </a:p>
                  </a:txBody>
                  <a:tcPr anchor="ctr">
                    <a:lnL>
                      <a:noFill/>
                    </a:lnL>
                    <a:lnR>
                      <a:noFill/>
                    </a:lnR>
                    <a:lnT>
                      <a:noFill/>
                    </a:lnT>
                    <a:lnB>
                      <a:noFill/>
                    </a:lnB>
                    <a:noFill/>
                  </a:tcPr>
                </a:tc>
                <a:extLst>
                  <a:ext uri="{0D108BD9-81ED-4DB2-BD59-A6C34878D82A}">
                    <a16:rowId xmlns:a16="http://schemas.microsoft.com/office/drawing/2014/main" val="826733973"/>
                  </a:ext>
                </a:extLst>
              </a:tr>
              <a:tr h="0">
                <a:tc>
                  <a:txBody>
                    <a:bodyPr/>
                    <a:lstStyle/>
                    <a:p>
                      <a:pPr>
                        <a:buNone/>
                      </a:pPr>
                      <a:r>
                        <a:rPr lang="en-US"/>
                        <a:t>Focus on user satisfaction research</a:t>
                      </a:r>
                    </a:p>
                  </a:txBody>
                  <a:tcPr anchor="ctr">
                    <a:lnL>
                      <a:noFill/>
                    </a:lnL>
                    <a:lnR>
                      <a:noFill/>
                    </a:lnR>
                    <a:lnT>
                      <a:noFill/>
                    </a:lnT>
                    <a:lnB>
                      <a:noFill/>
                    </a:lnB>
                    <a:noFill/>
                  </a:tcPr>
                </a:tc>
                <a:tc>
                  <a:txBody>
                    <a:bodyPr/>
                    <a:lstStyle/>
                    <a:p>
                      <a:pPr>
                        <a:buNone/>
                      </a:pPr>
                      <a:r>
                        <a:rPr lang="en-US"/>
                        <a:t>Kano</a:t>
                      </a:r>
                    </a:p>
                  </a:txBody>
                  <a:tcPr anchor="ctr">
                    <a:lnL>
                      <a:noFill/>
                    </a:lnL>
                    <a:lnR>
                      <a:noFill/>
                    </a:lnR>
                    <a:lnT>
                      <a:noFill/>
                    </a:lnT>
                    <a:lnB>
                      <a:noFill/>
                    </a:lnB>
                    <a:noFill/>
                  </a:tcPr>
                </a:tc>
                <a:extLst>
                  <a:ext uri="{0D108BD9-81ED-4DB2-BD59-A6C34878D82A}">
                    <a16:rowId xmlns:a16="http://schemas.microsoft.com/office/drawing/2014/main" val="1179365994"/>
                  </a:ext>
                </a:extLst>
              </a:tr>
              <a:tr h="0">
                <a:tc>
                  <a:txBody>
                    <a:bodyPr/>
                    <a:lstStyle/>
                    <a:p>
                      <a:pPr>
                        <a:buNone/>
                      </a:pPr>
                      <a:r>
                        <a:rPr lang="en-US"/>
                        <a:t>Internal technical prioritisation</a:t>
                      </a:r>
                    </a:p>
                  </a:txBody>
                  <a:tcPr anchor="ctr">
                    <a:lnL>
                      <a:noFill/>
                    </a:lnL>
                    <a:lnR>
                      <a:noFill/>
                    </a:lnR>
                    <a:lnT>
                      <a:noFill/>
                    </a:lnT>
                    <a:lnB>
                      <a:noFill/>
                    </a:lnB>
                    <a:noFill/>
                  </a:tcPr>
                </a:tc>
                <a:tc>
                  <a:txBody>
                    <a:bodyPr/>
                    <a:lstStyle/>
                    <a:p>
                      <a:pPr>
                        <a:buNone/>
                      </a:pPr>
                      <a:r>
                        <a:rPr lang="en-US"/>
                        <a:t>Triage</a:t>
                      </a:r>
                    </a:p>
                  </a:txBody>
                  <a:tcPr anchor="ctr">
                    <a:lnL>
                      <a:noFill/>
                    </a:lnL>
                    <a:lnR>
                      <a:noFill/>
                    </a:lnR>
                    <a:lnT>
                      <a:noFill/>
                    </a:lnT>
                    <a:lnB>
                      <a:noFill/>
                    </a:lnB>
                    <a:noFill/>
                  </a:tcPr>
                </a:tc>
                <a:extLst>
                  <a:ext uri="{0D108BD9-81ED-4DB2-BD59-A6C34878D82A}">
                    <a16:rowId xmlns:a16="http://schemas.microsoft.com/office/drawing/2014/main" val="2662603062"/>
                  </a:ext>
                </a:extLst>
              </a:tr>
            </a:tbl>
          </a:graphicData>
        </a:graphic>
      </p:graphicFrame>
      <p:sp>
        <p:nvSpPr>
          <p:cNvPr id="40" name="TextBox 39">
            <a:extLst>
              <a:ext uri="{FF2B5EF4-FFF2-40B4-BE49-F238E27FC236}">
                <a16:creationId xmlns:a16="http://schemas.microsoft.com/office/drawing/2014/main" id="{366E26B6-11EC-5502-33C3-713ADD903D0C}"/>
              </a:ext>
            </a:extLst>
          </p:cNvPr>
          <p:cNvSpPr txBox="1"/>
          <p:nvPr/>
        </p:nvSpPr>
        <p:spPr>
          <a:xfrm>
            <a:off x="2630" y="4691384"/>
            <a:ext cx="40444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Based on stakeholder involvement</a:t>
            </a:r>
          </a:p>
        </p:txBody>
      </p:sp>
      <p:sp>
        <p:nvSpPr>
          <p:cNvPr id="41" name="TextBox 40">
            <a:extLst>
              <a:ext uri="{FF2B5EF4-FFF2-40B4-BE49-F238E27FC236}">
                <a16:creationId xmlns:a16="http://schemas.microsoft.com/office/drawing/2014/main" id="{FE44BBD9-C048-D2C5-3356-133E18EA45AD}"/>
              </a:ext>
            </a:extLst>
          </p:cNvPr>
          <p:cNvSpPr txBox="1"/>
          <p:nvPr/>
        </p:nvSpPr>
        <p:spPr>
          <a:xfrm>
            <a:off x="60139" y="996402"/>
            <a:ext cx="35556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Rule of thumb</a:t>
            </a:r>
            <a:endParaRPr lang="en-US"/>
          </a:p>
        </p:txBody>
      </p:sp>
      <p:sp>
        <p:nvSpPr>
          <p:cNvPr id="42" name="TextBox 41">
            <a:extLst>
              <a:ext uri="{FF2B5EF4-FFF2-40B4-BE49-F238E27FC236}">
                <a16:creationId xmlns:a16="http://schemas.microsoft.com/office/drawing/2014/main" id="{A230701E-34DD-8D50-9C34-EE8028749AFE}"/>
              </a:ext>
            </a:extLst>
          </p:cNvPr>
          <p:cNvSpPr txBox="1"/>
          <p:nvPr/>
        </p:nvSpPr>
        <p:spPr>
          <a:xfrm>
            <a:off x="5264743" y="996403"/>
            <a:ext cx="40444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Based on Project Type</a:t>
            </a:r>
            <a:endParaRPr lang="en-US"/>
          </a:p>
        </p:txBody>
      </p:sp>
      <p:sp>
        <p:nvSpPr>
          <p:cNvPr id="43" name="TextBox 42">
            <a:extLst>
              <a:ext uri="{FF2B5EF4-FFF2-40B4-BE49-F238E27FC236}">
                <a16:creationId xmlns:a16="http://schemas.microsoft.com/office/drawing/2014/main" id="{DC46AADD-B5A3-B674-B8DA-C4A6B8E78FEC}"/>
              </a:ext>
            </a:extLst>
          </p:cNvPr>
          <p:cNvSpPr txBox="1"/>
          <p:nvPr/>
        </p:nvSpPr>
        <p:spPr>
          <a:xfrm>
            <a:off x="60139" y="2836704"/>
            <a:ext cx="40444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Based on goal</a:t>
            </a:r>
          </a:p>
        </p:txBody>
      </p:sp>
    </p:spTree>
    <p:extLst>
      <p:ext uri="{BB962C8B-B14F-4D97-AF65-F5344CB8AC3E}">
        <p14:creationId xmlns:p14="http://schemas.microsoft.com/office/powerpoint/2010/main" val="37819638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FE299-C7AD-B6D8-3A38-FC7FAAD68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35B8B-4ED4-2CE7-D70E-13E156B38AE8}"/>
              </a:ext>
            </a:extLst>
          </p:cNvPr>
          <p:cNvSpPr>
            <a:spLocks noGrp="1"/>
          </p:cNvSpPr>
          <p:nvPr>
            <p:ph type="title"/>
          </p:nvPr>
        </p:nvSpPr>
        <p:spPr/>
        <p:txBody>
          <a:bodyPr/>
          <a:lstStyle/>
          <a:p>
            <a:r>
              <a:rPr lang="en-GB" dirty="0">
                <a:ea typeface="Calibri Light"/>
                <a:cs typeface="Calibri Light"/>
              </a:rPr>
              <a:t>Further reading / browsing (if interested)</a:t>
            </a:r>
          </a:p>
        </p:txBody>
      </p:sp>
      <p:sp>
        <p:nvSpPr>
          <p:cNvPr id="3" name="Content Placeholder 2">
            <a:extLst>
              <a:ext uri="{FF2B5EF4-FFF2-40B4-BE49-F238E27FC236}">
                <a16:creationId xmlns:a16="http://schemas.microsoft.com/office/drawing/2014/main" id="{C5338117-7DA0-C771-D38C-2D965266D9F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NLP for Requirements Engineering (NLP4RE) - </a:t>
            </a:r>
            <a:r>
              <a:rPr lang="en-US" dirty="0">
                <a:ea typeface="+mn-lt"/>
                <a:cs typeface="+mn-lt"/>
                <a:hlinkClick r:id="rId3"/>
              </a:rPr>
              <a:t>ACM Journal Survey Article</a:t>
            </a:r>
            <a:endParaRPr lang="en-US">
              <a:ea typeface="Calibri"/>
              <a:cs typeface="Calibri"/>
            </a:endParaRPr>
          </a:p>
          <a:p>
            <a:r>
              <a:rPr lang="en-US" dirty="0">
                <a:ea typeface="Calibri"/>
                <a:cs typeface="Calibri"/>
              </a:rPr>
              <a:t>Summary of the first workshop of NLP4RE - </a:t>
            </a:r>
            <a:r>
              <a:rPr lang="en-US" dirty="0">
                <a:ea typeface="Calibri"/>
                <a:cs typeface="Calibri"/>
                <a:hlinkClick r:id="rId4"/>
              </a:rPr>
              <a:t>IEEE Journal</a:t>
            </a:r>
            <a:endParaRPr lang="en-US" dirty="0">
              <a:ea typeface="Calibri"/>
              <a:cs typeface="Calibri"/>
            </a:endParaRPr>
          </a:p>
          <a:p>
            <a:r>
              <a:rPr lang="en-US" dirty="0">
                <a:ea typeface="Calibri"/>
                <a:cs typeface="Calibri"/>
              </a:rPr>
              <a:t>Requirements elicitation using Generative AI based NLP tools – </a:t>
            </a:r>
            <a:r>
              <a:rPr lang="en-US" dirty="0">
                <a:ea typeface="Calibri"/>
                <a:cs typeface="Calibri"/>
                <a:hlinkClick r:id="rId5"/>
              </a:rPr>
              <a:t>Conference Article</a:t>
            </a:r>
            <a:endParaRPr lang="en-US">
              <a:ea typeface="Calibri"/>
              <a:cs typeface="Calibri"/>
            </a:endParaRPr>
          </a:p>
          <a:p>
            <a:r>
              <a:rPr lang="en-US" dirty="0">
                <a:ea typeface="Calibri"/>
                <a:cs typeface="Calibri"/>
              </a:rPr>
              <a:t>Requirements Engineering – </a:t>
            </a:r>
            <a:r>
              <a:rPr lang="en-US" dirty="0">
                <a:ea typeface="Calibri"/>
                <a:cs typeface="Calibri"/>
                <a:hlinkClick r:id="rId6"/>
              </a:rPr>
              <a:t>Springer Journal</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791952D8-0109-BB69-1AC2-B3EC6E983D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1A4DC5E-276E-0F26-E6F9-D5940FC7D12C}"/>
              </a:ext>
            </a:extLst>
          </p:cNvPr>
          <p:cNvSpPr>
            <a:spLocks noGrp="1"/>
          </p:cNvSpPr>
          <p:nvPr>
            <p:ph type="sldNum" sz="quarter" idx="12"/>
          </p:nvPr>
        </p:nvSpPr>
        <p:spPr/>
        <p:txBody>
          <a:bodyPr/>
          <a:lstStyle/>
          <a:p>
            <a:fld id="{008559AE-1842-40A5-A2A9-0518F39FD1A9}" type="slidenum">
              <a:rPr lang="en-US" smtClean="0"/>
              <a:t>70</a:t>
            </a:fld>
            <a:endParaRPr lang="en-GB"/>
          </a:p>
        </p:txBody>
      </p:sp>
      <p:sp>
        <p:nvSpPr>
          <p:cNvPr id="7" name="Footer Placeholder 6">
            <a:extLst>
              <a:ext uri="{FF2B5EF4-FFF2-40B4-BE49-F238E27FC236}">
                <a16:creationId xmlns:a16="http://schemas.microsoft.com/office/drawing/2014/main" id="{2692CCB2-F138-FA83-6DCE-63C07AC38A0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303577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70</Slides>
  <Notes>69</Notes>
  <HiddenSlides>0</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Software Engineering (CS3201) Requirements Engineering </vt:lpstr>
      <vt:lpstr> </vt:lpstr>
      <vt:lpstr>Introduction</vt:lpstr>
      <vt:lpstr>Introduction</vt:lpstr>
      <vt:lpstr>Introduction</vt:lpstr>
      <vt:lpstr>Introduction</vt:lpstr>
      <vt:lpstr>Introduction</vt:lpstr>
      <vt:lpstr>Business Requirements Specification?? Example</vt:lpstr>
      <vt:lpstr>Feasibility study</vt:lpstr>
      <vt:lpstr>Feasibility study</vt:lpstr>
      <vt:lpstr>Requirements Elicitation</vt:lpstr>
      <vt:lpstr>Requirements Elicitation</vt:lpstr>
      <vt:lpstr>Requirements Elicitation challenges - Examples</vt:lpstr>
      <vt:lpstr>Requirements Elicitation</vt:lpstr>
      <vt:lpstr>Requirements Elicitation</vt:lpstr>
      <vt:lpstr>Requirements Elicitation</vt:lpstr>
      <vt:lpstr>Requirements Elicitation Techniques</vt:lpstr>
      <vt:lpstr>Interviewing</vt:lpstr>
      <vt:lpstr>Interviewing</vt:lpstr>
      <vt:lpstr>Interviewing</vt:lpstr>
      <vt:lpstr>Spring-board questions: examples</vt:lpstr>
      <vt:lpstr>Ethnography</vt:lpstr>
      <vt:lpstr>Okay, let us use an example to understand the previous slide better</vt:lpstr>
      <vt:lpstr>Ethnography</vt:lpstr>
      <vt:lpstr>Ethnography, Stories and Scenarios</vt:lpstr>
      <vt:lpstr>Ethnography, Stories and Scenarios</vt:lpstr>
      <vt:lpstr>PowerPoint Presentation</vt:lpstr>
      <vt:lpstr>Stories and Scenarios</vt:lpstr>
      <vt:lpstr>Stories and Scenarios</vt:lpstr>
      <vt:lpstr>Story</vt:lpstr>
      <vt:lpstr>Scenario</vt:lpstr>
      <vt:lpstr>Scenario: Example (Textbook)</vt:lpstr>
      <vt:lpstr>Scenario: Example</vt:lpstr>
      <vt:lpstr> </vt:lpstr>
      <vt:lpstr>Recap</vt:lpstr>
      <vt:lpstr>Software Requirements Specification (PRE., pg. 136)</vt:lpstr>
      <vt:lpstr>Software Requirements Specification – IEEE 830 (Hans Van Vliet, pg. 231)</vt:lpstr>
      <vt:lpstr>Software Requirements Specification – IEEE 830 (Hans Van Vliet)</vt:lpstr>
      <vt:lpstr> </vt:lpstr>
      <vt:lpstr>Introduction</vt:lpstr>
      <vt:lpstr>Checks in Requirements validation</vt:lpstr>
      <vt:lpstr>Checks in Requirements validation - Example</vt:lpstr>
      <vt:lpstr>Requirements validation techniques</vt:lpstr>
      <vt:lpstr>How does test case generation help with requirements validation?</vt:lpstr>
      <vt:lpstr>How does test case generation help with requirements validation?</vt:lpstr>
      <vt:lpstr> </vt:lpstr>
      <vt:lpstr>Introduction</vt:lpstr>
      <vt:lpstr>Feeling a little … wicked</vt:lpstr>
      <vt:lpstr>Changes in Business Environment</vt:lpstr>
      <vt:lpstr>Requirements Management</vt:lpstr>
      <vt:lpstr>Requirements Management: Example</vt:lpstr>
      <vt:lpstr>Requirements Management Planning</vt:lpstr>
      <vt:lpstr>Traceability policies</vt:lpstr>
      <vt:lpstr>Example: From Grades to Pass / Fail</vt:lpstr>
      <vt:lpstr>Change Management Process</vt:lpstr>
      <vt:lpstr> </vt:lpstr>
      <vt:lpstr>Introduction</vt:lpstr>
      <vt:lpstr>Triage</vt:lpstr>
      <vt:lpstr>Triage – How it works</vt:lpstr>
      <vt:lpstr>Triage – Example using student portal</vt:lpstr>
      <vt:lpstr>MoSCoW (Hans Van Vliet, pg. 226)</vt:lpstr>
      <vt:lpstr>MoSCoW: In simpler terms</vt:lpstr>
      <vt:lpstr>How to prioritize using MoSCoW?</vt:lpstr>
      <vt:lpstr>Kano model (Hans Van Vliet, pg. 226)</vt:lpstr>
      <vt:lpstr>Kano model (Hans Van Vliet, pg. 226)</vt:lpstr>
      <vt:lpstr>Kano (put another way)</vt:lpstr>
      <vt:lpstr>Kano (example – student portal)</vt:lpstr>
      <vt:lpstr>Comparison of the three models</vt:lpstr>
      <vt:lpstr>Which model to choose?</vt:lpstr>
      <vt:lpstr>Further reading / browsing (if interested)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1804</cp:revision>
  <dcterms:created xsi:type="dcterms:W3CDTF">2022-08-02T06:42:39Z</dcterms:created>
  <dcterms:modified xsi:type="dcterms:W3CDTF">2026-03-11T04:07:03Z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